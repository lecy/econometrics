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323" r:id="rId3"/>
    <p:sldId id="324" r:id="rId4"/>
    <p:sldId id="325" r:id="rId5"/>
    <p:sldId id="326" r:id="rId6"/>
    <p:sldId id="327" r:id="rId7"/>
    <p:sldId id="329" r:id="rId8"/>
    <p:sldId id="330" r:id="rId9"/>
    <p:sldId id="353" r:id="rId10"/>
    <p:sldId id="352" r:id="rId11"/>
    <p:sldId id="354" r:id="rId12"/>
    <p:sldId id="331" r:id="rId13"/>
    <p:sldId id="332" r:id="rId14"/>
    <p:sldId id="333" r:id="rId15"/>
    <p:sldId id="334" r:id="rId16"/>
    <p:sldId id="335" r:id="rId17"/>
    <p:sldId id="336" r:id="rId18"/>
    <p:sldId id="337" r:id="rId19"/>
    <p:sldId id="338" r:id="rId20"/>
    <p:sldId id="339" r:id="rId21"/>
    <p:sldId id="340" r:id="rId22"/>
    <p:sldId id="355" r:id="rId23"/>
    <p:sldId id="344" r:id="rId24"/>
    <p:sldId id="341" r:id="rId25"/>
    <p:sldId id="345" r:id="rId26"/>
    <p:sldId id="346" r:id="rId27"/>
    <p:sldId id="347" r:id="rId28"/>
    <p:sldId id="348" r:id="rId29"/>
    <p:sldId id="349" r:id="rId30"/>
    <p:sldId id="350" r:id="rId31"/>
    <p:sldId id="351" r:id="rId32"/>
  </p:sldIdLst>
  <p:sldSz cx="7772400" cy="100584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5D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2982" y="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33972A0-D2DC-4C5E-947C-999AC4BCA557}" type="datetimeFigureOut">
              <a:rPr lang="en-US" smtClean="0"/>
              <a:t>2/1/2017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2E29E85-09B7-42F6-B98D-20AE5D0421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1045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0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F03C39A-337C-43B7-983D-83172343289F}" type="datetimeFigureOut">
              <a:rPr lang="en-US" smtClean="0"/>
              <a:t>2/1/2017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633788" y="525463"/>
            <a:ext cx="2028825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29940"/>
            <a:ext cx="7437120" cy="3154680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05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4FCEDEAD-CCBF-4162-8267-E117557F7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71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2930" y="3124624"/>
            <a:ext cx="6606540" cy="215603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5860" y="5699760"/>
            <a:ext cx="5440680" cy="25704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788286-6892-4692-AC52-70E73709BF5D}" type="datetime1">
              <a:rPr lang="en-US" smtClean="0"/>
              <a:t>2/1/2017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A4A19-B384-42F8-8C0D-94C30AAB3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284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DB279-9B8C-424B-9A9B-DF72EEDBF50F}" type="datetime1">
              <a:rPr lang="en-US" smtClean="0"/>
              <a:t>2/1/2017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A4A19-B384-42F8-8C0D-94C30AAB39F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2819400" y="159199"/>
            <a:ext cx="3621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cap="small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Partitioned Regression</a:t>
            </a:r>
          </a:p>
        </p:txBody>
      </p:sp>
    </p:spTree>
    <p:extLst>
      <p:ext uri="{BB962C8B-B14F-4D97-AF65-F5344CB8AC3E}">
        <p14:creationId xmlns:p14="http://schemas.microsoft.com/office/powerpoint/2010/main" val="2487189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966" y="6463454"/>
            <a:ext cx="6606540" cy="199771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3966" y="4263180"/>
            <a:ext cx="6606540" cy="220027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9BC3A-619E-4F42-8FA5-87D3B7D7E962}" type="datetime1">
              <a:rPr lang="en-US" smtClean="0"/>
              <a:t>2/1/2017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A4A19-B384-42F8-8C0D-94C30AAB39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2819400" y="159199"/>
            <a:ext cx="3621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cap="small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Partitioned Regression</a:t>
            </a:r>
          </a:p>
        </p:txBody>
      </p:sp>
    </p:spTree>
    <p:extLst>
      <p:ext uri="{BB962C8B-B14F-4D97-AF65-F5344CB8AC3E}">
        <p14:creationId xmlns:p14="http://schemas.microsoft.com/office/powerpoint/2010/main" val="3092676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8620" y="2346961"/>
            <a:ext cx="3432810" cy="663807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0970" y="2346961"/>
            <a:ext cx="3432810" cy="6638079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FC73B-49CE-4542-9309-879B990B72A7}" type="datetime1">
              <a:rPr lang="en-US" smtClean="0"/>
              <a:t>2/1/2017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A4A19-B384-42F8-8C0D-94C30AAB39F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2819400" y="159199"/>
            <a:ext cx="3621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cap="small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Partitioned Regression</a:t>
            </a:r>
          </a:p>
        </p:txBody>
      </p:sp>
    </p:spTree>
    <p:extLst>
      <p:ext uri="{BB962C8B-B14F-4D97-AF65-F5344CB8AC3E}">
        <p14:creationId xmlns:p14="http://schemas.microsoft.com/office/powerpoint/2010/main" val="10251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" y="2251499"/>
            <a:ext cx="3434160" cy="93831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8620" y="3189817"/>
            <a:ext cx="3434160" cy="57952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8272" y="2251499"/>
            <a:ext cx="3435509" cy="93831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48272" y="3189817"/>
            <a:ext cx="3435509" cy="57952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2D0F45-D212-4754-9F51-3F736FAC4615}" type="datetime1">
              <a:rPr lang="en-US" smtClean="0"/>
              <a:t>2/1/2017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A4A19-B384-42F8-8C0D-94C30AAB39F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2819400" y="159199"/>
            <a:ext cx="3621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cap="small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Partitioned Regression</a:t>
            </a:r>
          </a:p>
        </p:txBody>
      </p:sp>
    </p:spTree>
    <p:extLst>
      <p:ext uri="{BB962C8B-B14F-4D97-AF65-F5344CB8AC3E}">
        <p14:creationId xmlns:p14="http://schemas.microsoft.com/office/powerpoint/2010/main" val="2599159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3EA23-5213-40B9-BB1C-33A7FE682BFF}" type="datetime1">
              <a:rPr lang="en-US" smtClean="0"/>
              <a:t>2/1/2017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A4A19-B384-42F8-8C0D-94C30AAB3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963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9CA689-3F5A-4B85-9093-A601E22777B8}" type="datetime1">
              <a:rPr lang="en-US" smtClean="0"/>
              <a:t>2/1/2017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641123" y="76200"/>
            <a:ext cx="685800" cy="535517"/>
          </a:xfrm>
        </p:spPr>
        <p:txBody>
          <a:bodyPr/>
          <a:lstStyle>
            <a:lvl1pPr algn="ctr">
              <a:defRPr>
                <a:latin typeface="Arial Black" panose="020B0A04020102020204" pitchFamily="34" charset="0"/>
              </a:defRPr>
            </a:lvl1pPr>
          </a:lstStyle>
          <a:p>
            <a:fld id="{8A2A4A19-B384-42F8-8C0D-94C30AAB39F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2819400" y="159199"/>
            <a:ext cx="3621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cap="small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Partitioned Regression</a:t>
            </a:r>
          </a:p>
        </p:txBody>
      </p:sp>
    </p:spTree>
    <p:extLst>
      <p:ext uri="{BB962C8B-B14F-4D97-AF65-F5344CB8AC3E}">
        <p14:creationId xmlns:p14="http://schemas.microsoft.com/office/powerpoint/2010/main" val="3366813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" y="400473"/>
            <a:ext cx="2557066" cy="170434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38792" y="400474"/>
            <a:ext cx="4344988" cy="85845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8620" y="2104814"/>
            <a:ext cx="2557066" cy="688022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87089-1A57-4FAF-BA34-70B97E20CEE5}" type="datetime1">
              <a:rPr lang="en-US" smtClean="0"/>
              <a:t>2/1/2017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A4A19-B384-42F8-8C0D-94C30AAB3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829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445" y="7040880"/>
            <a:ext cx="4663440" cy="83121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23445" y="898737"/>
            <a:ext cx="4663440" cy="603504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3445" y="7872096"/>
            <a:ext cx="4663440" cy="118046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E90C7-F1FE-4D5F-AAA3-C2349B32AFE3}" type="datetime1">
              <a:rPr lang="en-US" smtClean="0"/>
              <a:t>2/1/2017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A4A19-B384-42F8-8C0D-94C30AAB39F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 userDrawn="1"/>
        </p:nvSpPr>
        <p:spPr>
          <a:xfrm>
            <a:off x="2819400" y="159199"/>
            <a:ext cx="3621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cap="small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Partitioned Regression</a:t>
            </a:r>
          </a:p>
        </p:txBody>
      </p:sp>
    </p:spTree>
    <p:extLst>
      <p:ext uri="{BB962C8B-B14F-4D97-AF65-F5344CB8AC3E}">
        <p14:creationId xmlns:p14="http://schemas.microsoft.com/office/powerpoint/2010/main" val="4186400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2C86E-824C-4B9C-BF87-D06EFC64ABDD}" type="datetime1">
              <a:rPr lang="en-US" smtClean="0"/>
              <a:t>2/1/2017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A4A19-B384-42F8-8C0D-94C30AAB39F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2819400" y="159199"/>
            <a:ext cx="3621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cap="small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Partitioned Regression</a:t>
            </a:r>
          </a:p>
        </p:txBody>
      </p:sp>
    </p:spTree>
    <p:extLst>
      <p:ext uri="{BB962C8B-B14F-4D97-AF65-F5344CB8AC3E}">
        <p14:creationId xmlns:p14="http://schemas.microsoft.com/office/powerpoint/2010/main" val="455669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34990" y="402803"/>
            <a:ext cx="1748790" cy="85822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8620" y="402803"/>
            <a:ext cx="5116830" cy="85822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9BCAA-A0B3-47C5-ABF8-0E47BD28C2CA}" type="datetime1">
              <a:rPr lang="en-US" smtClean="0"/>
              <a:t>2/1/2017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2A4A19-B384-42F8-8C0D-94C30AAB39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4922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8F263-8F67-4EB6-A377-0FB965046360}" type="datetime1">
              <a:rPr lang="en-US" smtClean="0"/>
              <a:t>2/1/2017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426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7764" y="1157985"/>
            <a:ext cx="6995160" cy="1676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" y="3429000"/>
            <a:ext cx="6995160" cy="55560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8620" y="9322647"/>
            <a:ext cx="181356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6D3295-5BF5-4E09-87B3-EEF71ECAF0D0}" type="datetime1">
              <a:rPr lang="en-US" smtClean="0"/>
              <a:t>2/1/2017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55570" y="9322647"/>
            <a:ext cx="246126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Pentagon 6"/>
          <p:cNvSpPr/>
          <p:nvPr userDrawn="1"/>
        </p:nvSpPr>
        <p:spPr>
          <a:xfrm rot="5400000">
            <a:off x="6553200" y="228600"/>
            <a:ext cx="838200" cy="381000"/>
          </a:xfrm>
          <a:prstGeom prst="homePlat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664569" y="104449"/>
            <a:ext cx="609600" cy="5355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chemeClr val="bg1"/>
                </a:solidFill>
              </a:defRPr>
            </a:lvl1pPr>
          </a:lstStyle>
          <a:p>
            <a:fld id="{8A2A4A19-B384-42F8-8C0D-94C30AAB39F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396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accent6">
              <a:lumMod val="75000"/>
            </a:schemeClr>
          </a:solidFill>
          <a:latin typeface="Stencil" panose="040409050D0802020404" pitchFamily="82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image" Target="../media/image7.emf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10.wmf"/><Relationship Id="rId3" Type="http://schemas.openxmlformats.org/officeDocument/2006/relationships/image" Target="../media/image7.emf"/><Relationship Id="rId7" Type="http://schemas.openxmlformats.org/officeDocument/2006/relationships/image" Target="../media/image5.wmf"/><Relationship Id="rId12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9.wmf"/><Relationship Id="rId5" Type="http://schemas.openxmlformats.org/officeDocument/2006/relationships/image" Target="../media/image4.wmf"/><Relationship Id="rId15" Type="http://schemas.openxmlformats.org/officeDocument/2006/relationships/image" Target="../media/image11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3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5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7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5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7.emf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8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8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3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  <a:t>partitioned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  <a:cs typeface="Arial" panose="020B0604020202020204" pitchFamily="34" charset="0"/>
              </a:rPr>
              <a:t>regression</a:t>
            </a: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</a:br>
            <a:b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5860" y="6497320"/>
            <a:ext cx="5440680" cy="2570480"/>
          </a:xfrm>
        </p:spPr>
        <p:txBody>
          <a:bodyPr/>
          <a:lstStyle/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Fundamentals of</a:t>
            </a:r>
            <a:endParaRPr lang="en-US" sz="24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cs typeface="Arial" panose="020B0604020202020204" pitchFamily="34" charset="0"/>
              </a:rPr>
              <a:t>PROGRAM</a:t>
            </a:r>
            <a:r>
              <a:rPr lang="en-US" sz="2000" dirty="0">
                <a:solidFill>
                  <a:schemeClr val="accent6">
                    <a:lumMod val="75000"/>
                  </a:schemeClr>
                </a:solidFill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Stencil" panose="040409050D0802020404" pitchFamily="82" charset="0"/>
                <a:cs typeface="Arial" panose="020B0604020202020204" pitchFamily="34" charset="0"/>
              </a:rPr>
              <a:t>EVALUATION</a:t>
            </a:r>
          </a:p>
          <a:p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Stencil" panose="040409050D0802020404" pitchFamily="82" charset="0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Berlin Sans FB" panose="020E0602020502020306" pitchFamily="34" charset="0"/>
                <a:cs typeface="Arial" panose="020B0604020202020204" pitchFamily="34" charset="0"/>
              </a:rPr>
              <a:t>JESSE LECY</a:t>
            </a:r>
          </a:p>
          <a:p>
            <a:endParaRPr lang="en-US" sz="2800" dirty="0">
              <a:solidFill>
                <a:schemeClr val="tx1">
                  <a:lumMod val="50000"/>
                  <a:lumOff val="50000"/>
                </a:schemeClr>
              </a:solidFill>
              <a:latin typeface="Stencil" panose="040409050D0802020404" pitchFamily="8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8274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t>2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77875" y="1157288"/>
            <a:ext cx="6994525" cy="1676400"/>
          </a:xfrm>
        </p:spPr>
        <p:txBody>
          <a:bodyPr/>
          <a:lstStyle/>
          <a:p>
            <a:r>
              <a:rPr lang="en-US" dirty="0"/>
              <a:t>Example:  Classroom Size</a:t>
            </a:r>
          </a:p>
        </p:txBody>
      </p:sp>
      <p:pic>
        <p:nvPicPr>
          <p:cNvPr id="19" name="Picture 18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4940" y="3418400"/>
            <a:ext cx="5052060" cy="1473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Rectangle 19"/>
          <p:cNvSpPr/>
          <p:nvPr/>
        </p:nvSpPr>
        <p:spPr>
          <a:xfrm>
            <a:off x="3562350" y="3418400"/>
            <a:ext cx="1424940" cy="14735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21" name="Oval 20"/>
          <p:cNvSpPr/>
          <p:nvPr/>
        </p:nvSpPr>
        <p:spPr>
          <a:xfrm>
            <a:off x="2655570" y="3847899"/>
            <a:ext cx="1036320" cy="32385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22" name="Rectangle 21"/>
          <p:cNvSpPr/>
          <p:nvPr/>
        </p:nvSpPr>
        <p:spPr>
          <a:xfrm>
            <a:off x="5652007" y="3396626"/>
            <a:ext cx="993953" cy="1473518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23" name="Oval 22"/>
          <p:cNvSpPr/>
          <p:nvPr/>
        </p:nvSpPr>
        <p:spPr>
          <a:xfrm>
            <a:off x="4792980" y="3866763"/>
            <a:ext cx="1036320" cy="304985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4" name="TextBox 3"/>
          <p:cNvSpPr txBox="1"/>
          <p:nvPr/>
        </p:nvSpPr>
        <p:spPr>
          <a:xfrm>
            <a:off x="2188019" y="5304169"/>
            <a:ext cx="3774688" cy="563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30" dirty="0">
                <a:solidFill>
                  <a:schemeClr val="accent6">
                    <a:lumMod val="75000"/>
                  </a:schemeClr>
                </a:solidFill>
              </a:rPr>
              <a:t>Why are slopes and standard errors changing</a:t>
            </a:r>
            <a:br>
              <a:rPr lang="en-US" sz="153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530" dirty="0">
                <a:solidFill>
                  <a:schemeClr val="accent6">
                    <a:lumMod val="75000"/>
                  </a:schemeClr>
                </a:solidFill>
              </a:rPr>
              <a:t>when we add “control” variables?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2253323" y="6400800"/>
            <a:ext cx="371475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70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t>3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777875" y="1157288"/>
            <a:ext cx="6994525" cy="1676400"/>
          </a:xfrm>
        </p:spPr>
        <p:txBody>
          <a:bodyPr/>
          <a:lstStyle/>
          <a:p>
            <a:r>
              <a:rPr lang="en-US" dirty="0"/>
              <a:t>Example:  Classroom Size</a:t>
            </a:r>
          </a:p>
        </p:txBody>
      </p:sp>
      <p:sp>
        <p:nvSpPr>
          <p:cNvPr id="5" name="Oval 4"/>
          <p:cNvSpPr/>
          <p:nvPr/>
        </p:nvSpPr>
        <p:spPr>
          <a:xfrm>
            <a:off x="4198809" y="5539770"/>
            <a:ext cx="1230630" cy="123063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6" name="Oval 5"/>
          <p:cNvSpPr/>
          <p:nvPr/>
        </p:nvSpPr>
        <p:spPr>
          <a:xfrm>
            <a:off x="4663440" y="5539770"/>
            <a:ext cx="1230630" cy="123063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7" name="Oval 6"/>
          <p:cNvSpPr/>
          <p:nvPr/>
        </p:nvSpPr>
        <p:spPr>
          <a:xfrm>
            <a:off x="4134039" y="4373910"/>
            <a:ext cx="1878330" cy="18135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8" name="TextBox 7"/>
          <p:cNvSpPr txBox="1"/>
          <p:nvPr/>
        </p:nvSpPr>
        <p:spPr>
          <a:xfrm>
            <a:off x="4533900" y="5093926"/>
            <a:ext cx="1079334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Test Scores</a:t>
            </a:r>
          </a:p>
        </p:txBody>
      </p:sp>
      <p:sp>
        <p:nvSpPr>
          <p:cNvPr id="14" name="Oval 13"/>
          <p:cNvSpPr/>
          <p:nvPr/>
        </p:nvSpPr>
        <p:spPr>
          <a:xfrm>
            <a:off x="4535235" y="3863296"/>
            <a:ext cx="1230630" cy="123063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15" name="TextBox 14"/>
          <p:cNvSpPr txBox="1"/>
          <p:nvPr/>
        </p:nvSpPr>
        <p:spPr>
          <a:xfrm>
            <a:off x="4063682" y="6770400"/>
            <a:ext cx="1030282" cy="563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30" b="1" dirty="0"/>
              <a:t>Classroom</a:t>
            </a:r>
            <a:br>
              <a:rPr lang="en-US" sz="1530" b="1" dirty="0"/>
            </a:br>
            <a:r>
              <a:rPr lang="en-US" sz="1530" b="1" dirty="0"/>
              <a:t>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8534" y="5985525"/>
            <a:ext cx="966803" cy="7986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Socio-</a:t>
            </a:r>
            <a:br>
              <a:rPr lang="en-US" sz="1530" b="1" dirty="0"/>
            </a:br>
            <a:r>
              <a:rPr lang="en-US" sz="1530" b="1" dirty="0"/>
              <a:t>Economic</a:t>
            </a:r>
            <a:br>
              <a:rPr lang="en-US" sz="1530" b="1" dirty="0"/>
            </a:br>
            <a:r>
              <a:rPr lang="en-US" sz="1530" b="1" dirty="0"/>
              <a:t>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48977" y="3826195"/>
            <a:ext cx="818557" cy="563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Teacher</a:t>
            </a:r>
            <a:br>
              <a:rPr lang="en-US" sz="1530" b="1" dirty="0"/>
            </a:br>
            <a:r>
              <a:rPr lang="en-US" sz="1530" b="1" dirty="0"/>
              <a:t>Quality</a:t>
            </a:r>
          </a:p>
        </p:txBody>
      </p:sp>
      <p:pic>
        <p:nvPicPr>
          <p:cNvPr id="13" name="Picture 12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850" y="3709173"/>
            <a:ext cx="3335655" cy="3330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626952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Partitioning the Variance of Y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26030" y="3345180"/>
            <a:ext cx="3756660" cy="3751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Straight Connector 8"/>
          <p:cNvCxnSpPr/>
          <p:nvPr/>
        </p:nvCxnSpPr>
        <p:spPr>
          <a:xfrm>
            <a:off x="2979420" y="5162552"/>
            <a:ext cx="330327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ight Brace 11"/>
          <p:cNvSpPr/>
          <p:nvPr/>
        </p:nvSpPr>
        <p:spPr>
          <a:xfrm>
            <a:off x="5505450" y="4720591"/>
            <a:ext cx="129540" cy="388620"/>
          </a:xfrm>
          <a:prstGeom prst="rightBrac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cxnSp>
        <p:nvCxnSpPr>
          <p:cNvPr id="14" name="Straight Connector 13"/>
          <p:cNvCxnSpPr/>
          <p:nvPr/>
        </p:nvCxnSpPr>
        <p:spPr>
          <a:xfrm rot="5400000">
            <a:off x="4922520" y="4705350"/>
            <a:ext cx="906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311140" y="4122420"/>
            <a:ext cx="129540" cy="1295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16" name="Right Brace 15"/>
          <p:cNvSpPr/>
          <p:nvPr/>
        </p:nvSpPr>
        <p:spPr>
          <a:xfrm>
            <a:off x="5505450" y="4251960"/>
            <a:ext cx="129540" cy="388620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6212523" y="4813300"/>
          <a:ext cx="33464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7" name="Equation" r:id="rId4" imgW="393480" imgH="253800" progId="Equation.3">
                  <p:embed/>
                </p:oleObj>
              </mc:Choice>
              <mc:Fallback>
                <p:oleObj name="Equation" r:id="rId4" imgW="393480" imgH="253800" progId="Equation.3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2523" y="4813300"/>
                        <a:ext cx="334645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8"/>
          <p:cNvGraphicFramePr>
            <a:graphicFrameLocks noChangeAspect="1"/>
          </p:cNvGraphicFramePr>
          <p:nvPr/>
        </p:nvGraphicFramePr>
        <p:xfrm>
          <a:off x="6207204" y="4295140"/>
          <a:ext cx="570785" cy="222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8" name="Equation" r:id="rId6" imgW="647640" imgH="253800" progId="Equation.3">
                  <p:embed/>
                </p:oleObj>
              </mc:Choice>
              <mc:Fallback>
                <p:oleObj name="Equation" r:id="rId6" imgW="647640" imgH="253800" progId="Equation.3">
                  <p:embed/>
                  <p:pic>
                    <p:nvPicPr>
                      <p:cNvPr id="4506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204" y="4295140"/>
                        <a:ext cx="570785" cy="2226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Oval 24"/>
          <p:cNvSpPr/>
          <p:nvPr/>
        </p:nvSpPr>
        <p:spPr>
          <a:xfrm>
            <a:off x="782729" y="4720591"/>
            <a:ext cx="594097" cy="571364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6" name="Oval 25"/>
          <p:cNvSpPr/>
          <p:nvPr/>
        </p:nvSpPr>
        <p:spPr>
          <a:xfrm>
            <a:off x="588419" y="4267201"/>
            <a:ext cx="906780" cy="84201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27" name="TextBox 26"/>
          <p:cNvSpPr txBox="1"/>
          <p:nvPr/>
        </p:nvSpPr>
        <p:spPr>
          <a:xfrm>
            <a:off x="1106579" y="5238750"/>
            <a:ext cx="582930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b="1" dirty="0"/>
              <a:t>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55168" y="4046222"/>
            <a:ext cx="259080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b="1" dirty="0"/>
              <a:t>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316" y="4778166"/>
            <a:ext cx="553357" cy="301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60" dirty="0">
                <a:solidFill>
                  <a:schemeClr val="accent6">
                    <a:lumMod val="75000"/>
                  </a:schemeClr>
                </a:solidFill>
              </a:rPr>
              <a:t>Y-hat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0790" y="4360154"/>
            <a:ext cx="282450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>
                <a:solidFill>
                  <a:schemeClr val="tx2"/>
                </a:solidFill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65620" y="4251960"/>
            <a:ext cx="662361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>
                <a:solidFill>
                  <a:schemeClr val="tx2"/>
                </a:solidFill>
              </a:rPr>
              <a:t>-&gt; SSE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1310" y="4744053"/>
            <a:ext cx="669414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>
                <a:solidFill>
                  <a:schemeClr val="accent6">
                    <a:lumMod val="75000"/>
                  </a:schemeClr>
                </a:solidFill>
              </a:rPr>
              <a:t>-&gt; RSS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/>
          </p:nvPr>
        </p:nvGraphicFramePr>
        <p:xfrm>
          <a:off x="3044190" y="4947286"/>
          <a:ext cx="129540" cy="16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5309" name="Equation" r:id="rId8" imgW="152280" imgH="190440" progId="Equation.3">
                  <p:embed/>
                </p:oleObj>
              </mc:Choice>
              <mc:Fallback>
                <p:oleObj name="Equation" r:id="rId8" imgW="152280" imgH="190440" progId="Equation.3">
                  <p:embed/>
                  <p:pic>
                    <p:nvPicPr>
                      <p:cNvPr id="4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190" y="4947286"/>
                        <a:ext cx="129540" cy="16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88350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Error in Regression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8160" y="3345180"/>
            <a:ext cx="3756660" cy="3751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Straight Connector 8"/>
          <p:cNvCxnSpPr/>
          <p:nvPr/>
        </p:nvCxnSpPr>
        <p:spPr>
          <a:xfrm>
            <a:off x="971550" y="5162552"/>
            <a:ext cx="330327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ight Brace 11"/>
          <p:cNvSpPr/>
          <p:nvPr/>
        </p:nvSpPr>
        <p:spPr>
          <a:xfrm>
            <a:off x="3497580" y="4720591"/>
            <a:ext cx="129540" cy="388620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cxnSp>
        <p:nvCxnSpPr>
          <p:cNvPr id="14" name="Straight Connector 13"/>
          <p:cNvCxnSpPr/>
          <p:nvPr/>
        </p:nvCxnSpPr>
        <p:spPr>
          <a:xfrm rot="5400000">
            <a:off x="2914650" y="4705350"/>
            <a:ext cx="906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303270" y="4122420"/>
            <a:ext cx="129540" cy="1295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16" name="Right Brace 15"/>
          <p:cNvSpPr/>
          <p:nvPr/>
        </p:nvSpPr>
        <p:spPr>
          <a:xfrm>
            <a:off x="3497580" y="4251960"/>
            <a:ext cx="129540" cy="388620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4204653" y="4813300"/>
          <a:ext cx="33464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0" name="Equation" r:id="rId4" imgW="393529" imgH="253890" progId="Equation.3">
                  <p:embed/>
                </p:oleObj>
              </mc:Choice>
              <mc:Fallback>
                <p:oleObj name="Equation" r:id="rId4" imgW="393529" imgH="253890" progId="Equation.3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04653" y="4813300"/>
                        <a:ext cx="334645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8"/>
          <p:cNvGraphicFramePr>
            <a:graphicFrameLocks noChangeAspect="1"/>
          </p:cNvGraphicFramePr>
          <p:nvPr/>
        </p:nvGraphicFramePr>
        <p:xfrm>
          <a:off x="4199334" y="4295140"/>
          <a:ext cx="570785" cy="222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1" name="Equation" r:id="rId6" imgW="647419" imgH="253890" progId="Equation.3">
                  <p:embed/>
                </p:oleObj>
              </mc:Choice>
              <mc:Fallback>
                <p:oleObj name="Equation" r:id="rId6" imgW="647419" imgH="253890" progId="Equation.3">
                  <p:embed/>
                  <p:pic>
                    <p:nvPicPr>
                      <p:cNvPr id="4506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9334" y="4295140"/>
                        <a:ext cx="570785" cy="2226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Object 9"/>
          <p:cNvGraphicFramePr>
            <a:graphicFrameLocks noChangeAspect="1"/>
          </p:cNvGraphicFramePr>
          <p:nvPr/>
        </p:nvGraphicFramePr>
        <p:xfrm flipH="1">
          <a:off x="1230630" y="4834890"/>
          <a:ext cx="161925" cy="283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2" name="Equation" r:id="rId8" imgW="152334" imgH="190417" progId="Equation.3">
                  <p:embed/>
                </p:oleObj>
              </mc:Choice>
              <mc:Fallback>
                <p:oleObj name="Equation" r:id="rId8" imgW="152334" imgH="190417" progId="Equation.3">
                  <p:embed/>
                  <p:pic>
                    <p:nvPicPr>
                      <p:cNvPr id="450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flipH="1">
                        <a:off x="1230630" y="4834890"/>
                        <a:ext cx="161925" cy="2833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>
          <a:xfrm>
            <a:off x="5440680" y="5480060"/>
            <a:ext cx="1657826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0" dirty="0">
                <a:solidFill>
                  <a:schemeClr val="accent6">
                    <a:lumMod val="75000"/>
                  </a:schemeClr>
                </a:solidFill>
              </a:rPr>
              <a:t>Variance of the residual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75911" y="6775460"/>
            <a:ext cx="186621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0" dirty="0">
                <a:solidFill>
                  <a:schemeClr val="accent6">
                    <a:lumMod val="75000"/>
                  </a:schemeClr>
                </a:solidFill>
              </a:rPr>
              <a:t>Standard error of the slope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 flipV="1">
            <a:off x="4857750" y="4122420"/>
            <a:ext cx="777240" cy="259080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40680" y="4316730"/>
            <a:ext cx="1933543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0" dirty="0">
                <a:solidFill>
                  <a:schemeClr val="accent6">
                    <a:lumMod val="75000"/>
                  </a:schemeClr>
                </a:solidFill>
              </a:rPr>
              <a:t>Sum of Squared Error Terms</a:t>
            </a:r>
          </a:p>
        </p:txBody>
      </p:sp>
      <p:graphicFrame>
        <p:nvGraphicFramePr>
          <p:cNvPr id="45067" name="Object 11"/>
          <p:cNvGraphicFramePr>
            <a:graphicFrameLocks noChangeAspect="1"/>
          </p:cNvGraphicFramePr>
          <p:nvPr/>
        </p:nvGraphicFramePr>
        <p:xfrm>
          <a:off x="5525691" y="6188314"/>
          <a:ext cx="1504553" cy="6126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3" name="Equation" r:id="rId10" imgW="1282700" imgH="520700" progId="Equation.3">
                  <p:embed/>
                </p:oleObj>
              </mc:Choice>
              <mc:Fallback>
                <p:oleObj name="Equation" r:id="rId10" imgW="1282700" imgH="520700" progId="Equation.3">
                  <p:embed/>
                  <p:pic>
                    <p:nvPicPr>
                      <p:cNvPr id="45067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5691" y="6188314"/>
                        <a:ext cx="1504553" cy="6126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8" name="Object 12"/>
          <p:cNvGraphicFramePr>
            <a:graphicFrameLocks noChangeAspect="1"/>
          </p:cNvGraphicFramePr>
          <p:nvPr/>
        </p:nvGraphicFramePr>
        <p:xfrm>
          <a:off x="5829300" y="5029200"/>
          <a:ext cx="804228" cy="462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4" name="Equation" r:id="rId12" imgW="685800" imgH="393700" progId="Equation.3">
                  <p:embed/>
                </p:oleObj>
              </mc:Choice>
              <mc:Fallback>
                <p:oleObj name="Equation" r:id="rId12" imgW="685800" imgH="393700" progId="Equation.3">
                  <p:embed/>
                  <p:pic>
                    <p:nvPicPr>
                      <p:cNvPr id="45068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9300" y="5029200"/>
                        <a:ext cx="804228" cy="46283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9" name="Object 13"/>
          <p:cNvGraphicFramePr>
            <a:graphicFrameLocks noChangeAspect="1"/>
          </p:cNvGraphicFramePr>
          <p:nvPr/>
        </p:nvGraphicFramePr>
        <p:xfrm>
          <a:off x="5894070" y="3928111"/>
          <a:ext cx="908130" cy="2982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45" name="Equation" r:id="rId14" imgW="774364" imgH="253890" progId="Equation.3">
                  <p:embed/>
                </p:oleObj>
              </mc:Choice>
              <mc:Fallback>
                <p:oleObj name="Equation" r:id="rId14" imgW="774364" imgH="253890" progId="Equation.3">
                  <p:embed/>
                  <p:pic>
                    <p:nvPicPr>
                      <p:cNvPr id="45069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4070" y="3928111"/>
                        <a:ext cx="908130" cy="29821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69075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t>6</a:t>
            </a:fld>
            <a:endParaRPr lang="en-US"/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2526030" y="2507218"/>
            <a:ext cx="5052060" cy="50439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Oval 3"/>
          <p:cNvSpPr/>
          <p:nvPr/>
        </p:nvSpPr>
        <p:spPr>
          <a:xfrm>
            <a:off x="670101" y="3352639"/>
            <a:ext cx="594097" cy="571364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5" name="Oval 4"/>
          <p:cNvSpPr/>
          <p:nvPr/>
        </p:nvSpPr>
        <p:spPr>
          <a:xfrm>
            <a:off x="754842" y="2802146"/>
            <a:ext cx="906780" cy="84201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6" name="TextBox 5"/>
          <p:cNvSpPr txBox="1"/>
          <p:nvPr/>
        </p:nvSpPr>
        <p:spPr>
          <a:xfrm>
            <a:off x="389164" y="3671340"/>
            <a:ext cx="582930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dirty="0"/>
              <a:t>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40" y="2697481"/>
            <a:ext cx="756439" cy="56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dirty="0"/>
              <a:t>Test</a:t>
            </a:r>
            <a:br>
              <a:rPr lang="en-US" sz="1530" dirty="0"/>
            </a:br>
            <a:r>
              <a:rPr lang="en-US" sz="1530" dirty="0"/>
              <a:t>Score</a:t>
            </a:r>
          </a:p>
        </p:txBody>
      </p:sp>
      <p:sp>
        <p:nvSpPr>
          <p:cNvPr id="9" name="Oval 8"/>
          <p:cNvSpPr/>
          <p:nvPr/>
        </p:nvSpPr>
        <p:spPr>
          <a:xfrm>
            <a:off x="1210659" y="5364616"/>
            <a:ext cx="594097" cy="571364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10" name="Oval 9"/>
          <p:cNvSpPr/>
          <p:nvPr/>
        </p:nvSpPr>
        <p:spPr>
          <a:xfrm>
            <a:off x="1295400" y="4814124"/>
            <a:ext cx="906780" cy="84201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11" name="TextBox 10"/>
          <p:cNvSpPr txBox="1"/>
          <p:nvPr/>
        </p:nvSpPr>
        <p:spPr>
          <a:xfrm>
            <a:off x="863467" y="5650297"/>
            <a:ext cx="582930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dirty="0"/>
              <a:t>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168" y="4679648"/>
            <a:ext cx="622232" cy="56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dirty="0"/>
              <a:t>Test </a:t>
            </a:r>
            <a:br>
              <a:rPr lang="en-US" sz="1530" dirty="0"/>
            </a:br>
            <a:r>
              <a:rPr lang="en-US" sz="1530" dirty="0"/>
              <a:t>Score</a:t>
            </a:r>
          </a:p>
        </p:txBody>
      </p:sp>
      <p:sp>
        <p:nvSpPr>
          <p:cNvPr id="14" name="Oval 13"/>
          <p:cNvSpPr/>
          <p:nvPr/>
        </p:nvSpPr>
        <p:spPr>
          <a:xfrm>
            <a:off x="1755708" y="4795001"/>
            <a:ext cx="786043" cy="744789"/>
          </a:xfrm>
          <a:prstGeom prst="ellipse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15" name="TextBox 14"/>
          <p:cNvSpPr txBox="1"/>
          <p:nvPr/>
        </p:nvSpPr>
        <p:spPr>
          <a:xfrm>
            <a:off x="2461260" y="4769890"/>
            <a:ext cx="582930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dirty="0"/>
              <a:t>TQ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3476" y="4251960"/>
            <a:ext cx="859531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Model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799" y="2244090"/>
            <a:ext cx="859531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Model 1</a:t>
            </a:r>
          </a:p>
        </p:txBody>
      </p:sp>
      <p:sp>
        <p:nvSpPr>
          <p:cNvPr id="18" name="Oval 17"/>
          <p:cNvSpPr/>
          <p:nvPr/>
        </p:nvSpPr>
        <p:spPr>
          <a:xfrm>
            <a:off x="960383" y="7178176"/>
            <a:ext cx="594097" cy="571364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19" name="Oval 18"/>
          <p:cNvSpPr/>
          <p:nvPr/>
        </p:nvSpPr>
        <p:spPr>
          <a:xfrm>
            <a:off x="881312" y="6692454"/>
            <a:ext cx="906780" cy="84201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20" name="TextBox 19"/>
          <p:cNvSpPr txBox="1"/>
          <p:nvPr/>
        </p:nvSpPr>
        <p:spPr>
          <a:xfrm>
            <a:off x="449379" y="7435608"/>
            <a:ext cx="582930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dirty="0"/>
              <a:t>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080" y="6557978"/>
            <a:ext cx="622232" cy="56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dirty="0"/>
              <a:t>Test </a:t>
            </a:r>
            <a:br>
              <a:rPr lang="en-US" sz="1530" dirty="0"/>
            </a:br>
            <a:r>
              <a:rPr lang="en-US" sz="1530" dirty="0"/>
              <a:t>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79024" y="7377497"/>
            <a:ext cx="582930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dirty="0"/>
              <a:t>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56136" y="6378521"/>
            <a:ext cx="859531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Model 4</a:t>
            </a:r>
          </a:p>
        </p:txBody>
      </p:sp>
      <p:sp>
        <p:nvSpPr>
          <p:cNvPr id="26" name="Oval 25"/>
          <p:cNvSpPr/>
          <p:nvPr/>
        </p:nvSpPr>
        <p:spPr>
          <a:xfrm>
            <a:off x="1101090" y="7166610"/>
            <a:ext cx="594097" cy="571364"/>
          </a:xfrm>
          <a:prstGeom prst="ellipse">
            <a:avLst/>
          </a:prstGeom>
          <a:solidFill>
            <a:schemeClr val="tx1">
              <a:lumMod val="50000"/>
              <a:lumOff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</p:spTree>
    <p:extLst>
      <p:ext uri="{BB962C8B-B14F-4D97-AF65-F5344CB8AC3E}">
        <p14:creationId xmlns:p14="http://schemas.microsoft.com/office/powerpoint/2010/main" val="1176049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Partitioned regression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98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3429000" y="6400800"/>
            <a:ext cx="1230630" cy="123063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9" name="TextBox 8"/>
          <p:cNvSpPr txBox="1"/>
          <p:nvPr/>
        </p:nvSpPr>
        <p:spPr>
          <a:xfrm>
            <a:off x="4653269" y="740277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X2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49611" y="724581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X1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1150" y="4970356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385D8A"/>
                </a:solidFill>
              </a:rPr>
              <a:t>Y</a:t>
            </a:r>
          </a:p>
        </p:txBody>
      </p:sp>
      <p:sp>
        <p:nvSpPr>
          <p:cNvPr id="6" name="Oval 5"/>
          <p:cNvSpPr/>
          <p:nvPr/>
        </p:nvSpPr>
        <p:spPr>
          <a:xfrm>
            <a:off x="2813685" y="6211449"/>
            <a:ext cx="1230630" cy="123063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5" name="Oval 4"/>
          <p:cNvSpPr/>
          <p:nvPr/>
        </p:nvSpPr>
        <p:spPr>
          <a:xfrm>
            <a:off x="2956976" y="5259729"/>
            <a:ext cx="1878330" cy="1813560"/>
          </a:xfrm>
          <a:prstGeom prst="ellipse">
            <a:avLst/>
          </a:prstGeom>
          <a:noFill/>
          <a:ln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22" name="TextBox 21"/>
          <p:cNvSpPr txBox="1"/>
          <p:nvPr/>
        </p:nvSpPr>
        <p:spPr>
          <a:xfrm>
            <a:off x="3280904" y="6307721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4342" y="5661493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51565" y="6751193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B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318818" y="3430324"/>
            <a:ext cx="12886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Dependent </a:t>
            </a:r>
          </a:p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2298" y="8687658"/>
            <a:ext cx="9476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Policy </a:t>
            </a:r>
          </a:p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5298" y="8687657"/>
            <a:ext cx="947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Control </a:t>
            </a:r>
          </a:p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Variable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>
            <a:off x="2937298" y="4130010"/>
            <a:ext cx="172483" cy="630108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 flipV="1">
            <a:off x="1659928" y="7762449"/>
            <a:ext cx="640132" cy="64631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5081591" y="7849458"/>
            <a:ext cx="1042379" cy="84368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Ballentine</a:t>
            </a:r>
            <a:r>
              <a:rPr lang="en-US" dirty="0"/>
              <a:t> </a:t>
            </a:r>
            <a:r>
              <a:rPr lang="en-US" dirty="0" err="1"/>
              <a:t>venn</a:t>
            </a:r>
            <a:r>
              <a:rPr lang="en-US" dirty="0"/>
              <a:t> diagram</a:t>
            </a:r>
          </a:p>
        </p:txBody>
      </p:sp>
    </p:spTree>
    <p:extLst>
      <p:ext uri="{BB962C8B-B14F-4D97-AF65-F5344CB8AC3E}">
        <p14:creationId xmlns:p14="http://schemas.microsoft.com/office/powerpoint/2010/main" val="3089666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449611" y="724581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X1</a:t>
            </a:r>
          </a:p>
        </p:txBody>
      </p:sp>
      <p:sp>
        <p:nvSpPr>
          <p:cNvPr id="6" name="Oval 5"/>
          <p:cNvSpPr/>
          <p:nvPr/>
        </p:nvSpPr>
        <p:spPr>
          <a:xfrm>
            <a:off x="2813685" y="6211449"/>
            <a:ext cx="1230630" cy="123063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5" name="Oval 4"/>
          <p:cNvSpPr/>
          <p:nvPr/>
        </p:nvSpPr>
        <p:spPr>
          <a:xfrm>
            <a:off x="2956976" y="5259729"/>
            <a:ext cx="1878330" cy="1813560"/>
          </a:xfrm>
          <a:prstGeom prst="ellipse">
            <a:avLst/>
          </a:prstGeom>
          <a:noFill/>
          <a:ln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2" name="TextBox 1"/>
          <p:cNvSpPr txBox="1"/>
          <p:nvPr/>
        </p:nvSpPr>
        <p:spPr>
          <a:xfrm>
            <a:off x="2871435" y="3967716"/>
            <a:ext cx="18058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rgbClr val="385D8A"/>
                </a:solidFill>
              </a:rPr>
              <a:t>Variance of 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029" y="7659910"/>
            <a:ext cx="1240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Cov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 X1, Y )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3614650" y="6690454"/>
            <a:ext cx="1042379" cy="843684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Ballentine</a:t>
            </a:r>
            <a:r>
              <a:rPr lang="en-US" dirty="0"/>
              <a:t> </a:t>
            </a:r>
            <a:r>
              <a:rPr lang="en-US" dirty="0" err="1"/>
              <a:t>venn</a:t>
            </a:r>
            <a:r>
              <a:rPr lang="en-US" dirty="0"/>
              <a:t> diagram</a:t>
            </a:r>
          </a:p>
        </p:txBody>
      </p:sp>
      <p:sp>
        <p:nvSpPr>
          <p:cNvPr id="20" name="Right Brace 19"/>
          <p:cNvSpPr/>
          <p:nvPr/>
        </p:nvSpPr>
        <p:spPr>
          <a:xfrm rot="16200000">
            <a:off x="3625292" y="3790734"/>
            <a:ext cx="440055" cy="2115073"/>
          </a:xfrm>
          <a:prstGeom prst="rightBrace">
            <a:avLst/>
          </a:prstGeom>
          <a:ln>
            <a:solidFill>
              <a:srgbClr val="385D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3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3429000" y="6400800"/>
            <a:ext cx="1230630" cy="123063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6" name="Oval 5"/>
          <p:cNvSpPr/>
          <p:nvPr/>
        </p:nvSpPr>
        <p:spPr>
          <a:xfrm>
            <a:off x="2813685" y="6211449"/>
            <a:ext cx="1230630" cy="123063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12" name="TextBox 11"/>
          <p:cNvSpPr txBox="1"/>
          <p:nvPr/>
        </p:nvSpPr>
        <p:spPr>
          <a:xfrm>
            <a:off x="2416919" y="8714905"/>
            <a:ext cx="1365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Cov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 X1, X2 )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1954" y="6826764"/>
            <a:ext cx="1045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Variance </a:t>
            </a:r>
          </a:p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of X2</a:t>
            </a:r>
          </a:p>
        </p:txBody>
      </p:sp>
      <p:cxnSp>
        <p:nvCxnSpPr>
          <p:cNvPr id="17" name="Straight Arrow Connector 16"/>
          <p:cNvCxnSpPr>
            <a:stCxn id="12" idx="0"/>
          </p:cNvCxnSpPr>
          <p:nvPr/>
        </p:nvCxnSpPr>
        <p:spPr>
          <a:xfrm flipV="1">
            <a:off x="3099446" y="7016115"/>
            <a:ext cx="682527" cy="16987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Ballentine</a:t>
            </a:r>
            <a:r>
              <a:rPr lang="en-US" dirty="0"/>
              <a:t> </a:t>
            </a:r>
            <a:r>
              <a:rPr lang="en-US" dirty="0" err="1"/>
              <a:t>venn</a:t>
            </a:r>
            <a:r>
              <a:rPr lang="en-US" dirty="0"/>
              <a:t> diagram</a:t>
            </a:r>
          </a:p>
        </p:txBody>
      </p:sp>
      <p:sp>
        <p:nvSpPr>
          <p:cNvPr id="15" name="Right Brace 14"/>
          <p:cNvSpPr/>
          <p:nvPr/>
        </p:nvSpPr>
        <p:spPr>
          <a:xfrm>
            <a:off x="5093252" y="6490728"/>
            <a:ext cx="440055" cy="1140702"/>
          </a:xfrm>
          <a:prstGeom prst="rightBrac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937811" y="6490728"/>
            <a:ext cx="10454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Variance </a:t>
            </a:r>
          </a:p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of X1</a:t>
            </a:r>
          </a:p>
        </p:txBody>
      </p:sp>
      <p:sp>
        <p:nvSpPr>
          <p:cNvPr id="24" name="Right Brace 23"/>
          <p:cNvSpPr/>
          <p:nvPr/>
        </p:nvSpPr>
        <p:spPr>
          <a:xfrm rot="10800000">
            <a:off x="2048691" y="6243253"/>
            <a:ext cx="440055" cy="1219200"/>
          </a:xfrm>
          <a:prstGeom prst="rightBrac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25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/>
          <p:cNvSpPr/>
          <p:nvPr/>
        </p:nvSpPr>
        <p:spPr>
          <a:xfrm>
            <a:off x="3429000" y="6400800"/>
            <a:ext cx="1230630" cy="123063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10" name="TextBox 9"/>
          <p:cNvSpPr txBox="1"/>
          <p:nvPr/>
        </p:nvSpPr>
        <p:spPr>
          <a:xfrm>
            <a:off x="3179119" y="747957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X1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1150" y="4970356"/>
            <a:ext cx="3449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385D8A"/>
                </a:solidFill>
              </a:rPr>
              <a:t>Y</a:t>
            </a:r>
          </a:p>
        </p:txBody>
      </p:sp>
      <p:sp>
        <p:nvSpPr>
          <p:cNvPr id="6" name="Oval 5"/>
          <p:cNvSpPr/>
          <p:nvPr/>
        </p:nvSpPr>
        <p:spPr>
          <a:xfrm>
            <a:off x="2813685" y="6211449"/>
            <a:ext cx="1230630" cy="123063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5" name="Oval 4"/>
          <p:cNvSpPr/>
          <p:nvPr/>
        </p:nvSpPr>
        <p:spPr>
          <a:xfrm>
            <a:off x="2956976" y="5259729"/>
            <a:ext cx="1878330" cy="1813560"/>
          </a:xfrm>
          <a:prstGeom prst="ellipse">
            <a:avLst/>
          </a:prstGeom>
          <a:noFill/>
          <a:ln>
            <a:solidFill>
              <a:srgbClr val="385D8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22" name="TextBox 21"/>
          <p:cNvSpPr txBox="1"/>
          <p:nvPr/>
        </p:nvSpPr>
        <p:spPr>
          <a:xfrm>
            <a:off x="3280904" y="6307721"/>
            <a:ext cx="3337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4342" y="5661493"/>
            <a:ext cx="320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51565" y="6751193"/>
            <a:ext cx="3241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B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774342" y="3508487"/>
            <a:ext cx="32138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 = Unexplained Portion of Y (the residual)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198" y="4468832"/>
            <a:ext cx="200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 =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Cov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 X1, Y) after removing effects of X2 (“controlling for”)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209" y="8356236"/>
            <a:ext cx="23730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 + B = Variance of X1 after controlling for X2</a:t>
            </a:r>
          </a:p>
        </p:txBody>
      </p:sp>
      <p:cxnSp>
        <p:nvCxnSpPr>
          <p:cNvPr id="4" name="Straight Arrow Connector 3"/>
          <p:cNvCxnSpPr/>
          <p:nvPr/>
        </p:nvCxnSpPr>
        <p:spPr>
          <a:xfrm flipH="1">
            <a:off x="4095264" y="4340248"/>
            <a:ext cx="1284506" cy="1222352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1876926" y="5776207"/>
            <a:ext cx="1359448" cy="67109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V="1">
            <a:off x="2022694" y="7274625"/>
            <a:ext cx="714337" cy="87877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Ballentine</a:t>
            </a:r>
            <a:r>
              <a:rPr lang="en-US" dirty="0"/>
              <a:t> </a:t>
            </a:r>
            <a:r>
              <a:rPr lang="en-US" dirty="0" err="1"/>
              <a:t>venn</a:t>
            </a:r>
            <a:r>
              <a:rPr lang="en-US" dirty="0"/>
              <a:t> diagram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3269" y="7402776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X2</a:t>
            </a:r>
          </a:p>
        </p:txBody>
      </p:sp>
    </p:spTree>
    <p:extLst>
      <p:ext uri="{BB962C8B-B14F-4D97-AF65-F5344CB8AC3E}">
        <p14:creationId xmlns:p14="http://schemas.microsoft.com/office/powerpoint/2010/main" val="800841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Partitioned Regression</a:t>
            </a:r>
          </a:p>
        </p:txBody>
      </p:sp>
      <p:sp>
        <p:nvSpPr>
          <p:cNvPr id="5" name="Oval 4"/>
          <p:cNvSpPr/>
          <p:nvPr/>
        </p:nvSpPr>
        <p:spPr>
          <a:xfrm>
            <a:off x="712470" y="3409950"/>
            <a:ext cx="1878330" cy="181356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6" name="Oval 5"/>
          <p:cNvSpPr/>
          <p:nvPr/>
        </p:nvSpPr>
        <p:spPr>
          <a:xfrm>
            <a:off x="712470" y="6195060"/>
            <a:ext cx="1230630" cy="123063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4" name="Oval 3"/>
          <p:cNvSpPr/>
          <p:nvPr/>
        </p:nvSpPr>
        <p:spPr>
          <a:xfrm>
            <a:off x="1036320" y="4575810"/>
            <a:ext cx="1230630" cy="1230630"/>
          </a:xfrm>
          <a:prstGeom prst="ellipse">
            <a:avLst/>
          </a:prstGeom>
          <a:solidFill>
            <a:schemeClr val="bg1">
              <a:lumMod val="95000"/>
              <a:alpha val="36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7" name="Oval 6"/>
          <p:cNvSpPr/>
          <p:nvPr/>
        </p:nvSpPr>
        <p:spPr>
          <a:xfrm>
            <a:off x="1424940" y="6454140"/>
            <a:ext cx="1230630" cy="1230630"/>
          </a:xfrm>
          <a:prstGeom prst="ellipse">
            <a:avLst/>
          </a:prstGeom>
          <a:solidFill>
            <a:schemeClr val="bg1">
              <a:lumMod val="95000"/>
              <a:alpha val="37000"/>
            </a:schemeClr>
          </a:solidFill>
          <a:ln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8" name="TextBox 7"/>
          <p:cNvSpPr txBox="1"/>
          <p:nvPr/>
        </p:nvSpPr>
        <p:spPr>
          <a:xfrm>
            <a:off x="1489710" y="5353050"/>
            <a:ext cx="391454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X2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72640" y="7037070"/>
            <a:ext cx="391454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X2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1550" y="6583680"/>
            <a:ext cx="391454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X1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9710" y="3863340"/>
            <a:ext cx="287258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Y</a:t>
            </a:r>
          </a:p>
        </p:txBody>
      </p:sp>
      <p:graphicFrame>
        <p:nvGraphicFramePr>
          <p:cNvPr id="35842" name="Object 2"/>
          <p:cNvGraphicFramePr>
            <a:graphicFrameLocks noChangeAspect="1"/>
          </p:cNvGraphicFramePr>
          <p:nvPr>
            <p:extLst/>
          </p:nvPr>
        </p:nvGraphicFramePr>
        <p:xfrm>
          <a:off x="2979420" y="4251960"/>
          <a:ext cx="2010569" cy="421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2" name="Equation" r:id="rId3" imgW="1091880" imgH="228600" progId="Equation.3">
                  <p:embed/>
                </p:oleObj>
              </mc:Choice>
              <mc:Fallback>
                <p:oleObj name="Equation" r:id="rId3" imgW="1091880" imgH="228600" progId="Equation.3">
                  <p:embed/>
                  <p:pic>
                    <p:nvPicPr>
                      <p:cNvPr id="358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9420" y="4251960"/>
                        <a:ext cx="2010569" cy="421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843" name="Object 3"/>
          <p:cNvGraphicFramePr>
            <a:graphicFrameLocks noChangeAspect="1"/>
          </p:cNvGraphicFramePr>
          <p:nvPr>
            <p:extLst/>
          </p:nvPr>
        </p:nvGraphicFramePr>
        <p:xfrm>
          <a:off x="3044190" y="6583680"/>
          <a:ext cx="2150904" cy="421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353" name="Equation" r:id="rId5" imgW="1168200" imgH="228600" progId="Equation.3">
                  <p:embed/>
                </p:oleObj>
              </mc:Choice>
              <mc:Fallback>
                <p:oleObj name="Equation" r:id="rId5" imgW="1168200" imgH="228600" progId="Equation.3">
                  <p:embed/>
                  <p:pic>
                    <p:nvPicPr>
                      <p:cNvPr id="358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4190" y="6583680"/>
                        <a:ext cx="2150904" cy="421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Oval 14"/>
          <p:cNvSpPr/>
          <p:nvPr/>
        </p:nvSpPr>
        <p:spPr>
          <a:xfrm>
            <a:off x="5311140" y="3409950"/>
            <a:ext cx="1878330" cy="181356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17" name="TextBox 16"/>
          <p:cNvSpPr txBox="1"/>
          <p:nvPr/>
        </p:nvSpPr>
        <p:spPr>
          <a:xfrm>
            <a:off x="6088380" y="3863340"/>
            <a:ext cx="349776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e</a:t>
            </a:r>
            <a:r>
              <a:rPr lang="en-US" sz="1530" b="1" baseline="-25000" dirty="0"/>
              <a:t>1</a:t>
            </a:r>
          </a:p>
        </p:txBody>
      </p:sp>
      <p:sp>
        <p:nvSpPr>
          <p:cNvPr id="14" name="Oval 13"/>
          <p:cNvSpPr/>
          <p:nvPr/>
        </p:nvSpPr>
        <p:spPr>
          <a:xfrm>
            <a:off x="5649384" y="4439073"/>
            <a:ext cx="1230630" cy="12306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19" name="Oval 18"/>
          <p:cNvSpPr/>
          <p:nvPr/>
        </p:nvSpPr>
        <p:spPr>
          <a:xfrm>
            <a:off x="5570220" y="6195060"/>
            <a:ext cx="1230630" cy="123063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20" name="Oval 19"/>
          <p:cNvSpPr/>
          <p:nvPr/>
        </p:nvSpPr>
        <p:spPr>
          <a:xfrm>
            <a:off x="6259829" y="6454140"/>
            <a:ext cx="1230630" cy="12306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23" name="TextBox 22"/>
          <p:cNvSpPr txBox="1"/>
          <p:nvPr/>
        </p:nvSpPr>
        <p:spPr>
          <a:xfrm>
            <a:off x="5829300" y="6518910"/>
            <a:ext cx="349776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e</a:t>
            </a:r>
            <a:r>
              <a:rPr lang="en-US" sz="1530" b="1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08232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t>13</a:t>
            </a:fld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1813560" y="5029200"/>
            <a:ext cx="1230630" cy="123063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4" name="Oval 3"/>
          <p:cNvSpPr/>
          <p:nvPr/>
        </p:nvSpPr>
        <p:spPr>
          <a:xfrm>
            <a:off x="2007870" y="3992880"/>
            <a:ext cx="1878330" cy="1813560"/>
          </a:xfrm>
          <a:prstGeom prst="ellipse">
            <a:avLst/>
          </a:prstGeom>
          <a:solidFill>
            <a:schemeClr val="accent1">
              <a:lumMod val="40000"/>
              <a:lumOff val="60000"/>
              <a:alpha val="79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5" name="Oval 4"/>
          <p:cNvSpPr/>
          <p:nvPr/>
        </p:nvSpPr>
        <p:spPr>
          <a:xfrm>
            <a:off x="2526030" y="5158740"/>
            <a:ext cx="1230630" cy="123063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6" name="TextBox 5"/>
          <p:cNvSpPr txBox="1"/>
          <p:nvPr/>
        </p:nvSpPr>
        <p:spPr>
          <a:xfrm>
            <a:off x="2333795" y="5131314"/>
            <a:ext cx="298480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/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6265" y="4548384"/>
            <a:ext cx="288862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/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04455" y="5574786"/>
            <a:ext cx="292068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/>
              <a:t>B</a:t>
            </a:r>
          </a:p>
        </p:txBody>
      </p:sp>
      <p:graphicFrame>
        <p:nvGraphicFramePr>
          <p:cNvPr id="10" name="Object 2"/>
          <p:cNvGraphicFramePr>
            <a:graphicFrameLocks noChangeAspect="1"/>
          </p:cNvGraphicFramePr>
          <p:nvPr>
            <p:extLst/>
          </p:nvPr>
        </p:nvGraphicFramePr>
        <p:xfrm>
          <a:off x="4922520" y="4490564"/>
          <a:ext cx="1987630" cy="1520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73" name="Equation" r:id="rId3" imgW="1079280" imgH="825480" progId="Equation.3">
                  <p:embed/>
                </p:oleObj>
              </mc:Choice>
              <mc:Fallback>
                <p:oleObj name="Equation" r:id="rId3" imgW="1079280" imgH="825480" progId="Equation.3">
                  <p:embed/>
                  <p:pic>
                    <p:nvPicPr>
                      <p:cNvPr id="1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520" y="4490564"/>
                        <a:ext cx="1987630" cy="1520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177206" y="3671751"/>
            <a:ext cx="349776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e</a:t>
            </a:r>
            <a:r>
              <a:rPr lang="en-US" sz="1530" b="1" baseline="-25000" dirty="0"/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4940" y="5680498"/>
            <a:ext cx="349776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e</a:t>
            </a:r>
            <a:r>
              <a:rPr lang="en-US" sz="1530" b="1" baseline="-25000" dirty="0"/>
              <a:t>2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397764" y="1157985"/>
            <a:ext cx="6995160" cy="16764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accent6">
                    <a:lumMod val="75000"/>
                  </a:schemeClr>
                </a:solidFill>
                <a:latin typeface="Stencil" panose="040409050D0802020404" pitchFamily="82" charset="0"/>
                <a:ea typeface="+mj-ea"/>
                <a:cs typeface="+mj-cs"/>
              </a:defRPr>
            </a:lvl1pPr>
          </a:lstStyle>
          <a:p>
            <a:r>
              <a:rPr lang="en-US"/>
              <a:t>Partitioned Regression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17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can we do this?</a:t>
            </a: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63340"/>
            <a:ext cx="7578090" cy="168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Oval 2"/>
          <p:cNvSpPr/>
          <p:nvPr/>
        </p:nvSpPr>
        <p:spPr>
          <a:xfrm>
            <a:off x="4960252" y="4172097"/>
            <a:ext cx="647700" cy="116586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7" name="TextBox 6"/>
          <p:cNvSpPr txBox="1"/>
          <p:nvPr/>
        </p:nvSpPr>
        <p:spPr>
          <a:xfrm>
            <a:off x="2526030" y="6065520"/>
            <a:ext cx="3067250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>
                <a:solidFill>
                  <a:schemeClr val="accent6">
                    <a:lumMod val="75000"/>
                  </a:schemeClr>
                </a:solidFill>
              </a:rPr>
              <a:t>The residual is just another variable.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6621024"/>
            <a:ext cx="5142562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>
                <a:solidFill>
                  <a:schemeClr val="bg1">
                    <a:lumMod val="50000"/>
                  </a:schemeClr>
                </a:solidFill>
              </a:rPr>
              <a:t>The order of operations is important in partitioned regression.</a:t>
            </a:r>
          </a:p>
        </p:txBody>
      </p:sp>
    </p:spTree>
    <p:extLst>
      <p:ext uri="{BB962C8B-B14F-4D97-AF65-F5344CB8AC3E}">
        <p14:creationId xmlns:p14="http://schemas.microsoft.com/office/powerpoint/2010/main" val="1855914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Note:  Multiple Regression Context</a:t>
            </a:r>
          </a:p>
        </p:txBody>
      </p:sp>
      <p:graphicFrame>
        <p:nvGraphicFramePr>
          <p:cNvPr id="38914" name="Object 2"/>
          <p:cNvGraphicFramePr>
            <a:graphicFrameLocks noChangeAspect="1"/>
          </p:cNvGraphicFramePr>
          <p:nvPr/>
        </p:nvGraphicFramePr>
        <p:xfrm>
          <a:off x="1943100" y="4057650"/>
          <a:ext cx="3038793" cy="421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0" name="Equation" r:id="rId3" imgW="1650960" imgH="228600" progId="Equation.3">
                  <p:embed/>
                </p:oleObj>
              </mc:Choice>
              <mc:Fallback>
                <p:oleObj name="Equation" r:id="rId3" imgW="1650960" imgH="228600" progId="Equation.3">
                  <p:embed/>
                  <p:pic>
                    <p:nvPicPr>
                      <p:cNvPr id="3891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3100" y="4057650"/>
                        <a:ext cx="3038793" cy="421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15" name="Object 3"/>
          <p:cNvGraphicFramePr>
            <a:graphicFrameLocks noChangeAspect="1"/>
          </p:cNvGraphicFramePr>
          <p:nvPr/>
        </p:nvGraphicFramePr>
        <p:xfrm>
          <a:off x="1878330" y="4964430"/>
          <a:ext cx="3156189" cy="4210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01" name="Equation" r:id="rId5" imgW="1714320" imgH="228600" progId="Equation.3">
                  <p:embed/>
                </p:oleObj>
              </mc:Choice>
              <mc:Fallback>
                <p:oleObj name="Equation" r:id="rId5" imgW="1714320" imgH="228600" progId="Equation.3">
                  <p:embed/>
                  <p:pic>
                    <p:nvPicPr>
                      <p:cNvPr id="3891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8330" y="4964430"/>
                        <a:ext cx="3156189" cy="4210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600200" y="5871210"/>
            <a:ext cx="42176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there is more than one control variable make sure you cleanse all of the nuisance variance from both your dependent variable and your policy variable.</a:t>
            </a:r>
          </a:p>
        </p:txBody>
      </p:sp>
    </p:spTree>
    <p:extLst>
      <p:ext uri="{BB962C8B-B14F-4D97-AF65-F5344CB8AC3E}">
        <p14:creationId xmlns:p14="http://schemas.microsoft.com/office/powerpoint/2010/main" val="4228586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30393"/>
              </p:ext>
            </p:extLst>
          </p:nvPr>
        </p:nvGraphicFramePr>
        <p:xfrm>
          <a:off x="656844" y="5314038"/>
          <a:ext cx="6477000" cy="30129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47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4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18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87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53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520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5105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Coefficients</a:t>
                      </a:r>
                      <a:r>
                        <a:rPr lang="en-US" sz="1400" baseline="30000" dirty="0" err="1">
                          <a:effectLst/>
                        </a:rPr>
                        <a:t>a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25">
                <a:tc rowSpan="2" gridSpan="2"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Model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Unstandardized Coefficients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Standardized Coefficients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Sig.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105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Std. Error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Beta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50">
                <a:tc rowSpan="4"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(Constant)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-1.507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2.633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-.572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.567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1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Perceived Social Support</a:t>
                      </a:r>
                      <a:endParaRPr lang="en-US" sz="1600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.310</a:t>
                      </a:r>
                      <a:endParaRPr lang="en-US" sz="1800" b="1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.032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.460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9.645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.000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1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Network Diversity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-.215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.210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-.055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-1.025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.306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# People in Social Network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.023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.014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.087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1.654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.099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105">
                <a:tc gridSpan="7">
                  <a:txBody>
                    <a:bodyPr/>
                    <a:lstStyle/>
                    <a:p>
                      <a:pPr marL="0" marR="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400" dirty="0">
                        <a:effectLst/>
                      </a:endParaRPr>
                    </a:p>
                    <a:p>
                      <a:pPr marL="0" marR="0" indent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effectLst/>
                        </a:rPr>
                        <a:t>Dependent Variable: </a:t>
                      </a:r>
                      <a:r>
                        <a:rPr lang="en-US" sz="1400" b="1" dirty="0">
                          <a:effectLst/>
                        </a:rPr>
                        <a:t>Subjective Well Being</a:t>
                      </a:r>
                    </a:p>
                    <a:p>
                      <a:pPr marL="342900" marR="0" indent="-34290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lphaLcPeriod"/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1554495" y="3748156"/>
                <a:ext cx="470596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𝑆𝑊𝐵</m:t>
                      </m:r>
                      <m: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b="1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/>
                        </a:rPr>
                        <m:t>𝑷𝑺𝑺</m:t>
                      </m:r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𝑁𝐷</m:t>
                      </m:r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3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𝑁𝑃</m:t>
                      </m:r>
                      <m:r>
                        <a:rPr lang="en-US" sz="2000" i="1">
                          <a:latin typeface="Cambria Math"/>
                        </a:rPr>
                        <m:t>+</m:t>
                      </m:r>
                      <m:r>
                        <a:rPr lang="en-US" sz="2000" i="1">
                          <a:latin typeface="Cambria Math"/>
                        </a:rPr>
                        <m:t>𝜀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95" y="3748156"/>
                <a:ext cx="4705968" cy="400110"/>
              </a:xfrm>
              <a:prstGeom prst="rect">
                <a:avLst/>
              </a:prstGeom>
              <a:blipFill>
                <a:blip r:embed="rId2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endCxn id="6" idx="2"/>
          </p:cNvCxnSpPr>
          <p:nvPr/>
        </p:nvCxnSpPr>
        <p:spPr>
          <a:xfrm flipH="1" flipV="1">
            <a:off x="3907479" y="4148266"/>
            <a:ext cx="435921" cy="370776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002155" y="4519042"/>
            <a:ext cx="172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“policy variable”</a:t>
            </a:r>
          </a:p>
        </p:txBody>
      </p:sp>
    </p:spTree>
    <p:extLst>
      <p:ext uri="{BB962C8B-B14F-4D97-AF65-F5344CB8AC3E}">
        <p14:creationId xmlns:p14="http://schemas.microsoft.com/office/powerpoint/2010/main" val="17978971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Auxiliary Regression #1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019413" y="3733800"/>
                <a:ext cx="37518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𝑆𝑊𝐵</m:t>
                      </m:r>
                      <m: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𝑁𝐷</m:t>
                      </m:r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𝑁𝑃</m:t>
                      </m:r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53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413" y="3733800"/>
                <a:ext cx="3751861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226971"/>
              </p:ext>
            </p:extLst>
          </p:nvPr>
        </p:nvGraphicFramePr>
        <p:xfrm>
          <a:off x="397763" y="4504644"/>
          <a:ext cx="6995160" cy="26651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279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79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3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6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4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2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62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5105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Coefficients</a:t>
                      </a:r>
                      <a:r>
                        <a:rPr lang="en-US" sz="1400" baseline="30000">
                          <a:effectLst/>
                        </a:rPr>
                        <a:t>a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25">
                <a:tc rowSpan="2" gridSpan="2"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Model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Unstandardized Coefficients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Standardized Coefficients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Sig.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105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Std. Error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Beta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50">
                <a:tc rowSpan="3"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(Constant)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21.630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1.207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17.915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.000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1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Network Diversity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.224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.228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.057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.979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.328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1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# People in Social Network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.039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.016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.148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2.540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.011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05">
                <a:tc gridSpan="7"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</a:endParaRPr>
                    </a:p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Dependent Variable: </a:t>
                      </a:r>
                      <a:r>
                        <a:rPr lang="en-US" sz="1400" b="1" dirty="0">
                          <a:effectLst/>
                        </a:rPr>
                        <a:t>Subjective Well Being</a:t>
                      </a:r>
                    </a:p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752600" y="7543274"/>
            <a:ext cx="44900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Regress the DV on all IV’s except the policy variable.</a:t>
            </a:r>
            <a:br>
              <a:rPr lang="en-US" sz="160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Save the residuals.</a:t>
            </a:r>
          </a:p>
        </p:txBody>
      </p:sp>
    </p:spTree>
    <p:extLst>
      <p:ext uri="{BB962C8B-B14F-4D97-AF65-F5344CB8AC3E}">
        <p14:creationId xmlns:p14="http://schemas.microsoft.com/office/powerpoint/2010/main" val="3265408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Auxiliary Regression #1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2331720" y="3928110"/>
                <a:ext cx="2912144" cy="3277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530" i="1">
                          <a:latin typeface="Cambria Math"/>
                        </a:rPr>
                        <m:t>𝑆𝑊𝐵</m:t>
                      </m:r>
                      <m:r>
                        <a:rPr lang="en-US" sz="153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15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30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53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153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5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30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53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1530" i="1">
                          <a:latin typeface="Cambria Math"/>
                        </a:rPr>
                        <m:t>𝑁𝐷</m:t>
                      </m:r>
                      <m:r>
                        <a:rPr lang="en-US" sz="153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5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30" i="1">
                              <a:latin typeface="Cambria Math"/>
                            </a:rPr>
                            <m:t>𝑏</m:t>
                          </m:r>
                        </m:e>
                        <m:sub>
                          <m:r>
                            <a:rPr lang="en-US" sz="153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1530" i="1">
                          <a:latin typeface="Cambria Math"/>
                        </a:rPr>
                        <m:t>𝑁𝑃</m:t>
                      </m:r>
                      <m:r>
                        <a:rPr lang="en-US" sz="153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153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30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sz="153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530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1720" y="3928110"/>
                <a:ext cx="2912144" cy="32778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360169" y="4504644"/>
          <a:ext cx="5052062" cy="20555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3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3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20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0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95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95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5105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Coefficients</a:t>
                      </a:r>
                      <a:r>
                        <a:rPr lang="en-US" sz="800" baseline="30000">
                          <a:effectLst/>
                        </a:rPr>
                        <a:t>a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25">
                <a:tc rowSpan="2" gridSpan="2"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Model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Unstandardized Coefficients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Standardized Coefficients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t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Sig.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105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B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Std. Error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Beta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50">
                <a:tc rowSpan="3"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(Constant)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21.630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1.207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 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17.915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.000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1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Network Diversity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.224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.228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.057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.979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.328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1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# People in Social Network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.039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.016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.148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2.540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>
                          <a:effectLst/>
                        </a:rPr>
                        <a:t>.011</a:t>
                      </a:r>
                      <a:endParaRPr lang="en-US" sz="9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05">
                <a:tc gridSpan="7"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800" dirty="0">
                          <a:effectLst/>
                        </a:rPr>
                        <a:t>a. Dependent Variable: Subjective Well Being</a:t>
                      </a:r>
                      <a:endParaRPr lang="en-US" sz="9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2" name="Picture 11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02180" y="3345181"/>
            <a:ext cx="2526030" cy="40667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Oval 2"/>
          <p:cNvSpPr/>
          <p:nvPr/>
        </p:nvSpPr>
        <p:spPr>
          <a:xfrm>
            <a:off x="3173730" y="3539491"/>
            <a:ext cx="1360170" cy="439634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</p:spTree>
    <p:extLst>
      <p:ext uri="{BB962C8B-B14F-4D97-AF65-F5344CB8AC3E}">
        <p14:creationId xmlns:p14="http://schemas.microsoft.com/office/powerpoint/2010/main" val="38228409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Auxiliary Regression #2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047299" y="3479118"/>
                <a:ext cx="367780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𝑃𝑆𝑆</m:t>
                      </m:r>
                      <m: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𝑁𝐷</m:t>
                      </m:r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𝑎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𝑁𝑃</m:t>
                      </m:r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53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7299" y="3479118"/>
                <a:ext cx="3677802" cy="400110"/>
              </a:xfrm>
              <a:prstGeom prst="rect">
                <a:avLst/>
              </a:prstGeom>
              <a:blipFill>
                <a:blip r:embed="rId2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958688"/>
              </p:ext>
            </p:extLst>
          </p:nvPr>
        </p:nvGraphicFramePr>
        <p:xfrm>
          <a:off x="533400" y="4504644"/>
          <a:ext cx="6705600" cy="2574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46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46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90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86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79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5105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Coefficients</a:t>
                      </a:r>
                      <a:r>
                        <a:rPr lang="en-US" sz="1400" baseline="30000">
                          <a:effectLst/>
                        </a:rPr>
                        <a:t>a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25">
                <a:tc rowSpan="2" gridSpan="2"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Model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Unstandardized Coefficients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Standardized Coefficients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Sig.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105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Std. Error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Beta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50">
                <a:tc rowSpan="3"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1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(Constant)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74.720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1.720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43.438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.000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1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Network Diversity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1.417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.325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.244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4.356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.000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1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# People in Social Network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.052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.022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.133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2.364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.019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105">
                <a:tc gridSpan="7"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</a:endParaRPr>
                    </a:p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 Dependent Variable: </a:t>
                      </a:r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Perceived Social Support</a:t>
                      </a:r>
                    </a:p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047299" y="7543800"/>
            <a:ext cx="3672993" cy="563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>
                <a:solidFill>
                  <a:schemeClr val="accent6">
                    <a:lumMod val="75000"/>
                  </a:schemeClr>
                </a:solidFill>
              </a:rPr>
              <a:t>Regress the policy variable on all of the IV’s.</a:t>
            </a:r>
            <a:br>
              <a:rPr lang="en-US" sz="1530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1530" dirty="0">
                <a:solidFill>
                  <a:schemeClr val="accent6">
                    <a:lumMod val="75000"/>
                  </a:schemeClr>
                </a:solidFill>
              </a:rPr>
              <a:t>Save the residuals.</a:t>
            </a:r>
          </a:p>
        </p:txBody>
      </p:sp>
    </p:spTree>
    <p:extLst>
      <p:ext uri="{BB962C8B-B14F-4D97-AF65-F5344CB8AC3E}">
        <p14:creationId xmlns:p14="http://schemas.microsoft.com/office/powerpoint/2010/main" val="1525891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Partitioned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2461260" y="3601862"/>
                <a:ext cx="3048000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𝑐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𝛽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sz="20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/>
                        </a:rPr>
                        <m:t>+</m:t>
                      </m:r>
                      <m:r>
                        <a:rPr lang="en-US" sz="2000" i="1">
                          <a:latin typeface="Cambria Math"/>
                        </a:rPr>
                        <m:t>𝜀</m:t>
                      </m:r>
                    </m:oMath>
                  </m:oMathPara>
                </a14:m>
                <a:endParaRPr lang="en-US" sz="1530" dirty="0"/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1260" y="3601862"/>
                <a:ext cx="3048000" cy="400110"/>
              </a:xfrm>
              <a:prstGeom prst="rect">
                <a:avLst/>
              </a:prstGeom>
              <a:blipFill>
                <a:blip r:embed="rId2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5000193"/>
              </p:ext>
            </p:extLst>
          </p:nvPr>
        </p:nvGraphicFramePr>
        <p:xfrm>
          <a:off x="304800" y="5051061"/>
          <a:ext cx="6934198" cy="2338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08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8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1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36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03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3263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05105">
                <a:tc gridSpan="7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Coefficients</a:t>
                      </a:r>
                      <a:r>
                        <a:rPr lang="en-US" sz="1400" baseline="30000" dirty="0" err="1">
                          <a:effectLst/>
                        </a:rPr>
                        <a:t>a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825">
                <a:tc rowSpan="2" gridSpan="2"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Model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Unstandardized Coefficients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Standardized Coefficients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t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Sig.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105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Std. Error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Beta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b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150">
                <a:tc rowSpan="2"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(Constant)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2.369E-15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.253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.000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1.000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10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Unstandardized Residual</a:t>
                      </a:r>
                      <a:endParaRPr lang="en-US" sz="16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</a:rPr>
                        <a:t>.310</a:t>
                      </a:r>
                      <a:endParaRPr lang="en-US" sz="2000" b="1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.032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.441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9.670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.000</a:t>
                      </a: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105">
                <a:tc gridSpan="7">
                  <a:txBody>
                    <a:bodyPr/>
                    <a:lstStyle/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</a:endParaRPr>
                    </a:p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Dependent Variable: </a:t>
                      </a:r>
                      <a:r>
                        <a:rPr lang="en-US" sz="1400" b="1" dirty="0">
                          <a:effectLst/>
                        </a:rPr>
                        <a:t>Unstandardized Residual</a:t>
                      </a:r>
                    </a:p>
                    <a:p>
                      <a:pPr marL="0" marR="0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6193" marR="16193" marT="16193" marB="16193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 flipH="1" flipV="1">
            <a:off x="4076700" y="6743192"/>
            <a:ext cx="876300" cy="87680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697571" y="7848600"/>
            <a:ext cx="23566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We have recovered the</a:t>
            </a:r>
            <a:br>
              <a:rPr lang="en-US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original slope!</a:t>
            </a:r>
          </a:p>
        </p:txBody>
      </p:sp>
      <p:sp>
        <p:nvSpPr>
          <p:cNvPr id="5" name="Rectangle 4"/>
          <p:cNvSpPr/>
          <p:nvPr/>
        </p:nvSpPr>
        <p:spPr>
          <a:xfrm>
            <a:off x="2133600" y="4157184"/>
            <a:ext cx="38862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Regress the residuals on each other.</a:t>
            </a:r>
          </a:p>
        </p:txBody>
      </p:sp>
    </p:spTree>
    <p:extLst>
      <p:ext uri="{BB962C8B-B14F-4D97-AF65-F5344CB8AC3E}">
        <p14:creationId xmlns:p14="http://schemas.microsoft.com/office/powerpoint/2010/main" val="1146600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this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554" y="3810000"/>
            <a:ext cx="6545580" cy="384706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700" dirty="0"/>
          </a:p>
          <a:p>
            <a:r>
              <a:rPr lang="en-US" sz="1700" dirty="0"/>
              <a:t>It illustrates the idea of statistical controls in policy work – get rid of the nuisance variance!</a:t>
            </a:r>
          </a:p>
          <a:p>
            <a:endParaRPr lang="en-US" sz="1700" dirty="0"/>
          </a:p>
          <a:p>
            <a:r>
              <a:rPr lang="en-US" sz="1700" dirty="0"/>
              <a:t>Provides insight into the regression error term.</a:t>
            </a:r>
            <a:br>
              <a:rPr lang="en-US" sz="1700" dirty="0"/>
            </a:br>
            <a:endParaRPr lang="en-US" sz="1700" dirty="0"/>
          </a:p>
          <a:p>
            <a:r>
              <a:rPr lang="en-US" sz="1700" dirty="0"/>
              <a:t>Serves as a tool for future methods (instrumental variables).</a:t>
            </a:r>
          </a:p>
          <a:p>
            <a:endParaRPr lang="en-US" sz="1700" dirty="0"/>
          </a:p>
          <a:p>
            <a:r>
              <a:rPr lang="en-US" sz="1700" dirty="0"/>
              <a:t>It paved the way for modern computational econometrics.</a:t>
            </a:r>
          </a:p>
        </p:txBody>
      </p:sp>
    </p:spTree>
    <p:extLst>
      <p:ext uri="{BB962C8B-B14F-4D97-AF65-F5344CB8AC3E}">
        <p14:creationId xmlns:p14="http://schemas.microsoft.com/office/powerpoint/2010/main" val="3476610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 care:</a:t>
            </a:r>
          </a:p>
        </p:txBody>
      </p:sp>
      <p:pic>
        <p:nvPicPr>
          <p:cNvPr id="15" name="Picture 2" descr="http://westinstenv.org/wp-content/postimage/accuracy_precision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200400"/>
            <a:ext cx="3497580" cy="2979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5135880" y="4082081"/>
            <a:ext cx="2025298" cy="12695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/>
              <a:t>Results need to be:</a:t>
            </a:r>
          </a:p>
          <a:p>
            <a:endParaRPr lang="en-US" sz="1530" dirty="0"/>
          </a:p>
          <a:p>
            <a:pPr marL="242888" indent="-242888">
              <a:buFont typeface="Arial" pitchFamily="34" charset="0"/>
              <a:buChar char="•"/>
            </a:pPr>
            <a:r>
              <a:rPr lang="en-US" sz="1530" dirty="0"/>
              <a:t>Unbiased (accurate)</a:t>
            </a:r>
          </a:p>
          <a:p>
            <a:pPr marL="242888" indent="-242888">
              <a:buFont typeface="Arial" pitchFamily="34" charset="0"/>
              <a:buChar char="•"/>
            </a:pPr>
            <a:endParaRPr lang="en-US" sz="1530" dirty="0"/>
          </a:p>
          <a:p>
            <a:pPr marL="242888" indent="-242888">
              <a:buFont typeface="Arial" pitchFamily="34" charset="0"/>
              <a:buChar char="•"/>
            </a:pPr>
            <a:r>
              <a:rPr lang="en-US" sz="1530" dirty="0"/>
              <a:t>Efficient (precise)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1013138" y="6324600"/>
            <a:ext cx="3714750" cy="3181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3079" y="6934200"/>
            <a:ext cx="17554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Biased and inefficient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39390" y="7761386"/>
            <a:ext cx="16608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Biased and efficient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643" y="8687985"/>
            <a:ext cx="1962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6">
                    <a:lumMod val="75000"/>
                  </a:schemeClr>
                </a:solidFill>
              </a:rPr>
              <a:t>Unbiased and inefficient</a:t>
            </a:r>
          </a:p>
        </p:txBody>
      </p:sp>
    </p:spTree>
    <p:extLst>
      <p:ext uri="{BB962C8B-B14F-4D97-AF65-F5344CB8AC3E}">
        <p14:creationId xmlns:p14="http://schemas.microsoft.com/office/powerpoint/2010/main" val="16660534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0" y="780479"/>
            <a:ext cx="6995160" cy="1676400"/>
          </a:xfrm>
        </p:spPr>
        <p:txBody>
          <a:bodyPr>
            <a:noAutofit/>
          </a:bodyPr>
          <a:lstStyle/>
          <a:p>
            <a:r>
              <a:rPr lang="en-US" sz="2800" dirty="0"/>
              <a:t>Effects of controls determined by their correlations with the outcome and policy variables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t>23</a:t>
            </a:fld>
            <a:endParaRPr lang="en-US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777426"/>
            <a:ext cx="3238500" cy="3233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Oval 4"/>
          <p:cNvSpPr/>
          <p:nvPr/>
        </p:nvSpPr>
        <p:spPr>
          <a:xfrm>
            <a:off x="5170170" y="4994297"/>
            <a:ext cx="1230630" cy="123063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7" name="Oval 6"/>
          <p:cNvSpPr/>
          <p:nvPr/>
        </p:nvSpPr>
        <p:spPr>
          <a:xfrm>
            <a:off x="5105400" y="3828437"/>
            <a:ext cx="1878330" cy="18135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8" name="TextBox 7"/>
          <p:cNvSpPr txBox="1"/>
          <p:nvPr/>
        </p:nvSpPr>
        <p:spPr>
          <a:xfrm>
            <a:off x="5505261" y="4548453"/>
            <a:ext cx="1079334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Test Scores</a:t>
            </a:r>
          </a:p>
        </p:txBody>
      </p:sp>
      <p:sp>
        <p:nvSpPr>
          <p:cNvPr id="14" name="Oval 13"/>
          <p:cNvSpPr/>
          <p:nvPr/>
        </p:nvSpPr>
        <p:spPr>
          <a:xfrm>
            <a:off x="5506596" y="3317823"/>
            <a:ext cx="1230630" cy="123063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15" name="TextBox 14"/>
          <p:cNvSpPr txBox="1"/>
          <p:nvPr/>
        </p:nvSpPr>
        <p:spPr>
          <a:xfrm>
            <a:off x="5035043" y="6224927"/>
            <a:ext cx="1030282" cy="563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30" b="1" dirty="0"/>
              <a:t>Classroom</a:t>
            </a:r>
            <a:br>
              <a:rPr lang="en-US" sz="1530" b="1" dirty="0"/>
            </a:br>
            <a:r>
              <a:rPr lang="en-US" sz="1530" b="1" dirty="0"/>
              <a:t>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338" y="3280722"/>
            <a:ext cx="818557" cy="563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Teacher</a:t>
            </a:r>
            <a:br>
              <a:rPr lang="en-US" sz="1530" b="1" dirty="0"/>
            </a:br>
            <a:r>
              <a:rPr lang="en-US" sz="1530" b="1" dirty="0"/>
              <a:t>Quality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grayscl/>
          </a:blip>
          <a:stretch>
            <a:fillRect/>
          </a:stretch>
        </p:blipFill>
        <p:spPr>
          <a:xfrm>
            <a:off x="1143000" y="3505200"/>
            <a:ext cx="3028950" cy="259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4915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Partitioning the Variance of Y</a:t>
            </a:r>
          </a:p>
        </p:txBody>
      </p:sp>
      <p:sp>
        <p:nvSpPr>
          <p:cNvPr id="4" name="Rectangle 3"/>
          <p:cNvSpPr/>
          <p:nvPr/>
        </p:nvSpPr>
        <p:spPr>
          <a:xfrm>
            <a:off x="3551830" y="4251960"/>
            <a:ext cx="388620" cy="30441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5" name="TextBox 4"/>
          <p:cNvSpPr txBox="1"/>
          <p:nvPr/>
        </p:nvSpPr>
        <p:spPr>
          <a:xfrm>
            <a:off x="3039902" y="3798570"/>
            <a:ext cx="1627561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Final Exam Scores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51830" y="6389370"/>
            <a:ext cx="388620" cy="90678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8" name="TextBox 7"/>
          <p:cNvSpPr txBox="1"/>
          <p:nvPr/>
        </p:nvSpPr>
        <p:spPr>
          <a:xfrm>
            <a:off x="4134761" y="6701416"/>
            <a:ext cx="1886029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>
                <a:solidFill>
                  <a:srgbClr val="FF0000"/>
                </a:solidFill>
              </a:rPr>
              <a:t>Hours of Preparation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51830" y="5547360"/>
            <a:ext cx="388620" cy="51816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35" name="Rectangle 34"/>
          <p:cNvSpPr/>
          <p:nvPr/>
        </p:nvSpPr>
        <p:spPr>
          <a:xfrm>
            <a:off x="3551830" y="6065520"/>
            <a:ext cx="388620" cy="32385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36" name="Rectangle 35"/>
          <p:cNvSpPr/>
          <p:nvPr/>
        </p:nvSpPr>
        <p:spPr>
          <a:xfrm>
            <a:off x="3551830" y="5093970"/>
            <a:ext cx="388620" cy="453390"/>
          </a:xfrm>
          <a:prstGeom prst="rect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37" name="TextBox 36"/>
          <p:cNvSpPr txBox="1"/>
          <p:nvPr/>
        </p:nvSpPr>
        <p:spPr>
          <a:xfrm>
            <a:off x="4134761" y="6065520"/>
            <a:ext cx="1370119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>
                <a:solidFill>
                  <a:srgbClr val="00B050"/>
                </a:solidFill>
              </a:rPr>
              <a:t>Hours of Sleep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34760" y="5649474"/>
            <a:ext cx="1907830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>
                <a:solidFill>
                  <a:schemeClr val="accent6">
                    <a:lumMod val="75000"/>
                  </a:schemeClr>
                </a:solidFill>
              </a:rPr>
              <a:t>Previous Coursework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34761" y="5163699"/>
            <a:ext cx="2512547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>
                <a:solidFill>
                  <a:schemeClr val="accent4">
                    <a:lumMod val="75000"/>
                  </a:schemeClr>
                </a:solidFill>
              </a:rPr>
              <a:t>SES: Race / Gender / Income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34760" y="4511040"/>
            <a:ext cx="1863202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>
                <a:solidFill>
                  <a:schemeClr val="accent1"/>
                </a:solidFill>
              </a:rPr>
              <a:t>Unexplained Portion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/>
          </p:nvPr>
        </p:nvGraphicFramePr>
        <p:xfrm>
          <a:off x="333296" y="5238353"/>
          <a:ext cx="2063194" cy="3090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20" name="Equation" r:id="rId3" imgW="1523880" imgH="228600" progId="Equation.3">
                  <p:embed/>
                </p:oleObj>
              </mc:Choice>
              <mc:Fallback>
                <p:oleObj name="Equation" r:id="rId3" imgW="1523880" imgH="2286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296" y="5238353"/>
                        <a:ext cx="2063194" cy="3090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88620" y="6568070"/>
            <a:ext cx="2323072" cy="5632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i="1" dirty="0">
                <a:solidFill>
                  <a:schemeClr val="bg1">
                    <a:lumMod val="50000"/>
                  </a:schemeClr>
                </a:solidFill>
              </a:rPr>
              <a:t>What happens if we omit</a:t>
            </a:r>
            <a:br>
              <a:rPr lang="en-US" sz="1530" b="1" i="1" dirty="0">
                <a:solidFill>
                  <a:schemeClr val="bg1">
                    <a:lumMod val="50000"/>
                  </a:schemeClr>
                </a:solidFill>
              </a:rPr>
            </a:br>
            <a:r>
              <a:rPr lang="en-US" sz="1530" b="1" i="1" dirty="0">
                <a:solidFill>
                  <a:schemeClr val="bg1">
                    <a:lumMod val="50000"/>
                  </a:schemeClr>
                </a:solidFill>
              </a:rPr>
              <a:t>variables from the model?</a:t>
            </a:r>
          </a:p>
        </p:txBody>
      </p:sp>
      <p:cxnSp>
        <p:nvCxnSpPr>
          <p:cNvPr id="10" name="Straight Arrow Connector 9"/>
          <p:cNvCxnSpPr/>
          <p:nvPr/>
        </p:nvCxnSpPr>
        <p:spPr>
          <a:xfrm flipH="1" flipV="1">
            <a:off x="1619250" y="5547360"/>
            <a:ext cx="1813560" cy="1154056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Left Brace 10"/>
          <p:cNvSpPr/>
          <p:nvPr/>
        </p:nvSpPr>
        <p:spPr>
          <a:xfrm>
            <a:off x="3039902" y="4251960"/>
            <a:ext cx="392908" cy="197548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cxnSp>
        <p:nvCxnSpPr>
          <p:cNvPr id="13" name="Straight Arrow Connector 12"/>
          <p:cNvCxnSpPr>
            <a:endCxn id="6" idx="3"/>
          </p:cNvCxnSpPr>
          <p:nvPr/>
        </p:nvCxnSpPr>
        <p:spPr>
          <a:xfrm flipH="1">
            <a:off x="2396490" y="5239703"/>
            <a:ext cx="518160" cy="15315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07629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Partitioning the Variance of Y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26030" y="3345180"/>
            <a:ext cx="3756660" cy="37510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Straight Connector 8"/>
          <p:cNvCxnSpPr/>
          <p:nvPr/>
        </p:nvCxnSpPr>
        <p:spPr>
          <a:xfrm>
            <a:off x="2979420" y="5162552"/>
            <a:ext cx="3303270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ight Brace 11"/>
          <p:cNvSpPr/>
          <p:nvPr/>
        </p:nvSpPr>
        <p:spPr>
          <a:xfrm>
            <a:off x="5505450" y="4720591"/>
            <a:ext cx="129540" cy="388620"/>
          </a:xfrm>
          <a:prstGeom prst="rightBrac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530">
              <a:solidFill>
                <a:schemeClr val="accent6">
                  <a:lumMod val="75000"/>
                </a:schemeClr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 rot="5400000">
            <a:off x="4922520" y="4705350"/>
            <a:ext cx="906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311140" y="4122420"/>
            <a:ext cx="129540" cy="1295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16" name="Right Brace 15"/>
          <p:cNvSpPr/>
          <p:nvPr/>
        </p:nvSpPr>
        <p:spPr>
          <a:xfrm>
            <a:off x="5505450" y="4251960"/>
            <a:ext cx="129540" cy="388620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/>
        </p:nvGraphicFramePr>
        <p:xfrm>
          <a:off x="6212523" y="4813300"/>
          <a:ext cx="334645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48" name="Equation" r:id="rId4" imgW="393480" imgH="253800" progId="Equation.3">
                  <p:embed/>
                </p:oleObj>
              </mc:Choice>
              <mc:Fallback>
                <p:oleObj name="Equation" r:id="rId4" imgW="393480" imgH="253800" progId="Equation.3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12523" y="4813300"/>
                        <a:ext cx="334645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4" name="Object 8"/>
          <p:cNvGraphicFramePr>
            <a:graphicFrameLocks noChangeAspect="1"/>
          </p:cNvGraphicFramePr>
          <p:nvPr/>
        </p:nvGraphicFramePr>
        <p:xfrm>
          <a:off x="6207204" y="4295140"/>
          <a:ext cx="570785" cy="2226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49" name="Equation" r:id="rId6" imgW="647640" imgH="253800" progId="Equation.3">
                  <p:embed/>
                </p:oleObj>
              </mc:Choice>
              <mc:Fallback>
                <p:oleObj name="Equation" r:id="rId6" imgW="647640" imgH="253800" progId="Equation.3">
                  <p:embed/>
                  <p:pic>
                    <p:nvPicPr>
                      <p:cNvPr id="4506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07204" y="4295140"/>
                        <a:ext cx="570785" cy="22264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5" name="Object 9"/>
          <p:cNvGraphicFramePr>
            <a:graphicFrameLocks noChangeAspect="1"/>
          </p:cNvGraphicFramePr>
          <p:nvPr/>
        </p:nvGraphicFramePr>
        <p:xfrm flipH="1">
          <a:off x="3238500" y="4834890"/>
          <a:ext cx="161925" cy="283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0" name="Equation" r:id="rId8" imgW="152280" imgH="190440" progId="Equation.3">
                  <p:embed/>
                </p:oleObj>
              </mc:Choice>
              <mc:Fallback>
                <p:oleObj name="Equation" r:id="rId8" imgW="152280" imgH="190440" progId="Equation.3">
                  <p:embed/>
                  <p:pic>
                    <p:nvPicPr>
                      <p:cNvPr id="45065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flipH="1">
                        <a:off x="3238500" y="4834890"/>
                        <a:ext cx="161925" cy="28336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6930390" y="4251960"/>
            <a:ext cx="298480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/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0390" y="4770120"/>
            <a:ext cx="292068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/>
              <a:t>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3776" y="4326648"/>
            <a:ext cx="298480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>
                <a:solidFill>
                  <a:schemeClr val="bg1">
                    <a:lumMod val="50000"/>
                  </a:schemeClr>
                </a:solidFill>
              </a:rPr>
              <a:t>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66358" y="4115260"/>
            <a:ext cx="292068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>
                <a:solidFill>
                  <a:schemeClr val="bg1">
                    <a:lumMod val="50000"/>
                  </a:schemeClr>
                </a:solidFill>
              </a:rPr>
              <a:t>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56660" y="6782317"/>
            <a:ext cx="2229219" cy="3277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530" b="1" dirty="0"/>
              <a:t>Teacher Quality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40519" y="5000236"/>
            <a:ext cx="388620" cy="3277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530" b="1" dirty="0"/>
              <a:t>TS</a:t>
            </a:r>
          </a:p>
        </p:txBody>
      </p:sp>
      <p:sp>
        <p:nvSpPr>
          <p:cNvPr id="36" name="Oval 35"/>
          <p:cNvSpPr/>
          <p:nvPr/>
        </p:nvSpPr>
        <p:spPr>
          <a:xfrm>
            <a:off x="712470" y="4002798"/>
            <a:ext cx="906780" cy="84201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38" name="TextBox 37"/>
          <p:cNvSpPr txBox="1"/>
          <p:nvPr/>
        </p:nvSpPr>
        <p:spPr>
          <a:xfrm>
            <a:off x="259080" y="4472159"/>
            <a:ext cx="982623" cy="56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b="1" dirty="0"/>
              <a:t>Test</a:t>
            </a:r>
            <a:br>
              <a:rPr lang="en-US" sz="1530" b="1" dirty="0"/>
            </a:br>
            <a:r>
              <a:rPr lang="en-US" sz="1530" b="1" dirty="0"/>
              <a:t>Score</a:t>
            </a:r>
          </a:p>
        </p:txBody>
      </p:sp>
      <p:sp>
        <p:nvSpPr>
          <p:cNvPr id="39" name="Oval 38"/>
          <p:cNvSpPr/>
          <p:nvPr/>
        </p:nvSpPr>
        <p:spPr>
          <a:xfrm>
            <a:off x="1142318" y="3799810"/>
            <a:ext cx="788407" cy="672349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88620" y="3474720"/>
            <a:ext cx="1554480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b="1" dirty="0"/>
              <a:t>Teacher Quality</a:t>
            </a:r>
          </a:p>
        </p:txBody>
      </p:sp>
      <p:sp>
        <p:nvSpPr>
          <p:cNvPr id="45" name="Oval 44"/>
          <p:cNvSpPr/>
          <p:nvPr/>
        </p:nvSpPr>
        <p:spPr>
          <a:xfrm>
            <a:off x="723456" y="5955768"/>
            <a:ext cx="788407" cy="672349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28" name="TextBox 27"/>
          <p:cNvSpPr txBox="1"/>
          <p:nvPr/>
        </p:nvSpPr>
        <p:spPr>
          <a:xfrm>
            <a:off x="288006" y="5642681"/>
            <a:ext cx="790799" cy="56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b="1" dirty="0"/>
              <a:t>*Test</a:t>
            </a:r>
            <a:br>
              <a:rPr lang="en-US" sz="1530" b="1" dirty="0"/>
            </a:br>
            <a:r>
              <a:rPr lang="en-US" sz="1530" b="1" dirty="0"/>
              <a:t>Score</a:t>
            </a:r>
          </a:p>
        </p:txBody>
      </p:sp>
      <p:sp>
        <p:nvSpPr>
          <p:cNvPr id="29" name="Oval 28"/>
          <p:cNvSpPr/>
          <p:nvPr/>
        </p:nvSpPr>
        <p:spPr>
          <a:xfrm>
            <a:off x="826289" y="5917372"/>
            <a:ext cx="906780" cy="84201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30" name="Oval 29"/>
          <p:cNvSpPr/>
          <p:nvPr/>
        </p:nvSpPr>
        <p:spPr>
          <a:xfrm>
            <a:off x="1286597" y="5741670"/>
            <a:ext cx="786043" cy="7447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35" name="TextBox 34"/>
          <p:cNvSpPr txBox="1"/>
          <p:nvPr/>
        </p:nvSpPr>
        <p:spPr>
          <a:xfrm>
            <a:off x="1489710" y="5957098"/>
            <a:ext cx="582930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b="1" dirty="0">
                <a:solidFill>
                  <a:schemeClr val="bg1">
                    <a:lumMod val="50000"/>
                  </a:schemeClr>
                </a:solidFill>
              </a:rPr>
              <a:t>TQ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4131" y="6271030"/>
            <a:ext cx="298480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>
                <a:solidFill>
                  <a:schemeClr val="bg1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337192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Effects of the Control Variable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t>26</a:t>
            </a:fld>
            <a:endParaRPr lang="en-US"/>
          </a:p>
        </p:txBody>
      </p:sp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" y="4705351"/>
            <a:ext cx="2720340" cy="2716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0050" y="4705350"/>
            <a:ext cx="2724401" cy="2720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Oval 5"/>
          <p:cNvSpPr/>
          <p:nvPr/>
        </p:nvSpPr>
        <p:spPr>
          <a:xfrm>
            <a:off x="1793589" y="4116652"/>
            <a:ext cx="594097" cy="571364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1878330" y="3566159"/>
            <a:ext cx="906780" cy="84201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8" name="TextBox 7"/>
          <p:cNvSpPr txBox="1"/>
          <p:nvPr/>
        </p:nvSpPr>
        <p:spPr>
          <a:xfrm>
            <a:off x="1478782" y="4435352"/>
            <a:ext cx="582930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b="1" dirty="0"/>
              <a:t>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3028" y="3461493"/>
            <a:ext cx="756439" cy="56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b="1" dirty="0"/>
              <a:t>Test</a:t>
            </a:r>
            <a:br>
              <a:rPr lang="en-US" sz="1530" b="1" dirty="0"/>
            </a:br>
            <a:r>
              <a:rPr lang="en-US" sz="1530" b="1" dirty="0"/>
              <a:t>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5129" y="3706374"/>
            <a:ext cx="348172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>
                <a:solidFill>
                  <a:schemeClr val="bg1">
                    <a:lumMod val="50000"/>
                  </a:schemeClr>
                </a:solidFill>
              </a:rPr>
              <a:t>e</a:t>
            </a:r>
            <a:r>
              <a:rPr lang="en-US" sz="1530" baseline="-25000" dirty="0">
                <a:solidFill>
                  <a:schemeClr val="bg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21" name="Oval 20"/>
          <p:cNvSpPr/>
          <p:nvPr/>
        </p:nvSpPr>
        <p:spPr>
          <a:xfrm>
            <a:off x="5311140" y="3539490"/>
            <a:ext cx="906780" cy="84201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22" name="Oval 21"/>
          <p:cNvSpPr/>
          <p:nvPr/>
        </p:nvSpPr>
        <p:spPr>
          <a:xfrm>
            <a:off x="5275202" y="4022129"/>
            <a:ext cx="594097" cy="571364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59765" y="4374083"/>
            <a:ext cx="582930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b="1" dirty="0"/>
              <a:t>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8908" y="3431683"/>
            <a:ext cx="622232" cy="798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b="1" dirty="0"/>
              <a:t>Test </a:t>
            </a:r>
            <a:br>
              <a:rPr lang="en-US" sz="1530" b="1" dirty="0"/>
            </a:br>
            <a:r>
              <a:rPr lang="en-US" sz="1530" b="1" dirty="0"/>
              <a:t>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2695" y="3678891"/>
            <a:ext cx="348172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>
                <a:solidFill>
                  <a:schemeClr val="bg1"/>
                </a:solidFill>
              </a:rPr>
              <a:t>e</a:t>
            </a:r>
            <a:r>
              <a:rPr lang="en-US" sz="1530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6" name="Oval 25"/>
          <p:cNvSpPr/>
          <p:nvPr/>
        </p:nvSpPr>
        <p:spPr>
          <a:xfrm>
            <a:off x="5771448" y="3363788"/>
            <a:ext cx="786043" cy="7447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27" name="TextBox 26"/>
          <p:cNvSpPr txBox="1"/>
          <p:nvPr/>
        </p:nvSpPr>
        <p:spPr>
          <a:xfrm>
            <a:off x="5974561" y="3579216"/>
            <a:ext cx="582930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b="1" dirty="0">
                <a:solidFill>
                  <a:schemeClr val="bg1">
                    <a:lumMod val="50000"/>
                  </a:schemeClr>
                </a:solidFill>
              </a:rPr>
              <a:t>TQ</a:t>
            </a:r>
          </a:p>
        </p:txBody>
      </p:sp>
    </p:spTree>
    <p:extLst>
      <p:ext uri="{BB962C8B-B14F-4D97-AF65-F5344CB8AC3E}">
        <p14:creationId xmlns:p14="http://schemas.microsoft.com/office/powerpoint/2010/main" val="17482688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Effects of the Control Variable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t>27</a:t>
            </a:fld>
            <a:endParaRPr lang="en-US"/>
          </a:p>
        </p:txBody>
      </p:sp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" y="4705351"/>
            <a:ext cx="2720340" cy="27162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0050" y="4705350"/>
            <a:ext cx="2724401" cy="27203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Oval 5"/>
          <p:cNvSpPr/>
          <p:nvPr/>
        </p:nvSpPr>
        <p:spPr>
          <a:xfrm>
            <a:off x="1793589" y="4116652"/>
            <a:ext cx="594097" cy="571364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7" name="Oval 6"/>
          <p:cNvSpPr/>
          <p:nvPr/>
        </p:nvSpPr>
        <p:spPr>
          <a:xfrm>
            <a:off x="1878330" y="3566159"/>
            <a:ext cx="906780" cy="84201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8" name="TextBox 7"/>
          <p:cNvSpPr txBox="1"/>
          <p:nvPr/>
        </p:nvSpPr>
        <p:spPr>
          <a:xfrm>
            <a:off x="1478782" y="4435352"/>
            <a:ext cx="582930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b="1" dirty="0"/>
              <a:t>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3028" y="3461493"/>
            <a:ext cx="756439" cy="563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b="1" dirty="0"/>
              <a:t>Test</a:t>
            </a:r>
            <a:br>
              <a:rPr lang="en-US" sz="1530" b="1" dirty="0"/>
            </a:br>
            <a:r>
              <a:rPr lang="en-US" sz="1530" b="1" dirty="0"/>
              <a:t>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5129" y="3706374"/>
            <a:ext cx="348172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>
                <a:solidFill>
                  <a:schemeClr val="bg1">
                    <a:lumMod val="50000"/>
                  </a:schemeClr>
                </a:solidFill>
              </a:rPr>
              <a:t>e</a:t>
            </a:r>
            <a:r>
              <a:rPr lang="en-US" sz="1530" baseline="-25000" dirty="0">
                <a:solidFill>
                  <a:schemeClr val="bg1">
                    <a:lumMod val="50000"/>
                  </a:schemeClr>
                </a:solidFill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00943" y="3928111"/>
            <a:ext cx="872355" cy="4062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40" b="1" dirty="0">
                <a:solidFill>
                  <a:schemeClr val="tx2"/>
                </a:solidFill>
              </a:rPr>
              <a:t>e</a:t>
            </a:r>
            <a:r>
              <a:rPr lang="en-US" sz="2040" b="1" baseline="-25000" dirty="0">
                <a:solidFill>
                  <a:schemeClr val="tx2"/>
                </a:solidFill>
              </a:rPr>
              <a:t>1</a:t>
            </a:r>
            <a:r>
              <a:rPr lang="en-US" sz="2040" b="1" dirty="0">
                <a:solidFill>
                  <a:schemeClr val="tx2"/>
                </a:solidFill>
              </a:rPr>
              <a:t> &gt; e</a:t>
            </a:r>
            <a:r>
              <a:rPr lang="en-US" sz="2040" b="1" baseline="-25000" dirty="0">
                <a:solidFill>
                  <a:schemeClr val="tx2"/>
                </a:solidFill>
              </a:rPr>
              <a:t>2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4533901" y="6061708"/>
            <a:ext cx="2202966" cy="38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ight Brace 21"/>
          <p:cNvSpPr/>
          <p:nvPr/>
        </p:nvSpPr>
        <p:spPr>
          <a:xfrm>
            <a:off x="5207853" y="5623558"/>
            <a:ext cx="129540" cy="388620"/>
          </a:xfrm>
          <a:prstGeom prst="rightBrac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cxnSp>
        <p:nvCxnSpPr>
          <p:cNvPr id="23" name="Straight Connector 22"/>
          <p:cNvCxnSpPr/>
          <p:nvPr/>
        </p:nvCxnSpPr>
        <p:spPr>
          <a:xfrm>
            <a:off x="5065579" y="5378204"/>
            <a:ext cx="0" cy="6987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ight Brace 23"/>
          <p:cNvSpPr/>
          <p:nvPr/>
        </p:nvSpPr>
        <p:spPr>
          <a:xfrm>
            <a:off x="5209268" y="5378203"/>
            <a:ext cx="129540" cy="190498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25" name="Oval 24"/>
          <p:cNvSpPr/>
          <p:nvPr/>
        </p:nvSpPr>
        <p:spPr>
          <a:xfrm>
            <a:off x="5000024" y="5244851"/>
            <a:ext cx="129540" cy="1295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cxnSp>
        <p:nvCxnSpPr>
          <p:cNvPr id="12" name="Straight Connector 11"/>
          <p:cNvCxnSpPr/>
          <p:nvPr/>
        </p:nvCxnSpPr>
        <p:spPr>
          <a:xfrm>
            <a:off x="4533900" y="5090158"/>
            <a:ext cx="2072640" cy="175260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100304" y="6065521"/>
            <a:ext cx="2202966" cy="3812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ight Brace 28"/>
          <p:cNvSpPr/>
          <p:nvPr/>
        </p:nvSpPr>
        <p:spPr>
          <a:xfrm>
            <a:off x="1774257" y="5627371"/>
            <a:ext cx="129540" cy="388620"/>
          </a:xfrm>
          <a:prstGeom prst="rightBrace">
            <a:avLst/>
          </a:prstGeom>
          <a:ln w="25400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cxnSp>
        <p:nvCxnSpPr>
          <p:cNvPr id="30" name="Straight Connector 29"/>
          <p:cNvCxnSpPr/>
          <p:nvPr/>
        </p:nvCxnSpPr>
        <p:spPr>
          <a:xfrm rot="5400000">
            <a:off x="1178593" y="5627371"/>
            <a:ext cx="906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ight Brace 30"/>
          <p:cNvSpPr/>
          <p:nvPr/>
        </p:nvSpPr>
        <p:spPr>
          <a:xfrm>
            <a:off x="1775672" y="5183893"/>
            <a:ext cx="129540" cy="388620"/>
          </a:xfrm>
          <a:prstGeom prst="righ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32" name="Oval 31"/>
          <p:cNvSpPr/>
          <p:nvPr/>
        </p:nvSpPr>
        <p:spPr>
          <a:xfrm>
            <a:off x="1553694" y="5093970"/>
            <a:ext cx="129540" cy="12954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100304" y="5093971"/>
            <a:ext cx="2072640" cy="175260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985529" y="5217425"/>
            <a:ext cx="349776" cy="32778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530" b="1" dirty="0">
                <a:solidFill>
                  <a:schemeClr val="tx2"/>
                </a:solidFill>
              </a:rPr>
              <a:t>e</a:t>
            </a:r>
            <a:r>
              <a:rPr lang="en-US" sz="1530" b="1" baseline="-25000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09302" y="5316485"/>
            <a:ext cx="349776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>
                <a:solidFill>
                  <a:schemeClr val="tx2"/>
                </a:solidFill>
              </a:rPr>
              <a:t>e</a:t>
            </a:r>
            <a:r>
              <a:rPr lang="en-US" sz="1530" b="1" baseline="-25000" dirty="0">
                <a:solidFill>
                  <a:schemeClr val="tx2"/>
                </a:solidFill>
              </a:rPr>
              <a:t>2</a:t>
            </a:r>
          </a:p>
        </p:txBody>
      </p:sp>
      <p:sp>
        <p:nvSpPr>
          <p:cNvPr id="37" name="Oval 36"/>
          <p:cNvSpPr/>
          <p:nvPr/>
        </p:nvSpPr>
        <p:spPr>
          <a:xfrm>
            <a:off x="5311140" y="3539490"/>
            <a:ext cx="906780" cy="84201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38" name="Oval 37"/>
          <p:cNvSpPr/>
          <p:nvPr/>
        </p:nvSpPr>
        <p:spPr>
          <a:xfrm>
            <a:off x="5275202" y="4022129"/>
            <a:ext cx="594097" cy="571364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39" name="TextBox 38"/>
          <p:cNvSpPr txBox="1"/>
          <p:nvPr/>
        </p:nvSpPr>
        <p:spPr>
          <a:xfrm>
            <a:off x="4859765" y="4374083"/>
            <a:ext cx="582930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b="1" dirty="0"/>
              <a:t>CS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8908" y="3431683"/>
            <a:ext cx="622232" cy="798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b="1" dirty="0"/>
              <a:t>Test </a:t>
            </a:r>
            <a:br>
              <a:rPr lang="en-US" sz="1530" b="1" dirty="0"/>
            </a:br>
            <a:r>
              <a:rPr lang="en-US" sz="1530" b="1" dirty="0"/>
              <a:t>Score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2695" y="3678891"/>
            <a:ext cx="348172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>
                <a:solidFill>
                  <a:schemeClr val="bg1"/>
                </a:solidFill>
              </a:rPr>
              <a:t>e</a:t>
            </a:r>
            <a:r>
              <a:rPr lang="en-US" sz="1530" baseline="-250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2" name="Oval 41"/>
          <p:cNvSpPr/>
          <p:nvPr/>
        </p:nvSpPr>
        <p:spPr>
          <a:xfrm>
            <a:off x="5771448" y="3363788"/>
            <a:ext cx="786043" cy="74478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43" name="TextBox 42"/>
          <p:cNvSpPr txBox="1"/>
          <p:nvPr/>
        </p:nvSpPr>
        <p:spPr>
          <a:xfrm>
            <a:off x="5974561" y="3579216"/>
            <a:ext cx="582930" cy="3277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30" b="1" dirty="0">
                <a:solidFill>
                  <a:schemeClr val="bg1">
                    <a:lumMod val="50000"/>
                  </a:schemeClr>
                </a:solidFill>
              </a:rPr>
              <a:t>TQ</a:t>
            </a:r>
          </a:p>
        </p:txBody>
      </p:sp>
    </p:spTree>
    <p:extLst>
      <p:ext uri="{BB962C8B-B14F-4D97-AF65-F5344CB8AC3E}">
        <p14:creationId xmlns:p14="http://schemas.microsoft.com/office/powerpoint/2010/main" val="6840905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Partitioning y with multiple variables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3BAF0-9579-42B3-B979-30EFD986705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45070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happens to slopes and standard errors when we add more variables?</a:t>
            </a:r>
          </a:p>
        </p:txBody>
      </p:sp>
      <p:sp>
        <p:nvSpPr>
          <p:cNvPr id="16" name="Oval 15"/>
          <p:cNvSpPr/>
          <p:nvPr/>
        </p:nvSpPr>
        <p:spPr>
          <a:xfrm>
            <a:off x="2914650" y="5806440"/>
            <a:ext cx="1230630" cy="123063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19" name="Oval 18"/>
          <p:cNvSpPr/>
          <p:nvPr/>
        </p:nvSpPr>
        <p:spPr>
          <a:xfrm>
            <a:off x="2849880" y="4640580"/>
            <a:ext cx="1878330" cy="18135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20" name="TextBox 19"/>
          <p:cNvSpPr txBox="1"/>
          <p:nvPr/>
        </p:nvSpPr>
        <p:spPr>
          <a:xfrm>
            <a:off x="3627120" y="4770120"/>
            <a:ext cx="287258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6877" y="6416796"/>
            <a:ext cx="279244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6030" y="6259830"/>
            <a:ext cx="292068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03270" y="5935980"/>
            <a:ext cx="298480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>
                <a:solidFill>
                  <a:schemeClr val="bg1">
                    <a:lumMod val="50000"/>
                  </a:schemeClr>
                </a:solidFill>
              </a:rPr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56660" y="6065520"/>
            <a:ext cx="292068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>
                <a:solidFill>
                  <a:schemeClr val="bg1">
                    <a:lumMod val="50000"/>
                  </a:schemeClr>
                </a:solidFill>
              </a:rPr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21430" y="6454140"/>
            <a:ext cx="288862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>
                <a:solidFill>
                  <a:schemeClr val="bg1">
                    <a:lumMod val="50000"/>
                  </a:schemeClr>
                </a:solidFill>
              </a:rPr>
              <a:t>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38500" y="6454140"/>
            <a:ext cx="304892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>
                <a:solidFill>
                  <a:schemeClr val="bg1">
                    <a:lumMod val="50000"/>
                  </a:schemeClr>
                </a:solidFill>
              </a:rPr>
              <a:t>D</a:t>
            </a:r>
          </a:p>
        </p:txBody>
      </p:sp>
      <p:sp>
        <p:nvSpPr>
          <p:cNvPr id="14" name="Oval 13"/>
          <p:cNvSpPr/>
          <p:nvPr/>
        </p:nvSpPr>
        <p:spPr>
          <a:xfrm>
            <a:off x="3627120" y="5676900"/>
            <a:ext cx="1230630" cy="123063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</p:spTree>
    <p:extLst>
      <p:ext uri="{BB962C8B-B14F-4D97-AF65-F5344CB8AC3E}">
        <p14:creationId xmlns:p14="http://schemas.microsoft.com/office/powerpoint/2010/main" val="27494978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Regression Mechanics: SLOPE</a:t>
            </a:r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>
            <p:extLst/>
          </p:nvPr>
        </p:nvGraphicFramePr>
        <p:xfrm>
          <a:off x="5375910" y="3539490"/>
          <a:ext cx="2051050" cy="18702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0" name="Equation" r:id="rId3" imgW="1447560" imgH="1320480" progId="Equation.3">
                  <p:embed/>
                </p:oleObj>
              </mc:Choice>
              <mc:Fallback>
                <p:oleObj name="Equation" r:id="rId3" imgW="1447560" imgH="1320480" progId="Equation.3">
                  <p:embed/>
                  <p:pic>
                    <p:nvPicPr>
                      <p:cNvPr id="102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910" y="3539490"/>
                        <a:ext cx="2051050" cy="187023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3"/>
          <p:cNvGraphicFramePr>
            <a:graphicFrameLocks noChangeAspect="1"/>
          </p:cNvGraphicFramePr>
          <p:nvPr>
            <p:extLst/>
          </p:nvPr>
        </p:nvGraphicFramePr>
        <p:xfrm>
          <a:off x="582930" y="3604260"/>
          <a:ext cx="1655683" cy="18364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1" name="Equation" r:id="rId5" imgW="1168200" imgH="1295280" progId="Equation.3">
                  <p:embed/>
                </p:oleObj>
              </mc:Choice>
              <mc:Fallback>
                <p:oleObj name="Equation" r:id="rId5" imgW="1168200" imgH="1295280" progId="Equation.3">
                  <p:embed/>
                  <p:pic>
                    <p:nvPicPr>
                      <p:cNvPr id="102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930" y="3604260"/>
                        <a:ext cx="1655683" cy="18364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Oval 5"/>
          <p:cNvSpPr/>
          <p:nvPr/>
        </p:nvSpPr>
        <p:spPr>
          <a:xfrm>
            <a:off x="2914650" y="5806440"/>
            <a:ext cx="1230630" cy="123063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7" name="Oval 6"/>
          <p:cNvSpPr/>
          <p:nvPr/>
        </p:nvSpPr>
        <p:spPr>
          <a:xfrm>
            <a:off x="3627120" y="5676900"/>
            <a:ext cx="1230630" cy="123063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8" name="Oval 7"/>
          <p:cNvSpPr/>
          <p:nvPr/>
        </p:nvSpPr>
        <p:spPr>
          <a:xfrm>
            <a:off x="2849880" y="4640580"/>
            <a:ext cx="1878330" cy="18135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9" name="TextBox 8"/>
          <p:cNvSpPr txBox="1"/>
          <p:nvPr/>
        </p:nvSpPr>
        <p:spPr>
          <a:xfrm>
            <a:off x="3627120" y="4770120"/>
            <a:ext cx="287258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6877" y="6416796"/>
            <a:ext cx="279244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6030" y="6259830"/>
            <a:ext cx="292068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03270" y="5935980"/>
            <a:ext cx="298480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>
                <a:solidFill>
                  <a:schemeClr val="bg1">
                    <a:lumMod val="50000"/>
                  </a:schemeClr>
                </a:solidFill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6660" y="6065520"/>
            <a:ext cx="292068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>
                <a:solidFill>
                  <a:schemeClr val="bg1">
                    <a:lumMod val="50000"/>
                  </a:schemeClr>
                </a:solidFill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1430" y="6454140"/>
            <a:ext cx="288862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>
                <a:solidFill>
                  <a:schemeClr val="bg1">
                    <a:lumMod val="50000"/>
                  </a:schemeClr>
                </a:solidFill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38500" y="6454140"/>
            <a:ext cx="304892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>
                <a:solidFill>
                  <a:schemeClr val="bg1">
                    <a:lumMod val="50000"/>
                  </a:schemeClr>
                </a:solidFill>
              </a:rPr>
              <a:t>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973" y="7296150"/>
            <a:ext cx="4301177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0" i="1" dirty="0"/>
              <a:t>The formula for the slope is different when you add more variables</a:t>
            </a:r>
          </a:p>
        </p:txBody>
      </p:sp>
    </p:spTree>
    <p:extLst>
      <p:ext uri="{BB962C8B-B14F-4D97-AF65-F5344CB8AC3E}">
        <p14:creationId xmlns:p14="http://schemas.microsoft.com/office/powerpoint/2010/main" val="37946017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Multiple Regression Mechanics: STANDARD ERRORS</a:t>
            </a:r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>
            <p:extLst/>
          </p:nvPr>
        </p:nvGraphicFramePr>
        <p:xfrm>
          <a:off x="5375910" y="4388697"/>
          <a:ext cx="2051050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4" name="Equation" r:id="rId3" imgW="1447560" imgH="914400" progId="Equation.3">
                  <p:embed/>
                </p:oleObj>
              </mc:Choice>
              <mc:Fallback>
                <p:oleObj name="Equation" r:id="rId3" imgW="1447560" imgH="914400" progId="Equation.3">
                  <p:embed/>
                  <p:pic>
                    <p:nvPicPr>
                      <p:cNvPr id="1024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5910" y="4388697"/>
                        <a:ext cx="2051050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3"/>
          <p:cNvGraphicFramePr>
            <a:graphicFrameLocks noChangeAspect="1"/>
          </p:cNvGraphicFramePr>
          <p:nvPr>
            <p:extLst/>
          </p:nvPr>
        </p:nvGraphicFramePr>
        <p:xfrm>
          <a:off x="712470" y="4380150"/>
          <a:ext cx="1404699" cy="129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495" name="Equation" r:id="rId5" imgW="990360" imgH="914400" progId="Equation.3">
                  <p:embed/>
                </p:oleObj>
              </mc:Choice>
              <mc:Fallback>
                <p:oleObj name="Equation" r:id="rId5" imgW="990360" imgH="914400" progId="Equation.3">
                  <p:embed/>
                  <p:pic>
                    <p:nvPicPr>
                      <p:cNvPr id="10243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2470" y="4380150"/>
                        <a:ext cx="1404699" cy="1296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Oval 5"/>
          <p:cNvSpPr/>
          <p:nvPr/>
        </p:nvSpPr>
        <p:spPr>
          <a:xfrm>
            <a:off x="2914650" y="5806440"/>
            <a:ext cx="1230630" cy="123063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7" name="Oval 6"/>
          <p:cNvSpPr/>
          <p:nvPr/>
        </p:nvSpPr>
        <p:spPr>
          <a:xfrm>
            <a:off x="3627120" y="5676900"/>
            <a:ext cx="1230630" cy="1230630"/>
          </a:xfrm>
          <a:prstGeom prst="ellipse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8" name="Oval 7"/>
          <p:cNvSpPr/>
          <p:nvPr/>
        </p:nvSpPr>
        <p:spPr>
          <a:xfrm>
            <a:off x="2849880" y="4640580"/>
            <a:ext cx="1878330" cy="181356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30"/>
          </a:p>
        </p:txBody>
      </p:sp>
      <p:sp>
        <p:nvSpPr>
          <p:cNvPr id="9" name="TextBox 8"/>
          <p:cNvSpPr txBox="1"/>
          <p:nvPr/>
        </p:nvSpPr>
        <p:spPr>
          <a:xfrm>
            <a:off x="3627081" y="4187190"/>
            <a:ext cx="287258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6877" y="6416796"/>
            <a:ext cx="279244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26030" y="6259830"/>
            <a:ext cx="292068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b="1" dirty="0"/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8299" y="5158740"/>
            <a:ext cx="298480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>
                <a:solidFill>
                  <a:schemeClr val="bg1">
                    <a:lumMod val="50000"/>
                  </a:schemeClr>
                </a:solidFill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56259" y="5816358"/>
            <a:ext cx="292068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30" dirty="0">
                <a:solidFill>
                  <a:schemeClr val="bg1">
                    <a:lumMod val="50000"/>
                  </a:schemeClr>
                </a:solidFill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00973" y="7296150"/>
            <a:ext cx="4315605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90" i="1" dirty="0"/>
              <a:t>The unexplained variance is different when you add more variables</a:t>
            </a:r>
          </a:p>
        </p:txBody>
      </p:sp>
    </p:spTree>
    <p:extLst>
      <p:ext uri="{BB962C8B-B14F-4D97-AF65-F5344CB8AC3E}">
        <p14:creationId xmlns:p14="http://schemas.microsoft.com/office/powerpoint/2010/main" val="144915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10421</TotalTime>
  <Words>810</Words>
  <Application>Microsoft Office PowerPoint</Application>
  <PresentationFormat>Custom</PresentationFormat>
  <Paragraphs>345</Paragraphs>
  <Slides>31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Arial</vt:lpstr>
      <vt:lpstr>Arial Black</vt:lpstr>
      <vt:lpstr>Berlin Sans FB</vt:lpstr>
      <vt:lpstr>Calibri</vt:lpstr>
      <vt:lpstr>Cambria Math</vt:lpstr>
      <vt:lpstr>Stencil</vt:lpstr>
      <vt:lpstr>Times New Roman</vt:lpstr>
      <vt:lpstr>Office Theme</vt:lpstr>
      <vt:lpstr>Equation</vt:lpstr>
      <vt:lpstr>partitioned regression  </vt:lpstr>
      <vt:lpstr>Example:  Classroom Size</vt:lpstr>
      <vt:lpstr>Example:  Classroom Size</vt:lpstr>
      <vt:lpstr>Partitioning the Variance of Y</vt:lpstr>
      <vt:lpstr>Standard Error in Regression</vt:lpstr>
      <vt:lpstr>PowerPoint Presentation</vt:lpstr>
      <vt:lpstr>Partitioned regression</vt:lpstr>
      <vt:lpstr>Ballentine venn diagram</vt:lpstr>
      <vt:lpstr>Ballentine venn diagram</vt:lpstr>
      <vt:lpstr>Ballentine venn diagram</vt:lpstr>
      <vt:lpstr>Ballentine venn diagram</vt:lpstr>
      <vt:lpstr>Partitioned Regression</vt:lpstr>
      <vt:lpstr>PowerPoint Presentation</vt:lpstr>
      <vt:lpstr>Why can we do this?</vt:lpstr>
      <vt:lpstr>Note:  Multiple Regression Context</vt:lpstr>
      <vt:lpstr>Example 1:</vt:lpstr>
      <vt:lpstr>Auxiliary Regression #1</vt:lpstr>
      <vt:lpstr>Auxiliary Regression #1</vt:lpstr>
      <vt:lpstr>Auxiliary Regression #2</vt:lpstr>
      <vt:lpstr>Partitioned Regression</vt:lpstr>
      <vt:lpstr>Why is this important?</vt:lpstr>
      <vt:lpstr>Why we care:</vt:lpstr>
      <vt:lpstr>Effects of controls determined by their correlations with the outcome and policy variables</vt:lpstr>
      <vt:lpstr>Partitioning the Variance of Y</vt:lpstr>
      <vt:lpstr>Partitioning the Variance of Y</vt:lpstr>
      <vt:lpstr>Effects of the Control Variable</vt:lpstr>
      <vt:lpstr>Effects of the Control Variable</vt:lpstr>
      <vt:lpstr>Partitioning y with multiple variables</vt:lpstr>
      <vt:lpstr>What happens to slopes and standard errors when we add more variables?</vt:lpstr>
      <vt:lpstr>Multiple Regression Mechanics: SLOPE</vt:lpstr>
      <vt:lpstr>Multiple Regression Mechanics: STANDARD ERRORS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padjdl</dc:creator>
  <cp:lastModifiedBy>jdlecy</cp:lastModifiedBy>
  <cp:revision>82</cp:revision>
  <cp:lastPrinted>2014-01-22T23:35:30Z</cp:lastPrinted>
  <dcterms:created xsi:type="dcterms:W3CDTF">2013-12-05T22:08:08Z</dcterms:created>
  <dcterms:modified xsi:type="dcterms:W3CDTF">2017-02-01T17:55:34Z</dcterms:modified>
</cp:coreProperties>
</file>