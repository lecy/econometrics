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2744"/>
                </a:solidFill>
                <a:latin typeface="Arial"/>
              </a:rPr>
              <a:t>Annual Retraction Count (2000–2023)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Retractions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  <c:pt idx="10">
                  <c:v>2020</c:v>
                </c:pt>
                <c:pt idx="11">
                  <c:v>2022</c:v>
                </c:pt>
                <c:pt idx="12">
                  <c:v>2023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140</c:v>
                </c:pt>
                <c:pt idx="1">
                  <c:v>250</c:v>
                </c:pt>
                <c:pt idx="2">
                  <c:v>450</c:v>
                </c:pt>
                <c:pt idx="3">
                  <c:v>700</c:v>
                </c:pt>
                <c:pt idx="4">
                  <c:v>1100</c:v>
                </c:pt>
                <c:pt idx="5">
                  <c:v>1800</c:v>
                </c:pt>
                <c:pt idx="6">
                  <c:v>3200</c:v>
                </c:pt>
                <c:pt idx="7">
                  <c:v>5500</c:v>
                </c:pt>
                <c:pt idx="8">
                  <c:v>7200</c:v>
                </c:pt>
                <c:pt idx="9">
                  <c:v>8500</c:v>
                </c:pt>
                <c:pt idx="10">
                  <c:v>7000</c:v>
                </c:pt>
                <c:pt idx="11">
                  <c:v>11000</c:v>
                </c:pt>
                <c:pt idx="12">
                  <c:v>14000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8B-4939-8675-1444966EE8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2744"/>
                </a:solidFill>
                <a:latin typeface="Arial"/>
              </a:rPr>
              <a:t>Retraction Rate (per 10,000 papers)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Retractions per 10,000 papers</c:v>
                </c:pt>
              </c:strCache>
            </c:strRef>
          </c:tx>
          <c:spPr>
            <a:solidFill>
              <a:srgbClr val="3D5A9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D9-4E7F-8341-7598C6955AC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1D9-4E7F-8341-7598C6955AC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1D9-4E7F-8341-7598C6955AC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1D9-4E7F-8341-7598C6955AC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1D9-4E7F-8341-7598C6955AC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1D9-4E7F-8341-7598C6955AC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1D9-4E7F-8341-7598C6955AC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1D9-4E7F-8341-7598C6955ACD}"/>
              </c:ext>
            </c:extLst>
          </c:dPt>
          <c:dPt>
            <c:idx val="8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1D9-4E7F-8341-7598C6955ACD}"/>
              </c:ext>
            </c:extLst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1D9-4E7F-8341-7598C6955AC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Physics</c:v>
                </c:pt>
                <c:pt idx="1">
                  <c:v>Chemistry</c:v>
                </c:pt>
                <c:pt idx="2">
                  <c:v>Agri/Env/Ecol</c:v>
                </c:pt>
                <c:pt idx="3">
                  <c:v>Mathematics</c:v>
                </c:pt>
                <c:pt idx="4">
                  <c:v>Earth Sciences</c:v>
                </c:pt>
                <c:pt idx="5">
                  <c:v>Engineering &amp; Mat. Sci</c:v>
                </c:pt>
                <c:pt idx="6">
                  <c:v>Arts &amp; Humanities</c:v>
                </c:pt>
                <c:pt idx="7">
                  <c:v>Social Sciences</c:v>
                </c:pt>
                <c:pt idx="8">
                  <c:v>Clinical &amp; Life Sci</c:v>
                </c:pt>
                <c:pt idx="9">
                  <c:v>EE &amp; Computer Sci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3.25</c:v>
                </c:pt>
                <c:pt idx="1">
                  <c:v>16.3</c:v>
                </c:pt>
                <c:pt idx="2">
                  <c:v>16.899999999999999</c:v>
                </c:pt>
                <c:pt idx="3">
                  <c:v>17.2</c:v>
                </c:pt>
                <c:pt idx="4">
                  <c:v>21.9</c:v>
                </c:pt>
                <c:pt idx="5">
                  <c:v>22.4</c:v>
                </c:pt>
                <c:pt idx="6">
                  <c:v>33.4</c:v>
                </c:pt>
                <c:pt idx="7">
                  <c:v>38.200000000000003</c:v>
                </c:pt>
                <c:pt idx="8">
                  <c:v>40.299999999999997</c:v>
                </c:pt>
                <c:pt idx="9">
                  <c:v>157.1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1D9-4E7F-8341-7598C6955A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74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744"/>
                </a:solidFill>
                <a:latin typeface="Arial"/>
              </a:rPr>
              <a:t>NIH R01 Grant Success Rate (approx.)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NIH Success Rate (%)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</c:v>
                </c:pt>
                <c:pt idx="1">
                  <c:v>30</c:v>
                </c:pt>
                <c:pt idx="2">
                  <c:v>26</c:v>
                </c:pt>
                <c:pt idx="3">
                  <c:v>21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21</c:v>
                </c:pt>
                <c:pt idx="8">
                  <c:v>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502-4872-B3CA-5D9EDB4AC4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74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11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D4AC0D">
              <a:alpha val="40000"/>
            </a:srgbClr>
          </a:solidFill>
          <a:ln w="12700">
            <a:solidFill>
              <a:srgbClr val="D4AC0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FRAUD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REPRODUCIBILITY CRISIS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2286000" cy="457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Science Tools, Detection Methods, Publishing Pressures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Systemic Incentives Driving Research Misconduct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502920"/>
            <a:ext cx="2194560" cy="109728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57607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63,000+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75120" y="1143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Retractions tracked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874520"/>
            <a:ext cx="2194560" cy="109728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94767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p.a.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7512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rate of retractions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3246120"/>
            <a:ext cx="2194560" cy="1097280"/>
          </a:xfrm>
          <a:prstGeom prst="rect">
            <a:avLst/>
          </a:prstGeom>
          <a:solidFill>
            <a:srgbClr val="2A3F6F"/>
          </a:solidFill>
          <a:ln w="1270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331927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~$3.6B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75120" y="3886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 profit (2023)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DRIVERS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1615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60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Retraction Trends &amp; Scale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 rates, compound growth, discipline patterns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19456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" y="219456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5420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286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High-Profile Fraud Cases (Timeline)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14400" y="2697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cases from 2002 to present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52044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20040" y="352044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86791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3611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Detection Methods &amp; Open Science Tools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14400" y="4023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GRIM, SPRITE, statcheck, image forensics, AI tools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86868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00600" y="86868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121615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960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Publishing Environment Changes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9496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access, APCs, paper mills, predatory journals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00600" y="219456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800600" y="219456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254203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2286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Incentive Structures Driving Misconduct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94960" y="2697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Publish-or-perish, funding competition, reviewer burnout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800600" y="352044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800600" y="352044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386791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94960" y="3611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Implications &amp; Reform Efforts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394960" y="4023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Preregistration, open data, Stockholm Declaration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Retractions: Exponential Growth vs. Publications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22960"/>
            <a:ext cx="30175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06440" y="87782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897880" y="14447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compound growth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retractions (vs. 6.25%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overall)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06440" y="2103120"/>
            <a:ext cx="3017520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06440" y="21579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897880" y="272491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Retractions grow 3.5× faster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new publications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each year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3383280"/>
            <a:ext cx="301752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06440" y="343814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897880" y="40050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Retractions in 2023 alone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all retractions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2020–22 combined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Web of Science via arxiv.org/abs/2511.21176; Retraction Watch Database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 Rates Vary Dramatically by Field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7607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822960"/>
            <a:ext cx="265176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09360" y="868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&amp; Computer Science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12618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per 10,000 — a rate 10× higher than Physics. Fake peer review and paper mill infiltration are primary drivers.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2423160"/>
            <a:ext cx="2651760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936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Biomedicine at risk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8620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Life Sciences has &gt;21,000 total retractions. Patient harm is a real-world consequence of fraudulent health research.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3977640"/>
            <a:ext cx="2651760" cy="960120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4023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rate: 11 per 10,000 across 42 million papers (2000–2024).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Web of Science / Clarivate InCites; arxiv.org/abs/2511.21176 (Nov 2025)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High-Profile Fraud Cases: A Timeline (2002–2023)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0" cy="4023360"/>
          </a:xfrm>
          <a:prstGeom prst="line">
            <a:avLst/>
          </a:prstGeom>
          <a:noFill/>
          <a:ln w="254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2416" y="1152144"/>
            <a:ext cx="320040" cy="0"/>
          </a:xfrm>
          <a:prstGeom prst="line">
            <a:avLst/>
          </a:prstGeom>
          <a:noFill/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058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960120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960120"/>
            <a:ext cx="73152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987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Hendrik Schön (Bell Labs)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197864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fabricated papers in Nature &amp; Science. Fired; degree revoked.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6384" y="1591056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42416" y="1719072"/>
            <a:ext cx="320040" cy="0"/>
          </a:xfrm>
          <a:prstGeom prst="line">
            <a:avLst/>
          </a:prstGeom>
          <a:noFill/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0" y="157276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2005–06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1527048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" y="1527048"/>
            <a:ext cx="73152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1554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Hwang Woo-suk (Seoul National Univ.)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1764792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stem-cell papers fabricated. Retracted from Science; criminal conviction.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6384" y="2157984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42416" y="2286000"/>
            <a:ext cx="320040" cy="0"/>
          </a:xfrm>
          <a:prstGeom prst="line">
            <a:avLst/>
          </a:prstGeom>
          <a:noFill/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0" y="2139696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093976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71600" y="2093976"/>
            <a:ext cx="73152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54480" y="21214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 &amp; Hauser (Netherlands / Harvard)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2331720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Stapel: 58 papers retracted; Hauser: 8 ORI misconduct findings. Both resigned.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6384" y="2724912"/>
            <a:ext cx="256032" cy="25603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42416" y="2852928"/>
            <a:ext cx="320040" cy="0"/>
          </a:xfrm>
          <a:prstGeom prst="line">
            <a:avLst/>
          </a:prstGeom>
          <a:noFill/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0" y="27066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660904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71600" y="2660904"/>
            <a:ext cx="73152" cy="47548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54480" y="26883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Wansink (Cornell)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54480" y="2898648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tool reveals impossible data. 15+ papers retracted; resigned.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6384" y="329184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42416" y="3419856"/>
            <a:ext cx="320040" cy="0"/>
          </a:xfrm>
          <a:prstGeom prst="line">
            <a:avLst/>
          </a:prstGeom>
          <a:noFill/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0" y="327355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71600" y="3227832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371600" y="3227832"/>
            <a:ext cx="73152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554480" y="3255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Surgisphere / COVID-19 (Lancet / NEJM)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54480" y="3465576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hospital database; two major COVID papers retracted within days.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6384" y="3858768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42416" y="3986784"/>
            <a:ext cx="320040" cy="0"/>
          </a:xfrm>
          <a:prstGeom prst="line">
            <a:avLst/>
          </a:prstGeom>
          <a:noFill/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0" y="384048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71600" y="3794760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71600" y="3794760"/>
            <a:ext cx="73152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554480" y="3822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Tessier-Lavigne (Stanford president)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554480" y="4032504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manipulation findings; stepped down after 8-month investigation.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86384" y="4425696"/>
            <a:ext cx="256032" cy="25603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42416" y="4553712"/>
            <a:ext cx="320040" cy="0"/>
          </a:xfrm>
          <a:prstGeom prst="line">
            <a:avLst/>
          </a:prstGeom>
          <a:noFill/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0" y="440740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371600" y="4361688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371600" y="4361688"/>
            <a:ext cx="73152" cy="47548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554480" y="4389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Francesca Gino (Harvard Business School)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554480" y="4599432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Colada sleuths expose falsified honesty research; 5 papers retracted.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Timeline: Detection &amp; Open Science (2010–2025)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0" cy="40233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2416" y="1152144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058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960120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960120"/>
            <a:ext cx="73152" cy="4754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987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 Watch founded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197864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systematic tracking of retractions. Now hosts 63,000+ records in searchable database.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6384" y="1591056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42416" y="1719072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0" y="157276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1527048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" y="1527048"/>
            <a:ext cx="73152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1554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OSTP Open Data Mandate (US)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1764792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agencies required to open access to publicly funded research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6384" y="2157984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42416" y="2286000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0" y="2139696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093976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71600" y="2093976"/>
            <a:ext cx="73152" cy="47548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54480" y="21214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 Replication Crisis paper (Science)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2331720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36–50% of 100 psychology studies replicated. Catalyzes open science reform.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6384" y="2724912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42416" y="2852928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0" y="27066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660904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71600" y="2660904"/>
            <a:ext cx="73152" cy="4754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54480" y="26883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 test &amp; statcheck released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54480" y="2898648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spotting impossible means (GRIM) and auto-checking p-values (statcheck).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6384" y="3291840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42416" y="3419856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0" y="327355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2017–18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71600" y="3227832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371600" y="3227832"/>
            <a:ext cx="73152" cy="4754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554480" y="3255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&amp; PubPeer scale up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54480" y="3465576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datasets from summary statistics; PubPeer enables crowd-sourced post-publication review.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6384" y="3858768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42416" y="3986784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0" y="384048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71600" y="3794760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71600" y="3794760"/>
            <a:ext cx="73152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554480" y="3822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Elisabeth Bik leaves Stanford for full-time sleuthing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554480" y="4032504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Maddox Prize (2021). By 2024 her work has led to 1,331 retractions.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86384" y="4425696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42416" y="4553712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0" y="440740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371600" y="4361688"/>
            <a:ext cx="7406640" cy="475488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371600" y="4361688"/>
            <a:ext cx="73152" cy="4754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554480" y="4389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tools &amp; Stockholm Declaration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554480" y="4599432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Imagetwin/Proofig deployed at submission. Stockholm Declaration calls for systemic reform of publish-or-perish culture.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7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14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Methods &amp;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Science Tools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image scanning to AI-powered automated screening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Methodologies in Fraud Detection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57200" cy="1188720"/>
          </a:xfrm>
          <a:prstGeom prst="rect">
            <a:avLst/>
          </a:prstGeom>
          <a:solidFill>
            <a:srgbClr val="3D5A9F"/>
          </a:solidFill>
          <a:ln w="1270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1521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8961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 Test (2016)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" y="121615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Granularity-Related Inconsistency of Means. Given N integer responses, possible mean values are constrained. Impossible means signal an error. Proposed by Brown &amp; Heathers.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8600" y="213055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600" y="2130552"/>
            <a:ext cx="457200" cy="1188720"/>
          </a:xfrm>
          <a:prstGeom prst="rect">
            <a:avLst/>
          </a:prstGeom>
          <a:solidFill>
            <a:srgbClr val="3D5A9F"/>
          </a:solidFill>
          <a:ln w="1270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247802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" y="2221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(2017–18)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95528" y="254203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Parameter Reconstruction via Iterative Techniques. Reverse-engineers plausible raw datasets from summary statistics (mean, SD, N, range). Exposed Wansink's 60-carrot child.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28600" y="345643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28600" y="3456432"/>
            <a:ext cx="457200" cy="1188720"/>
          </a:xfrm>
          <a:prstGeom prst="rect">
            <a:avLst/>
          </a:prstGeom>
          <a:solidFill>
            <a:srgbClr val="3D5A9F"/>
          </a:solidFill>
          <a:ln w="1270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380390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" y="3547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statcheck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95528" y="386791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 and recalculation of p-values from PDFs. Flags 'gross errors' where inconsistency changes statistical conclusions. Used routinely in meta-research.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80467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09160" y="804672"/>
            <a:ext cx="457200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115214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76088" y="8961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Forensics (Bik et al.)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276088" y="121615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detection of duplicated/manipulated western blots, microscopy, and gel images. 2016 mBio paper found 3.8% of papers had problematic figures; now assisted by Imagetwin &amp; Proofig AI.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709160" y="213055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709160" y="2130552"/>
            <a:ext cx="457200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247802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2221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PubPeer &amp; Crowd Sleuthing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276088" y="254203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Post-publication open commentary platform. Coordinates global volunteer reviewers. Flagged Tessier-Lavigne, Gino, and Dana-Farber cases before institutional action.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09160" y="3456432"/>
            <a:ext cx="4160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709160" y="3456432"/>
            <a:ext cx="457200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3803904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76088" y="3547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Tortured Phrases &amp; AI Detectors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276088" y="386791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detect plagiarism-obfuscation ('artificial neural network' becomes 'counterfeit brain organization'). Problematic Paper Screener has flagged 32,000+ suspected paper-mill products.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GRIM, SPRITE, and statcheck detect inconsistencies — not fraud directly. Multiple tools used together increase confidence.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Science Practices as Preventive Infrastructure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432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509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8778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Preregistration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673352"/>
            <a:ext cx="109728" cy="109728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609344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Time-stamped registration of hypotheses, methods, and analysis plan before data collection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478024"/>
            <a:ext cx="109728" cy="109728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" y="2414016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Reports format: peer review BEFORE data collected — eliminates publication bias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3282696"/>
            <a:ext cx="109728" cy="109728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2648" y="3218688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Open Science (OSF) hosts 500,000+ preregistrations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4087368"/>
            <a:ext cx="109728" cy="109728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2648" y="4023360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evidence: preregistered studies show larger samples and power analyses, but not necessarily fewer positive results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54680" y="804672"/>
            <a:ext cx="27432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154680" y="804672"/>
            <a:ext cx="27432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50976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8778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&amp; Code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337560" y="1673352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538728" y="1609344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sharing enables direct auditing of published statistics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2478024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538728" y="2414016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principles: Findable, Accessible, Interoperable, Reusable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3282696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538728" y="3218688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OSTP mandate for federally funded research (US)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4087368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538728" y="4023360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is now recognized as a primary defense against misconduct, not just a discovery accelerator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080760" y="804672"/>
            <a:ext cx="27432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080760" y="804672"/>
            <a:ext cx="274320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50976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29400" y="8778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Post-Publication Review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263640" y="1673352"/>
            <a:ext cx="109728" cy="10972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464808" y="1609344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PubPeer: open annotation and flagging of published papers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263640" y="2478024"/>
            <a:ext cx="109728" cy="10972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464808" y="2414016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 Watch Database: 63,000+ records with reason codes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263640" y="3282696"/>
            <a:ext cx="109728" cy="10972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6464808" y="3218688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(Twitter/X) as rapid dissemination of concerns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263640" y="4087368"/>
            <a:ext cx="109728" cy="10972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464808" y="4023360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Sleuths like Elisabeth Bik have led to 1,331+ retractions through volunteer effort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2316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Changing Publishing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access, APCs, paper mills &amp; predatory journals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Economics: From Gatekeeping to Pay-to-Publish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Publication Spectrum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73152" cy="6217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70248" y="1444752"/>
            <a:ext cx="45720" cy="292608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0F6E5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subscription journals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peer review; reader pays; slow but high-quality gate.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93392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73152" cy="6217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70248" y="2157984"/>
            <a:ext cx="91440" cy="292608"/>
          </a:xfrm>
          <a:prstGeom prst="rect">
            <a:avLst/>
          </a:prstGeom>
          <a:solidFill>
            <a:srgbClr val="D4AC0D">
              <a:alpha val="70000"/>
            </a:srgbClr>
          </a:solidFill>
          <a:ln w="12700">
            <a:solidFill>
              <a:srgbClr val="D4AC0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029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Gold OA journals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pay APCs (~$2,000–$15,000+). Quality varies. Elsevier profit: $3.6B in 2023.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706624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706624"/>
            <a:ext cx="73152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70248" y="2871216"/>
            <a:ext cx="137160" cy="292608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743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Grey-zone OA publishers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Weak/fast peer review; broad scope; high acceptance rates. Volume &gt; rigour.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419856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419856"/>
            <a:ext cx="73152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70248" y="3584448"/>
            <a:ext cx="182880" cy="292608"/>
          </a:xfrm>
          <a:prstGeom prst="rect">
            <a:avLst/>
          </a:prstGeom>
          <a:solidFill>
            <a:srgbClr val="E74C3C">
              <a:alpha val="70000"/>
            </a:srgbClr>
          </a:solidFill>
          <a:ln w="12700">
            <a:solidFill>
              <a:srgbClr val="E74C3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Predatory journals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in name only. APC-driven acceptance. OMICS, Hindawi portfolio (~11,300 retractions).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133088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4133088"/>
            <a:ext cx="73152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70248" y="4297680"/>
            <a:ext cx="228600" cy="292608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mills / fake journals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425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fabricated manuscripts sold for authorship. AI-generated content. Hijacked ISSN numbers.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804672"/>
            <a:ext cx="420624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850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Mill Problem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11887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paper count may double every 1.5 years (Richardson &amp; Amaral, PNAS 2025). An estimated 5–15% of biomedical papers may be fraudulent or suspicious.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176272"/>
            <a:ext cx="1325880" cy="1325880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221284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32,786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18304" y="2697480"/>
            <a:ext cx="12161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paper-mill papers identified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Problematic Paper Screener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0760" y="2176272"/>
            <a:ext cx="1325880" cy="1325880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80760" y="221284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35624" y="2697480"/>
            <a:ext cx="12161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PLOS ONE editors responsible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30.2% of its retracted articles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98080" y="2176272"/>
            <a:ext cx="1325880" cy="1325880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98080" y="221284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11,300+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552944" y="2697480"/>
            <a:ext cx="12161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retracted from Wiley/Hindawi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paper-mill infiltration (2022–24)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529584"/>
            <a:ext cx="4206240" cy="1444752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35753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Burnout &amp; Fake Peer Review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54880" y="3931920"/>
            <a:ext cx="4023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peer review now accounts for half of all retractions.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submit fake reviewer email addresses; paper mills impersonate real academics.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editors resigned from Neuroimage (Elsevier) over excessive APC fees (2023).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515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Structures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Misconduct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Incentives Encouraging Fraudulent Behavior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95528"/>
            <a:ext cx="8686800" cy="13075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95528"/>
            <a:ext cx="1645920" cy="1307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527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/ Macro level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905256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research assessment tied to publication counts (UK REF, China's evaluation system, etc.)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271016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funding success rates at historic lows (~20%); competition is extreme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636776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Impact Factor as proxy for career worth — rewards novelty over replication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194560"/>
            <a:ext cx="8686800" cy="13075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1645920" cy="1307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651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level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30428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&amp; promotion require a strong publication record in high-impact journals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267004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overhead funds institutional budgets — universities profit from more grants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303580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Post-doc and early-career positions contingent on number of publications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593592"/>
            <a:ext cx="8686800" cy="13075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593592"/>
            <a:ext cx="1645920" cy="1307592"/>
          </a:xfrm>
          <a:prstGeom prst="rect">
            <a:avLst/>
          </a:prstGeom>
          <a:solidFill>
            <a:srgbClr val="3D5A9F"/>
          </a:solidFill>
          <a:ln w="1270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050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level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703320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 (2011): 'The pressure became too much… I wanted too much, too fast'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4069080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mills offer a market solution: authorship for sale at $500–$3,000/paper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0" y="4434840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'Snowball situation where the optimum strategy is you have to start to cheat to win' — Amaral (2025)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Pressures, AI Arms Race &amp; Emerging Threats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04672"/>
          <a:ext cx="4389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8046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Complication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846320" y="1252728"/>
            <a:ext cx="3977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846320" y="1252728"/>
            <a:ext cx="7315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0" y="12984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1545336"/>
            <a:ext cx="3611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biomedical abstracts in 2024 showed signs of AI-generated text (Nature, July 2025). Hard to distinguish from human writing.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46320" y="2057400"/>
            <a:ext cx="3977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2057400"/>
            <a:ext cx="73152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0" y="21031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images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2350008"/>
            <a:ext cx="3611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can now produce convincing western blots. Bik: 'AI-generated images are almost perfect, which is very worrisome.'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862072"/>
            <a:ext cx="3977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46320" y="2862072"/>
            <a:ext cx="73152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0" y="29077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detection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3154680"/>
            <a:ext cx="3611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Imagetwin, Proofig, statcheck-AI now deployed at submission. An arms race: AI fraud vs. AI detection.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46320" y="3721608"/>
            <a:ext cx="39776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0" y="37673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 Findings at Historic Low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37760" y="411480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2025, the US Office of Research Integrity issued only 2 misconduct findings — the fewest since at least 2006. Average is ~10/year. Enforcement capacity is declining as the problem grows.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data approximate from historical records; see report.nih.gov/nihdatabook for current figures.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Implications, Reform Efforts &amp; Key Takeaways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4206240"/>
          </a:xfrm>
          <a:prstGeom prst="rect">
            <a:avLst/>
          </a:prstGeom>
          <a:solidFill>
            <a:srgbClr val="2A3F6F"/>
          </a:solidFill>
          <a:ln w="6350">
            <a:solidFill>
              <a:srgbClr val="3D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Efforts Underway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 Declaration (2025)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specific actions: abandon publication counting; quality over quantity in hiring/tenure.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0391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Reports format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295144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before data collection. Accepted regardless of results. Eliminates publication bias.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7523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mandates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08376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requirements by NIH, NSF, Gates Foundation, and most major funders.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11296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4655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United2Act network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721608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coordination to identify and act on paper mills; shared intelligence across journals.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1788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Elisabeth Bik Science Integrity Fund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43484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support for volunteer sleuths. Launched in partnership with Retraction Watch (2025).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777240"/>
            <a:ext cx="42976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8686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Researchers</a:t>
            </a:r>
            <a:endParaRPr lang="en-US" sz="13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380744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84064" y="1325880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Retractions are growing 3.5× faster than publications — but part of this reflects better detection, not only more fraud.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093976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84064" y="2039112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tools like GRIM, SPRITE, statcheck, and image AI give any reader tools to audit published work.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280720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84064" y="2752344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reputation is no longer a reliable proxy for integrity. Infiltration of legitimate journals by paper mills is documented.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520440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84064" y="3465576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incentives — APCs, publish-or-perish, grant scarcity — create the conditions for fraud to be rational.</a:t>
            </a:r>
            <a:endParaRPr lang="en-US" sz="10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233672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84064" y="4178808"/>
            <a:ext cx="3611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Preregistration, open data, and post-publication review are the most effective preventive tools available now.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 &amp; Further Reading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365760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2435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 Watch Database — retractionwatch.com (63,000+ records with reason codes)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6733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PubPeer — pubpeer.com (post-publication commentary and flagging)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21031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&amp; Shen (2024). Science map of academic misconduct. The Innovation 5(2).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724912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724912"/>
            <a:ext cx="4160520" cy="365760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316382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arxiv.org/abs/2511.21176 — Retraction rates by discipline, 2000–2024 (Nov 2025)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35935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&amp; Amaral (2025). The entities enabling scientific fraud at scale. PNAS 122(32).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" y="40233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Scholarly Kitchen (2024): Making Sense of Retractions and Tackling Research Misconduct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804672"/>
            <a:ext cx="4160520" cy="365760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12435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&amp; Heathers (2016). The GRIM Test. Social Psychological and Personality Science.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6733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 et al. (2016). The prevalence of inappropriate image duplication in biomedical research. mBio 7(3).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21031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statcheck.io — Automated p-value extraction and recalculation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724912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2724912"/>
            <a:ext cx="4160520" cy="365760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8888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&amp; Policy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316382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Sabel &amp; Larhammar (2025). Stockholm Declaration. Royal Society Open Science 12.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18888" y="35935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Lumbard &amp; Routledge (2025). Open science and transparency. PLOS Medicine 22(9).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40233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 (Open Science Framework) — osf.io — preregistration, open data tools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1982</Words>
  <Application>Microsoft Office PowerPoint</Application>
  <PresentationFormat>On-screen Show (16:9)</PresentationFormat>
  <Paragraphs>231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Fraud, Open Science &amp; the Reproducibility Crisis</dc:title>
  <dc:subject>PptxGenJS Presentation</dc:subject>
  <dc:creator>PptxGenJS</dc:creator>
  <cp:lastModifiedBy>Jesse Lecy</cp:lastModifiedBy>
  <cp:revision>2</cp:revision>
  <dcterms:created xsi:type="dcterms:W3CDTF">2026-03-25T01:18:55Z</dcterms:created>
  <dcterms:modified xsi:type="dcterms:W3CDTF">2026-03-25T01:24:24Z</dcterms:modified>
</cp:coreProperties>
</file>