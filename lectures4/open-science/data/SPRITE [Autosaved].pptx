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48E7E-6A78-EB0B-6E84-0040BBF5E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2FC41-3A06-8AE1-3E77-E7BAE3C84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83043-6CDF-8DB3-345A-74999310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14C85-8680-5B7F-11D8-5628F051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15A98-C346-06E0-8591-6442CEE9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CF75-2613-841B-6302-A267F515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83AEA-B997-7D17-CA0F-D310DB037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99962-0766-C668-2117-8B6F2F0C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A91B-6059-DC16-6FE1-5A3DD074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EF276-BDA3-51C2-B1B3-93DD5DFF9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5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50C1-E2E0-4757-4163-0055DB94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E9C17-DAC8-A709-F5D4-63C42C5C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BB155-1368-7EDF-32B1-7E1105ED0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D65A-D56C-B687-8862-1BC33917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49FB-1BE8-BC85-ED3F-7B25F067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36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F20D-E9B1-8387-7002-227AD03A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D428-864B-7EAB-A263-F088D861B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4528-7A62-FC4F-4DA1-4FD550B6B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68BDC-A018-63CA-A5E7-E3576B6B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2D1BE-A548-7CD8-B3DA-8EFC329B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70EBD-3669-14DE-4F61-F9DEDC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9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42C1-A71A-012C-67C3-E875D58BD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DC9B9-1566-A875-4189-914368159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5F8FD-FEC8-63E9-0D40-4CC7E8E6C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D75AC-FD0A-D502-B614-55C876B99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D3295-8B19-E465-7973-8ED7B8194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87A6A-99C0-E9FC-728B-91381B6D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F04EB-B616-5A66-37C1-BFD4ADAB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82E4E-8287-4F1B-EB75-8DC8061B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0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915F-6E5C-0B23-FEE2-2EE6AAD7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9ABA1-5871-181F-5BBF-DEB59053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4359A-D136-183D-DB18-9D263387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AC7BE-5823-43EC-1B0A-A6BBB009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0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13837-91D3-A967-A5F8-EAC972EA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8B555A-14BF-560D-77BD-8060A405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E44C8-29DE-B40F-A00C-04059C5A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4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A7FD-A30B-886C-6AB3-303BD8E0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9877-F13F-E5FE-C884-7ED24420C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95E3-B985-F363-059F-FF7BA1318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4AEC7-C543-DFB2-C64D-DDD165770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77E92-11AC-DDC2-468B-CEB19D76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82EC2-F62C-AF2A-1DE2-EA051E3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22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07B8-F6E6-00A8-A083-B62E7AE7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F9ED8-F45E-C850-434A-DAEDC2B19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F116E-1D22-757B-099B-778EC1115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FDAC9-623C-DF9D-C681-3B65431AA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FA404-D238-F979-5FB6-83B70408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B417B-0BA6-DC50-5AB0-FF9367A2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6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9BB2-7F82-668D-F4AC-2ABDF80C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C7CD-4FB9-329D-E6D0-0F3BF52FD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98DBA-F886-6E12-155B-16862F66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BB055-6927-BC4A-812F-C346E129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7F4EB-ED22-EF95-D462-0E1D3195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6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F394FE-71DD-4719-846A-EFC8746A4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0E8D7-7E21-4FD7-F15D-C08D22445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E83B1-EA44-94BC-1FC5-59AB9CF6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CC412-47D7-7208-64EB-212E277C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09FFD-B795-BD78-4A23-FB6D056A4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8E6010-897F-D6BE-B3C7-4CF46FAED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4170F-9F35-F07C-05BD-A4388B831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32C3E-4158-1597-9A60-0475E7F0F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4C8E0-D557-405E-AF02-B66A0B4CBF1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A49B0-5B72-A8D4-610F-8E16E9793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FF490-E3C6-380D-6EB5-BD6AE81F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5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thinkinganddata.substack.com/p/the-dataset-has-been-stalking-me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1426-E43F-128C-D373-A9AE7C8473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SPRITE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1285E-67E7-45A2-4B3F-96ACA11C9B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3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8D310-9B01-DE5B-133B-50EF7C850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Benford’s Law</a:t>
            </a:r>
          </a:p>
        </p:txBody>
      </p:sp>
      <p:pic>
        <p:nvPicPr>
          <p:cNvPr id="5122" name="Picture 2" descr="Benford's law - Wikipedia">
            <a:extLst>
              <a:ext uri="{FF2B5EF4-FFF2-40B4-BE49-F238E27FC236}">
                <a16:creationId xmlns:a16="http://schemas.microsoft.com/office/drawing/2014/main" id="{A3402367-46D5-396F-FBE8-D4D0F0146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6072" y="635193"/>
            <a:ext cx="6164572" cy="462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64B05A-73A5-44F8-7C8D-5AB14BF8D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29839"/>
            <a:ext cx="5533749" cy="515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4283E0-8BCB-D3EE-1A4B-354282C54AA7}"/>
              </a:ext>
            </a:extLst>
          </p:cNvPr>
          <p:cNvSpPr txBox="1"/>
          <p:nvPr/>
        </p:nvSpPr>
        <p:spPr>
          <a:xfrm>
            <a:off x="717422" y="5433081"/>
            <a:ext cx="49960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effectLst/>
                <a:latin typeface="Arial" panose="020B0604020202020204" pitchFamily="34" charset="0"/>
              </a:rPr>
              <a:t>A set of numbers is said to satisfy Benford's law if the leading digit </a:t>
            </a:r>
            <a:r>
              <a:rPr lang="en-US" sz="1600" b="0" i="1" dirty="0">
                <a:effectLst/>
                <a:latin typeface="Nimbus Roman No9 L"/>
              </a:rPr>
              <a:t>d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 (</a:t>
            </a:r>
            <a:r>
              <a:rPr lang="en-US" sz="1600" b="0" i="1" dirty="0">
                <a:effectLst/>
                <a:latin typeface="Nimbus Roman No9 L"/>
              </a:rPr>
              <a:t>d</a:t>
            </a:r>
            <a:r>
              <a:rPr lang="en-US" sz="1600" b="0" i="0" dirty="0">
                <a:effectLst/>
                <a:latin typeface="Nimbus Roman No9 L"/>
              </a:rPr>
              <a:t> ∈ {1, ..., 9}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) occurs with 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probability: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38064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Flowchart: Document 615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34E24-163B-15EF-1C30-1F58C84E3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Forensic Accounting Application</a:t>
            </a:r>
          </a:p>
        </p:txBody>
      </p:sp>
      <p:pic>
        <p:nvPicPr>
          <p:cNvPr id="6146" name="Picture 2" descr="undefined">
            <a:extLst>
              <a:ext uri="{FF2B5EF4-FFF2-40B4-BE49-F238E27FC236}">
                <a16:creationId xmlns:a16="http://schemas.microsoft.com/office/drawing/2014/main" id="{F040E78C-DB82-1D96-BCE0-B6A8E58A8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6288" y="773051"/>
            <a:ext cx="6639874" cy="5311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AC1AAA-0407-1A4B-93BF-6C38ED7B4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3629679"/>
            <a:ext cx="3487602" cy="29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9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837BEF-AD3D-D3DF-9413-E727147F6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0"/>
            <a:ext cx="9423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64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hlinkClick r:id="rId2"/>
            <a:extLst>
              <a:ext uri="{FF2B5EF4-FFF2-40B4-BE49-F238E27FC236}">
                <a16:creationId xmlns:a16="http://schemas.microsoft.com/office/drawing/2014/main" id="{DE4401B2-17CE-06BE-9526-84891C03F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0"/>
            <a:ext cx="97139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758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D42E794-CA72-09EB-07C5-1A1512A17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02" y="113391"/>
            <a:ext cx="70866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BE64404-E124-004B-EC00-721E1BB17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550" y="3093479"/>
            <a:ext cx="4762899" cy="3569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97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is Dataset has been Stalking Me - Datasaurus Dozen">
            <a:extLst>
              <a:ext uri="{FF2B5EF4-FFF2-40B4-BE49-F238E27FC236}">
                <a16:creationId xmlns:a16="http://schemas.microsoft.com/office/drawing/2014/main" id="{B4C8A39F-3A53-75FE-4350-7FA13FB55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1624013"/>
            <a:ext cx="7372350" cy="360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351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826087-840A-CCCB-AFD3-A7F8B873A84C}"/>
              </a:ext>
            </a:extLst>
          </p:cNvPr>
          <p:cNvSpPr txBox="1"/>
          <p:nvPr/>
        </p:nvSpPr>
        <p:spPr>
          <a:xfrm>
            <a:off x="4334256" y="2212848"/>
            <a:ext cx="861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D6BC3-C21B-7775-E51F-D8E5850E7A1B}"/>
              </a:ext>
            </a:extLst>
          </p:cNvPr>
          <p:cNvSpPr txBox="1"/>
          <p:nvPr/>
        </p:nvSpPr>
        <p:spPr>
          <a:xfrm>
            <a:off x="4222142" y="3489519"/>
            <a:ext cx="1085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csize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A4A43-1040-4C19-7FF4-9AF8CD63629A}"/>
              </a:ext>
            </a:extLst>
          </p:cNvPr>
          <p:cNvSpPr txBox="1"/>
          <p:nvPr/>
        </p:nvSpPr>
        <p:spPr>
          <a:xfrm>
            <a:off x="6026545" y="3349090"/>
            <a:ext cx="798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ses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0F13E-AEB8-622F-6426-695F1491D2FC}"/>
              </a:ext>
            </a:extLst>
          </p:cNvPr>
          <p:cNvSpPr txBox="1"/>
          <p:nvPr/>
        </p:nvSpPr>
        <p:spPr>
          <a:xfrm>
            <a:off x="6096000" y="2212848"/>
            <a:ext cx="546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tq</a:t>
            </a:r>
            <a:endParaRPr lang="en-US" sz="3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AAE89D-ACB1-2A9E-4DCE-5CA1664CF3FE}"/>
              </a:ext>
            </a:extLst>
          </p:cNvPr>
          <p:cNvCxnSpPr>
            <a:stCxn id="5" idx="1"/>
            <a:endCxn id="2" idx="3"/>
          </p:cNvCxnSpPr>
          <p:nvPr/>
        </p:nvCxnSpPr>
        <p:spPr>
          <a:xfrm flipH="1">
            <a:off x="5195774" y="2505236"/>
            <a:ext cx="9002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4D59BA-7542-D549-6B12-CEAE57F47107}"/>
              </a:ext>
            </a:extLst>
          </p:cNvPr>
          <p:cNvCxnSpPr>
            <a:cxnSpLocks/>
            <a:stCxn id="3" idx="0"/>
            <a:endCxn id="2" idx="2"/>
          </p:cNvCxnSpPr>
          <p:nvPr/>
        </p:nvCxnSpPr>
        <p:spPr>
          <a:xfrm flipV="1">
            <a:off x="4765015" y="2797623"/>
            <a:ext cx="0" cy="691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CC1065-B5EA-63D9-F099-D19337F37FEB}"/>
              </a:ext>
            </a:extLst>
          </p:cNvPr>
          <p:cNvCxnSpPr>
            <a:cxnSpLocks/>
            <a:stCxn id="4" idx="1"/>
            <a:endCxn id="2" idx="2"/>
          </p:cNvCxnSpPr>
          <p:nvPr/>
        </p:nvCxnSpPr>
        <p:spPr>
          <a:xfrm flipH="1" flipV="1">
            <a:off x="4765015" y="2797623"/>
            <a:ext cx="1261530" cy="843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4D8EA2-0258-8C77-83D5-1E665395939D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>
            <a:off x="5307888" y="3641478"/>
            <a:ext cx="718657" cy="140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928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38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Nimbus Roman No9 L</vt:lpstr>
      <vt:lpstr>Office Theme</vt:lpstr>
      <vt:lpstr>SPRITE</vt:lpstr>
      <vt:lpstr>Benford’s Law</vt:lpstr>
      <vt:lpstr>Forensic Accounting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Lecy</dc:creator>
  <cp:lastModifiedBy>Jesse Lecy</cp:lastModifiedBy>
  <cp:revision>2</cp:revision>
  <dcterms:created xsi:type="dcterms:W3CDTF">2026-04-21T21:38:49Z</dcterms:created>
  <dcterms:modified xsi:type="dcterms:W3CDTF">2026-05-02T04:18:24Z</dcterms:modified>
</cp:coreProperties>
</file>