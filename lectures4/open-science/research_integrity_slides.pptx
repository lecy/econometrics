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9"/>
  </p:notesMasterIdLst>
  <p:handoutMasterIdLst>
    <p:handoutMasterId r:id="rId80"/>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8" d="100"/>
          <a:sy n="138" d="100"/>
        </p:scale>
        <p:origin x="120" y="4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9295B7-3746-D75D-630C-6FCA6B7EE076}"/>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009BD3A-D96F-D444-0AAE-BD43F05D5751}"/>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FBCD41C5-0109-414E-9121-4F776EA93B74}" type="datetimeFigureOut">
              <a:rPr lang="en-US" smtClean="0"/>
              <a:t>4/14/2026</a:t>
            </a:fld>
            <a:endParaRPr lang="en-US"/>
          </a:p>
        </p:txBody>
      </p:sp>
      <p:sp>
        <p:nvSpPr>
          <p:cNvPr id="4" name="Footer Placeholder 3">
            <a:extLst>
              <a:ext uri="{FF2B5EF4-FFF2-40B4-BE49-F238E27FC236}">
                <a16:creationId xmlns:a16="http://schemas.microsoft.com/office/drawing/2014/main" id="{F74A10C0-4689-4677-9C10-3EA5672529DD}"/>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5EC8935-9AE0-7B8F-5B29-0ED52DDF7574}"/>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94CF4709-6D0A-4E77-B5EA-B1CC6D65057B}" type="slidenum">
              <a:rPr lang="en-US" smtClean="0"/>
              <a:t>‹#›</a:t>
            </a:fld>
            <a:endParaRPr lang="en-US"/>
          </a:p>
        </p:txBody>
      </p:sp>
    </p:spTree>
    <p:extLst>
      <p:ext uri="{BB962C8B-B14F-4D97-AF65-F5344CB8AC3E}">
        <p14:creationId xmlns:p14="http://schemas.microsoft.com/office/powerpoint/2010/main" val="398524614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857389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FEA23F-914B-922C-32BF-475F61829ED8}"/>
              </a:ext>
            </a:extLst>
          </p:cNvPr>
          <p:cNvSpPr>
            <a:spLocks noGrp="1"/>
          </p:cNvSpPr>
          <p:nvPr>
            <p:ph type="sldNum" sz="quarter" idx="10"/>
          </p:nvPr>
        </p:nvSpPr>
        <p:spPr/>
        <p:txBody>
          <a:bodyPr/>
          <a:lstStyle>
            <a:lvl1pPr>
              <a:defRPr sz="1100"/>
            </a:lvl1pPr>
          </a:lstStyle>
          <a:p>
            <a:fld id="{A7CDD212-CBA5-4111-8489-41E59FD0385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4BEB72-6BE6-3012-2A30-E3491022B0BD}"/>
              </a:ext>
            </a:extLst>
          </p:cNvPr>
          <p:cNvSpPr>
            <a:spLocks noGrp="1"/>
          </p:cNvSpPr>
          <p:nvPr>
            <p:ph type="sldNum" sz="quarter" idx="4"/>
          </p:nvPr>
        </p:nvSpPr>
        <p:spPr>
          <a:xfrm>
            <a:off x="6879524" y="4862245"/>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A7CDD212-CBA5-4111-8489-41E59FD0385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319900"/>
            <a:ext cx="8321040" cy="1188720"/>
          </a:xfrm>
          <a:prstGeom prst="rect">
            <a:avLst/>
          </a:prstGeom>
          <a:noFill/>
          <a:ln/>
        </p:spPr>
        <p:txBody>
          <a:bodyPr wrap="square" lIns="0" tIns="0" rIns="0" bIns="0" rtlCol="0" anchor="ctr"/>
          <a:lstStyle/>
          <a:p>
            <a:pPr marL="0" indent="0">
              <a:buNone/>
            </a:pPr>
            <a:r>
              <a:rPr lang="en-US" sz="4400" b="1" dirty="0">
                <a:solidFill>
                  <a:srgbClr val="111111"/>
                </a:solidFill>
                <a:latin typeface="Calibri" pitchFamily="34" charset="0"/>
                <a:ea typeface="Calibri" pitchFamily="34" charset="-122"/>
                <a:cs typeface="Calibri" pitchFamily="34" charset="-120"/>
              </a:rPr>
              <a:t>RESEARCH INTEGRITY TOOLKIT</a:t>
            </a:r>
            <a:endParaRPr lang="en-US" sz="4600" dirty="0"/>
          </a:p>
        </p:txBody>
      </p:sp>
      <p:sp>
        <p:nvSpPr>
          <p:cNvPr id="4" name="Shape 2"/>
          <p:cNvSpPr/>
          <p:nvPr/>
        </p:nvSpPr>
        <p:spPr>
          <a:xfrm>
            <a:off x="438912" y="1719072"/>
            <a:ext cx="1463040" cy="0"/>
          </a:xfrm>
          <a:prstGeom prst="line">
            <a:avLst/>
          </a:prstGeom>
          <a:noFill/>
          <a:ln w="25400">
            <a:solidFill>
              <a:srgbClr val="111111"/>
            </a:solidFill>
            <a:prstDash val="solid"/>
          </a:ln>
        </p:spPr>
        <p:txBody>
          <a:bodyPr/>
          <a:lstStyle/>
          <a:p>
            <a:endParaRPr lang="en-US"/>
          </a:p>
        </p:txBody>
      </p:sp>
      <p:sp>
        <p:nvSpPr>
          <p:cNvPr id="5" name="Text 3"/>
          <p:cNvSpPr/>
          <p:nvPr/>
        </p:nvSpPr>
        <p:spPr>
          <a:xfrm>
            <a:off x="438912" y="1865376"/>
            <a:ext cx="5486400" cy="502920"/>
          </a:xfrm>
          <a:prstGeom prst="rect">
            <a:avLst/>
          </a:prstGeom>
          <a:noFill/>
          <a:ln/>
        </p:spPr>
        <p:txBody>
          <a:bodyPr wrap="square" lIns="0" tIns="0" rIns="0" bIns="0" rtlCol="0" anchor="ctr"/>
          <a:lstStyle/>
          <a:p>
            <a:pPr marL="0" indent="0">
              <a:buNone/>
            </a:pPr>
            <a:r>
              <a:rPr lang="en-US" sz="1500" dirty="0">
                <a:solidFill>
                  <a:srgbClr val="555555"/>
                </a:solidFill>
                <a:latin typeface="Calibri" pitchFamily="34" charset="0"/>
                <a:ea typeface="Calibri" pitchFamily="34" charset="-122"/>
                <a:cs typeface="Calibri" pitchFamily="34" charset="-120"/>
              </a:rPr>
              <a:t>A Framework for Detection, Evidence &amp; Remediation</a:t>
            </a:r>
            <a:endParaRPr lang="en-US" sz="1500" dirty="0"/>
          </a:p>
        </p:txBody>
      </p:sp>
      <p:sp>
        <p:nvSpPr>
          <p:cNvPr id="6" name="Text 4"/>
          <p:cNvSpPr/>
          <p:nvPr/>
        </p:nvSpPr>
        <p:spPr>
          <a:xfrm>
            <a:off x="438912" y="2423160"/>
            <a:ext cx="8321040" cy="365760"/>
          </a:xfrm>
          <a:prstGeom prst="rect">
            <a:avLst/>
          </a:prstGeom>
          <a:noFill/>
          <a:ln/>
        </p:spPr>
        <p:txBody>
          <a:bodyPr wrap="square" lIns="0" tIns="0" rIns="0" bIns="0" rtlCol="0" anchor="ctr"/>
          <a:lstStyle/>
          <a:p>
            <a:pPr marL="0" indent="0">
              <a:buNone/>
            </a:pPr>
            <a:r>
              <a:rPr lang="en-US" sz="1100" kern="0" spc="50" dirty="0">
                <a:solidFill>
                  <a:srgbClr val="999999"/>
                </a:solidFill>
                <a:latin typeface="Calibri" pitchFamily="34" charset="0"/>
                <a:ea typeface="Calibri" pitchFamily="34" charset="-122"/>
                <a:cs typeface="Calibri" pitchFamily="34" charset="-120"/>
              </a:rPr>
              <a:t>Organised by unit of analysis: Individual → Team → Group / Collusion → Field / Community</a:t>
            </a:r>
            <a:endParaRPr lang="en-US" sz="1100" dirty="0"/>
          </a:p>
        </p:txBody>
      </p:sp>
      <p:sp>
        <p:nvSpPr>
          <p:cNvPr id="7" name="Shape 5"/>
          <p:cNvSpPr/>
          <p:nvPr/>
        </p:nvSpPr>
        <p:spPr>
          <a:xfrm>
            <a:off x="438912" y="3063240"/>
            <a:ext cx="1920240" cy="0"/>
          </a:xfrm>
          <a:prstGeom prst="line">
            <a:avLst/>
          </a:prstGeom>
          <a:noFill/>
          <a:ln w="9525">
            <a:solidFill>
              <a:srgbClr val="CCCCCC"/>
            </a:solidFill>
            <a:prstDash val="solid"/>
          </a:ln>
        </p:spPr>
        <p:txBody>
          <a:bodyPr/>
          <a:lstStyle/>
          <a:p>
            <a:endParaRPr lang="en-US"/>
          </a:p>
        </p:txBody>
      </p:sp>
      <p:sp>
        <p:nvSpPr>
          <p:cNvPr id="9" name="Text 7"/>
          <p:cNvSpPr/>
          <p:nvPr/>
        </p:nvSpPr>
        <p:spPr>
          <a:xfrm>
            <a:off x="457200" y="3218688"/>
            <a:ext cx="1920240" cy="320040"/>
          </a:xfrm>
          <a:prstGeom prst="rect">
            <a:avLst/>
          </a:prstGeom>
          <a:noFill/>
          <a:ln/>
        </p:spPr>
        <p:txBody>
          <a:bodyPr wrap="square" lIns="0" tIns="0" rIns="0" bIns="0" rtlCol="0" anchor="ctr"/>
          <a:lstStyle/>
          <a:p>
            <a:pPr marL="0" indent="0">
              <a:buNone/>
            </a:pPr>
            <a:r>
              <a:rPr lang="en-US" sz="1600" b="1" dirty="0">
                <a:solidFill>
                  <a:srgbClr val="111111"/>
                </a:solidFill>
                <a:latin typeface="Segoe UI Black" panose="020B0A02040204020203" pitchFamily="34" charset="0"/>
                <a:ea typeface="Segoe UI Black" panose="020B0A02040204020203" pitchFamily="34" charset="0"/>
                <a:cs typeface="Calibri" pitchFamily="34" charset="-120"/>
              </a:rPr>
              <a:t>Tier 1</a:t>
            </a:r>
            <a:endParaRPr lang="en-US" sz="1600" dirty="0">
              <a:latin typeface="Segoe UI Black" panose="020B0A02040204020203" pitchFamily="34" charset="0"/>
              <a:ea typeface="Segoe UI Black" panose="020B0A02040204020203" pitchFamily="34" charset="0"/>
            </a:endParaRPr>
          </a:p>
        </p:txBody>
      </p:sp>
      <p:sp>
        <p:nvSpPr>
          <p:cNvPr id="10" name="Text 8"/>
          <p:cNvSpPr/>
          <p:nvPr/>
        </p:nvSpPr>
        <p:spPr>
          <a:xfrm>
            <a:off x="438912" y="3566160"/>
            <a:ext cx="2011680" cy="256032"/>
          </a:xfrm>
          <a:prstGeom prst="rect">
            <a:avLst/>
          </a:prstGeom>
          <a:noFill/>
          <a:ln/>
        </p:spPr>
        <p:txBody>
          <a:bodyPr wrap="square" lIns="0" tIns="0" rIns="0" bIns="0" rtlCol="0" anchor="ctr"/>
          <a:lstStyle/>
          <a:p>
            <a:pPr marL="0" indent="0">
              <a:buNone/>
            </a:pPr>
            <a:r>
              <a:rPr lang="en-US" sz="1100" dirty="0">
                <a:latin typeface="Calibri" pitchFamily="34" charset="0"/>
                <a:ea typeface="Calibri" pitchFamily="34" charset="-122"/>
                <a:cs typeface="Calibri" pitchFamily="34" charset="-120"/>
              </a:rPr>
              <a:t>Individual level</a:t>
            </a:r>
            <a:endParaRPr lang="en-US" sz="1100" dirty="0"/>
          </a:p>
        </p:txBody>
      </p:sp>
      <p:sp>
        <p:nvSpPr>
          <p:cNvPr id="11" name="Shape 9"/>
          <p:cNvSpPr/>
          <p:nvPr/>
        </p:nvSpPr>
        <p:spPr>
          <a:xfrm>
            <a:off x="2587752" y="3063240"/>
            <a:ext cx="1920240" cy="0"/>
          </a:xfrm>
          <a:prstGeom prst="line">
            <a:avLst/>
          </a:prstGeom>
          <a:noFill/>
          <a:ln w="9525">
            <a:solidFill>
              <a:srgbClr val="CCCCCC"/>
            </a:solidFill>
            <a:prstDash val="solid"/>
          </a:ln>
        </p:spPr>
        <p:txBody>
          <a:bodyPr/>
          <a:lstStyle/>
          <a:p>
            <a:endParaRPr lang="en-US"/>
          </a:p>
        </p:txBody>
      </p:sp>
      <p:sp>
        <p:nvSpPr>
          <p:cNvPr id="13" name="Text 11"/>
          <p:cNvSpPr/>
          <p:nvPr/>
        </p:nvSpPr>
        <p:spPr>
          <a:xfrm>
            <a:off x="2606040" y="3218688"/>
            <a:ext cx="1920240" cy="320040"/>
          </a:xfrm>
          <a:prstGeom prst="rect">
            <a:avLst/>
          </a:prstGeom>
          <a:noFill/>
          <a:ln/>
        </p:spPr>
        <p:txBody>
          <a:bodyPr wrap="square" lIns="0" tIns="0" rIns="0" bIns="0" rtlCol="0" anchor="ctr"/>
          <a:lstStyle/>
          <a:p>
            <a:pPr marL="0" indent="0">
              <a:buNone/>
            </a:pPr>
            <a:r>
              <a:rPr lang="en-US" sz="1600" b="1" dirty="0">
                <a:solidFill>
                  <a:srgbClr val="111111"/>
                </a:solidFill>
                <a:latin typeface="Segoe UI Black" panose="020B0A02040204020203" pitchFamily="34" charset="0"/>
                <a:ea typeface="Segoe UI Black" panose="020B0A02040204020203" pitchFamily="34" charset="0"/>
                <a:cs typeface="Calibri" pitchFamily="34" charset="-120"/>
              </a:rPr>
              <a:t>Tier 2a</a:t>
            </a:r>
            <a:endParaRPr lang="en-US" sz="1600" dirty="0">
              <a:latin typeface="Segoe UI Black" panose="020B0A02040204020203" pitchFamily="34" charset="0"/>
              <a:ea typeface="Segoe UI Black" panose="020B0A02040204020203" pitchFamily="34" charset="0"/>
            </a:endParaRPr>
          </a:p>
        </p:txBody>
      </p:sp>
      <p:sp>
        <p:nvSpPr>
          <p:cNvPr id="14" name="Text 12"/>
          <p:cNvSpPr/>
          <p:nvPr/>
        </p:nvSpPr>
        <p:spPr>
          <a:xfrm>
            <a:off x="2587752" y="3566160"/>
            <a:ext cx="2011680" cy="256032"/>
          </a:xfrm>
          <a:prstGeom prst="rect">
            <a:avLst/>
          </a:prstGeom>
          <a:noFill/>
          <a:ln/>
        </p:spPr>
        <p:txBody>
          <a:bodyPr wrap="square" lIns="0" tIns="0" rIns="0" bIns="0" rtlCol="0" anchor="ctr"/>
          <a:lstStyle/>
          <a:p>
            <a:pPr marL="0" indent="0">
              <a:buNone/>
            </a:pPr>
            <a:r>
              <a:rPr lang="en-US" sz="1100" dirty="0">
                <a:latin typeface="Calibri" pitchFamily="34" charset="0"/>
                <a:ea typeface="Calibri" pitchFamily="34" charset="-122"/>
                <a:cs typeface="Calibri" pitchFamily="34" charset="-120"/>
              </a:rPr>
              <a:t>Team level</a:t>
            </a:r>
            <a:endParaRPr lang="en-US" sz="1100" dirty="0"/>
          </a:p>
        </p:txBody>
      </p:sp>
      <p:sp>
        <p:nvSpPr>
          <p:cNvPr id="15" name="Shape 13"/>
          <p:cNvSpPr/>
          <p:nvPr/>
        </p:nvSpPr>
        <p:spPr>
          <a:xfrm>
            <a:off x="4736592" y="3063240"/>
            <a:ext cx="1920240" cy="0"/>
          </a:xfrm>
          <a:prstGeom prst="line">
            <a:avLst/>
          </a:prstGeom>
          <a:noFill/>
          <a:ln w="9525">
            <a:solidFill>
              <a:srgbClr val="CCCCCC"/>
            </a:solidFill>
            <a:prstDash val="solid"/>
          </a:ln>
        </p:spPr>
        <p:txBody>
          <a:bodyPr/>
          <a:lstStyle/>
          <a:p>
            <a:endParaRPr lang="en-US"/>
          </a:p>
        </p:txBody>
      </p:sp>
      <p:sp>
        <p:nvSpPr>
          <p:cNvPr id="17" name="Text 15"/>
          <p:cNvSpPr/>
          <p:nvPr/>
        </p:nvSpPr>
        <p:spPr>
          <a:xfrm>
            <a:off x="4754880" y="3218688"/>
            <a:ext cx="1920240" cy="320040"/>
          </a:xfrm>
          <a:prstGeom prst="rect">
            <a:avLst/>
          </a:prstGeom>
          <a:noFill/>
          <a:ln/>
        </p:spPr>
        <p:txBody>
          <a:bodyPr wrap="square" lIns="0" tIns="0" rIns="0" bIns="0" rtlCol="0" anchor="ctr"/>
          <a:lstStyle/>
          <a:p>
            <a:pPr marL="0" indent="0">
              <a:buNone/>
            </a:pPr>
            <a:r>
              <a:rPr lang="en-US" sz="1600" b="1" dirty="0">
                <a:solidFill>
                  <a:srgbClr val="111111"/>
                </a:solidFill>
                <a:latin typeface="Segoe UI Black" panose="020B0A02040204020203" pitchFamily="34" charset="0"/>
                <a:ea typeface="Segoe UI Black" panose="020B0A02040204020203" pitchFamily="34" charset="0"/>
                <a:cs typeface="Calibri" pitchFamily="34" charset="-120"/>
              </a:rPr>
              <a:t>Tier 2b</a:t>
            </a:r>
            <a:endParaRPr lang="en-US" sz="1600" dirty="0">
              <a:latin typeface="Segoe UI Black" panose="020B0A02040204020203" pitchFamily="34" charset="0"/>
              <a:ea typeface="Segoe UI Black" panose="020B0A02040204020203" pitchFamily="34" charset="0"/>
            </a:endParaRPr>
          </a:p>
        </p:txBody>
      </p:sp>
      <p:sp>
        <p:nvSpPr>
          <p:cNvPr id="18" name="Text 16"/>
          <p:cNvSpPr/>
          <p:nvPr/>
        </p:nvSpPr>
        <p:spPr>
          <a:xfrm>
            <a:off x="4736592" y="3566160"/>
            <a:ext cx="2011680" cy="256032"/>
          </a:xfrm>
          <a:prstGeom prst="rect">
            <a:avLst/>
          </a:prstGeom>
          <a:noFill/>
          <a:ln/>
        </p:spPr>
        <p:txBody>
          <a:bodyPr wrap="square" lIns="0" tIns="0" rIns="0" bIns="0" rtlCol="0" anchor="ctr"/>
          <a:lstStyle/>
          <a:p>
            <a:pPr marL="0" indent="0">
              <a:buNone/>
            </a:pPr>
            <a:r>
              <a:rPr lang="en-US" sz="1100" dirty="0">
                <a:latin typeface="Calibri" pitchFamily="34" charset="0"/>
                <a:ea typeface="Calibri" pitchFamily="34" charset="-122"/>
                <a:cs typeface="Calibri" pitchFamily="34" charset="-120"/>
              </a:rPr>
              <a:t>Group / collusion</a:t>
            </a:r>
            <a:endParaRPr lang="en-US" sz="1100" dirty="0"/>
          </a:p>
        </p:txBody>
      </p:sp>
      <p:sp>
        <p:nvSpPr>
          <p:cNvPr id="19" name="Shape 17"/>
          <p:cNvSpPr/>
          <p:nvPr/>
        </p:nvSpPr>
        <p:spPr>
          <a:xfrm>
            <a:off x="6885432" y="3063240"/>
            <a:ext cx="1920240" cy="0"/>
          </a:xfrm>
          <a:prstGeom prst="line">
            <a:avLst/>
          </a:prstGeom>
          <a:noFill/>
          <a:ln w="9525">
            <a:solidFill>
              <a:srgbClr val="CCCCCC"/>
            </a:solidFill>
            <a:prstDash val="solid"/>
          </a:ln>
        </p:spPr>
        <p:txBody>
          <a:bodyPr/>
          <a:lstStyle/>
          <a:p>
            <a:endParaRPr lang="en-US"/>
          </a:p>
        </p:txBody>
      </p:sp>
      <p:sp>
        <p:nvSpPr>
          <p:cNvPr id="21" name="Text 19"/>
          <p:cNvSpPr/>
          <p:nvPr/>
        </p:nvSpPr>
        <p:spPr>
          <a:xfrm>
            <a:off x="6903720" y="3218688"/>
            <a:ext cx="1920240" cy="320040"/>
          </a:xfrm>
          <a:prstGeom prst="rect">
            <a:avLst/>
          </a:prstGeom>
          <a:noFill/>
          <a:ln/>
        </p:spPr>
        <p:txBody>
          <a:bodyPr wrap="square" lIns="0" tIns="0" rIns="0" bIns="0" rtlCol="0" anchor="ctr"/>
          <a:lstStyle/>
          <a:p>
            <a:pPr marL="0" indent="0">
              <a:buNone/>
            </a:pPr>
            <a:r>
              <a:rPr lang="en-US" sz="1600" b="1" dirty="0">
                <a:solidFill>
                  <a:srgbClr val="111111"/>
                </a:solidFill>
                <a:latin typeface="Segoe UI Black" panose="020B0A02040204020203" pitchFamily="34" charset="0"/>
                <a:ea typeface="Segoe UI Black" panose="020B0A02040204020203" pitchFamily="34" charset="0"/>
                <a:cs typeface="Calibri" pitchFamily="34" charset="-120"/>
              </a:rPr>
              <a:t>Tier 3</a:t>
            </a:r>
            <a:endParaRPr lang="en-US" sz="1600" dirty="0">
              <a:latin typeface="Segoe UI Black" panose="020B0A02040204020203" pitchFamily="34" charset="0"/>
              <a:ea typeface="Segoe UI Black" panose="020B0A02040204020203" pitchFamily="34" charset="0"/>
            </a:endParaRPr>
          </a:p>
        </p:txBody>
      </p:sp>
      <p:sp>
        <p:nvSpPr>
          <p:cNvPr id="22" name="Text 20"/>
          <p:cNvSpPr/>
          <p:nvPr/>
        </p:nvSpPr>
        <p:spPr>
          <a:xfrm>
            <a:off x="6885432" y="3566160"/>
            <a:ext cx="2011680" cy="256032"/>
          </a:xfrm>
          <a:prstGeom prst="rect">
            <a:avLst/>
          </a:prstGeom>
          <a:noFill/>
          <a:ln/>
        </p:spPr>
        <p:txBody>
          <a:bodyPr wrap="square" lIns="0" tIns="0" rIns="0" bIns="0" rtlCol="0" anchor="ctr"/>
          <a:lstStyle/>
          <a:p>
            <a:pPr marL="0" indent="0">
              <a:buNone/>
            </a:pPr>
            <a:r>
              <a:rPr lang="en-US" sz="1100" dirty="0">
                <a:latin typeface="Calibri" pitchFamily="34" charset="0"/>
                <a:ea typeface="Calibri" pitchFamily="34" charset="-122"/>
                <a:cs typeface="Calibri" pitchFamily="34" charset="-120"/>
              </a:rPr>
              <a:t>Field / community</a:t>
            </a:r>
            <a:endParaRPr lang="en-US" sz="1100" dirty="0"/>
          </a:p>
        </p:txBody>
      </p:sp>
      <p:sp>
        <p:nvSpPr>
          <p:cNvPr id="23" name="Text 21"/>
          <p:cNvSpPr/>
          <p:nvPr/>
        </p:nvSpPr>
        <p:spPr>
          <a:xfrm>
            <a:off x="438912" y="4114800"/>
            <a:ext cx="8321040" cy="274320"/>
          </a:xfrm>
          <a:prstGeom prst="rect">
            <a:avLst/>
          </a:prstGeom>
          <a:noFill/>
          <a:ln/>
        </p:spPr>
        <p:txBody>
          <a:bodyPr wrap="square" lIns="0" tIns="0" rIns="0" bIns="0" rtlCol="0" anchor="ctr"/>
          <a:lstStyle/>
          <a:p>
            <a:pPr marL="0" indent="0">
              <a:buNone/>
            </a:pPr>
            <a:r>
              <a:rPr lang="en-US" sz="900" kern="0" spc="50" dirty="0">
                <a:solidFill>
                  <a:srgbClr val="999999"/>
                </a:solidFill>
                <a:latin typeface="Calibri" pitchFamily="34" charset="0"/>
                <a:ea typeface="Calibri" pitchFamily="34" charset="-122"/>
                <a:cs typeface="Calibri" pitchFamily="34" charset="-120"/>
              </a:rPr>
              <a:t>4 slides per problem row  ·  Introduction  ·  Evidence of Scope  ·  Detection Tools  ·  Prevention &amp; Remediation</a:t>
            </a:r>
            <a:endParaRPr lang="en-US" sz="900" dirty="0"/>
          </a:p>
        </p:txBody>
      </p:sp>
      <p:sp>
        <p:nvSpPr>
          <p:cNvPr id="25" name="Shape 23"/>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81584" y="499803"/>
            <a:ext cx="8321040" cy="320040"/>
          </a:xfrm>
          <a:prstGeom prst="rect">
            <a:avLst/>
          </a:prstGeom>
          <a:noFill/>
          <a:ln/>
        </p:spPr>
        <p:txBody>
          <a:bodyPr wrap="square" lIns="0" tIns="0" rIns="0" bIns="0" rtlCol="0" anchor="ctr"/>
          <a:lstStyle/>
          <a:p>
            <a:pPr marL="0" indent="0">
              <a:buNone/>
            </a:pPr>
            <a:r>
              <a:rPr lang="en-US" sz="3200" kern="0" spc="500" dirty="0">
                <a:solidFill>
                  <a:srgbClr val="999999"/>
                </a:solidFill>
                <a:latin typeface="Aptos Black" panose="020B0004020202020204" pitchFamily="34" charset="0"/>
                <a:ea typeface="Calibri" pitchFamily="34" charset="-122"/>
                <a:cs typeface="Calibri" pitchFamily="34" charset="-120"/>
              </a:rPr>
              <a:t>TIER 1</a:t>
            </a:r>
            <a:endParaRPr lang="en-US" sz="3200" dirty="0">
              <a:latin typeface="Aptos Black" panose="020B0004020202020204" pitchFamily="34" charset="0"/>
            </a:endParaRPr>
          </a:p>
        </p:txBody>
      </p:sp>
      <p:sp>
        <p:nvSpPr>
          <p:cNvPr id="4" name="Shape 2"/>
          <p:cNvSpPr/>
          <p:nvPr/>
        </p:nvSpPr>
        <p:spPr>
          <a:xfrm>
            <a:off x="438912" y="932688"/>
            <a:ext cx="1280160" cy="0"/>
          </a:xfrm>
          <a:prstGeom prst="line">
            <a:avLst/>
          </a:prstGeom>
          <a:noFill/>
          <a:ln w="25400">
            <a:solidFill>
              <a:srgbClr val="111111"/>
            </a:solidFill>
            <a:prstDash val="solid"/>
          </a:ln>
        </p:spPr>
        <p:txBody>
          <a:bodyPr/>
          <a:lstStyle/>
          <a:p>
            <a:endParaRPr lang="en-US"/>
          </a:p>
        </p:txBody>
      </p:sp>
      <p:sp>
        <p:nvSpPr>
          <p:cNvPr id="5" name="Text 3"/>
          <p:cNvSpPr/>
          <p:nvPr/>
        </p:nvSpPr>
        <p:spPr>
          <a:xfrm>
            <a:off x="652272" y="1027036"/>
            <a:ext cx="6467856" cy="2011680"/>
          </a:xfrm>
          <a:prstGeom prst="rect">
            <a:avLst/>
          </a:prstGeom>
          <a:noFill/>
          <a:ln/>
        </p:spPr>
        <p:txBody>
          <a:bodyPr wrap="square" lIns="0" tIns="0" rIns="0" bIns="0" rtlCol="0" anchor="ctr"/>
          <a:lstStyle/>
          <a:p>
            <a:pPr marL="0" indent="0">
              <a:lnSpc>
                <a:spcPct val="115000"/>
              </a:lnSpc>
              <a:buNone/>
            </a:pPr>
            <a:r>
              <a:rPr lang="en-US" sz="4400" b="1" dirty="0">
                <a:solidFill>
                  <a:srgbClr val="111111"/>
                </a:solidFill>
                <a:latin typeface="Calibri" pitchFamily="34" charset="0"/>
                <a:ea typeface="Calibri" pitchFamily="34" charset="-122"/>
                <a:cs typeface="Calibri" pitchFamily="34" charset="-120"/>
              </a:rPr>
              <a:t>Individual-level </a:t>
            </a:r>
          </a:p>
          <a:p>
            <a:pPr marL="0" indent="0">
              <a:lnSpc>
                <a:spcPct val="115000"/>
              </a:lnSpc>
              <a:buNone/>
            </a:pPr>
            <a:r>
              <a:rPr lang="en-US" sz="4400" b="1" dirty="0">
                <a:solidFill>
                  <a:srgbClr val="111111"/>
                </a:solidFill>
                <a:latin typeface="Calibri" pitchFamily="34" charset="0"/>
                <a:ea typeface="Calibri" pitchFamily="34" charset="-122"/>
                <a:cs typeface="Calibri" pitchFamily="34" charset="-120"/>
              </a:rPr>
              <a:t>misconduct &amp; errors</a:t>
            </a:r>
            <a:endParaRPr lang="en-US" sz="4400" dirty="0"/>
          </a:p>
        </p:txBody>
      </p:sp>
      <p:sp>
        <p:nvSpPr>
          <p:cNvPr id="6" name="Shape 4"/>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1  —  INDIVIDUAL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DATA FABRICATION</a:t>
            </a:r>
            <a:endParaRPr lang="en-US" sz="800" dirty="0"/>
          </a:p>
        </p:txBody>
      </p:sp>
      <p:sp>
        <p:nvSpPr>
          <p:cNvPr id="5" name="Text 3"/>
          <p:cNvSpPr/>
          <p:nvPr/>
        </p:nvSpPr>
        <p:spPr>
          <a:xfrm>
            <a:off x="438912" y="319900"/>
            <a:ext cx="5074920" cy="1005840"/>
          </a:xfrm>
          <a:prstGeom prst="rect">
            <a:avLst/>
          </a:prstGeom>
          <a:noFill/>
          <a:ln/>
        </p:spPr>
        <p:txBody>
          <a:bodyPr wrap="square" lIns="0" tIns="0" rIns="0" bIns="0" rtlCol="0" anchor="ctr"/>
          <a:lstStyle/>
          <a:p>
            <a:pPr marL="0" indent="0">
              <a:buNone/>
            </a:pPr>
            <a:r>
              <a:rPr lang="en-US" sz="4200" b="1" dirty="0">
                <a:solidFill>
                  <a:srgbClr val="111111"/>
                </a:solidFill>
                <a:latin typeface="Calibri" pitchFamily="34" charset="0"/>
                <a:ea typeface="Calibri" pitchFamily="34" charset="-122"/>
                <a:cs typeface="Calibri" pitchFamily="34" charset="-120"/>
              </a:rPr>
              <a:t>DATA FABRICATION</a:t>
            </a:r>
            <a:endParaRPr lang="en-US" sz="36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16736"/>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A single researcher invents raw data — often a junior team member or PI under grant and publication pressure. The most severe and clear-cut form of research misconduct, it spans a spectrum from cherry-picked exclusions to wholly invented datasets.</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SCALE OF PROBLEM</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~67% of medical retractions</a:t>
            </a:r>
            <a:endParaRPr lang="en-US" sz="2000" dirty="0"/>
          </a:p>
        </p:txBody>
      </p:sp>
      <p:sp>
        <p:nvSpPr>
          <p:cNvPr id="12" name="Text 10"/>
          <p:cNvSpPr/>
          <p:nvPr/>
        </p:nvSpPr>
        <p:spPr>
          <a:xfrm>
            <a:off x="5943600" y="2743200"/>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Misconduct — fabrication, falsification, plagiarism — accounts for the majority of retractions in biomedical research.</a:t>
            </a:r>
            <a:endParaRPr lang="en-US" sz="1050" dirty="0"/>
          </a:p>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(Fang et al. 2012, PNAS)</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1  —  INDIVIDUAL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DATA FABRICATION</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ORI annual reports (1992–)</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The US Office of Research Integrity averages ~10 misconduct findings per year in federally funded research, though capacity has declined sharply — only 2 findings in 2025.</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Fang et al. (2012, PNAS)</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Misconduct — fabrication, falsification, and plagiarism — accounts for ~67% of retracted medical papers; only ~21% due to honest error.</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Stapel case (2011)</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Dutch social psychologist Diederik Stapel fabricated data in dozens of studies over ~10 years. 58 papers retracted; doctoral students uncovered the fraud.</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Gino case (Harvard 2024)</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Investigative committee found Francesca Gino 'committed research misconduct intentionally' — 168 participant responses altered across 4 studies.</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1  —  INDIVIDUAL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DATA FABRICATION</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GRIM test (2016)</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Flags impossible reported means given integer data and sample size. Brown &amp; Heathers: if N=20 integer responses, only specific decimal means are possible.</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SPRITE (2018)</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Reverse-engineers plausible raw datasets from summary statistics. Revealed one Wansink study implied a child ate ~60 carrots in a single sitting.</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statcheck</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Automated extraction and recalculation of p-values from PDFs; flags decision-changing inconsistencies.</a:t>
            </a:r>
            <a:endParaRPr lang="en-US" sz="1100" dirty="0"/>
          </a:p>
        </p:txBody>
      </p:sp>
      <p:sp>
        <p:nvSpPr>
          <p:cNvPr id="24" name="Shape 22"/>
          <p:cNvSpPr/>
          <p:nvPr/>
        </p:nvSpPr>
        <p:spPr>
          <a:xfrm>
            <a:off x="438912" y="3273552"/>
            <a:ext cx="8321040" cy="0"/>
          </a:xfrm>
          <a:prstGeom prst="line">
            <a:avLst/>
          </a:prstGeom>
          <a:noFill/>
          <a:ln w="6350">
            <a:solidFill>
              <a:srgbClr val="E8E8E8"/>
            </a:solidFill>
            <a:prstDash val="solid"/>
          </a:ln>
        </p:spPr>
        <p:txBody>
          <a:bodyPr/>
          <a:lstStyle/>
          <a:p>
            <a:endParaRPr lang="en-US"/>
          </a:p>
        </p:txBody>
      </p:sp>
      <p:sp>
        <p:nvSpPr>
          <p:cNvPr id="25" name="Text 23"/>
          <p:cNvSpPr/>
          <p:nvPr/>
        </p:nvSpPr>
        <p:spPr>
          <a:xfrm>
            <a:off x="438912" y="3355848"/>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04</a:t>
            </a:r>
            <a:endParaRPr lang="en-US" sz="2000" dirty="0"/>
          </a:p>
        </p:txBody>
      </p:sp>
      <p:sp>
        <p:nvSpPr>
          <p:cNvPr id="26" name="Shape 24"/>
          <p:cNvSpPr/>
          <p:nvPr/>
        </p:nvSpPr>
        <p:spPr>
          <a:xfrm>
            <a:off x="950976" y="3392424"/>
            <a:ext cx="0" cy="502920"/>
          </a:xfrm>
          <a:prstGeom prst="line">
            <a:avLst/>
          </a:prstGeom>
          <a:noFill/>
          <a:ln w="6350">
            <a:solidFill>
              <a:srgbClr val="CCCCCC"/>
            </a:solidFill>
            <a:prstDash val="solid"/>
          </a:ln>
        </p:spPr>
        <p:txBody>
          <a:bodyPr/>
          <a:lstStyle/>
          <a:p>
            <a:endParaRPr lang="en-US"/>
          </a:p>
        </p:txBody>
      </p:sp>
      <p:sp>
        <p:nvSpPr>
          <p:cNvPr id="27" name="Text 25"/>
          <p:cNvSpPr/>
          <p:nvPr/>
        </p:nvSpPr>
        <p:spPr>
          <a:xfrm>
            <a:off x="1097280" y="3355848"/>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Image forensics / Bik</a:t>
            </a:r>
            <a:endParaRPr lang="en-US" sz="1200" dirty="0"/>
          </a:p>
        </p:txBody>
      </p:sp>
      <p:sp>
        <p:nvSpPr>
          <p:cNvPr id="28" name="Shape 26"/>
          <p:cNvSpPr/>
          <p:nvPr/>
        </p:nvSpPr>
        <p:spPr>
          <a:xfrm>
            <a:off x="3401568" y="3392424"/>
            <a:ext cx="0" cy="502920"/>
          </a:xfrm>
          <a:prstGeom prst="line">
            <a:avLst/>
          </a:prstGeom>
          <a:noFill/>
          <a:ln w="6350">
            <a:solidFill>
              <a:srgbClr val="E8E8E8"/>
            </a:solidFill>
            <a:prstDash val="solid"/>
          </a:ln>
        </p:spPr>
        <p:txBody>
          <a:bodyPr/>
          <a:lstStyle/>
          <a:p>
            <a:endParaRPr lang="en-US"/>
          </a:p>
        </p:txBody>
      </p:sp>
      <p:sp>
        <p:nvSpPr>
          <p:cNvPr id="29" name="Text 27"/>
          <p:cNvSpPr/>
          <p:nvPr/>
        </p:nvSpPr>
        <p:spPr>
          <a:xfrm>
            <a:off x="3566160" y="3355848"/>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Visual and AI-assisted detection of manipulated figures — western blots, microscopy, gels. Bik has led to 1,331+ retractions since 2014.</a:t>
            </a:r>
            <a:endParaRPr lang="en-US" sz="1100" dirty="0"/>
          </a:p>
        </p:txBody>
      </p:sp>
      <p:sp>
        <p:nvSpPr>
          <p:cNvPr id="30" name="Shape 28"/>
          <p:cNvSpPr/>
          <p:nvPr/>
        </p:nvSpPr>
        <p:spPr>
          <a:xfrm>
            <a:off x="438912" y="3941064"/>
            <a:ext cx="8321040" cy="0"/>
          </a:xfrm>
          <a:prstGeom prst="line">
            <a:avLst/>
          </a:prstGeom>
          <a:noFill/>
          <a:ln w="6350">
            <a:solidFill>
              <a:srgbClr val="E8E8E8"/>
            </a:solidFill>
            <a:prstDash val="solid"/>
          </a:ln>
        </p:spPr>
        <p:txBody>
          <a:bodyPr/>
          <a:lstStyle/>
          <a:p>
            <a:endParaRPr lang="en-US"/>
          </a:p>
        </p:txBody>
      </p:sp>
      <p:sp>
        <p:nvSpPr>
          <p:cNvPr id="31" name="Text 29"/>
          <p:cNvSpPr/>
          <p:nvPr/>
        </p:nvSpPr>
        <p:spPr>
          <a:xfrm>
            <a:off x="438912" y="4023360"/>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05</a:t>
            </a:r>
            <a:endParaRPr lang="en-US" sz="2000" dirty="0"/>
          </a:p>
        </p:txBody>
      </p:sp>
      <p:sp>
        <p:nvSpPr>
          <p:cNvPr id="32" name="Shape 30"/>
          <p:cNvSpPr/>
          <p:nvPr/>
        </p:nvSpPr>
        <p:spPr>
          <a:xfrm>
            <a:off x="950976" y="4059936"/>
            <a:ext cx="0" cy="502920"/>
          </a:xfrm>
          <a:prstGeom prst="line">
            <a:avLst/>
          </a:prstGeom>
          <a:noFill/>
          <a:ln w="6350">
            <a:solidFill>
              <a:srgbClr val="CCCCCC"/>
            </a:solidFill>
            <a:prstDash val="solid"/>
          </a:ln>
        </p:spPr>
        <p:txBody>
          <a:bodyPr/>
          <a:lstStyle/>
          <a:p>
            <a:endParaRPr lang="en-US"/>
          </a:p>
        </p:txBody>
      </p:sp>
      <p:sp>
        <p:nvSpPr>
          <p:cNvPr id="33" name="Text 31"/>
          <p:cNvSpPr/>
          <p:nvPr/>
        </p:nvSpPr>
        <p:spPr>
          <a:xfrm>
            <a:off x="1097280" y="4023360"/>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ORI investigation (1992–)</a:t>
            </a:r>
            <a:endParaRPr lang="en-US" sz="1200" dirty="0"/>
          </a:p>
        </p:txBody>
      </p:sp>
      <p:sp>
        <p:nvSpPr>
          <p:cNvPr id="34" name="Shape 32"/>
          <p:cNvSpPr/>
          <p:nvPr/>
        </p:nvSpPr>
        <p:spPr>
          <a:xfrm>
            <a:off x="3401568" y="4059936"/>
            <a:ext cx="0" cy="502920"/>
          </a:xfrm>
          <a:prstGeom prst="line">
            <a:avLst/>
          </a:prstGeom>
          <a:noFill/>
          <a:ln w="6350">
            <a:solidFill>
              <a:srgbClr val="E8E8E8"/>
            </a:solidFill>
            <a:prstDash val="solid"/>
          </a:ln>
        </p:spPr>
        <p:txBody>
          <a:bodyPr/>
          <a:lstStyle/>
          <a:p>
            <a:endParaRPr lang="en-US"/>
          </a:p>
        </p:txBody>
      </p:sp>
      <p:sp>
        <p:nvSpPr>
          <p:cNvPr id="35" name="Text 33"/>
          <p:cNvSpPr/>
          <p:nvPr/>
        </p:nvSpPr>
        <p:spPr>
          <a:xfrm>
            <a:off x="3566160" y="4023360"/>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Federal investigators review institutional reports for research involving NIH, CDC, and other HHS agencies.</a:t>
            </a:r>
            <a:endParaRPr lang="en-US" sz="1100" dirty="0"/>
          </a:p>
        </p:txBody>
      </p:sp>
      <p:sp>
        <p:nvSpPr>
          <p:cNvPr id="36" name="Shape 34"/>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37" name="Shape 35"/>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8" name="Text 36"/>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39" name="Shape 37"/>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40" name="Text 38"/>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41" name="Shape 39"/>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42" name="Text 40"/>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43" name="Shape 41"/>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44" name="Text 42"/>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45" name="Text 43"/>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1  —  INDIVIDUAL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DATA FABRICATION</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Open raw data sharing</a:t>
            </a:r>
            <a:endParaRPr lang="en-US" sz="1200" dirty="0"/>
          </a:p>
        </p:txBody>
      </p:sp>
      <p:sp>
        <p:nvSpPr>
          <p:cNvPr id="10" name="Text 8"/>
          <p:cNvSpPr/>
          <p:nvPr/>
        </p:nvSpPr>
        <p:spPr>
          <a:xfrm>
            <a:off x="640080" y="1700784"/>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Enables auditing by any reader. Increasingly required by journals and funders — raw data exposes impossible values immediately.</a:t>
            </a:r>
            <a:endParaRPr lang="en-US" sz="1050" dirty="0"/>
          </a:p>
        </p:txBody>
      </p:sp>
      <p:sp>
        <p:nvSpPr>
          <p:cNvPr id="11" name="Shape 9"/>
          <p:cNvSpPr/>
          <p:nvPr/>
        </p:nvSpPr>
        <p:spPr>
          <a:xfrm>
            <a:off x="438912" y="239572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52374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48716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Lab notebooks &amp; audit trails</a:t>
            </a:r>
            <a:endParaRPr lang="en-US" sz="1200" dirty="0"/>
          </a:p>
        </p:txBody>
      </p:sp>
      <p:sp>
        <p:nvSpPr>
          <p:cNvPr id="14" name="Text 12"/>
          <p:cNvSpPr/>
          <p:nvPr/>
        </p:nvSpPr>
        <p:spPr>
          <a:xfrm>
            <a:off x="640080" y="2798064"/>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Timestamped records of data collection; electronic lab notebooks create immutable provenance logs.</a:t>
            </a:r>
            <a:endParaRPr lang="en-US" sz="1050" dirty="0"/>
          </a:p>
        </p:txBody>
      </p:sp>
      <p:sp>
        <p:nvSpPr>
          <p:cNvPr id="15" name="Shape 13"/>
          <p:cNvSpPr/>
          <p:nvPr/>
        </p:nvSpPr>
        <p:spPr>
          <a:xfrm>
            <a:off x="438912" y="349300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38912" y="362102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640080" y="35844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Bik Science Integrity Fund (2025)</a:t>
            </a:r>
            <a:endParaRPr lang="en-US" sz="1200" dirty="0"/>
          </a:p>
        </p:txBody>
      </p:sp>
      <p:sp>
        <p:nvSpPr>
          <p:cNvPr id="18" name="Text 16"/>
          <p:cNvSpPr/>
          <p:nvPr/>
        </p:nvSpPr>
        <p:spPr>
          <a:xfrm>
            <a:off x="640080" y="3895344"/>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Financial and legal support for volunteer sleuths. Launched in partnership with Retraction Watch / Center for Scientific Integrity.</a:t>
            </a:r>
            <a:endParaRPr lang="en-US" sz="1050" dirty="0"/>
          </a:p>
        </p:txBody>
      </p:sp>
      <p:sp>
        <p:nvSpPr>
          <p:cNvPr id="19" name="Shape 17"/>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Data DOIs &amp; versioning</a:t>
            </a:r>
            <a:endParaRPr lang="en-US" sz="1200" dirty="0"/>
          </a:p>
        </p:txBody>
      </p:sp>
      <p:sp>
        <p:nvSpPr>
          <p:cNvPr id="22" name="Text 20"/>
          <p:cNvSpPr/>
          <p:nvPr/>
        </p:nvSpPr>
        <p:spPr>
          <a:xfrm>
            <a:off x="5001768" y="1700784"/>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Zenodo (2013), Figshare (2012), DataCite (2009–): persistent identifiers create a citable, versioned audit trail for datasets.</a:t>
            </a:r>
            <a:endParaRPr lang="en-US" sz="1050" dirty="0"/>
          </a:p>
        </p:txBody>
      </p:sp>
      <p:sp>
        <p:nvSpPr>
          <p:cNvPr id="23" name="Shape 21"/>
          <p:cNvSpPr/>
          <p:nvPr/>
        </p:nvSpPr>
        <p:spPr>
          <a:xfrm>
            <a:off x="4800600" y="2395728"/>
            <a:ext cx="4160520" cy="0"/>
          </a:xfrm>
          <a:prstGeom prst="line">
            <a:avLst/>
          </a:prstGeom>
          <a:noFill/>
          <a:ln w="9525">
            <a:solidFill>
              <a:srgbClr val="CCCCCC"/>
            </a:solidFill>
            <a:prstDash val="solid"/>
          </a:ln>
        </p:spPr>
        <p:txBody>
          <a:bodyPr/>
          <a:lstStyle/>
          <a:p>
            <a:endParaRPr lang="en-US"/>
          </a:p>
        </p:txBody>
      </p:sp>
      <p:sp>
        <p:nvSpPr>
          <p:cNvPr id="24" name="Shape 22"/>
          <p:cNvSpPr/>
          <p:nvPr/>
        </p:nvSpPr>
        <p:spPr>
          <a:xfrm>
            <a:off x="4800600" y="2523744"/>
            <a:ext cx="100584" cy="100584"/>
          </a:xfrm>
          <a:prstGeom prst="rect">
            <a:avLst/>
          </a:prstGeom>
          <a:solidFill>
            <a:srgbClr val="111111"/>
          </a:solidFill>
          <a:ln w="12700">
            <a:solidFill>
              <a:srgbClr val="111111"/>
            </a:solidFill>
            <a:prstDash val="solid"/>
          </a:ln>
        </p:spPr>
        <p:txBody>
          <a:bodyPr/>
          <a:lstStyle/>
          <a:p>
            <a:endParaRPr lang="en-US"/>
          </a:p>
        </p:txBody>
      </p:sp>
      <p:sp>
        <p:nvSpPr>
          <p:cNvPr id="25" name="Text 23"/>
          <p:cNvSpPr/>
          <p:nvPr/>
        </p:nvSpPr>
        <p:spPr>
          <a:xfrm>
            <a:off x="5001768" y="248716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Federal whistleblower protections</a:t>
            </a:r>
            <a:endParaRPr lang="en-US" sz="1200" dirty="0"/>
          </a:p>
        </p:txBody>
      </p:sp>
      <p:sp>
        <p:nvSpPr>
          <p:cNvPr id="26" name="Text 24"/>
          <p:cNvSpPr/>
          <p:nvPr/>
        </p:nvSpPr>
        <p:spPr>
          <a:xfrm>
            <a:off x="5001768" y="2798064"/>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Legal protection for researchers who report misconduct by colleagues; Research Integrity Officer role at institutions.</a:t>
            </a:r>
            <a:endParaRPr lang="en-US" sz="1050" dirty="0"/>
          </a:p>
        </p:txBody>
      </p:sp>
      <p:sp>
        <p:nvSpPr>
          <p:cNvPr id="27" name="Shape 25"/>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8" name="Shape 26"/>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30" name="Shape 28"/>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32" name="Shape 30"/>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3" name="Text 31"/>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4" name="Shape 32"/>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5" name="Text 33"/>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6" name="Text 34"/>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1  —  INDIVIDUAL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IMAGE MANIPULATION</a:t>
            </a:r>
            <a:endParaRPr lang="en-US" sz="800" dirty="0"/>
          </a:p>
        </p:txBody>
      </p:sp>
      <p:sp>
        <p:nvSpPr>
          <p:cNvPr id="5" name="Text 3"/>
          <p:cNvSpPr/>
          <p:nvPr/>
        </p:nvSpPr>
        <p:spPr>
          <a:xfrm>
            <a:off x="438912" y="319900"/>
            <a:ext cx="5815584" cy="1005840"/>
          </a:xfrm>
          <a:prstGeom prst="rect">
            <a:avLst/>
          </a:prstGeom>
          <a:noFill/>
          <a:ln/>
        </p:spPr>
        <p:txBody>
          <a:bodyPr wrap="square" lIns="0" tIns="0" rIns="0" bIns="0" rtlCol="0" anchor="ctr"/>
          <a:lstStyle/>
          <a:p>
            <a:pPr marL="0" indent="0">
              <a:buNone/>
            </a:pPr>
            <a:r>
              <a:rPr lang="en-US" sz="4200" b="1" dirty="0">
                <a:solidFill>
                  <a:srgbClr val="111111"/>
                </a:solidFill>
                <a:latin typeface="Calibri" pitchFamily="34" charset="0"/>
                <a:ea typeface="Calibri" pitchFamily="34" charset="-122"/>
                <a:cs typeface="Calibri" pitchFamily="34" charset="-120"/>
              </a:rPr>
              <a:t>IMAGE MANIPULATION</a:t>
            </a:r>
            <a:endParaRPr lang="en-US" sz="36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16736"/>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Duplicated, spliced, rotated, or AI-generated figures — western blots, microscopy images, flow cytometry, gel images. The most common single route into detection of fraud. Increasingly hard to catch as generative AI matures.</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PREVALENCE</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3.8% of papers</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had problematic figures</a:t>
            </a:r>
            <a:endParaRPr lang="en-US" sz="2000" dirty="0"/>
          </a:p>
        </p:txBody>
      </p:sp>
      <p:sp>
        <p:nvSpPr>
          <p:cNvPr id="12" name="Text 10"/>
          <p:cNvSpPr/>
          <p:nvPr/>
        </p:nvSpPr>
        <p:spPr>
          <a:xfrm>
            <a:off x="5943600" y="2743200"/>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Among 20,000+ papers screened 1995–2014; roughly half showed signs of deliberate manipulation.</a:t>
            </a:r>
            <a:endParaRPr lang="en-US" sz="1050" dirty="0"/>
          </a:p>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(Bik et al. 2016, mBio)</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1  —  INDIVIDUAL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IMAGE MANIPULATION</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030224"/>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Bik et al. (2016, mBio)</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3.8% of 20,000+ papers published 1995–2014 had problematic figures; ~50% of those showed signs of deliberate manipulation, not accidental duplication.</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Imagetwin / J. Cancer (2024–25)</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AI scanning found 18–20% of papers in one journal contained problem images — before and after the journal changed its correction-charge policy.</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Tessier-Lavigne (Stanford 2023)</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Stanford president resigned after 8-month investigation into image manipulation flagged by Elisabeth Bik and others on PubPeer.</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Dana-Farber (2024)</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Data sleuth David Sholto identified image problems across multiple papers from the Harvard-affiliated cancer institute; several retractions followed.</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2 / 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1  —  INDIVIDUAL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IMAGE MANIPULATION</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Bik visual screening (2014–)</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Systematic manual scanning of published papers for duplicated or manipulated figures. By 2024, Bik's work has led to 1,331 retractions and 215 expressions of concern.</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Imagetwin AI (early 2020s)</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Automated batch scanning of submitted PDFs for duplicated or manipulated images; deployed by publishers at submission stage.</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Proofig AI (early 2020s)</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Publisher-grade image integrity checking; analyses pixel-level similarities to flag potential manipulation before peer review.</a:t>
            </a:r>
            <a:endParaRPr lang="en-US" sz="1100" dirty="0"/>
          </a:p>
        </p:txBody>
      </p:sp>
      <p:sp>
        <p:nvSpPr>
          <p:cNvPr id="24" name="Shape 22"/>
          <p:cNvSpPr/>
          <p:nvPr/>
        </p:nvSpPr>
        <p:spPr>
          <a:xfrm>
            <a:off x="438912" y="3273552"/>
            <a:ext cx="8321040" cy="0"/>
          </a:xfrm>
          <a:prstGeom prst="line">
            <a:avLst/>
          </a:prstGeom>
          <a:noFill/>
          <a:ln w="6350">
            <a:solidFill>
              <a:srgbClr val="E8E8E8"/>
            </a:solidFill>
            <a:prstDash val="solid"/>
          </a:ln>
        </p:spPr>
        <p:txBody>
          <a:bodyPr/>
          <a:lstStyle/>
          <a:p>
            <a:endParaRPr lang="en-US"/>
          </a:p>
        </p:txBody>
      </p:sp>
      <p:sp>
        <p:nvSpPr>
          <p:cNvPr id="25" name="Text 23"/>
          <p:cNvSpPr/>
          <p:nvPr/>
        </p:nvSpPr>
        <p:spPr>
          <a:xfrm>
            <a:off x="438912" y="3355848"/>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04</a:t>
            </a:r>
            <a:endParaRPr lang="en-US" sz="2000" dirty="0"/>
          </a:p>
        </p:txBody>
      </p:sp>
      <p:sp>
        <p:nvSpPr>
          <p:cNvPr id="26" name="Shape 24"/>
          <p:cNvSpPr/>
          <p:nvPr/>
        </p:nvSpPr>
        <p:spPr>
          <a:xfrm>
            <a:off x="950976" y="3392424"/>
            <a:ext cx="0" cy="502920"/>
          </a:xfrm>
          <a:prstGeom prst="line">
            <a:avLst/>
          </a:prstGeom>
          <a:noFill/>
          <a:ln w="6350">
            <a:solidFill>
              <a:srgbClr val="CCCCCC"/>
            </a:solidFill>
            <a:prstDash val="solid"/>
          </a:ln>
        </p:spPr>
        <p:txBody>
          <a:bodyPr/>
          <a:lstStyle/>
          <a:p>
            <a:endParaRPr lang="en-US"/>
          </a:p>
        </p:txBody>
      </p:sp>
      <p:sp>
        <p:nvSpPr>
          <p:cNvPr id="27" name="Text 25"/>
          <p:cNvSpPr/>
          <p:nvPr/>
        </p:nvSpPr>
        <p:spPr>
          <a:xfrm>
            <a:off x="1097280" y="3355848"/>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PubPeer crowdsourcing (2012–)</a:t>
            </a:r>
            <a:endParaRPr lang="en-US" sz="1200" dirty="0"/>
          </a:p>
        </p:txBody>
      </p:sp>
      <p:sp>
        <p:nvSpPr>
          <p:cNvPr id="28" name="Shape 26"/>
          <p:cNvSpPr/>
          <p:nvPr/>
        </p:nvSpPr>
        <p:spPr>
          <a:xfrm>
            <a:off x="3401568" y="3392424"/>
            <a:ext cx="0" cy="502920"/>
          </a:xfrm>
          <a:prstGeom prst="line">
            <a:avLst/>
          </a:prstGeom>
          <a:noFill/>
          <a:ln w="6350">
            <a:solidFill>
              <a:srgbClr val="E8E8E8"/>
            </a:solidFill>
            <a:prstDash val="solid"/>
          </a:ln>
        </p:spPr>
        <p:txBody>
          <a:bodyPr/>
          <a:lstStyle/>
          <a:p>
            <a:endParaRPr lang="en-US"/>
          </a:p>
        </p:txBody>
      </p:sp>
      <p:sp>
        <p:nvSpPr>
          <p:cNvPr id="29" name="Text 27"/>
          <p:cNvSpPr/>
          <p:nvPr/>
        </p:nvSpPr>
        <p:spPr>
          <a:xfrm>
            <a:off x="3566160" y="3355848"/>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Open post-publication annotation platform enabling global volunteer reviewers to flag concerns; regularly precedes formal institutional action.</a:t>
            </a:r>
            <a:endParaRPr lang="en-US" sz="1100" dirty="0"/>
          </a:p>
        </p:txBody>
      </p:sp>
      <p:sp>
        <p:nvSpPr>
          <p:cNvPr id="30" name="Shape 28"/>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31" name="Shape 29"/>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2" name="Text 30"/>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33" name="Shape 31"/>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4" name="Text 32"/>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35" name="Shape 33"/>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6" name="Text 34"/>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37" name="Shape 35"/>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8" name="Text 36"/>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9" name="Text 37"/>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1  —  INDIVIDUAL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IMAGE MANIPULATION</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38912" y="1035183"/>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Raw image submission at review</a:t>
            </a:r>
            <a:endParaRPr lang="en-US" sz="1200" dirty="0"/>
          </a:p>
        </p:txBody>
      </p:sp>
      <p:sp>
        <p:nvSpPr>
          <p:cNvPr id="10" name="Text 8"/>
          <p:cNvSpPr/>
          <p:nvPr/>
        </p:nvSpPr>
        <p:spPr>
          <a:xfrm>
            <a:off x="640080"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Requiring unprocessed original image files alongside manuscript — any discrepancy between raw and published is immediately detectable.</a:t>
            </a:r>
            <a:endParaRPr lang="en-US" sz="1050" dirty="0"/>
          </a:p>
        </p:txBody>
      </p:sp>
      <p:sp>
        <p:nvSpPr>
          <p:cNvPr id="11" name="Shape 9"/>
          <p:cNvSpPr/>
          <p:nvPr/>
        </p:nvSpPr>
        <p:spPr>
          <a:xfrm>
            <a:off x="438912" y="257860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COPE retraction guidelines (2009–)</a:t>
            </a:r>
            <a:endParaRPr lang="en-US" sz="1200" dirty="0"/>
          </a:p>
        </p:txBody>
      </p:sp>
      <p:sp>
        <p:nvSpPr>
          <p:cNvPr id="14" name="Text 12"/>
          <p:cNvSpPr/>
          <p:nvPr/>
        </p:nvSpPr>
        <p:spPr>
          <a:xfrm>
            <a:off x="640080"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Committee on Publication Ethics standardised criteria for when and how publishers should issue corrections, expressions of concern, and retractions.</a:t>
            </a:r>
            <a:endParaRPr lang="en-US" sz="1050" dirty="0"/>
          </a:p>
        </p:txBody>
      </p:sp>
      <p:sp>
        <p:nvSpPr>
          <p:cNvPr id="15" name="Shape 13"/>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Figure metadata standards</a:t>
            </a:r>
            <a:endParaRPr lang="en-US" sz="1200" dirty="0"/>
          </a:p>
        </p:txBody>
      </p:sp>
      <p:sp>
        <p:nvSpPr>
          <p:cNvPr id="18" name="Text 16"/>
          <p:cNvSpPr/>
          <p:nvPr/>
        </p:nvSpPr>
        <p:spPr>
          <a:xfrm>
            <a:off x="5001768"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Embedding provenance in image files; some journals now require checksums and acquisition metadata to accompany submitted figures.</a:t>
            </a:r>
            <a:endParaRPr lang="en-US" sz="1050" dirty="0"/>
          </a:p>
        </p:txBody>
      </p:sp>
      <p:sp>
        <p:nvSpPr>
          <p:cNvPr id="19" name="Shape 17"/>
          <p:cNvSpPr/>
          <p:nvPr/>
        </p:nvSpPr>
        <p:spPr>
          <a:xfrm>
            <a:off x="4800600" y="257860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Publisher AI screening (2023–)</a:t>
            </a:r>
            <a:endParaRPr lang="en-US" sz="1200" dirty="0"/>
          </a:p>
        </p:txBody>
      </p:sp>
      <p:sp>
        <p:nvSpPr>
          <p:cNvPr id="22" name="Text 20"/>
          <p:cNvSpPr/>
          <p:nvPr/>
        </p:nvSpPr>
        <p:spPr>
          <a:xfrm>
            <a:off x="5001768"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Wiley, Springer Nature, and Elsevier now deploy automated image-integrity checking at the submission stage, before peer review assignment.</a:t>
            </a:r>
            <a:endParaRPr lang="en-US" sz="105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1  —  INDIVIDUAL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PLAGIARISM &amp; TEXT RECYCLING</a:t>
            </a:r>
            <a:endParaRPr lang="en-US" sz="800" dirty="0"/>
          </a:p>
        </p:txBody>
      </p:sp>
      <p:sp>
        <p:nvSpPr>
          <p:cNvPr id="5" name="Text 3"/>
          <p:cNvSpPr/>
          <p:nvPr/>
        </p:nvSpPr>
        <p:spPr>
          <a:xfrm>
            <a:off x="438912" y="319900"/>
            <a:ext cx="7089648" cy="1005840"/>
          </a:xfrm>
          <a:prstGeom prst="rect">
            <a:avLst/>
          </a:prstGeom>
          <a:noFill/>
          <a:ln/>
        </p:spPr>
        <p:txBody>
          <a:bodyPr wrap="square" lIns="0" tIns="0" rIns="0" bIns="0" rtlCol="0" anchor="ctr"/>
          <a:lstStyle/>
          <a:p>
            <a:pPr marL="0" indent="0">
              <a:buNone/>
            </a:pPr>
            <a:r>
              <a:rPr lang="en-US" sz="4200" b="1" dirty="0">
                <a:solidFill>
                  <a:srgbClr val="111111"/>
                </a:solidFill>
                <a:latin typeface="Calibri" pitchFamily="34" charset="0"/>
                <a:ea typeface="Calibri" pitchFamily="34" charset="-122"/>
                <a:cs typeface="Calibri" pitchFamily="34" charset="-120"/>
              </a:rPr>
              <a:t>PLAGIARISM &amp; TEXT RECYCLING</a:t>
            </a:r>
            <a:endParaRPr lang="en-US" sz="36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16736"/>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Copying text or results from other works without attribution; self-plagiarism across multiple papers from the same dataset; AI-generated boilerplate that may not match any specific source. Detection tools are now in an arms race with AI paraphrasers.</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EMERGING THREAT</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14% of biomedical</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abstracts in 2024</a:t>
            </a:r>
            <a:endParaRPr lang="en-US" sz="2000" dirty="0"/>
          </a:p>
        </p:txBody>
      </p:sp>
      <p:sp>
        <p:nvSpPr>
          <p:cNvPr id="12" name="Text 10"/>
          <p:cNvSpPr/>
          <p:nvPr/>
        </p:nvSpPr>
        <p:spPr>
          <a:xfrm>
            <a:off x="5943600" y="2743200"/>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Showed markers of AI-generated text, per Nature news report (July 2025). AI-generated text is technically distinct from plagiarism but raises similar integrity concerns.</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22" name="Text 2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1 / 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1  —  INDIVIDUAL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PLAGIARISM &amp; TEXT RECYCLING</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Cabanac et al. (2021)</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Identified 2,000+ papers using 'tortured phrases' — systematic obfuscation to evade detectors ('artificial neural network' becomes 'counterfeit brain organisation').</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Nature (July 2025)</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14% of biomedical abstracts published in 2024 showed probabilistic markers of AI-generated text; proportion rising sharply.</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Problematic Paper Screener</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Over 32,786 suspected paper-mill products identified partly via tortured-phrase signatures — obfuscation is a hallmark of purchased manuscripts.</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CrossCheck / iThenticate data</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Publishers report dramatic increase in manuscripts flagged for similarity since 2022; much of the increase attributed to AI paraphrasing rather than direct copying.</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2 / 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1  —  INDIVIDUAL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PLAGIARISM &amp; TEXT RECYCLING</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iThenticate / CrossCheck (2008–)</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Text similarity matching against published literature at submission. Mandatory at most major publishers; owned by Turnitin.</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Tortured phrases screener (2021)</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Flags tell-tale obfuscation patterns from machine translation — statistical signatures of automated paraphrasing.</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AI-text detectors (2023–)</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Tools like GPTZero and Originality.ai detect probabilistic signatures of LLM output; reliability concerns remain, especially after paraphrasing.</a:t>
            </a:r>
            <a:endParaRPr lang="en-US" sz="1100" dirty="0"/>
          </a:p>
        </p:txBody>
      </p:sp>
      <p:sp>
        <p:nvSpPr>
          <p:cNvPr id="24" name="Shape 22"/>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5" name="Shape 23"/>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6" name="Text 24"/>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7" name="Shape 25"/>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8" name="Text 26"/>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9" name="Shape 27"/>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0" name="Text 28"/>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31" name="Shape 29"/>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2" name="Text 30"/>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3" name="Text 31"/>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1  —  INDIVIDUAL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PLAGIARISM &amp; TEXT RECYCLING</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38912" y="975677"/>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Mandatory plagiarism check</a:t>
            </a:r>
            <a:endParaRPr lang="en-US" sz="1200" dirty="0"/>
          </a:p>
        </p:txBody>
      </p:sp>
      <p:sp>
        <p:nvSpPr>
          <p:cNvPr id="10" name="Text 8"/>
          <p:cNvSpPr/>
          <p:nvPr/>
        </p:nvSpPr>
        <p:spPr>
          <a:xfrm>
            <a:off x="640080"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Standard submission requirement at most major publishers; typically uses iThenticate / CrossCheck before peer review assignment.</a:t>
            </a:r>
            <a:endParaRPr lang="en-US" sz="1050" dirty="0"/>
          </a:p>
        </p:txBody>
      </p:sp>
      <p:sp>
        <p:nvSpPr>
          <p:cNvPr id="11" name="Shape 9"/>
          <p:cNvSpPr/>
          <p:nvPr/>
        </p:nvSpPr>
        <p:spPr>
          <a:xfrm>
            <a:off x="438912" y="257860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AI disclosure requirements (2023–)</a:t>
            </a:r>
            <a:endParaRPr lang="en-US" sz="1200" dirty="0"/>
          </a:p>
        </p:txBody>
      </p:sp>
      <p:sp>
        <p:nvSpPr>
          <p:cNvPr id="14" name="Text 12"/>
          <p:cNvSpPr/>
          <p:nvPr/>
        </p:nvSpPr>
        <p:spPr>
          <a:xfrm>
            <a:off x="640080"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Authors must declare AI use in drafting at most major journals; Nature, Science, Lancet, and hundreds of others have adopted policies.</a:t>
            </a:r>
            <a:endParaRPr lang="en-US" sz="1050" dirty="0"/>
          </a:p>
        </p:txBody>
      </p:sp>
      <p:sp>
        <p:nvSpPr>
          <p:cNvPr id="15" name="Shape 13"/>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COPE self-plagiarism policies</a:t>
            </a:r>
            <a:endParaRPr lang="en-US" sz="1200" dirty="0"/>
          </a:p>
        </p:txBody>
      </p:sp>
      <p:sp>
        <p:nvSpPr>
          <p:cNvPr id="18" name="Text 16"/>
          <p:cNvSpPr/>
          <p:nvPr/>
        </p:nvSpPr>
        <p:spPr>
          <a:xfrm>
            <a:off x="5001768"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Clear guidance on acceptable text reuse thresholds; most journals require disclosure when reusing own prior published text.</a:t>
            </a:r>
            <a:endParaRPr lang="en-US" sz="1050" dirty="0"/>
          </a:p>
        </p:txBody>
      </p:sp>
      <p:sp>
        <p:nvSpPr>
          <p:cNvPr id="19" name="Shape 17"/>
          <p:cNvSpPr/>
          <p:nvPr/>
        </p:nvSpPr>
        <p:spPr>
          <a:xfrm>
            <a:off x="4800600" y="257860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Preprint deposits</a:t>
            </a:r>
            <a:endParaRPr lang="en-US" sz="1200" dirty="0"/>
          </a:p>
        </p:txBody>
      </p:sp>
      <p:sp>
        <p:nvSpPr>
          <p:cNvPr id="22" name="Text 20"/>
          <p:cNvSpPr/>
          <p:nvPr/>
        </p:nvSpPr>
        <p:spPr>
          <a:xfrm>
            <a:off x="5001768"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Time-stamped preprints on arXiv, bioRxiv, SSRN establish priority and create a public record that makes post-hoc plagiarism detectable.</a:t>
            </a:r>
            <a:endParaRPr lang="en-US" sz="105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1  —  INDIVIDUAL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RESEARCH METHODS ERRORS</a:t>
            </a:r>
            <a:endParaRPr lang="en-US" sz="800" dirty="0"/>
          </a:p>
        </p:txBody>
      </p:sp>
      <p:sp>
        <p:nvSpPr>
          <p:cNvPr id="5" name="Text 3"/>
          <p:cNvSpPr/>
          <p:nvPr/>
        </p:nvSpPr>
        <p:spPr>
          <a:xfrm>
            <a:off x="438912" y="319900"/>
            <a:ext cx="6833616" cy="1005840"/>
          </a:xfrm>
          <a:prstGeom prst="rect">
            <a:avLst/>
          </a:prstGeom>
          <a:noFill/>
          <a:ln/>
        </p:spPr>
        <p:txBody>
          <a:bodyPr wrap="square" lIns="0" tIns="0" rIns="0" bIns="0" rtlCol="0" anchor="ctr"/>
          <a:lstStyle/>
          <a:p>
            <a:pPr marL="0" indent="0">
              <a:buNone/>
            </a:pPr>
            <a:r>
              <a:rPr lang="en-US" sz="4200" b="1" dirty="0">
                <a:solidFill>
                  <a:srgbClr val="111111"/>
                </a:solidFill>
                <a:latin typeface="Calibri" pitchFamily="34" charset="0"/>
                <a:ea typeface="Calibri" pitchFamily="34" charset="-122"/>
                <a:cs typeface="Calibri" pitchFamily="34" charset="-120"/>
              </a:rPr>
              <a:t>RESEARCH METHODS ERRORS</a:t>
            </a:r>
            <a:endParaRPr lang="en-US" sz="36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16736"/>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Coding bugs, data entry errors, miscoded variables, mathematical errors in proofs. Error rates scale super-linearly with project complexity — doubling lines of code more than doubles errors, because code functions as an interdependent network, not a linear proof.</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THE CORE PROBLEM</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Error rates scale</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super-linearly</a:t>
            </a:r>
            <a:endParaRPr lang="en-US" sz="2000" dirty="0"/>
          </a:p>
        </p:txBody>
      </p:sp>
      <p:sp>
        <p:nvSpPr>
          <p:cNvPr id="12" name="Text 10"/>
          <p:cNvSpPr/>
          <p:nvPr/>
        </p:nvSpPr>
        <p:spPr>
          <a:xfrm>
            <a:off x="5943600" y="2743200"/>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 constant errors-per-line rate produces more than proportional impact as code networks grow. One upstream error cascades through all downstream components.</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22" name="Text 2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1 / 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1  —  INDIVIDUAL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RESEARCH METHODS ERRORS</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57200" y="108532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Reinhart &amp; Rogoff (2010 / Herndon et al. 2013)</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Excel error excluded 5 countries, reversing the debt-growth conclusion that informed austerity policy across Europe and North America.</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Eklund et al. (2016, PNAS)</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fMRI software bug inflated false-positive rates — potentially affecting ~40,000 published neuroimaging studies over 15 years.</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Brodeur et al. (IZA 2023)</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Coding errors found in ~25% of economics papers when re-executed by independent teams using shared replication packages.</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Chang &amp; Li (2022)</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Only 14–43% of published economics studies were computationally reproducible on first independent attempt.</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2 / 4</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1  —  INDIVIDUAL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RESEARCH METHODS ERRORS</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932688"/>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115568"/>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152144"/>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115568"/>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Re-execution checks</a:t>
            </a:r>
            <a:endParaRPr lang="en-US" sz="1200" dirty="0"/>
          </a:p>
        </p:txBody>
      </p:sp>
      <p:sp>
        <p:nvSpPr>
          <p:cNvPr id="10" name="Shape 8"/>
          <p:cNvSpPr/>
          <p:nvPr/>
        </p:nvSpPr>
        <p:spPr>
          <a:xfrm>
            <a:off x="3401568" y="1152144"/>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115568"/>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Independent run of published code on shared data; any divergence from reported numbers signals an error worth investigating.</a:t>
            </a:r>
            <a:endParaRPr lang="en-US" sz="1100" dirty="0"/>
          </a:p>
        </p:txBody>
      </p:sp>
      <p:sp>
        <p:nvSpPr>
          <p:cNvPr id="12" name="Shape 10"/>
          <p:cNvSpPr/>
          <p:nvPr/>
        </p:nvSpPr>
        <p:spPr>
          <a:xfrm>
            <a:off x="438912" y="1700784"/>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1783080"/>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1819656"/>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1783080"/>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AEA Data Editor (2018–)</a:t>
            </a:r>
            <a:endParaRPr lang="en-US" sz="1200" dirty="0"/>
          </a:p>
        </p:txBody>
      </p:sp>
      <p:sp>
        <p:nvSpPr>
          <p:cNvPr id="16" name="Shape 14"/>
          <p:cNvSpPr/>
          <p:nvPr/>
        </p:nvSpPr>
        <p:spPr>
          <a:xfrm>
            <a:off x="3401568" y="1819656"/>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1783080"/>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American Economic Association requires code packages to execute cleanly before publication; adopted as a model across disciplines.</a:t>
            </a:r>
            <a:endParaRPr lang="en-US" sz="1100" dirty="0"/>
          </a:p>
        </p:txBody>
      </p:sp>
      <p:sp>
        <p:nvSpPr>
          <p:cNvPr id="18" name="Shape 16"/>
          <p:cNvSpPr/>
          <p:nvPr/>
        </p:nvSpPr>
        <p:spPr>
          <a:xfrm>
            <a:off x="438912" y="2368296"/>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45059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487168"/>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45059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PLOS ONE reproducibility (~2014)</a:t>
            </a:r>
            <a:endParaRPr lang="en-US" sz="1200" dirty="0"/>
          </a:p>
        </p:txBody>
      </p:sp>
      <p:sp>
        <p:nvSpPr>
          <p:cNvPr id="22" name="Shape 20"/>
          <p:cNvSpPr/>
          <p:nvPr/>
        </p:nvSpPr>
        <p:spPr>
          <a:xfrm>
            <a:off x="3401568" y="2487168"/>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45059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Editorial verification of code outputs at submission; first major journal to adopt systematic computational reproducibility checks.</a:t>
            </a:r>
            <a:endParaRPr lang="en-US" sz="1100" dirty="0"/>
          </a:p>
        </p:txBody>
      </p:sp>
      <p:sp>
        <p:nvSpPr>
          <p:cNvPr id="24" name="Shape 22"/>
          <p:cNvSpPr/>
          <p:nvPr/>
        </p:nvSpPr>
        <p:spPr>
          <a:xfrm>
            <a:off x="438912" y="3035808"/>
            <a:ext cx="8321040" cy="0"/>
          </a:xfrm>
          <a:prstGeom prst="line">
            <a:avLst/>
          </a:prstGeom>
          <a:noFill/>
          <a:ln w="6350">
            <a:solidFill>
              <a:srgbClr val="E8E8E8"/>
            </a:solidFill>
            <a:prstDash val="solid"/>
          </a:ln>
        </p:spPr>
        <p:txBody>
          <a:bodyPr/>
          <a:lstStyle/>
          <a:p>
            <a:endParaRPr lang="en-US"/>
          </a:p>
        </p:txBody>
      </p:sp>
      <p:sp>
        <p:nvSpPr>
          <p:cNvPr id="25" name="Text 23"/>
          <p:cNvSpPr/>
          <p:nvPr/>
        </p:nvSpPr>
        <p:spPr>
          <a:xfrm>
            <a:off x="438912" y="311810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04</a:t>
            </a:r>
            <a:endParaRPr lang="en-US" sz="2000" dirty="0"/>
          </a:p>
        </p:txBody>
      </p:sp>
      <p:sp>
        <p:nvSpPr>
          <p:cNvPr id="26" name="Shape 24"/>
          <p:cNvSpPr/>
          <p:nvPr/>
        </p:nvSpPr>
        <p:spPr>
          <a:xfrm>
            <a:off x="950976" y="3154680"/>
            <a:ext cx="0" cy="502920"/>
          </a:xfrm>
          <a:prstGeom prst="line">
            <a:avLst/>
          </a:prstGeom>
          <a:noFill/>
          <a:ln w="6350">
            <a:solidFill>
              <a:srgbClr val="CCCCCC"/>
            </a:solidFill>
            <a:prstDash val="solid"/>
          </a:ln>
        </p:spPr>
        <p:txBody>
          <a:bodyPr/>
          <a:lstStyle/>
          <a:p>
            <a:endParaRPr lang="en-US"/>
          </a:p>
        </p:txBody>
      </p:sp>
      <p:sp>
        <p:nvSpPr>
          <p:cNvPr id="27" name="Text 25"/>
          <p:cNvSpPr/>
          <p:nvPr/>
        </p:nvSpPr>
        <p:spPr>
          <a:xfrm>
            <a:off x="1097280" y="311810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Unit tests</a:t>
            </a:r>
            <a:endParaRPr lang="en-US" sz="1200" dirty="0"/>
          </a:p>
        </p:txBody>
      </p:sp>
      <p:sp>
        <p:nvSpPr>
          <p:cNvPr id="28" name="Shape 26"/>
          <p:cNvSpPr/>
          <p:nvPr/>
        </p:nvSpPr>
        <p:spPr>
          <a:xfrm>
            <a:off x="3401568" y="3154680"/>
            <a:ext cx="0" cy="502920"/>
          </a:xfrm>
          <a:prstGeom prst="line">
            <a:avLst/>
          </a:prstGeom>
          <a:noFill/>
          <a:ln w="6350">
            <a:solidFill>
              <a:srgbClr val="E8E8E8"/>
            </a:solidFill>
            <a:prstDash val="solid"/>
          </a:ln>
        </p:spPr>
        <p:txBody>
          <a:bodyPr/>
          <a:lstStyle/>
          <a:p>
            <a:endParaRPr lang="en-US"/>
          </a:p>
        </p:txBody>
      </p:sp>
      <p:sp>
        <p:nvSpPr>
          <p:cNvPr id="29" name="Text 27"/>
          <p:cNvSpPr/>
          <p:nvPr/>
        </p:nvSpPr>
        <p:spPr>
          <a:xfrm>
            <a:off x="3566160" y="311810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Software engineering practice: automated checks confirm code components behave as expected after any change.</a:t>
            </a:r>
            <a:endParaRPr lang="en-US" sz="1100" dirty="0"/>
          </a:p>
        </p:txBody>
      </p:sp>
      <p:sp>
        <p:nvSpPr>
          <p:cNvPr id="30" name="Shape 28"/>
          <p:cNvSpPr/>
          <p:nvPr/>
        </p:nvSpPr>
        <p:spPr>
          <a:xfrm>
            <a:off x="438912" y="3703320"/>
            <a:ext cx="8321040" cy="0"/>
          </a:xfrm>
          <a:prstGeom prst="line">
            <a:avLst/>
          </a:prstGeom>
          <a:noFill/>
          <a:ln w="6350">
            <a:solidFill>
              <a:srgbClr val="E8E8E8"/>
            </a:solidFill>
            <a:prstDash val="solid"/>
          </a:ln>
        </p:spPr>
        <p:txBody>
          <a:bodyPr/>
          <a:lstStyle/>
          <a:p>
            <a:endParaRPr lang="en-US"/>
          </a:p>
        </p:txBody>
      </p:sp>
      <p:sp>
        <p:nvSpPr>
          <p:cNvPr id="31" name="Text 29"/>
          <p:cNvSpPr/>
          <p:nvPr/>
        </p:nvSpPr>
        <p:spPr>
          <a:xfrm>
            <a:off x="438912" y="378561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05</a:t>
            </a:r>
            <a:endParaRPr lang="en-US" sz="2000" dirty="0"/>
          </a:p>
        </p:txBody>
      </p:sp>
      <p:sp>
        <p:nvSpPr>
          <p:cNvPr id="32" name="Shape 30"/>
          <p:cNvSpPr/>
          <p:nvPr/>
        </p:nvSpPr>
        <p:spPr>
          <a:xfrm>
            <a:off x="950976" y="3822192"/>
            <a:ext cx="0" cy="502920"/>
          </a:xfrm>
          <a:prstGeom prst="line">
            <a:avLst/>
          </a:prstGeom>
          <a:noFill/>
          <a:ln w="6350">
            <a:solidFill>
              <a:srgbClr val="CCCCCC"/>
            </a:solidFill>
            <a:prstDash val="solid"/>
          </a:ln>
        </p:spPr>
        <p:txBody>
          <a:bodyPr/>
          <a:lstStyle/>
          <a:p>
            <a:endParaRPr lang="en-US"/>
          </a:p>
        </p:txBody>
      </p:sp>
      <p:sp>
        <p:nvSpPr>
          <p:cNvPr id="33" name="Text 31"/>
          <p:cNvSpPr/>
          <p:nvPr/>
        </p:nvSpPr>
        <p:spPr>
          <a:xfrm>
            <a:off x="1097280" y="378561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statcheck</a:t>
            </a:r>
            <a:endParaRPr lang="en-US" sz="1200" dirty="0"/>
          </a:p>
        </p:txBody>
      </p:sp>
      <p:sp>
        <p:nvSpPr>
          <p:cNvPr id="34" name="Shape 32"/>
          <p:cNvSpPr/>
          <p:nvPr/>
        </p:nvSpPr>
        <p:spPr>
          <a:xfrm>
            <a:off x="3401568" y="3822192"/>
            <a:ext cx="0" cy="502920"/>
          </a:xfrm>
          <a:prstGeom prst="line">
            <a:avLst/>
          </a:prstGeom>
          <a:noFill/>
          <a:ln w="6350">
            <a:solidFill>
              <a:srgbClr val="E8E8E8"/>
            </a:solidFill>
            <a:prstDash val="solid"/>
          </a:ln>
        </p:spPr>
        <p:txBody>
          <a:bodyPr/>
          <a:lstStyle/>
          <a:p>
            <a:endParaRPr lang="en-US"/>
          </a:p>
        </p:txBody>
      </p:sp>
      <p:sp>
        <p:nvSpPr>
          <p:cNvPr id="35" name="Text 33"/>
          <p:cNvSpPr/>
          <p:nvPr/>
        </p:nvSpPr>
        <p:spPr>
          <a:xfrm>
            <a:off x="3566160" y="378561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Automated extraction and recalculation of p-values from PDFs; catches statistical reporting inconsistencies that may indicate computational error.</a:t>
            </a:r>
            <a:endParaRPr lang="en-US" sz="1100" dirty="0"/>
          </a:p>
        </p:txBody>
      </p:sp>
      <p:sp>
        <p:nvSpPr>
          <p:cNvPr id="36" name="Shape 34"/>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37" name="Shape 35"/>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8" name="Text 36"/>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39" name="Shape 37"/>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40" name="Text 38"/>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41" name="Shape 39"/>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42" name="Text 40"/>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43" name="Shape 41"/>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44" name="Text 42"/>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45" name="Text 43"/>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1  —  INDIVIDUAL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RESEARCH METHODS ERRORS</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Code sharing mandates</a:t>
            </a:r>
            <a:endParaRPr lang="en-US" sz="1200" dirty="0"/>
          </a:p>
        </p:txBody>
      </p:sp>
      <p:sp>
        <p:nvSpPr>
          <p:cNvPr id="10" name="Text 8"/>
          <p:cNvSpPr/>
          <p:nvPr/>
        </p:nvSpPr>
        <p:spPr>
          <a:xfrm>
            <a:off x="640080" y="1700784"/>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NIH &amp; NSF (2023): federally funded research must deposit executable code alongside data at publication.</a:t>
            </a:r>
            <a:endParaRPr lang="en-US" sz="1050" dirty="0"/>
          </a:p>
        </p:txBody>
      </p:sp>
      <p:sp>
        <p:nvSpPr>
          <p:cNvPr id="11" name="Shape 9"/>
          <p:cNvSpPr/>
          <p:nvPr/>
        </p:nvSpPr>
        <p:spPr>
          <a:xfrm>
            <a:off x="438912" y="239572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52374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48716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Software citation standards</a:t>
            </a:r>
            <a:endParaRPr lang="en-US" sz="1200" dirty="0"/>
          </a:p>
        </p:txBody>
      </p:sp>
      <p:sp>
        <p:nvSpPr>
          <p:cNvPr id="14" name="Text 12"/>
          <p:cNvSpPr/>
          <p:nvPr/>
        </p:nvSpPr>
        <p:spPr>
          <a:xfrm>
            <a:off x="640080" y="2798064"/>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FORCE11 (2016): code and data treated as citable outputs with persistent DOIs — creates an accountability trail for each version.</a:t>
            </a:r>
            <a:endParaRPr lang="en-US" sz="1050" dirty="0"/>
          </a:p>
        </p:txBody>
      </p:sp>
      <p:sp>
        <p:nvSpPr>
          <p:cNvPr id="15" name="Shape 13"/>
          <p:cNvSpPr/>
          <p:nvPr/>
        </p:nvSpPr>
        <p:spPr>
          <a:xfrm>
            <a:off x="438912" y="349300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38912" y="362102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640080" y="35844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Gentzkow &amp; Shapiro guide (2014)</a:t>
            </a:r>
            <a:endParaRPr lang="en-US" sz="1200" dirty="0"/>
          </a:p>
        </p:txBody>
      </p:sp>
      <p:sp>
        <p:nvSpPr>
          <p:cNvPr id="18" name="Text 16"/>
          <p:cNvSpPr/>
          <p:nvPr/>
        </p:nvSpPr>
        <p:spPr>
          <a:xfrm>
            <a:off x="640080" y="3791712"/>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Code and Data for the Social Sciences: canonical practitioner reference on automation, version control, and abstraction.</a:t>
            </a:r>
            <a:endParaRPr lang="en-US" sz="1050" dirty="0"/>
          </a:p>
        </p:txBody>
      </p:sp>
      <p:sp>
        <p:nvSpPr>
          <p:cNvPr id="19" name="Shape 17"/>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Containerised environments</a:t>
            </a:r>
            <a:endParaRPr lang="en-US" sz="1200" dirty="0"/>
          </a:p>
        </p:txBody>
      </p:sp>
      <p:sp>
        <p:nvSpPr>
          <p:cNvPr id="22" name="Text 20"/>
          <p:cNvSpPr/>
          <p:nvPr/>
        </p:nvSpPr>
        <p:spPr>
          <a:xfrm>
            <a:off x="5001768" y="1700784"/>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Code Ocean / Binder (2017–): sealed compute capsules preserve exact software environment; results reproducible years later on any machine.</a:t>
            </a:r>
            <a:endParaRPr lang="en-US" sz="1050" dirty="0"/>
          </a:p>
        </p:txBody>
      </p:sp>
      <p:sp>
        <p:nvSpPr>
          <p:cNvPr id="23" name="Shape 21"/>
          <p:cNvSpPr/>
          <p:nvPr/>
        </p:nvSpPr>
        <p:spPr>
          <a:xfrm>
            <a:off x="4800600" y="2395728"/>
            <a:ext cx="4160520" cy="0"/>
          </a:xfrm>
          <a:prstGeom prst="line">
            <a:avLst/>
          </a:prstGeom>
          <a:noFill/>
          <a:ln w="9525">
            <a:solidFill>
              <a:srgbClr val="CCCCCC"/>
            </a:solidFill>
            <a:prstDash val="solid"/>
          </a:ln>
        </p:spPr>
        <p:txBody>
          <a:bodyPr/>
          <a:lstStyle/>
          <a:p>
            <a:endParaRPr lang="en-US"/>
          </a:p>
        </p:txBody>
      </p:sp>
      <p:sp>
        <p:nvSpPr>
          <p:cNvPr id="24" name="Shape 22"/>
          <p:cNvSpPr/>
          <p:nvPr/>
        </p:nvSpPr>
        <p:spPr>
          <a:xfrm>
            <a:off x="4800600" y="2523744"/>
            <a:ext cx="100584" cy="100584"/>
          </a:xfrm>
          <a:prstGeom prst="rect">
            <a:avLst/>
          </a:prstGeom>
          <a:solidFill>
            <a:srgbClr val="111111"/>
          </a:solidFill>
          <a:ln w="12700">
            <a:solidFill>
              <a:srgbClr val="111111"/>
            </a:solidFill>
            <a:prstDash val="solid"/>
          </a:ln>
        </p:spPr>
        <p:txBody>
          <a:bodyPr/>
          <a:lstStyle/>
          <a:p>
            <a:endParaRPr lang="en-US"/>
          </a:p>
        </p:txBody>
      </p:sp>
      <p:sp>
        <p:nvSpPr>
          <p:cNvPr id="25" name="Text 23"/>
          <p:cNvSpPr/>
          <p:nvPr/>
        </p:nvSpPr>
        <p:spPr>
          <a:xfrm>
            <a:off x="5001768" y="248716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Unit testing norms</a:t>
            </a:r>
            <a:endParaRPr lang="en-US" sz="1200" dirty="0"/>
          </a:p>
        </p:txBody>
      </p:sp>
      <p:sp>
        <p:nvSpPr>
          <p:cNvPr id="26" name="Text 24"/>
          <p:cNvSpPr/>
          <p:nvPr/>
        </p:nvSpPr>
        <p:spPr>
          <a:xfrm>
            <a:off x="5001768" y="2798064"/>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Automated regression tests catch downstream breaks when upstream components change; standard in software, increasingly adopted in research.</a:t>
            </a:r>
            <a:endParaRPr lang="en-US" sz="1050" dirty="0"/>
          </a:p>
        </p:txBody>
      </p:sp>
      <p:sp>
        <p:nvSpPr>
          <p:cNvPr id="27" name="Shape 25"/>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8" name="Shape 26"/>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30" name="Shape 28"/>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32" name="Shape 30"/>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3" name="Text 31"/>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4" name="Shape 32"/>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5" name="Text 33"/>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6" name="Text 34"/>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75628"/>
            <a:ext cx="8321040" cy="320040"/>
          </a:xfrm>
          <a:prstGeom prst="rect">
            <a:avLst/>
          </a:prstGeom>
          <a:noFill/>
          <a:ln/>
        </p:spPr>
        <p:txBody>
          <a:bodyPr wrap="square" lIns="0" tIns="0" rIns="0" bIns="0" rtlCol="0" anchor="ctr"/>
          <a:lstStyle/>
          <a:p>
            <a:pPr marL="0" indent="0">
              <a:buNone/>
            </a:pPr>
            <a:r>
              <a:rPr lang="en-US" sz="3200" kern="0" spc="500" dirty="0">
                <a:solidFill>
                  <a:srgbClr val="999999"/>
                </a:solidFill>
                <a:latin typeface="Aptos Black" panose="020B0004020202020204" pitchFamily="34" charset="0"/>
                <a:ea typeface="Calibri" pitchFamily="34" charset="-122"/>
                <a:cs typeface="Calibri" pitchFamily="34" charset="-120"/>
              </a:rPr>
              <a:t>TIER</a:t>
            </a:r>
            <a:r>
              <a:rPr lang="en-US" sz="2800" kern="0" spc="500" dirty="0">
                <a:solidFill>
                  <a:srgbClr val="999999"/>
                </a:solidFill>
                <a:latin typeface="Aptos Black" panose="020B0004020202020204" pitchFamily="34" charset="0"/>
                <a:ea typeface="Calibri" pitchFamily="34" charset="-122"/>
                <a:cs typeface="Calibri" pitchFamily="34" charset="-120"/>
              </a:rPr>
              <a:t> 2A</a:t>
            </a:r>
            <a:endParaRPr lang="en-US" sz="2800" dirty="0">
              <a:latin typeface="Aptos Black" panose="020B0004020202020204" pitchFamily="34" charset="0"/>
            </a:endParaRPr>
          </a:p>
        </p:txBody>
      </p:sp>
      <p:sp>
        <p:nvSpPr>
          <p:cNvPr id="4" name="Shape 2"/>
          <p:cNvSpPr/>
          <p:nvPr/>
        </p:nvSpPr>
        <p:spPr>
          <a:xfrm>
            <a:off x="438912" y="932688"/>
            <a:ext cx="1280160" cy="0"/>
          </a:xfrm>
          <a:prstGeom prst="line">
            <a:avLst/>
          </a:prstGeom>
          <a:noFill/>
          <a:ln w="25400">
            <a:solidFill>
              <a:srgbClr val="111111"/>
            </a:solidFill>
            <a:prstDash val="solid"/>
          </a:ln>
        </p:spPr>
        <p:txBody>
          <a:bodyPr/>
          <a:lstStyle/>
          <a:p>
            <a:endParaRPr lang="en-US"/>
          </a:p>
        </p:txBody>
      </p:sp>
      <p:sp>
        <p:nvSpPr>
          <p:cNvPr id="5" name="Text 3"/>
          <p:cNvSpPr/>
          <p:nvPr/>
        </p:nvSpPr>
        <p:spPr>
          <a:xfrm>
            <a:off x="438912" y="918971"/>
            <a:ext cx="8321040" cy="2011680"/>
          </a:xfrm>
          <a:prstGeom prst="rect">
            <a:avLst/>
          </a:prstGeom>
          <a:noFill/>
          <a:ln/>
        </p:spPr>
        <p:txBody>
          <a:bodyPr wrap="square" lIns="0" tIns="0" rIns="0" bIns="0" rtlCol="0" anchor="ctr"/>
          <a:lstStyle/>
          <a:p>
            <a:pPr marL="0" indent="0">
              <a:lnSpc>
                <a:spcPct val="115000"/>
              </a:lnSpc>
              <a:buNone/>
            </a:pPr>
            <a:r>
              <a:rPr lang="en-US" sz="4400" b="1" dirty="0">
                <a:solidFill>
                  <a:srgbClr val="111111"/>
                </a:solidFill>
                <a:latin typeface="Calibri" pitchFamily="34" charset="0"/>
                <a:ea typeface="Calibri" pitchFamily="34" charset="-122"/>
                <a:cs typeface="Calibri" pitchFamily="34" charset="-120"/>
              </a:rPr>
              <a:t>Team-level </a:t>
            </a:r>
          </a:p>
          <a:p>
            <a:pPr marL="0" indent="0">
              <a:lnSpc>
                <a:spcPct val="115000"/>
              </a:lnSpc>
              <a:buNone/>
            </a:pPr>
            <a:r>
              <a:rPr lang="en-US" sz="4400" b="1" dirty="0">
                <a:solidFill>
                  <a:srgbClr val="111111"/>
                </a:solidFill>
                <a:latin typeface="Calibri" pitchFamily="34" charset="0"/>
                <a:ea typeface="Calibri" pitchFamily="34" charset="-122"/>
                <a:cs typeface="Calibri" pitchFamily="34" charset="-120"/>
              </a:rPr>
              <a:t>analytic issues</a:t>
            </a:r>
            <a:endParaRPr lang="en-US" sz="4400" dirty="0"/>
          </a:p>
        </p:txBody>
      </p:sp>
      <p:sp>
        <p:nvSpPr>
          <p:cNvPr id="6" name="Shape 4"/>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COLLABORATIVE PIPELINE FAILURE</a:t>
            </a:r>
            <a:endParaRPr lang="en-US" sz="800" dirty="0"/>
          </a:p>
        </p:txBody>
      </p:sp>
      <p:sp>
        <p:nvSpPr>
          <p:cNvPr id="5" name="Text 3"/>
          <p:cNvSpPr/>
          <p:nvPr/>
        </p:nvSpPr>
        <p:spPr>
          <a:xfrm>
            <a:off x="420624" y="147687"/>
            <a:ext cx="6400800" cy="1463040"/>
          </a:xfrm>
          <a:prstGeom prst="rect">
            <a:avLst/>
          </a:prstGeom>
          <a:noFill/>
          <a:ln/>
        </p:spPr>
        <p:txBody>
          <a:bodyPr wrap="square" lIns="0" tIns="0" rIns="0" bIns="0" rtlCol="0" anchor="ctr"/>
          <a:lstStyle/>
          <a:p>
            <a:pPr marL="0" indent="0">
              <a:buNone/>
            </a:pPr>
            <a:r>
              <a:rPr lang="en-US" sz="3200" b="1" dirty="0">
                <a:solidFill>
                  <a:srgbClr val="111111"/>
                </a:solidFill>
                <a:latin typeface="Calibri" pitchFamily="34" charset="0"/>
                <a:ea typeface="Calibri" pitchFamily="34" charset="-122"/>
                <a:cs typeface="Calibri" pitchFamily="34" charset="-120"/>
              </a:rPr>
              <a:t>COLLABORATIVE PIPELINE FAILURE</a:t>
            </a:r>
            <a:endParaRPr lang="en-US" sz="26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463040"/>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Errors emerge from handoffs between team members working on interdependent data, code, and models. A change in one component cascades downstream. Most common when inexperienced members (RAs, grad students) build the pipeline without coordination systems. Described by Gentzkow &amp; Shapiro (2014).</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NARPS (2020, NATURE)</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70 teams,</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same data</a:t>
            </a:r>
            <a:endParaRPr lang="en-US" sz="2000" dirty="0"/>
          </a:p>
        </p:txBody>
      </p:sp>
      <p:sp>
        <p:nvSpPr>
          <p:cNvPr id="12" name="Text 10"/>
          <p:cNvSpPr/>
          <p:nvPr/>
        </p:nvSpPr>
        <p:spPr>
          <a:xfrm>
            <a:off x="5943600" y="2743200"/>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Divergent conclusions on 5 of 9 hypotheses. Teams using identical data reached opposite significant results — a direct consequence of analytic pipeline flexibility.</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22" name="Text 2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1 / 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COLLABORATIVE PIPELINE FAILURE</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NARPS (Botvinik-Nezer et al. 2020, Nature)</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70 independent teams, same brain imaging data → divergent conclusions on 5 of 9 hypotheses. Same freedom of pipeline choice produced opposite significant results.</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Gentzkow &amp; Shapiro (2014)</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Catalogue of real project failures: code calling moved files, inconsistent sample definitions across scripts, RA directories impossible to reverse-engineer months later.</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Brodeur et al. (IZA 2023)</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Pipeline and environment failures common even in packages explicitly described as computationally reproducible by the submitting authors.</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AlphaChip controversy (2024, Comms ACM)</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Data leakage, inconsistent environments, and undisclosed software versions; benchmark performance not reproducible by independent groups.</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2 / 4</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COLLABORATIVE PIPELINE FAILURE</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Push-button reproducibility tests</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Delete all outputs; re-run from raw data to final tables with a single command. Any deviation surfaces a handoff error.</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Pull-request diff review</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No direct commits to shared codebase without a peer approving the change; diff view makes downstream effects of any change explicit.</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targets / drake (R, 2018–)</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Declarative dependency graphs track which outputs are out of date when inputs change; only affected components are re-run.</a:t>
            </a:r>
            <a:endParaRPr lang="en-US" sz="1100" dirty="0"/>
          </a:p>
        </p:txBody>
      </p:sp>
      <p:sp>
        <p:nvSpPr>
          <p:cNvPr id="24" name="Shape 22"/>
          <p:cNvSpPr/>
          <p:nvPr/>
        </p:nvSpPr>
        <p:spPr>
          <a:xfrm>
            <a:off x="438912" y="3273552"/>
            <a:ext cx="8321040" cy="0"/>
          </a:xfrm>
          <a:prstGeom prst="line">
            <a:avLst/>
          </a:prstGeom>
          <a:noFill/>
          <a:ln w="6350">
            <a:solidFill>
              <a:srgbClr val="E8E8E8"/>
            </a:solidFill>
            <a:prstDash val="solid"/>
          </a:ln>
        </p:spPr>
        <p:txBody>
          <a:bodyPr/>
          <a:lstStyle/>
          <a:p>
            <a:endParaRPr lang="en-US"/>
          </a:p>
        </p:txBody>
      </p:sp>
      <p:sp>
        <p:nvSpPr>
          <p:cNvPr id="25" name="Text 23"/>
          <p:cNvSpPr/>
          <p:nvPr/>
        </p:nvSpPr>
        <p:spPr>
          <a:xfrm>
            <a:off x="438912" y="3355848"/>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04</a:t>
            </a:r>
            <a:endParaRPr lang="en-US" sz="2000" dirty="0"/>
          </a:p>
        </p:txBody>
      </p:sp>
      <p:sp>
        <p:nvSpPr>
          <p:cNvPr id="26" name="Shape 24"/>
          <p:cNvSpPr/>
          <p:nvPr/>
        </p:nvSpPr>
        <p:spPr>
          <a:xfrm>
            <a:off x="950976" y="3392424"/>
            <a:ext cx="0" cy="502920"/>
          </a:xfrm>
          <a:prstGeom prst="line">
            <a:avLst/>
          </a:prstGeom>
          <a:noFill/>
          <a:ln w="6350">
            <a:solidFill>
              <a:srgbClr val="CCCCCC"/>
            </a:solidFill>
            <a:prstDash val="solid"/>
          </a:ln>
        </p:spPr>
        <p:txBody>
          <a:bodyPr/>
          <a:lstStyle/>
          <a:p>
            <a:endParaRPr lang="en-US"/>
          </a:p>
        </p:txBody>
      </p:sp>
      <p:sp>
        <p:nvSpPr>
          <p:cNvPr id="27" name="Text 25"/>
          <p:cNvSpPr/>
          <p:nvPr/>
        </p:nvSpPr>
        <p:spPr>
          <a:xfrm>
            <a:off x="1097280" y="3355848"/>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Environment audit (renv / Docker)</a:t>
            </a:r>
            <a:endParaRPr lang="en-US" sz="1200" dirty="0"/>
          </a:p>
        </p:txBody>
      </p:sp>
      <p:sp>
        <p:nvSpPr>
          <p:cNvPr id="28" name="Shape 26"/>
          <p:cNvSpPr/>
          <p:nvPr/>
        </p:nvSpPr>
        <p:spPr>
          <a:xfrm>
            <a:off x="3401568" y="3392424"/>
            <a:ext cx="0" cy="502920"/>
          </a:xfrm>
          <a:prstGeom prst="line">
            <a:avLst/>
          </a:prstGeom>
          <a:noFill/>
          <a:ln w="6350">
            <a:solidFill>
              <a:srgbClr val="E8E8E8"/>
            </a:solidFill>
            <a:prstDash val="solid"/>
          </a:ln>
        </p:spPr>
        <p:txBody>
          <a:bodyPr/>
          <a:lstStyle/>
          <a:p>
            <a:endParaRPr lang="en-US"/>
          </a:p>
        </p:txBody>
      </p:sp>
      <p:sp>
        <p:nvSpPr>
          <p:cNvPr id="29" name="Text 27"/>
          <p:cNvSpPr/>
          <p:nvPr/>
        </p:nvSpPr>
        <p:spPr>
          <a:xfrm>
            <a:off x="3566160" y="3355848"/>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Verify software stack — packages, versions, OS — matches exactly what was used in the analysis that produced the reported results.</a:t>
            </a:r>
            <a:endParaRPr lang="en-US" sz="1100" dirty="0"/>
          </a:p>
        </p:txBody>
      </p:sp>
      <p:sp>
        <p:nvSpPr>
          <p:cNvPr id="30" name="Shape 28"/>
          <p:cNvSpPr/>
          <p:nvPr/>
        </p:nvSpPr>
        <p:spPr>
          <a:xfrm>
            <a:off x="438912" y="3941064"/>
            <a:ext cx="8321040" cy="0"/>
          </a:xfrm>
          <a:prstGeom prst="line">
            <a:avLst/>
          </a:prstGeom>
          <a:noFill/>
          <a:ln w="6350">
            <a:solidFill>
              <a:srgbClr val="E8E8E8"/>
            </a:solidFill>
            <a:prstDash val="solid"/>
          </a:ln>
        </p:spPr>
        <p:txBody>
          <a:bodyPr/>
          <a:lstStyle/>
          <a:p>
            <a:endParaRPr lang="en-US"/>
          </a:p>
        </p:txBody>
      </p:sp>
      <p:sp>
        <p:nvSpPr>
          <p:cNvPr id="31" name="Text 29"/>
          <p:cNvSpPr/>
          <p:nvPr/>
        </p:nvSpPr>
        <p:spPr>
          <a:xfrm>
            <a:off x="438912" y="4023360"/>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05</a:t>
            </a:r>
            <a:endParaRPr lang="en-US" sz="2000" dirty="0"/>
          </a:p>
        </p:txBody>
      </p:sp>
      <p:sp>
        <p:nvSpPr>
          <p:cNvPr id="32" name="Shape 30"/>
          <p:cNvSpPr/>
          <p:nvPr/>
        </p:nvSpPr>
        <p:spPr>
          <a:xfrm>
            <a:off x="950976" y="4059936"/>
            <a:ext cx="0" cy="502920"/>
          </a:xfrm>
          <a:prstGeom prst="line">
            <a:avLst/>
          </a:prstGeom>
          <a:noFill/>
          <a:ln w="6350">
            <a:solidFill>
              <a:srgbClr val="CCCCCC"/>
            </a:solidFill>
            <a:prstDash val="solid"/>
          </a:ln>
        </p:spPr>
        <p:txBody>
          <a:bodyPr/>
          <a:lstStyle/>
          <a:p>
            <a:endParaRPr lang="en-US"/>
          </a:p>
        </p:txBody>
      </p:sp>
      <p:sp>
        <p:nvSpPr>
          <p:cNvPr id="33" name="Text 31"/>
          <p:cNvSpPr/>
          <p:nvPr/>
        </p:nvSpPr>
        <p:spPr>
          <a:xfrm>
            <a:off x="1097280" y="4023360"/>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Data manifest / provenance logs</a:t>
            </a:r>
            <a:endParaRPr lang="en-US" sz="1200" dirty="0"/>
          </a:p>
        </p:txBody>
      </p:sp>
      <p:sp>
        <p:nvSpPr>
          <p:cNvPr id="34" name="Shape 32"/>
          <p:cNvSpPr/>
          <p:nvPr/>
        </p:nvSpPr>
        <p:spPr>
          <a:xfrm>
            <a:off x="3401568" y="4059936"/>
            <a:ext cx="0" cy="502920"/>
          </a:xfrm>
          <a:prstGeom prst="line">
            <a:avLst/>
          </a:prstGeom>
          <a:noFill/>
          <a:ln w="6350">
            <a:solidFill>
              <a:srgbClr val="E8E8E8"/>
            </a:solidFill>
            <a:prstDash val="solid"/>
          </a:ln>
        </p:spPr>
        <p:txBody>
          <a:bodyPr/>
          <a:lstStyle/>
          <a:p>
            <a:endParaRPr lang="en-US"/>
          </a:p>
        </p:txBody>
      </p:sp>
      <p:sp>
        <p:nvSpPr>
          <p:cNvPr id="35" name="Text 33"/>
          <p:cNvSpPr/>
          <p:nvPr/>
        </p:nvSpPr>
        <p:spPr>
          <a:xfrm>
            <a:off x="3566160" y="4023360"/>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Record all transformations applied to each data file; enables pinpointing exactly where a discrepancy was introduced.</a:t>
            </a:r>
            <a:endParaRPr lang="en-US" sz="1100" dirty="0"/>
          </a:p>
        </p:txBody>
      </p:sp>
      <p:sp>
        <p:nvSpPr>
          <p:cNvPr id="36" name="Shape 34"/>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37" name="Shape 35"/>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8" name="Text 36"/>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39" name="Shape 37"/>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40" name="Text 38"/>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41" name="Shape 39"/>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42" name="Text 40"/>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43" name="Shape 41"/>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44" name="Text 42"/>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45" name="Text 43"/>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COLLABORATIVE PIPELINE FAILURE</a:t>
            </a:r>
            <a:endParaRPr lang="en-US" sz="800" dirty="0"/>
          </a:p>
        </p:txBody>
      </p:sp>
      <p:sp>
        <p:nvSpPr>
          <p:cNvPr id="5" name="Text 3"/>
          <p:cNvSpPr/>
          <p:nvPr/>
        </p:nvSpPr>
        <p:spPr>
          <a:xfrm>
            <a:off x="438912" y="130924"/>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38912" y="725424"/>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109472"/>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237488"/>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200912"/>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Git / version control (~2012)</a:t>
            </a:r>
            <a:endParaRPr lang="en-US" sz="1200" dirty="0"/>
          </a:p>
        </p:txBody>
      </p:sp>
      <p:sp>
        <p:nvSpPr>
          <p:cNvPr id="10" name="Text 8"/>
          <p:cNvSpPr/>
          <p:nvPr/>
        </p:nvSpPr>
        <p:spPr>
          <a:xfrm>
            <a:off x="640080" y="1511808"/>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Every change to code or data is logged with author, timestamp, and message. Enables bisecting to find exactly when a bug was introduced.</a:t>
            </a:r>
            <a:endParaRPr lang="en-US" sz="1050" dirty="0"/>
          </a:p>
        </p:txBody>
      </p:sp>
      <p:sp>
        <p:nvSpPr>
          <p:cNvPr id="11" name="Shape 9"/>
          <p:cNvSpPr/>
          <p:nvPr/>
        </p:nvSpPr>
        <p:spPr>
          <a:xfrm>
            <a:off x="438912" y="2206752"/>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334768"/>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298192"/>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targets / drake pipeline tools</a:t>
            </a:r>
            <a:endParaRPr lang="en-US" sz="1200" dirty="0"/>
          </a:p>
        </p:txBody>
      </p:sp>
      <p:sp>
        <p:nvSpPr>
          <p:cNvPr id="14" name="Text 12"/>
          <p:cNvSpPr/>
          <p:nvPr/>
        </p:nvSpPr>
        <p:spPr>
          <a:xfrm>
            <a:off x="640080" y="2609088"/>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R-ecosystem workflow managers (2018–): describe analysis as a directed graph; re-run only what is out of date after any change.</a:t>
            </a:r>
            <a:endParaRPr lang="en-US" sz="1050" dirty="0"/>
          </a:p>
        </p:txBody>
      </p:sp>
      <p:sp>
        <p:nvSpPr>
          <p:cNvPr id="15" name="Shape 13"/>
          <p:cNvSpPr/>
          <p:nvPr/>
        </p:nvSpPr>
        <p:spPr>
          <a:xfrm>
            <a:off x="438912" y="3304032"/>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38912" y="3432048"/>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640080" y="3395472"/>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Code Ocean / Snakemake / Nextflow</a:t>
            </a:r>
            <a:endParaRPr lang="en-US" sz="1200" dirty="0"/>
          </a:p>
        </p:txBody>
      </p:sp>
      <p:sp>
        <p:nvSpPr>
          <p:cNvPr id="18" name="Text 16"/>
          <p:cNvSpPr/>
          <p:nvPr/>
        </p:nvSpPr>
        <p:spPr>
          <a:xfrm>
            <a:off x="640080" y="3706368"/>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Push-button reproducibility capsules (Code Ocean 2017–) and workflow managers (Snakemake / Nextflow 2012–) widely used in bioinformatics and beyond.</a:t>
            </a:r>
            <a:endParaRPr lang="en-US" sz="1050" dirty="0"/>
          </a:p>
        </p:txBody>
      </p:sp>
      <p:sp>
        <p:nvSpPr>
          <p:cNvPr id="19" name="Shape 17"/>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1237488"/>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1200912"/>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Pull-request review workflow</a:t>
            </a:r>
            <a:endParaRPr lang="en-US" sz="1200" dirty="0"/>
          </a:p>
        </p:txBody>
      </p:sp>
      <p:sp>
        <p:nvSpPr>
          <p:cNvPr id="22" name="Text 20"/>
          <p:cNvSpPr/>
          <p:nvPr/>
        </p:nvSpPr>
        <p:spPr>
          <a:xfrm>
            <a:off x="5001768" y="1511808"/>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No direct commits to main branch without peer approval; forces explicit communication about what changed and why.</a:t>
            </a:r>
            <a:endParaRPr lang="en-US" sz="1050" dirty="0"/>
          </a:p>
        </p:txBody>
      </p:sp>
      <p:sp>
        <p:nvSpPr>
          <p:cNvPr id="23" name="Shape 21"/>
          <p:cNvSpPr/>
          <p:nvPr/>
        </p:nvSpPr>
        <p:spPr>
          <a:xfrm>
            <a:off x="4800600" y="2206752"/>
            <a:ext cx="4160520" cy="0"/>
          </a:xfrm>
          <a:prstGeom prst="line">
            <a:avLst/>
          </a:prstGeom>
          <a:noFill/>
          <a:ln w="9525">
            <a:solidFill>
              <a:srgbClr val="CCCCCC"/>
            </a:solidFill>
            <a:prstDash val="solid"/>
          </a:ln>
        </p:spPr>
        <p:txBody>
          <a:bodyPr/>
          <a:lstStyle/>
          <a:p>
            <a:endParaRPr lang="en-US"/>
          </a:p>
        </p:txBody>
      </p:sp>
      <p:sp>
        <p:nvSpPr>
          <p:cNvPr id="24" name="Shape 22"/>
          <p:cNvSpPr/>
          <p:nvPr/>
        </p:nvSpPr>
        <p:spPr>
          <a:xfrm>
            <a:off x="4800600" y="2334768"/>
            <a:ext cx="100584" cy="100584"/>
          </a:xfrm>
          <a:prstGeom prst="rect">
            <a:avLst/>
          </a:prstGeom>
          <a:solidFill>
            <a:srgbClr val="111111"/>
          </a:solidFill>
          <a:ln w="12700">
            <a:solidFill>
              <a:srgbClr val="111111"/>
            </a:solidFill>
            <a:prstDash val="solid"/>
          </a:ln>
        </p:spPr>
        <p:txBody>
          <a:bodyPr/>
          <a:lstStyle/>
          <a:p>
            <a:endParaRPr lang="en-US"/>
          </a:p>
        </p:txBody>
      </p:sp>
      <p:sp>
        <p:nvSpPr>
          <p:cNvPr id="25" name="Text 23"/>
          <p:cNvSpPr/>
          <p:nvPr/>
        </p:nvSpPr>
        <p:spPr>
          <a:xfrm>
            <a:off x="5001768" y="2298192"/>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DVC (Data Version Control, 2019–)</a:t>
            </a:r>
            <a:endParaRPr lang="en-US" sz="1200" dirty="0"/>
          </a:p>
        </p:txBody>
      </p:sp>
      <p:sp>
        <p:nvSpPr>
          <p:cNvPr id="26" name="Text 24"/>
          <p:cNvSpPr/>
          <p:nvPr/>
        </p:nvSpPr>
        <p:spPr>
          <a:xfrm>
            <a:off x="5001768" y="2609088"/>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Git-style versioning for large data files and ML pipelines; tracks data provenance alongside code.</a:t>
            </a:r>
            <a:endParaRPr lang="en-US" sz="1050" dirty="0"/>
          </a:p>
        </p:txBody>
      </p:sp>
      <p:sp>
        <p:nvSpPr>
          <p:cNvPr id="27" name="Shape 25"/>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8" name="Shape 26"/>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30" name="Shape 28"/>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32" name="Shape 30"/>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3" name="Text 31"/>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4" name="Shape 32"/>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5" name="Text 33"/>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6" name="Text 34"/>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P-HACKING / SELECTIVE REPORTING</a:t>
            </a:r>
            <a:endParaRPr lang="en-US" sz="800" dirty="0"/>
          </a:p>
        </p:txBody>
      </p:sp>
      <p:sp>
        <p:nvSpPr>
          <p:cNvPr id="5" name="Text 3"/>
          <p:cNvSpPr/>
          <p:nvPr/>
        </p:nvSpPr>
        <p:spPr>
          <a:xfrm>
            <a:off x="441960" y="77584"/>
            <a:ext cx="6827520" cy="1463040"/>
          </a:xfrm>
          <a:prstGeom prst="rect">
            <a:avLst/>
          </a:prstGeom>
          <a:noFill/>
          <a:ln/>
        </p:spPr>
        <p:txBody>
          <a:bodyPr wrap="square" lIns="0" tIns="0" rIns="0" bIns="0" rtlCol="0" anchor="ctr"/>
          <a:lstStyle/>
          <a:p>
            <a:pPr marL="0" indent="0">
              <a:buNone/>
            </a:pPr>
            <a:r>
              <a:rPr lang="en-US" sz="3200" b="1" dirty="0">
                <a:solidFill>
                  <a:srgbClr val="111111"/>
                </a:solidFill>
                <a:latin typeface="Calibri" pitchFamily="34" charset="0"/>
                <a:ea typeface="Calibri" pitchFamily="34" charset="-122"/>
                <a:cs typeface="Calibri" pitchFamily="34" charset="-120"/>
              </a:rPr>
              <a:t>P-HACKING / SELECTIVE REPORTING</a:t>
            </a:r>
            <a:endParaRPr lang="en-US" sz="26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463040"/>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Running many analyses and reporting only the significant ones; stopping data collection after reaching significance; covariate fishing; switching outcomes after seeing results. Produces a literature that overstates effect sizes and inflates false-positive rates.</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SELF-REPORTED BY RESEARCHERS</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58% of psychologists</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report ≥1 QRP</a:t>
            </a:r>
            <a:endParaRPr lang="en-US" sz="2000" dirty="0"/>
          </a:p>
        </p:txBody>
      </p:sp>
      <p:sp>
        <p:nvSpPr>
          <p:cNvPr id="12" name="Text 10"/>
          <p:cNvSpPr/>
          <p:nvPr/>
        </p:nvSpPr>
        <p:spPr>
          <a:xfrm>
            <a:off x="5943600" y="2743200"/>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The most common: continuing data collection after significant result in a subgroup; selectively reporting studies.</a:t>
            </a:r>
            <a:endParaRPr lang="en-US" sz="1050" dirty="0"/>
          </a:p>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(John et al. 2012, Psych Science)</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22" name="Text 2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1 / 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P-HACKING / SELECTIVE REPORTING</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John et al. (2012, Psych Science)</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Survey of psychologists: 58% self-reported at least one questionable research practice; 22% reported continuing data collection after a significant subgroup result.</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Simonsohn et al. (2014)</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p-curve applied to JPSP studies where post-hoc covariate inclusion was suspected produced flat/left-skewed distribution — indicating lack of evidential value.</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Masicampo &amp; Lalande (2012)</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Suspicious pileup of p-values just below .05 across psychology journals — probability near zero if results were genuine and unselected.</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Head et al. (2015, PLOS Bio)</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Excess just-significant p-values documented across many biological and social science fields — effect present even in top journals.</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P-HACKING / SELECTIVE REPORTING</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p-curve (Simonsohn et al. 2014)</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Distribution of significant p-values diagnoses evidential value vs. p-hacking; right-skew = real effects, left-skew / flat = p-hacking.</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statcheck (Nuijten et al. 2016)</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Automated extraction and recalculation of p-values; flags gross inconsistencies where the reported decision would change.</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Caliper test (Gerber &amp; Malhotra 2008)</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Tests for overrepresentation of results just below the significance threshold vs. just above — a direct signature of selective stopping.</a:t>
            </a:r>
            <a:endParaRPr lang="en-US" sz="1100" dirty="0"/>
          </a:p>
        </p:txBody>
      </p:sp>
      <p:sp>
        <p:nvSpPr>
          <p:cNvPr id="24" name="Shape 22"/>
          <p:cNvSpPr/>
          <p:nvPr/>
        </p:nvSpPr>
        <p:spPr>
          <a:xfrm>
            <a:off x="438912" y="3273552"/>
            <a:ext cx="8321040" cy="0"/>
          </a:xfrm>
          <a:prstGeom prst="line">
            <a:avLst/>
          </a:prstGeom>
          <a:noFill/>
          <a:ln w="6350">
            <a:solidFill>
              <a:srgbClr val="E8E8E8"/>
            </a:solidFill>
            <a:prstDash val="solid"/>
          </a:ln>
        </p:spPr>
        <p:txBody>
          <a:bodyPr/>
          <a:lstStyle/>
          <a:p>
            <a:endParaRPr lang="en-US"/>
          </a:p>
        </p:txBody>
      </p:sp>
      <p:sp>
        <p:nvSpPr>
          <p:cNvPr id="25" name="Text 23"/>
          <p:cNvSpPr/>
          <p:nvPr/>
        </p:nvSpPr>
        <p:spPr>
          <a:xfrm>
            <a:off x="438912" y="3355848"/>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04</a:t>
            </a:r>
            <a:endParaRPr lang="en-US" sz="2000" dirty="0"/>
          </a:p>
        </p:txBody>
      </p:sp>
      <p:sp>
        <p:nvSpPr>
          <p:cNvPr id="26" name="Shape 24"/>
          <p:cNvSpPr/>
          <p:nvPr/>
        </p:nvSpPr>
        <p:spPr>
          <a:xfrm>
            <a:off x="950976" y="3392424"/>
            <a:ext cx="0" cy="502920"/>
          </a:xfrm>
          <a:prstGeom prst="line">
            <a:avLst/>
          </a:prstGeom>
          <a:noFill/>
          <a:ln w="6350">
            <a:solidFill>
              <a:srgbClr val="CCCCCC"/>
            </a:solidFill>
            <a:prstDash val="solid"/>
          </a:ln>
        </p:spPr>
        <p:txBody>
          <a:bodyPr/>
          <a:lstStyle/>
          <a:p>
            <a:endParaRPr lang="en-US"/>
          </a:p>
        </p:txBody>
      </p:sp>
      <p:sp>
        <p:nvSpPr>
          <p:cNvPr id="27" name="Text 25"/>
          <p:cNvSpPr/>
          <p:nvPr/>
        </p:nvSpPr>
        <p:spPr>
          <a:xfrm>
            <a:off x="1097280" y="3355848"/>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z-curve 2.0 (Bartoš &amp; Schimmack 2022)</a:t>
            </a:r>
            <a:endParaRPr lang="en-US" sz="1200" dirty="0"/>
          </a:p>
        </p:txBody>
      </p:sp>
      <p:sp>
        <p:nvSpPr>
          <p:cNvPr id="28" name="Shape 26"/>
          <p:cNvSpPr/>
          <p:nvPr/>
        </p:nvSpPr>
        <p:spPr>
          <a:xfrm>
            <a:off x="3401568" y="3392424"/>
            <a:ext cx="0" cy="502920"/>
          </a:xfrm>
          <a:prstGeom prst="line">
            <a:avLst/>
          </a:prstGeom>
          <a:noFill/>
          <a:ln w="6350">
            <a:solidFill>
              <a:srgbClr val="E8E8E8"/>
            </a:solidFill>
            <a:prstDash val="solid"/>
          </a:ln>
        </p:spPr>
        <p:txBody>
          <a:bodyPr/>
          <a:lstStyle/>
          <a:p>
            <a:endParaRPr lang="en-US"/>
          </a:p>
        </p:txBody>
      </p:sp>
      <p:sp>
        <p:nvSpPr>
          <p:cNvPr id="29" name="Text 27"/>
          <p:cNvSpPr/>
          <p:nvPr/>
        </p:nvSpPr>
        <p:spPr>
          <a:xfrm>
            <a:off x="3566160" y="3355848"/>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Estimates replication and discovery rates from published z-value distributions; quantifies the expected false-positive rate in a literature.</a:t>
            </a:r>
            <a:endParaRPr lang="en-US" sz="1100" dirty="0"/>
          </a:p>
        </p:txBody>
      </p:sp>
      <p:sp>
        <p:nvSpPr>
          <p:cNvPr id="30" name="Shape 28"/>
          <p:cNvSpPr/>
          <p:nvPr/>
        </p:nvSpPr>
        <p:spPr>
          <a:xfrm>
            <a:off x="438912" y="3941064"/>
            <a:ext cx="8321040" cy="0"/>
          </a:xfrm>
          <a:prstGeom prst="line">
            <a:avLst/>
          </a:prstGeom>
          <a:noFill/>
          <a:ln w="6350">
            <a:solidFill>
              <a:srgbClr val="E8E8E8"/>
            </a:solidFill>
            <a:prstDash val="solid"/>
          </a:ln>
        </p:spPr>
        <p:txBody>
          <a:bodyPr/>
          <a:lstStyle/>
          <a:p>
            <a:endParaRPr lang="en-US"/>
          </a:p>
        </p:txBody>
      </p:sp>
      <p:sp>
        <p:nvSpPr>
          <p:cNvPr id="31" name="Text 29"/>
          <p:cNvSpPr/>
          <p:nvPr/>
        </p:nvSpPr>
        <p:spPr>
          <a:xfrm>
            <a:off x="438912" y="4023360"/>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05</a:t>
            </a:r>
            <a:endParaRPr lang="en-US" sz="2000" dirty="0"/>
          </a:p>
        </p:txBody>
      </p:sp>
      <p:sp>
        <p:nvSpPr>
          <p:cNvPr id="32" name="Shape 30"/>
          <p:cNvSpPr/>
          <p:nvPr/>
        </p:nvSpPr>
        <p:spPr>
          <a:xfrm>
            <a:off x="950976" y="4059936"/>
            <a:ext cx="0" cy="502920"/>
          </a:xfrm>
          <a:prstGeom prst="line">
            <a:avLst/>
          </a:prstGeom>
          <a:noFill/>
          <a:ln w="6350">
            <a:solidFill>
              <a:srgbClr val="CCCCCC"/>
            </a:solidFill>
            <a:prstDash val="solid"/>
          </a:ln>
        </p:spPr>
        <p:txBody>
          <a:bodyPr/>
          <a:lstStyle/>
          <a:p>
            <a:endParaRPr lang="en-US"/>
          </a:p>
        </p:txBody>
      </p:sp>
      <p:sp>
        <p:nvSpPr>
          <p:cNvPr id="33" name="Text 31"/>
          <p:cNvSpPr/>
          <p:nvPr/>
        </p:nvSpPr>
        <p:spPr>
          <a:xfrm>
            <a:off x="1097280" y="4023360"/>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Registered vs. published audit</a:t>
            </a:r>
            <a:endParaRPr lang="en-US" sz="1200" dirty="0"/>
          </a:p>
        </p:txBody>
      </p:sp>
      <p:sp>
        <p:nvSpPr>
          <p:cNvPr id="34" name="Shape 32"/>
          <p:cNvSpPr/>
          <p:nvPr/>
        </p:nvSpPr>
        <p:spPr>
          <a:xfrm>
            <a:off x="3401568" y="4059936"/>
            <a:ext cx="0" cy="502920"/>
          </a:xfrm>
          <a:prstGeom prst="line">
            <a:avLst/>
          </a:prstGeom>
          <a:noFill/>
          <a:ln w="6350">
            <a:solidFill>
              <a:srgbClr val="E8E8E8"/>
            </a:solidFill>
            <a:prstDash val="solid"/>
          </a:ln>
        </p:spPr>
        <p:txBody>
          <a:bodyPr/>
          <a:lstStyle/>
          <a:p>
            <a:endParaRPr lang="en-US"/>
          </a:p>
        </p:txBody>
      </p:sp>
      <p:sp>
        <p:nvSpPr>
          <p:cNvPr id="35" name="Text 33"/>
          <p:cNvSpPr/>
          <p:nvPr/>
        </p:nvSpPr>
        <p:spPr>
          <a:xfrm>
            <a:off x="3566160" y="4023360"/>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Compare pre-specified outcomes in trial registration or preregistration to outcomes actually reported in the paper.</a:t>
            </a:r>
            <a:endParaRPr lang="en-US" sz="1100" dirty="0"/>
          </a:p>
        </p:txBody>
      </p:sp>
      <p:sp>
        <p:nvSpPr>
          <p:cNvPr id="36" name="Shape 34"/>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37" name="Shape 35"/>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8" name="Text 36"/>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39" name="Shape 37"/>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40" name="Text 38"/>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41" name="Shape 39"/>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42" name="Text 40"/>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43" name="Shape 41"/>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44" name="Text 42"/>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45" name="Text 43"/>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P-HACKING / SELECTIVE REPORTING</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Preregistration (OSF 2013–)</a:t>
            </a:r>
            <a:endParaRPr lang="en-US" sz="1200" dirty="0"/>
          </a:p>
        </p:txBody>
      </p:sp>
      <p:sp>
        <p:nvSpPr>
          <p:cNvPr id="10" name="Text 8"/>
          <p:cNvSpPr/>
          <p:nvPr/>
        </p:nvSpPr>
        <p:spPr>
          <a:xfrm>
            <a:off x="640080"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Time-stamped, public registration of hypotheses and analysis plan before data collection; any deviation must be disclosed in the paper.</a:t>
            </a:r>
            <a:endParaRPr lang="en-US" sz="1050" dirty="0"/>
          </a:p>
        </p:txBody>
      </p:sp>
      <p:sp>
        <p:nvSpPr>
          <p:cNvPr id="11" name="Shape 9"/>
          <p:cNvSpPr/>
          <p:nvPr/>
        </p:nvSpPr>
        <p:spPr>
          <a:xfrm>
            <a:off x="438912" y="257860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ClinicalTrials.gov (2000–)</a:t>
            </a:r>
            <a:endParaRPr lang="en-US" sz="1200" dirty="0"/>
          </a:p>
        </p:txBody>
      </p:sp>
      <p:sp>
        <p:nvSpPr>
          <p:cNvPr id="14" name="Text 12"/>
          <p:cNvSpPr/>
          <p:nvPr/>
        </p:nvSpPr>
        <p:spPr>
          <a:xfrm>
            <a:off x="640080"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Mandatory registration of clinical trial primary outcomes before unblinding; FDA requires results reporting within 12 months of completion.</a:t>
            </a:r>
            <a:endParaRPr lang="en-US" sz="1050" dirty="0"/>
          </a:p>
        </p:txBody>
      </p:sp>
      <p:sp>
        <p:nvSpPr>
          <p:cNvPr id="15" name="Shape 13"/>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Registered Reports (2013–)</a:t>
            </a:r>
            <a:endParaRPr lang="en-US" sz="1200" dirty="0"/>
          </a:p>
        </p:txBody>
      </p:sp>
      <p:sp>
        <p:nvSpPr>
          <p:cNvPr id="18" name="Text 16"/>
          <p:cNvSpPr/>
          <p:nvPr/>
        </p:nvSpPr>
        <p:spPr>
          <a:xfrm>
            <a:off x="5001768"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Peer review and provisional acceptance before data collection; journal commits to publish regardless of results if design is sound.</a:t>
            </a:r>
            <a:endParaRPr lang="en-US" sz="1050" dirty="0"/>
          </a:p>
        </p:txBody>
      </p:sp>
      <p:sp>
        <p:nvSpPr>
          <p:cNvPr id="19" name="Shape 17"/>
          <p:cNvSpPr/>
          <p:nvPr/>
        </p:nvSpPr>
        <p:spPr>
          <a:xfrm>
            <a:off x="4800600" y="257860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AllTrials campaign (2013)</a:t>
            </a:r>
            <a:endParaRPr lang="en-US" sz="1200" dirty="0"/>
          </a:p>
        </p:txBody>
      </p:sp>
      <p:sp>
        <p:nvSpPr>
          <p:cNvPr id="22" name="Text 20"/>
          <p:cNvSpPr/>
          <p:nvPr/>
        </p:nvSpPr>
        <p:spPr>
          <a:xfrm>
            <a:off x="5001768"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Advocacy for full public reporting of all trial results, positive and null; supports regulatory access to unpublished data.</a:t>
            </a:r>
            <a:endParaRPr lang="en-US" sz="105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HARKING</a:t>
            </a:r>
            <a:endParaRPr lang="en-US" sz="800" dirty="0"/>
          </a:p>
        </p:txBody>
      </p:sp>
      <p:sp>
        <p:nvSpPr>
          <p:cNvPr id="5" name="Text 3"/>
          <p:cNvSpPr/>
          <p:nvPr/>
        </p:nvSpPr>
        <p:spPr>
          <a:xfrm>
            <a:off x="438912" y="319900"/>
            <a:ext cx="5074920" cy="1005840"/>
          </a:xfrm>
          <a:prstGeom prst="rect">
            <a:avLst/>
          </a:prstGeom>
          <a:noFill/>
          <a:ln/>
        </p:spPr>
        <p:txBody>
          <a:bodyPr wrap="square" lIns="0" tIns="0" rIns="0" bIns="0" rtlCol="0" anchor="ctr"/>
          <a:lstStyle/>
          <a:p>
            <a:pPr marL="0" indent="0">
              <a:buNone/>
            </a:pPr>
            <a:r>
              <a:rPr lang="en-US" sz="4200" b="1" dirty="0">
                <a:solidFill>
                  <a:srgbClr val="111111"/>
                </a:solidFill>
                <a:latin typeface="Calibri" pitchFamily="34" charset="0"/>
                <a:ea typeface="Calibri" pitchFamily="34" charset="-122"/>
                <a:cs typeface="Calibri" pitchFamily="34" charset="-120"/>
              </a:rPr>
              <a:t>HARKING</a:t>
            </a:r>
            <a:endParaRPr lang="en-US" sz="36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16736"/>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Hypothesising After Results are Known — presenting post-hoc hypotheses as if formulated before data collection. The introduction gets rewritten around what worked. Structurally indistinguishable from genuine prediction in the final paper.</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SELF-REPORTED PREVALENCE</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~43% of researchers</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have HARKed ≥ once</a:t>
            </a:r>
            <a:endParaRPr lang="en-US" sz="2000" dirty="0"/>
          </a:p>
        </p:txBody>
      </p:sp>
      <p:sp>
        <p:nvSpPr>
          <p:cNvPr id="12" name="Text 10"/>
          <p:cNvSpPr/>
          <p:nvPr/>
        </p:nvSpPr>
        <p:spPr>
          <a:xfrm>
            <a:off x="5943600" y="2743200"/>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Average across 6 survey studies. Many researchers do not recognise it as problematic because post-hoc theorising feels like a natural part of the scientific process.</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22" name="Text 2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1 / 4</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HARKING</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Kerr (1998)</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Coined the term; theoretical analysis of 12 costs of HARKing for scientific progress. The core problem: HARKed hypotheses receive unwarranted evidential weight.</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Review of 6 surveys (2017)</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Average of ~43% of psychologists self-reported HARKing at least once; true rate likely higher due to social desirability bias.</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O'Boyle et al. (2017)</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'Chrysalis effect': unconfirmed hypotheses are systematically removed between dissertation and published article — cleanly documented across matched pairs.</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OSC Reproducibility Project (2015)</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Lower replication success correlated with large effect sizes and surprising results — both characteristics of HARKed findings.</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2 / 4</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HARKING</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Registered vs. published comparison</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Compare hypotheses in preregistration or clinical trial registration to those in the published paper; any new hypothesis is flagged.</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Preprint timestamp audit</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Compare posted preprint (with introduction) to final submission; hypothesis changes visible in diff.</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No automated tool exists</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Detection requires process-level evidence — preregistrations, lab records, email trails. This is why preregistration is the primary remedy.</a:t>
            </a:r>
            <a:endParaRPr lang="en-US" sz="1100" dirty="0"/>
          </a:p>
        </p:txBody>
      </p:sp>
      <p:sp>
        <p:nvSpPr>
          <p:cNvPr id="24" name="Shape 22"/>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5" name="Shape 23"/>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6" name="Text 24"/>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7" name="Shape 25"/>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8" name="Text 26"/>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9" name="Shape 27"/>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0" name="Text 28"/>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31" name="Shape 29"/>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2" name="Text 30"/>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3" name="Text 31"/>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HARKING</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Preregistration (OSF 2013)</a:t>
            </a:r>
            <a:endParaRPr lang="en-US" sz="1200" dirty="0"/>
          </a:p>
        </p:txBody>
      </p:sp>
      <p:sp>
        <p:nvSpPr>
          <p:cNvPr id="10" name="Text 8"/>
          <p:cNvSpPr/>
          <p:nvPr/>
        </p:nvSpPr>
        <p:spPr>
          <a:xfrm>
            <a:off x="640080"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Time-stamped hypotheses make HARKing visible; any deviation from the registered plan must be disclosed as exploratory.</a:t>
            </a:r>
            <a:endParaRPr lang="en-US" sz="1050" dirty="0"/>
          </a:p>
        </p:txBody>
      </p:sp>
      <p:sp>
        <p:nvSpPr>
          <p:cNvPr id="11" name="Shape 9"/>
          <p:cNvSpPr/>
          <p:nvPr/>
        </p:nvSpPr>
        <p:spPr>
          <a:xfrm>
            <a:off x="438912" y="257860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Transparent changes protocol (OSF)</a:t>
            </a:r>
            <a:endParaRPr lang="en-US" sz="1200" dirty="0"/>
          </a:p>
        </p:txBody>
      </p:sp>
      <p:sp>
        <p:nvSpPr>
          <p:cNvPr id="14" name="Text 12"/>
          <p:cNvSpPr/>
          <p:nvPr/>
        </p:nvSpPr>
        <p:spPr>
          <a:xfrm>
            <a:off x="640080"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Structured disclosure form for any deviations from the preregistered plan; distinguishes confirmatory from exploratory analyses in the published paper.</a:t>
            </a:r>
            <a:endParaRPr lang="en-US" sz="1050" dirty="0"/>
          </a:p>
        </p:txBody>
      </p:sp>
      <p:sp>
        <p:nvSpPr>
          <p:cNvPr id="15" name="Shape 13"/>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Registered Reports (2013–)</a:t>
            </a:r>
            <a:endParaRPr lang="en-US" sz="1200" dirty="0"/>
          </a:p>
        </p:txBody>
      </p:sp>
      <p:sp>
        <p:nvSpPr>
          <p:cNvPr id="18" name="Text 16"/>
          <p:cNvSpPr/>
          <p:nvPr/>
        </p:nvSpPr>
        <p:spPr>
          <a:xfrm>
            <a:off x="5001768"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In-principle acceptance before data collection; journal commits to publish based on question and methods, not results — removes HARKing incentive entirely.</a:t>
            </a:r>
            <a:endParaRPr lang="en-US" sz="1050" dirty="0"/>
          </a:p>
        </p:txBody>
      </p:sp>
      <p:sp>
        <p:nvSpPr>
          <p:cNvPr id="19" name="Shape 17"/>
          <p:cNvSpPr/>
          <p:nvPr/>
        </p:nvSpPr>
        <p:spPr>
          <a:xfrm>
            <a:off x="4800600" y="257860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Exploratory / confirmatory distinction</a:t>
            </a:r>
            <a:endParaRPr lang="en-US" sz="1200" dirty="0"/>
          </a:p>
        </p:txBody>
      </p:sp>
      <p:sp>
        <p:nvSpPr>
          <p:cNvPr id="22" name="Text 20"/>
          <p:cNvSpPr/>
          <p:nvPr/>
        </p:nvSpPr>
        <p:spPr>
          <a:xfrm>
            <a:off x="5001768"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Journals increasingly require authors to explicitly label each analysis as pre-specified or exploratory — normalising post-hoc theorising as legitimate but labelled.</a:t>
            </a:r>
            <a:endParaRPr lang="en-US" sz="105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FRAGILE FINDINGS</a:t>
            </a:r>
            <a:endParaRPr lang="en-US" sz="800" dirty="0"/>
          </a:p>
        </p:txBody>
      </p:sp>
      <p:sp>
        <p:nvSpPr>
          <p:cNvPr id="5" name="Text 3"/>
          <p:cNvSpPr/>
          <p:nvPr/>
        </p:nvSpPr>
        <p:spPr>
          <a:xfrm>
            <a:off x="438911" y="-54864"/>
            <a:ext cx="8621961" cy="1463040"/>
          </a:xfrm>
          <a:prstGeom prst="rect">
            <a:avLst/>
          </a:prstGeom>
          <a:noFill/>
          <a:ln/>
        </p:spPr>
        <p:txBody>
          <a:bodyPr wrap="square" lIns="0" tIns="0" rIns="0" bIns="0" rtlCol="0" anchor="ctr"/>
          <a:lstStyle/>
          <a:p>
            <a:pPr marL="0" indent="0">
              <a:buNone/>
            </a:pPr>
            <a:r>
              <a:rPr lang="en-US" sz="3200" b="1" dirty="0">
                <a:solidFill>
                  <a:srgbClr val="111111"/>
                </a:solidFill>
                <a:latin typeface="Calibri" pitchFamily="34" charset="0"/>
                <a:ea typeface="Calibri" pitchFamily="34" charset="-122"/>
                <a:cs typeface="Calibri" pitchFamily="34" charset="-120"/>
              </a:rPr>
              <a:t>FRAGILE FINDINGS: </a:t>
            </a:r>
            <a:br>
              <a:rPr lang="en-US" sz="3200" b="1" dirty="0">
                <a:solidFill>
                  <a:srgbClr val="111111"/>
                </a:solidFill>
                <a:latin typeface="Calibri" pitchFamily="34" charset="0"/>
                <a:ea typeface="Calibri" pitchFamily="34" charset="-122"/>
                <a:cs typeface="Calibri" pitchFamily="34" charset="-120"/>
              </a:rPr>
            </a:br>
            <a:r>
              <a:rPr lang="en-US" sz="3200" b="1" dirty="0">
                <a:solidFill>
                  <a:srgbClr val="111111"/>
                </a:solidFill>
                <a:latin typeface="Calibri" pitchFamily="34" charset="0"/>
                <a:ea typeface="Calibri" pitchFamily="34" charset="-122"/>
                <a:cs typeface="Calibri" pitchFamily="34" charset="-120"/>
              </a:rPr>
              <a:t>RESEARCHER DEGREES OF FREEDOM</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463040"/>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Results that depend on arbitrary undisclosed analytic choices — which outliers to exclude, which covariates to include, how to operationalise variables. Technically honest but not robust. Gelman's 'garden of forking paths': researchers follow whichever path produces significance without conscious awareness of inflating false-positive rates.</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SILBERZAHN ET AL. 2018</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Effect size range:</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0.89 to 2.93</a:t>
            </a:r>
            <a:endParaRPr lang="en-US" sz="2000" dirty="0"/>
          </a:p>
        </p:txBody>
      </p:sp>
      <p:sp>
        <p:nvSpPr>
          <p:cNvPr id="12" name="Text 10"/>
          <p:cNvSpPr/>
          <p:nvPr/>
        </p:nvSpPr>
        <p:spPr>
          <a:xfrm>
            <a:off x="5943600" y="2743200"/>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29 teams, same soccer referee racial bias data. Every team used valid methods. The spread reflects legitimate analytic freedom — not error, not fraud.</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22" name="Text 2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1 / 4</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FRAGILE FINDINGS</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Silberzahn et al. (2018, AMPPS)</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29 independent teams, same data on soccer referee racial bias — effect size estimates ranged from 0.89 to 2.93 odds ratio. All used defensible methods.</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Orben &amp; Przybylski (2019)</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Multiverse analysis on screen time and wellbeing: effects ranged from trivially negative to trivially positive across defensible specifications.</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Patel et al. (2015)</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Vibration of effects in epidemiology: most published associations were highly sensitive to covariate choice — effect direction sometimes reversed.</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Simmons, Nelson &amp; Simonsohn (2011)</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'False-positive psychology': with legitimate-seeming flexibility, researchers can obtain a significant result for nearly any hypothesis.</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2 / 4</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FRAGILE FINDINGS</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Multiverse analysis (Steegen et al. 2016)</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Runs all defensible analytic specifications and displays the distribution of results — makes fragility visible without accusing the researcher of misconduct.</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Specification curve (Simonsohn et al. 2018)</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Plots all results from valid specifications with statistical tests; the median estimate across the curve is less biased than the published single choice.</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Vibration of effects (Patel et al. 2015)</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Systematically varies covariate sets to show how unstable an epidemiological association is across equally justified model choices.</a:t>
            </a:r>
            <a:endParaRPr lang="en-US" sz="1100" dirty="0"/>
          </a:p>
        </p:txBody>
      </p:sp>
      <p:sp>
        <p:nvSpPr>
          <p:cNvPr id="24" name="Shape 22"/>
          <p:cNvSpPr/>
          <p:nvPr/>
        </p:nvSpPr>
        <p:spPr>
          <a:xfrm>
            <a:off x="438912" y="3273552"/>
            <a:ext cx="8321040" cy="0"/>
          </a:xfrm>
          <a:prstGeom prst="line">
            <a:avLst/>
          </a:prstGeom>
          <a:noFill/>
          <a:ln w="6350">
            <a:solidFill>
              <a:srgbClr val="E8E8E8"/>
            </a:solidFill>
            <a:prstDash val="solid"/>
          </a:ln>
        </p:spPr>
        <p:txBody>
          <a:bodyPr/>
          <a:lstStyle/>
          <a:p>
            <a:endParaRPr lang="en-US"/>
          </a:p>
        </p:txBody>
      </p:sp>
      <p:sp>
        <p:nvSpPr>
          <p:cNvPr id="25" name="Text 23"/>
          <p:cNvSpPr/>
          <p:nvPr/>
        </p:nvSpPr>
        <p:spPr>
          <a:xfrm>
            <a:off x="438912" y="3355848"/>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04</a:t>
            </a:r>
            <a:endParaRPr lang="en-US" sz="2000" dirty="0"/>
          </a:p>
        </p:txBody>
      </p:sp>
      <p:sp>
        <p:nvSpPr>
          <p:cNvPr id="26" name="Shape 24"/>
          <p:cNvSpPr/>
          <p:nvPr/>
        </p:nvSpPr>
        <p:spPr>
          <a:xfrm>
            <a:off x="950976" y="3392424"/>
            <a:ext cx="0" cy="502920"/>
          </a:xfrm>
          <a:prstGeom prst="line">
            <a:avLst/>
          </a:prstGeom>
          <a:noFill/>
          <a:ln w="6350">
            <a:solidFill>
              <a:srgbClr val="CCCCCC"/>
            </a:solidFill>
            <a:prstDash val="solid"/>
          </a:ln>
        </p:spPr>
        <p:txBody>
          <a:bodyPr/>
          <a:lstStyle/>
          <a:p>
            <a:endParaRPr lang="en-US"/>
          </a:p>
        </p:txBody>
      </p:sp>
      <p:sp>
        <p:nvSpPr>
          <p:cNvPr id="27" name="Text 25"/>
          <p:cNvSpPr/>
          <p:nvPr/>
        </p:nvSpPr>
        <p:spPr>
          <a:xfrm>
            <a:off x="1097280" y="3355848"/>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Pre-specified sensitivity analyses</a:t>
            </a:r>
            <a:endParaRPr lang="en-US" sz="1200" dirty="0"/>
          </a:p>
        </p:txBody>
      </p:sp>
      <p:sp>
        <p:nvSpPr>
          <p:cNvPr id="28" name="Shape 26"/>
          <p:cNvSpPr/>
          <p:nvPr/>
        </p:nvSpPr>
        <p:spPr>
          <a:xfrm>
            <a:off x="3401568" y="3392424"/>
            <a:ext cx="0" cy="502920"/>
          </a:xfrm>
          <a:prstGeom prst="line">
            <a:avLst/>
          </a:prstGeom>
          <a:noFill/>
          <a:ln w="6350">
            <a:solidFill>
              <a:srgbClr val="E8E8E8"/>
            </a:solidFill>
            <a:prstDash val="solid"/>
          </a:ln>
        </p:spPr>
        <p:txBody>
          <a:bodyPr/>
          <a:lstStyle/>
          <a:p>
            <a:endParaRPr lang="en-US"/>
          </a:p>
        </p:txBody>
      </p:sp>
      <p:sp>
        <p:nvSpPr>
          <p:cNvPr id="29" name="Text 27"/>
          <p:cNvSpPr/>
          <p:nvPr/>
        </p:nvSpPr>
        <p:spPr>
          <a:xfrm>
            <a:off x="3566160" y="3355848"/>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Planned robustness checks committed to in advance; results must be reported regardless of whether they support the main finding.</a:t>
            </a:r>
            <a:endParaRPr lang="en-US" sz="1100" dirty="0"/>
          </a:p>
        </p:txBody>
      </p:sp>
      <p:sp>
        <p:nvSpPr>
          <p:cNvPr id="30" name="Shape 28"/>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31" name="Shape 29"/>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2" name="Text 30"/>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33" name="Shape 31"/>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4" name="Text 32"/>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35" name="Shape 33"/>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6" name="Text 34"/>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37" name="Shape 35"/>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8" name="Text 36"/>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9" name="Text 37"/>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FRAGILE FINDINGS</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Pre-specified analysis plans</a:t>
            </a:r>
            <a:endParaRPr lang="en-US" sz="1200" dirty="0"/>
          </a:p>
        </p:txBody>
      </p:sp>
      <p:sp>
        <p:nvSpPr>
          <p:cNvPr id="10" name="Text 8"/>
          <p:cNvSpPr/>
          <p:nvPr/>
        </p:nvSpPr>
        <p:spPr>
          <a:xfrm>
            <a:off x="640080"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Committing to exact analytic choices — outlier rules, covariates, operationalisations — before data collection or unblinding removes post-hoc flexibility.</a:t>
            </a:r>
            <a:endParaRPr lang="en-US" sz="1050" dirty="0"/>
          </a:p>
        </p:txBody>
      </p:sp>
      <p:sp>
        <p:nvSpPr>
          <p:cNvPr id="11" name="Shape 9"/>
          <p:cNvSpPr/>
          <p:nvPr/>
        </p:nvSpPr>
        <p:spPr>
          <a:xfrm>
            <a:off x="438912" y="257860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Open analysis code</a:t>
            </a:r>
            <a:endParaRPr lang="en-US" sz="1200" dirty="0"/>
          </a:p>
        </p:txBody>
      </p:sp>
      <p:sp>
        <p:nvSpPr>
          <p:cNvPr id="14" name="Text 12"/>
          <p:cNvSpPr/>
          <p:nvPr/>
        </p:nvSpPr>
        <p:spPr>
          <a:xfrm>
            <a:off x="640080"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Publishing full analysis code allows any reader to vary specifications and check robustness independently — the 'show your work' of quantitative science.</a:t>
            </a:r>
            <a:endParaRPr lang="en-US" sz="1050" dirty="0"/>
          </a:p>
        </p:txBody>
      </p:sp>
      <p:sp>
        <p:nvSpPr>
          <p:cNvPr id="15" name="Shape 13"/>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Robustness checks as field standard</a:t>
            </a:r>
            <a:endParaRPr lang="en-US" sz="1200" dirty="0"/>
          </a:p>
        </p:txBody>
      </p:sp>
      <p:sp>
        <p:nvSpPr>
          <p:cNvPr id="18" name="Text 16"/>
          <p:cNvSpPr/>
          <p:nvPr/>
        </p:nvSpPr>
        <p:spPr>
          <a:xfrm>
            <a:off x="5001768"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Journals increasingly require at least one alternative specification; results that only survive one narrow choice are flagged as fragile.</a:t>
            </a:r>
            <a:endParaRPr lang="en-US" sz="1050" dirty="0"/>
          </a:p>
        </p:txBody>
      </p:sp>
      <p:sp>
        <p:nvSpPr>
          <p:cNvPr id="19" name="Shape 17"/>
          <p:cNvSpPr/>
          <p:nvPr/>
        </p:nvSpPr>
        <p:spPr>
          <a:xfrm>
            <a:off x="4800600" y="257860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FAIR data principles (2016)</a:t>
            </a:r>
            <a:endParaRPr lang="en-US" sz="1200" dirty="0"/>
          </a:p>
        </p:txBody>
      </p:sp>
      <p:sp>
        <p:nvSpPr>
          <p:cNvPr id="22" name="Text 20"/>
          <p:cNvSpPr/>
          <p:nvPr/>
        </p:nvSpPr>
        <p:spPr>
          <a:xfrm>
            <a:off x="5001768"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Findable, Accessible, Interoperable, Reusable: if data and code are genuinely reusable, re-specification by anyone becomes practical.</a:t>
            </a:r>
            <a:endParaRPr lang="en-US" sz="105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PUBLICATION BIAS</a:t>
            </a:r>
            <a:endParaRPr lang="en-US" sz="800" dirty="0"/>
          </a:p>
        </p:txBody>
      </p:sp>
      <p:sp>
        <p:nvSpPr>
          <p:cNvPr id="5" name="Text 3"/>
          <p:cNvSpPr/>
          <p:nvPr/>
        </p:nvSpPr>
        <p:spPr>
          <a:xfrm>
            <a:off x="438912" y="-18288"/>
            <a:ext cx="6912864" cy="1463040"/>
          </a:xfrm>
          <a:prstGeom prst="rect">
            <a:avLst/>
          </a:prstGeom>
          <a:noFill/>
          <a:ln/>
        </p:spPr>
        <p:txBody>
          <a:bodyPr wrap="square" lIns="0" tIns="0" rIns="0" bIns="0" rtlCol="0" anchor="ctr"/>
          <a:lstStyle/>
          <a:p>
            <a:pPr marL="0" indent="0">
              <a:buNone/>
            </a:pPr>
            <a:r>
              <a:rPr lang="en-US" sz="3200" b="1" dirty="0">
                <a:solidFill>
                  <a:srgbClr val="111111"/>
                </a:solidFill>
                <a:latin typeface="Calibri" pitchFamily="34" charset="0"/>
                <a:ea typeface="Calibri" pitchFamily="34" charset="-122"/>
                <a:cs typeface="Calibri" pitchFamily="34" charset="-120"/>
              </a:rPr>
              <a:t>PUBLICATION BIAS (TEAM DECISIONS)</a:t>
            </a:r>
            <a:endParaRPr lang="en-US" sz="26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463040"/>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Research teams selectively submit significant results and file-drawer null findings. At the team level this is a decision, not merely a field norm. Creates inflated effect sizes in published literature and undermines the value of uncorrected meta-analyses.</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FRANCO ET AL. (2014, SCIENCE)</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68% of null results</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never written up</a:t>
            </a:r>
            <a:endParaRPr lang="en-US" sz="2000" dirty="0"/>
          </a:p>
        </p:txBody>
      </p:sp>
      <p:sp>
        <p:nvSpPr>
          <p:cNvPr id="12" name="Text 10"/>
          <p:cNvSpPr/>
          <p:nvPr/>
        </p:nvSpPr>
        <p:spPr>
          <a:xfrm>
            <a:off x="5943600" y="2743200"/>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Among TESS government survey experiments with pre-registered designs — showing bias is not just a journal decision but a researcher decision made before submission.</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22" name="Text 2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1 / 4</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PUBLICATION BIAS</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Sterling (1959)</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First documented: ~97% of published psychology results were statistically significant — a probability near zero if this reflected the true rate of real effects.</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Franco, Malhotra &amp; Simonovits (2014, Science)</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68% of null results from TESS survey experiments (with pre-registered designs) were never written up, compared to 97% of strong positive results.</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Scheel, Schijen &amp; Lakens (2021)</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96% of psychology papers report at least one statistically significant primary finding — consistent with massive selective submission, not selective journal acceptance alone.</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Fanelli (2010)</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Proportion of papers reporting 'positive' or 'expected' results increased over 20 years across disciplines in Scopus; largest increases in applied fields.</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2 / 4</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PUBLICATION BIAS</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Funnel plot / Egger test (1997)</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Detects asymmetry in meta-analytic effect size distributions indicating missing small-N null studies.</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Trim-and-fill (Duval &amp; Tweedie 2000)</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Imputes missing studies and re-estimates corrected effect size; widely used in Cochrane reviews.</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PET-PEESE (2008)</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Precision-effect meta-regression: models effect size as a function of standard error to separate genuine effects from publication-bias inflation.</a:t>
            </a:r>
            <a:endParaRPr lang="en-US" sz="1100" dirty="0"/>
          </a:p>
        </p:txBody>
      </p:sp>
      <p:sp>
        <p:nvSpPr>
          <p:cNvPr id="24" name="Shape 22"/>
          <p:cNvSpPr/>
          <p:nvPr/>
        </p:nvSpPr>
        <p:spPr>
          <a:xfrm>
            <a:off x="438912" y="3273552"/>
            <a:ext cx="8321040" cy="0"/>
          </a:xfrm>
          <a:prstGeom prst="line">
            <a:avLst/>
          </a:prstGeom>
          <a:noFill/>
          <a:ln w="6350">
            <a:solidFill>
              <a:srgbClr val="E8E8E8"/>
            </a:solidFill>
            <a:prstDash val="solid"/>
          </a:ln>
        </p:spPr>
        <p:txBody>
          <a:bodyPr/>
          <a:lstStyle/>
          <a:p>
            <a:endParaRPr lang="en-US"/>
          </a:p>
        </p:txBody>
      </p:sp>
      <p:sp>
        <p:nvSpPr>
          <p:cNvPr id="25" name="Text 23"/>
          <p:cNvSpPr/>
          <p:nvPr/>
        </p:nvSpPr>
        <p:spPr>
          <a:xfrm>
            <a:off x="438912" y="3355848"/>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04</a:t>
            </a:r>
            <a:endParaRPr lang="en-US" sz="2000" dirty="0"/>
          </a:p>
        </p:txBody>
      </p:sp>
      <p:sp>
        <p:nvSpPr>
          <p:cNvPr id="26" name="Shape 24"/>
          <p:cNvSpPr/>
          <p:nvPr/>
        </p:nvSpPr>
        <p:spPr>
          <a:xfrm>
            <a:off x="950976" y="3392424"/>
            <a:ext cx="0" cy="502920"/>
          </a:xfrm>
          <a:prstGeom prst="line">
            <a:avLst/>
          </a:prstGeom>
          <a:noFill/>
          <a:ln w="6350">
            <a:solidFill>
              <a:srgbClr val="CCCCCC"/>
            </a:solidFill>
            <a:prstDash val="solid"/>
          </a:ln>
        </p:spPr>
        <p:txBody>
          <a:bodyPr/>
          <a:lstStyle/>
          <a:p>
            <a:endParaRPr lang="en-US"/>
          </a:p>
        </p:txBody>
      </p:sp>
      <p:sp>
        <p:nvSpPr>
          <p:cNvPr id="27" name="Text 25"/>
          <p:cNvSpPr/>
          <p:nvPr/>
        </p:nvSpPr>
        <p:spPr>
          <a:xfrm>
            <a:off x="1097280" y="3355848"/>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TES excess significance (Ioannidis 2007)</a:t>
            </a:r>
            <a:endParaRPr lang="en-US" sz="1200" dirty="0"/>
          </a:p>
        </p:txBody>
      </p:sp>
      <p:sp>
        <p:nvSpPr>
          <p:cNvPr id="28" name="Shape 26"/>
          <p:cNvSpPr/>
          <p:nvPr/>
        </p:nvSpPr>
        <p:spPr>
          <a:xfrm>
            <a:off x="3401568" y="3392424"/>
            <a:ext cx="0" cy="502920"/>
          </a:xfrm>
          <a:prstGeom prst="line">
            <a:avLst/>
          </a:prstGeom>
          <a:noFill/>
          <a:ln w="6350">
            <a:solidFill>
              <a:srgbClr val="E8E8E8"/>
            </a:solidFill>
            <a:prstDash val="solid"/>
          </a:ln>
        </p:spPr>
        <p:txBody>
          <a:bodyPr/>
          <a:lstStyle/>
          <a:p>
            <a:endParaRPr lang="en-US"/>
          </a:p>
        </p:txBody>
      </p:sp>
      <p:sp>
        <p:nvSpPr>
          <p:cNvPr id="29" name="Text 27"/>
          <p:cNvSpPr/>
          <p:nvPr/>
        </p:nvSpPr>
        <p:spPr>
          <a:xfrm>
            <a:off x="3566160" y="3355848"/>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Compares expected to observed proportion of significant findings given estimated power; significant excess indicates file-drawer or p-hacking.</a:t>
            </a:r>
            <a:endParaRPr lang="en-US" sz="1100" dirty="0"/>
          </a:p>
        </p:txBody>
      </p:sp>
      <p:sp>
        <p:nvSpPr>
          <p:cNvPr id="30" name="Shape 28"/>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31" name="Shape 29"/>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2" name="Text 30"/>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33" name="Shape 31"/>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4" name="Text 32"/>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35" name="Shape 33"/>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6" name="Text 34"/>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37" name="Shape 35"/>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8" name="Text 36"/>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9" name="Text 37"/>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2A  —  TEAM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PUBLICATION BIAS</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Registered Reports (2013–)</a:t>
            </a:r>
            <a:endParaRPr lang="en-US" sz="1200" dirty="0"/>
          </a:p>
        </p:txBody>
      </p:sp>
      <p:sp>
        <p:nvSpPr>
          <p:cNvPr id="10" name="Text 8"/>
          <p:cNvSpPr/>
          <p:nvPr/>
        </p:nvSpPr>
        <p:spPr>
          <a:xfrm>
            <a:off x="640080"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Provisional acceptance before data collection removes post-hoc file-drawer decisions; paper is published regardless of results.</a:t>
            </a:r>
            <a:endParaRPr lang="en-US" sz="1050" dirty="0"/>
          </a:p>
        </p:txBody>
      </p:sp>
      <p:sp>
        <p:nvSpPr>
          <p:cNvPr id="11" name="Shape 9"/>
          <p:cNvSpPr/>
          <p:nvPr/>
        </p:nvSpPr>
        <p:spPr>
          <a:xfrm>
            <a:off x="438912" y="257860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Journals of null results</a:t>
            </a:r>
            <a:endParaRPr lang="en-US" sz="1200" dirty="0"/>
          </a:p>
        </p:txBody>
      </p:sp>
      <p:sp>
        <p:nvSpPr>
          <p:cNvPr id="14" name="Text 12"/>
          <p:cNvSpPr/>
          <p:nvPr/>
        </p:nvSpPr>
        <p:spPr>
          <a:xfrm>
            <a:off x="640080"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European Journal of Negative Results, Journal of Negative Results in Biomedicine: dedicated venues that eliminate the bar against null findings.</a:t>
            </a:r>
            <a:endParaRPr lang="en-US" sz="1050" dirty="0"/>
          </a:p>
        </p:txBody>
      </p:sp>
      <p:sp>
        <p:nvSpPr>
          <p:cNvPr id="15" name="Shape 13"/>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PLOS ONE outcomes-neutral review (2006)</a:t>
            </a:r>
            <a:endParaRPr lang="en-US" sz="1200" dirty="0"/>
          </a:p>
        </p:txBody>
      </p:sp>
      <p:sp>
        <p:nvSpPr>
          <p:cNvPr id="18" name="Text 16"/>
          <p:cNvSpPr/>
          <p:nvPr/>
        </p:nvSpPr>
        <p:spPr>
          <a:xfrm>
            <a:off x="5001768"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Accepts papers based on methodological quality alone, regardless of whether results are significant — first major journal to do so.</a:t>
            </a:r>
            <a:endParaRPr lang="en-US" sz="1050" dirty="0"/>
          </a:p>
        </p:txBody>
      </p:sp>
      <p:sp>
        <p:nvSpPr>
          <p:cNvPr id="19" name="Shape 17"/>
          <p:cNvSpPr/>
          <p:nvPr/>
        </p:nvSpPr>
        <p:spPr>
          <a:xfrm>
            <a:off x="4800600" y="257860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AllTrials / ClinicalTrials.gov</a:t>
            </a:r>
            <a:endParaRPr lang="en-US" sz="1200" dirty="0"/>
          </a:p>
        </p:txBody>
      </p:sp>
      <p:sp>
        <p:nvSpPr>
          <p:cNvPr id="22" name="Text 20"/>
          <p:cNvSpPr/>
          <p:nvPr/>
        </p:nvSpPr>
        <p:spPr>
          <a:xfrm>
            <a:off x="5001768"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AllTrials (2013) advocates for full public reporting of all results; ClinicalTrials.gov mandates results reporting within 12 months of completion.</a:t>
            </a:r>
            <a:endParaRPr lang="en-US" sz="105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582347" y="475628"/>
            <a:ext cx="8321040" cy="320040"/>
          </a:xfrm>
          <a:prstGeom prst="rect">
            <a:avLst/>
          </a:prstGeom>
          <a:noFill/>
          <a:ln/>
        </p:spPr>
        <p:txBody>
          <a:bodyPr wrap="square" lIns="0" tIns="0" rIns="0" bIns="0" rtlCol="0" anchor="ctr"/>
          <a:lstStyle/>
          <a:p>
            <a:pPr marL="0" indent="0">
              <a:buNone/>
            </a:pPr>
            <a:r>
              <a:rPr lang="en-US" sz="3200" kern="0" spc="500" dirty="0">
                <a:solidFill>
                  <a:srgbClr val="999999"/>
                </a:solidFill>
                <a:latin typeface="Aptos Black" panose="020B0004020202020204" pitchFamily="34" charset="0"/>
                <a:ea typeface="Calibri" pitchFamily="34" charset="-122"/>
                <a:cs typeface="Calibri" pitchFamily="34" charset="-120"/>
              </a:rPr>
              <a:t>TIER 2B</a:t>
            </a:r>
            <a:endParaRPr lang="en-US" sz="3200" dirty="0">
              <a:latin typeface="Aptos Black" panose="020B0004020202020204" pitchFamily="34" charset="0"/>
            </a:endParaRPr>
          </a:p>
        </p:txBody>
      </p:sp>
      <p:sp>
        <p:nvSpPr>
          <p:cNvPr id="4" name="Shape 2"/>
          <p:cNvSpPr/>
          <p:nvPr/>
        </p:nvSpPr>
        <p:spPr>
          <a:xfrm>
            <a:off x="438912" y="932688"/>
            <a:ext cx="1280160" cy="0"/>
          </a:xfrm>
          <a:prstGeom prst="line">
            <a:avLst/>
          </a:prstGeom>
          <a:noFill/>
          <a:ln w="25400">
            <a:solidFill>
              <a:srgbClr val="111111"/>
            </a:solidFill>
            <a:prstDash val="solid"/>
          </a:ln>
        </p:spPr>
        <p:txBody>
          <a:bodyPr/>
          <a:lstStyle/>
          <a:p>
            <a:endParaRPr lang="en-US"/>
          </a:p>
        </p:txBody>
      </p:sp>
      <p:sp>
        <p:nvSpPr>
          <p:cNvPr id="5" name="Text 3"/>
          <p:cNvSpPr/>
          <p:nvPr/>
        </p:nvSpPr>
        <p:spPr>
          <a:xfrm>
            <a:off x="636135" y="1249192"/>
            <a:ext cx="8321040" cy="2011680"/>
          </a:xfrm>
          <a:prstGeom prst="rect">
            <a:avLst/>
          </a:prstGeom>
          <a:noFill/>
          <a:ln/>
        </p:spPr>
        <p:txBody>
          <a:bodyPr wrap="square" lIns="0" tIns="0" rIns="0" bIns="0" rtlCol="0" anchor="ctr"/>
          <a:lstStyle/>
          <a:p>
            <a:pPr marL="0" indent="0">
              <a:lnSpc>
                <a:spcPct val="115000"/>
              </a:lnSpc>
              <a:buNone/>
            </a:pPr>
            <a:r>
              <a:rPr lang="en-US" sz="4400" b="1" dirty="0">
                <a:solidFill>
                  <a:srgbClr val="111111"/>
                </a:solidFill>
                <a:latin typeface="Calibri" pitchFamily="34" charset="0"/>
                <a:ea typeface="Calibri" pitchFamily="34" charset="-122"/>
                <a:cs typeface="Calibri" pitchFamily="34" charset="-120"/>
              </a:rPr>
              <a:t>Group / </a:t>
            </a:r>
          </a:p>
          <a:p>
            <a:pPr marL="0" indent="0">
              <a:lnSpc>
                <a:spcPct val="115000"/>
              </a:lnSpc>
              <a:buNone/>
            </a:pPr>
            <a:r>
              <a:rPr lang="en-US" sz="4400" b="1" dirty="0">
                <a:solidFill>
                  <a:srgbClr val="111111"/>
                </a:solidFill>
                <a:latin typeface="Calibri" pitchFamily="34" charset="0"/>
                <a:ea typeface="Calibri" pitchFamily="34" charset="-122"/>
                <a:cs typeface="Calibri" pitchFamily="34" charset="-120"/>
              </a:rPr>
              <a:t>collusion-level </a:t>
            </a:r>
          </a:p>
          <a:p>
            <a:pPr marL="0" indent="0">
              <a:lnSpc>
                <a:spcPct val="115000"/>
              </a:lnSpc>
              <a:buNone/>
            </a:pPr>
            <a:r>
              <a:rPr lang="en-US" sz="4400" b="1" dirty="0">
                <a:solidFill>
                  <a:srgbClr val="111111"/>
                </a:solidFill>
                <a:latin typeface="Calibri" pitchFamily="34" charset="0"/>
                <a:ea typeface="Calibri" pitchFamily="34" charset="-122"/>
                <a:cs typeface="Calibri" pitchFamily="34" charset="-120"/>
              </a:rPr>
              <a:t>misconduct</a:t>
            </a:r>
            <a:endParaRPr lang="en-US" sz="4400" dirty="0"/>
          </a:p>
        </p:txBody>
      </p:sp>
      <p:sp>
        <p:nvSpPr>
          <p:cNvPr id="6" name="Shape 4"/>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2B  —  GROUP / COLLUSION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CITATION RINGS</a:t>
            </a:r>
            <a:endParaRPr lang="en-US" sz="800" dirty="0"/>
          </a:p>
        </p:txBody>
      </p:sp>
      <p:sp>
        <p:nvSpPr>
          <p:cNvPr id="5" name="Text 3"/>
          <p:cNvSpPr/>
          <p:nvPr/>
        </p:nvSpPr>
        <p:spPr>
          <a:xfrm>
            <a:off x="438911" y="-95738"/>
            <a:ext cx="7894597" cy="1463040"/>
          </a:xfrm>
          <a:prstGeom prst="rect">
            <a:avLst/>
          </a:prstGeom>
          <a:noFill/>
          <a:ln/>
        </p:spPr>
        <p:txBody>
          <a:bodyPr wrap="square" lIns="0" tIns="0" rIns="0" bIns="0" rtlCol="0" anchor="ctr"/>
          <a:lstStyle/>
          <a:p>
            <a:pPr marL="0" indent="0">
              <a:buNone/>
            </a:pPr>
            <a:r>
              <a:rPr lang="en-US" sz="3200" b="1" dirty="0">
                <a:solidFill>
                  <a:srgbClr val="111111"/>
                </a:solidFill>
                <a:latin typeface="Calibri" pitchFamily="34" charset="0"/>
                <a:ea typeface="Calibri" pitchFamily="34" charset="-122"/>
                <a:cs typeface="Calibri" pitchFamily="34" charset="-120"/>
              </a:rPr>
              <a:t>CITATION RINGS &amp; UNCRITICAL PEER REVIEW</a:t>
            </a:r>
            <a:endParaRPr lang="en-US" sz="26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463040"/>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Can be intentional (orchestrated) or emergent (organic intellectual community). A prolific mentor's network of former students become the natural reviewers for each other's work — technically legitimate, but structurally likely to be uncritical. Hard to distinguish from a thriving research community without formal analysis.</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SMALDINO &amp; MCELREATH (2016)</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Incentives naturally</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select for bad science</a:t>
            </a:r>
            <a:endParaRPr lang="en-US" sz="2000" dirty="0"/>
          </a:p>
        </p:txBody>
      </p:sp>
      <p:sp>
        <p:nvSpPr>
          <p:cNvPr id="12" name="Text 10"/>
          <p:cNvSpPr/>
          <p:nvPr/>
        </p:nvSpPr>
        <p:spPr>
          <a:xfrm>
            <a:off x="5943600" y="2743200"/>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Evolutionary model: institutions that reward publication quantity over quality propagate low-powered, QRP-prone research practices — even without conscious intent.</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22" name="Text 2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1 / 4</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2B  —  GROUP / COLLUSION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CITATION RINGS</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Smaldino &amp; McElreath (2016)</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Evolutionary model shows academic incentive structures naturally select for low-powered, QRP-laden research — 'the natural selection of bad science' even without fraud.</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Ioannidis (2013)</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Documented dense co-citation clusters in alternative medicine and some nutrition subfields; internal citations inflated apparent consensus and impact.</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Ego-depletion &amp; power posing literatures</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Both fields show patterns consistent with uncritical peer review within a tight subfield community — followed by large pre-registered failures to replicate.</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Chrysalis effect (O'Boyle et al. 2017)</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Within tight research networks, manuscripts pass through multiple co-authors who share theoretical commitments, reducing adversarial review.</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2 / 4</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2B  —  GROUP / COLLUSION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CITATION RINGS</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Citation network analysis</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Identifies unusually dense mutual-citation clusters relative to field baseline; network centrality measures reveal insular communities.</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Reviewer history transparency</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Open peer review makes reviewer identities and patterns visible over time; repeated pairing of same authors and reviewers becomes documentable.</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Bibliometric anomaly detection</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Flags journals with anomalously high self-citation or co-author citation rates relative to comparable journals in the same field.</a:t>
            </a:r>
            <a:endParaRPr lang="en-US" sz="1100" dirty="0"/>
          </a:p>
        </p:txBody>
      </p:sp>
      <p:sp>
        <p:nvSpPr>
          <p:cNvPr id="24" name="Shape 22"/>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5" name="Shape 23"/>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6" name="Text 24"/>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7" name="Shape 25"/>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8" name="Text 26"/>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9" name="Shape 27"/>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0" name="Text 28"/>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31" name="Shape 29"/>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2" name="Text 30"/>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3" name="Text 31"/>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2B  —  GROUP / COLLUSION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CITATION RINGS</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Double-blind peer review</a:t>
            </a:r>
            <a:endParaRPr lang="en-US" sz="1200" dirty="0"/>
          </a:p>
        </p:txBody>
      </p:sp>
      <p:sp>
        <p:nvSpPr>
          <p:cNvPr id="10" name="Text 8"/>
          <p:cNvSpPr/>
          <p:nvPr/>
        </p:nvSpPr>
        <p:spPr>
          <a:xfrm>
            <a:off x="640080"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Removes reviewer knowledge of author identity and institutional affiliation; reduces in-network bias in review decisions.</a:t>
            </a:r>
            <a:endParaRPr lang="en-US" sz="1050" dirty="0"/>
          </a:p>
        </p:txBody>
      </p:sp>
      <p:sp>
        <p:nvSpPr>
          <p:cNvPr id="11" name="Shape 9"/>
          <p:cNvSpPr/>
          <p:nvPr/>
        </p:nvSpPr>
        <p:spPr>
          <a:xfrm>
            <a:off x="438912" y="257860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Cross-journal reviewer assignment</a:t>
            </a:r>
            <a:endParaRPr lang="en-US" sz="1200" dirty="0"/>
          </a:p>
        </p:txBody>
      </p:sp>
      <p:sp>
        <p:nvSpPr>
          <p:cNvPr id="14" name="Text 12"/>
          <p:cNvSpPr/>
          <p:nvPr/>
        </p:nvSpPr>
        <p:spPr>
          <a:xfrm>
            <a:off x="640080"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Drawing reviewers from outside an author's immediate network; some journals now require authors to suggest reviewers with no recent co-authorship.</a:t>
            </a:r>
            <a:endParaRPr lang="en-US" sz="1050" dirty="0"/>
          </a:p>
        </p:txBody>
      </p:sp>
      <p:sp>
        <p:nvSpPr>
          <p:cNvPr id="15" name="Shape 13"/>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Reviewer COI disclosure</a:t>
            </a:r>
            <a:endParaRPr lang="en-US" sz="1200" dirty="0"/>
          </a:p>
        </p:txBody>
      </p:sp>
      <p:sp>
        <p:nvSpPr>
          <p:cNvPr id="18" name="Text 16"/>
          <p:cNvSpPr/>
          <p:nvPr/>
        </p:nvSpPr>
        <p:spPr>
          <a:xfrm>
            <a:off x="5001768"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Mandatory declaration of co-authorship, collaboration, and institutional relationship history; editors re-assign when conflicts exist.</a:t>
            </a:r>
            <a:endParaRPr lang="en-US" sz="1050" dirty="0"/>
          </a:p>
        </p:txBody>
      </p:sp>
      <p:sp>
        <p:nvSpPr>
          <p:cNvPr id="19" name="Shape 17"/>
          <p:cNvSpPr/>
          <p:nvPr/>
        </p:nvSpPr>
        <p:spPr>
          <a:xfrm>
            <a:off x="4800600" y="257860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Open peer review (F1000, eLife 2012–)</a:t>
            </a:r>
            <a:endParaRPr lang="en-US" sz="1200" dirty="0"/>
          </a:p>
        </p:txBody>
      </p:sp>
      <p:sp>
        <p:nvSpPr>
          <p:cNvPr id="22" name="Text 20"/>
          <p:cNvSpPr/>
          <p:nvPr/>
        </p:nvSpPr>
        <p:spPr>
          <a:xfrm>
            <a:off x="5001768"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Published reviewer reports and reviewer identities allow post-publication scrutiny of review quality and conflicts of interest.</a:t>
            </a:r>
            <a:endParaRPr lang="en-US" sz="105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2B  —  GROUP / COLLUSION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FAKE PEER REVIEW RINGS</a:t>
            </a:r>
            <a:endParaRPr lang="en-US" sz="800" dirty="0"/>
          </a:p>
        </p:txBody>
      </p:sp>
      <p:sp>
        <p:nvSpPr>
          <p:cNvPr id="5" name="Text 3"/>
          <p:cNvSpPr/>
          <p:nvPr/>
        </p:nvSpPr>
        <p:spPr>
          <a:xfrm>
            <a:off x="438911" y="319900"/>
            <a:ext cx="6400799" cy="1005840"/>
          </a:xfrm>
          <a:prstGeom prst="rect">
            <a:avLst/>
          </a:prstGeom>
          <a:noFill/>
          <a:ln/>
        </p:spPr>
        <p:txBody>
          <a:bodyPr wrap="square" lIns="0" tIns="0" rIns="0" bIns="0" rtlCol="0" anchor="ctr"/>
          <a:lstStyle/>
          <a:p>
            <a:pPr marL="0" indent="0">
              <a:buNone/>
            </a:pPr>
            <a:r>
              <a:rPr lang="en-US" sz="4200" b="1" dirty="0">
                <a:solidFill>
                  <a:srgbClr val="111111"/>
                </a:solidFill>
                <a:latin typeface="Calibri" pitchFamily="34" charset="0"/>
                <a:ea typeface="Calibri" pitchFamily="34" charset="-122"/>
                <a:cs typeface="Calibri" pitchFamily="34" charset="-120"/>
              </a:rPr>
              <a:t>FAKE PEER REVIEW RINGS</a:t>
            </a:r>
            <a:endParaRPr lang="en-US" sz="36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16736"/>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Authors submit fabricated reviewer email addresses; paper mills arrange pre-agreed positive reviews; editors collude with author networks for rapid acceptance. Now accounts for roughly half of all retractions globally. Scale shifted from individual abuse to coordinated industrial operation.</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RICHARDSON &amp; AMARAL (PNAS 2025)</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0.25% of editors</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 30.2% of retractions</a:t>
            </a:r>
            <a:endParaRPr lang="en-US" sz="2000" dirty="0"/>
          </a:p>
        </p:txBody>
      </p:sp>
      <p:sp>
        <p:nvSpPr>
          <p:cNvPr id="12" name="Text 10"/>
          <p:cNvSpPr/>
          <p:nvPr/>
        </p:nvSpPr>
        <p:spPr>
          <a:xfrm>
            <a:off x="5943600" y="2743200"/>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In PLOS ONE. The same concentrated pattern was found in Hindawi and IEEE proceedings — a structural signature of coordinated editorial fraud.</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22" name="Text 2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1 / 4</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2B  —  GROUP / COLLUSION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FAKE PEER REVIEW RINGS</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Richardson &amp; Amaral (PNAS 2025)</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0.25% of PLOS ONE editors responsible for 30.2% of its retracted articles; network analysis shows editors routing submissions to each other — same pattern in Hindawi and IEEE.</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Scholarly Kitchen (2024)</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Fake peer review now accounts for approximately half of all retractions globally — up from a rare occurrence a decade ago to the dominant retraction cause.</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Wiley / Hindawi (2022–24)</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11,300+ papers retracted after systematic identification of coordinated fake review rings exploiting weak editorial workflows.</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Cabanac &amp; Labbé (2023)</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Hundreds of editorial board members who accepted paper-mill products identified through systematic screening of retracted paper metadata.</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2 / 4</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2B  —  GROUP / COLLUSION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FAKE PEER REVIEW RINGS</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Editor network analysis (PNAS 2025)</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Maps submission routing to identify editors who disproportionately handle each other's manuscripts and share retraction patterns.</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Reviewer verification systems</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Cross-check reviewer emails against institutional directories; flag free email addresses and unverifiable affiliations.</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ORCID + institutional email (2012–)</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Links reviewer identity to a verified institutional record; many publishers now require ORCID for all review assignments.</a:t>
            </a:r>
            <a:endParaRPr lang="en-US" sz="1100" dirty="0"/>
          </a:p>
        </p:txBody>
      </p:sp>
      <p:sp>
        <p:nvSpPr>
          <p:cNvPr id="24" name="Shape 22"/>
          <p:cNvSpPr/>
          <p:nvPr/>
        </p:nvSpPr>
        <p:spPr>
          <a:xfrm>
            <a:off x="438912" y="3273552"/>
            <a:ext cx="8321040" cy="0"/>
          </a:xfrm>
          <a:prstGeom prst="line">
            <a:avLst/>
          </a:prstGeom>
          <a:noFill/>
          <a:ln w="6350">
            <a:solidFill>
              <a:srgbClr val="E8E8E8"/>
            </a:solidFill>
            <a:prstDash val="solid"/>
          </a:ln>
        </p:spPr>
        <p:txBody>
          <a:bodyPr/>
          <a:lstStyle/>
          <a:p>
            <a:endParaRPr lang="en-US"/>
          </a:p>
        </p:txBody>
      </p:sp>
      <p:sp>
        <p:nvSpPr>
          <p:cNvPr id="25" name="Text 23"/>
          <p:cNvSpPr/>
          <p:nvPr/>
        </p:nvSpPr>
        <p:spPr>
          <a:xfrm>
            <a:off x="438912" y="3355848"/>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04</a:t>
            </a:r>
            <a:endParaRPr lang="en-US" sz="2000" dirty="0"/>
          </a:p>
        </p:txBody>
      </p:sp>
      <p:sp>
        <p:nvSpPr>
          <p:cNvPr id="26" name="Shape 24"/>
          <p:cNvSpPr/>
          <p:nvPr/>
        </p:nvSpPr>
        <p:spPr>
          <a:xfrm>
            <a:off x="950976" y="3392424"/>
            <a:ext cx="0" cy="502920"/>
          </a:xfrm>
          <a:prstGeom prst="line">
            <a:avLst/>
          </a:prstGeom>
          <a:noFill/>
          <a:ln w="6350">
            <a:solidFill>
              <a:srgbClr val="CCCCCC"/>
            </a:solidFill>
            <a:prstDash val="solid"/>
          </a:ln>
        </p:spPr>
        <p:txBody>
          <a:bodyPr/>
          <a:lstStyle/>
          <a:p>
            <a:endParaRPr lang="en-US"/>
          </a:p>
        </p:txBody>
      </p:sp>
      <p:sp>
        <p:nvSpPr>
          <p:cNvPr id="27" name="Text 25"/>
          <p:cNvSpPr/>
          <p:nvPr/>
        </p:nvSpPr>
        <p:spPr>
          <a:xfrm>
            <a:off x="1097280" y="3355848"/>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Statistical anomaly detection</a:t>
            </a:r>
            <a:endParaRPr lang="en-US" sz="1200" dirty="0"/>
          </a:p>
        </p:txBody>
      </p:sp>
      <p:sp>
        <p:nvSpPr>
          <p:cNvPr id="28" name="Shape 26"/>
          <p:cNvSpPr/>
          <p:nvPr/>
        </p:nvSpPr>
        <p:spPr>
          <a:xfrm>
            <a:off x="3401568" y="3392424"/>
            <a:ext cx="0" cy="502920"/>
          </a:xfrm>
          <a:prstGeom prst="line">
            <a:avLst/>
          </a:prstGeom>
          <a:noFill/>
          <a:ln w="6350">
            <a:solidFill>
              <a:srgbClr val="E8E8E8"/>
            </a:solidFill>
            <a:prstDash val="solid"/>
          </a:ln>
        </p:spPr>
        <p:txBody>
          <a:bodyPr/>
          <a:lstStyle/>
          <a:p>
            <a:endParaRPr lang="en-US"/>
          </a:p>
        </p:txBody>
      </p:sp>
      <p:sp>
        <p:nvSpPr>
          <p:cNvPr id="29" name="Text 27"/>
          <p:cNvSpPr/>
          <p:nvPr/>
        </p:nvSpPr>
        <p:spPr>
          <a:xfrm>
            <a:off x="3566160" y="3355848"/>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Flags unusually fast turnaround, uniformly positive reviews, or repeated reviewer suggestions from the same submitting authors.</a:t>
            </a:r>
            <a:endParaRPr lang="en-US" sz="1100" dirty="0"/>
          </a:p>
        </p:txBody>
      </p:sp>
      <p:sp>
        <p:nvSpPr>
          <p:cNvPr id="30" name="Shape 28"/>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31" name="Shape 29"/>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2" name="Text 30"/>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33" name="Shape 31"/>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4" name="Text 32"/>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35" name="Shape 33"/>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6" name="Text 34"/>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37" name="Shape 35"/>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8" name="Text 36"/>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9" name="Text 37"/>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2B  —  GROUP / COLLUSION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FAKE PEER REVIEW RINGS</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Verified reviewer identity (ORCID)</a:t>
            </a:r>
            <a:endParaRPr lang="en-US" sz="1200" dirty="0"/>
          </a:p>
        </p:txBody>
      </p:sp>
      <p:sp>
        <p:nvSpPr>
          <p:cNvPr id="10" name="Text 8"/>
          <p:cNvSpPr/>
          <p:nvPr/>
        </p:nvSpPr>
        <p:spPr>
          <a:xfrm>
            <a:off x="640080"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ORCID (2012–) mandatory for review at most major publishers; links reviewer to a persistent scholarly identity verified against institutional records.</a:t>
            </a:r>
            <a:endParaRPr lang="en-US" sz="1050" dirty="0"/>
          </a:p>
        </p:txBody>
      </p:sp>
      <p:sp>
        <p:nvSpPr>
          <p:cNvPr id="11" name="Shape 9"/>
          <p:cNvSpPr/>
          <p:nvPr/>
        </p:nvSpPr>
        <p:spPr>
          <a:xfrm>
            <a:off x="438912" y="257860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United2Act cross-publisher coordination</a:t>
            </a:r>
            <a:endParaRPr lang="en-US" sz="1200" dirty="0"/>
          </a:p>
        </p:txBody>
      </p:sp>
      <p:sp>
        <p:nvSpPr>
          <p:cNvPr id="14" name="Text 12"/>
          <p:cNvSpPr/>
          <p:nvPr/>
        </p:nvSpPr>
        <p:spPr>
          <a:xfrm>
            <a:off x="640080"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Shared intelligence on known bad actors across publisher networks; enables coordinated response when a ring spans multiple journals.</a:t>
            </a:r>
            <a:endParaRPr lang="en-US" sz="1050" dirty="0"/>
          </a:p>
        </p:txBody>
      </p:sp>
      <p:sp>
        <p:nvSpPr>
          <p:cNvPr id="15" name="Shape 13"/>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Publisher fraud detection (Wiley 2024)</a:t>
            </a:r>
            <a:endParaRPr lang="en-US" sz="1200" dirty="0"/>
          </a:p>
        </p:txBody>
      </p:sp>
      <p:sp>
        <p:nvSpPr>
          <p:cNvPr id="18" name="Text 16"/>
          <p:cNvSpPr/>
          <p:nvPr/>
        </p:nvSpPr>
        <p:spPr>
          <a:xfrm>
            <a:off x="5001768"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Automated screening for coordinated review fraud patterns at the submission and assignment stage; shared across publisher networks.</a:t>
            </a:r>
            <a:endParaRPr lang="en-US" sz="1050" dirty="0"/>
          </a:p>
        </p:txBody>
      </p:sp>
      <p:sp>
        <p:nvSpPr>
          <p:cNvPr id="19" name="Shape 17"/>
          <p:cNvSpPr/>
          <p:nvPr/>
        </p:nvSpPr>
        <p:spPr>
          <a:xfrm>
            <a:off x="4800600" y="257860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Mass retraction protocols (COPE 2022–)</a:t>
            </a:r>
            <a:endParaRPr lang="en-US" sz="1200" dirty="0"/>
          </a:p>
        </p:txBody>
      </p:sp>
      <p:sp>
        <p:nvSpPr>
          <p:cNvPr id="22" name="Text 20"/>
          <p:cNvSpPr/>
          <p:nvPr/>
        </p:nvSpPr>
        <p:spPr>
          <a:xfrm>
            <a:off x="5001768"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Standardised procedures for coordinated retraction of affected papers when a ring is identified; limits delays caused by case-by-case processing.</a:t>
            </a:r>
            <a:endParaRPr lang="en-US" sz="105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2B  —  GROUP / COLLUSION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PAPER MILLS &amp; PREDATORY JOURNALS</a:t>
            </a:r>
            <a:endParaRPr lang="en-US" sz="800" dirty="0"/>
          </a:p>
        </p:txBody>
      </p:sp>
      <p:sp>
        <p:nvSpPr>
          <p:cNvPr id="5" name="Text 3"/>
          <p:cNvSpPr/>
          <p:nvPr/>
        </p:nvSpPr>
        <p:spPr>
          <a:xfrm>
            <a:off x="438911" y="98228"/>
            <a:ext cx="6751597" cy="1463040"/>
          </a:xfrm>
          <a:prstGeom prst="rect">
            <a:avLst/>
          </a:prstGeom>
          <a:noFill/>
          <a:ln/>
        </p:spPr>
        <p:txBody>
          <a:bodyPr wrap="square" lIns="0" tIns="0" rIns="0" bIns="0" rtlCol="0" anchor="ctr"/>
          <a:lstStyle/>
          <a:p>
            <a:pPr marL="0" indent="0">
              <a:buNone/>
            </a:pPr>
            <a:r>
              <a:rPr lang="en-US" sz="3200" b="1" dirty="0">
                <a:solidFill>
                  <a:srgbClr val="111111"/>
                </a:solidFill>
                <a:latin typeface="Calibri" pitchFamily="34" charset="0"/>
                <a:ea typeface="Calibri" pitchFamily="34" charset="-122"/>
                <a:cs typeface="Calibri" pitchFamily="34" charset="-120"/>
              </a:rPr>
              <a:t>PAPER MILLS &amp; PREDATORY JOURNALS</a:t>
            </a:r>
            <a:endParaRPr lang="en-US" sz="26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463040"/>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Industrial-scale fabrication: authorship for sale at $500–$3,000 per paper; APC-driven acceptance with no real peer review; journal hijacking using legitimate ISSNs. Richardson &amp; Amaral (PNAS 2025): fraudulent papers may be doubling every ~1.5 years.</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CANCER RESEARCH (AI SCAN 2024)</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14.4% of molecular</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oncology papers in 2024</a:t>
            </a:r>
            <a:endParaRPr lang="en-US" sz="2000" dirty="0"/>
          </a:p>
        </p:txBody>
      </p:sp>
      <p:sp>
        <p:nvSpPr>
          <p:cNvPr id="12" name="Text 10"/>
          <p:cNvSpPr/>
          <p:nvPr/>
        </p:nvSpPr>
        <p:spPr>
          <a:xfrm>
            <a:off x="5943600" y="2743200"/>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Flagged as potential paper-mill products — up from 0.06% in 1999. Patient harm is a direct consequence when fabricated clinical findings enter the evidence base.</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22" name="Text 2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1 / 4</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2B  —  GROUP / COLLUSION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PAPER MILLS &amp; PREDATORY JOURNALS</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Richardson &amp; Amaral (PNAS 2025)</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Paper mill enabling networks 'large, resilient and growing rapidly'; fraud networks involve brokers, editors, and authors in coordinated schemes with resilient supply chains.</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Problematic Paper Screener</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32,786 suspected paper-mill products identified as of 2024 using tortured phrases, image clustering, and metadata anomalies.</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AI scan of cancer literature (2024)</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14.4% of molecular oncology papers published in 2024 flagged as paper-mill products — up from 0.06% in 1999.</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Wiley / Hindawi (2022–24)</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11,300+ papers retracted; 19 journals closed. Paper mill products continued to accumulate citations even after retraction — damaging the downstream literature.</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2 / 4</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2B  —  GROUP / COLLUSION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PAPER MILLS &amp; PREDATORY JOURNALS</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Problematic Paper Screener (2021)</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Automated detection of tortured phrases, suspicious image clustering, metadata anomalies, and other paper-mill production signatures.</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Tortured phrases detection</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Identifies systematic obfuscation via machine translation — a production hallmark of mills that process manuscripts to evade plagiarism detectors.</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Hijacked Journal Checker (RW)</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Retraction Watch list (maintained by Anna Abalkina): 400+ hijacked journal ISSNs where scammer sites mimic legitimate journals.</a:t>
            </a:r>
            <a:endParaRPr lang="en-US" sz="1100" dirty="0"/>
          </a:p>
        </p:txBody>
      </p:sp>
      <p:sp>
        <p:nvSpPr>
          <p:cNvPr id="24" name="Shape 22"/>
          <p:cNvSpPr/>
          <p:nvPr/>
        </p:nvSpPr>
        <p:spPr>
          <a:xfrm>
            <a:off x="438912" y="3273552"/>
            <a:ext cx="8321040" cy="0"/>
          </a:xfrm>
          <a:prstGeom prst="line">
            <a:avLst/>
          </a:prstGeom>
          <a:noFill/>
          <a:ln w="6350">
            <a:solidFill>
              <a:srgbClr val="E8E8E8"/>
            </a:solidFill>
            <a:prstDash val="solid"/>
          </a:ln>
        </p:spPr>
        <p:txBody>
          <a:bodyPr/>
          <a:lstStyle/>
          <a:p>
            <a:endParaRPr lang="en-US"/>
          </a:p>
        </p:txBody>
      </p:sp>
      <p:sp>
        <p:nvSpPr>
          <p:cNvPr id="25" name="Text 23"/>
          <p:cNvSpPr/>
          <p:nvPr/>
        </p:nvSpPr>
        <p:spPr>
          <a:xfrm>
            <a:off x="438912" y="3355848"/>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04</a:t>
            </a:r>
            <a:endParaRPr lang="en-US" sz="2000" dirty="0"/>
          </a:p>
        </p:txBody>
      </p:sp>
      <p:sp>
        <p:nvSpPr>
          <p:cNvPr id="26" name="Shape 24"/>
          <p:cNvSpPr/>
          <p:nvPr/>
        </p:nvSpPr>
        <p:spPr>
          <a:xfrm>
            <a:off x="950976" y="3392424"/>
            <a:ext cx="0" cy="502920"/>
          </a:xfrm>
          <a:prstGeom prst="line">
            <a:avLst/>
          </a:prstGeom>
          <a:noFill/>
          <a:ln w="6350">
            <a:solidFill>
              <a:srgbClr val="CCCCCC"/>
            </a:solidFill>
            <a:prstDash val="solid"/>
          </a:ln>
        </p:spPr>
        <p:txBody>
          <a:bodyPr/>
          <a:lstStyle/>
          <a:p>
            <a:endParaRPr lang="en-US"/>
          </a:p>
        </p:txBody>
      </p:sp>
      <p:sp>
        <p:nvSpPr>
          <p:cNvPr id="27" name="Text 25"/>
          <p:cNvSpPr/>
          <p:nvPr/>
        </p:nvSpPr>
        <p:spPr>
          <a:xfrm>
            <a:off x="1097280" y="3355848"/>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Image duplication clustering (PNAS 2025)</a:t>
            </a:r>
            <a:endParaRPr lang="en-US" sz="1200" dirty="0"/>
          </a:p>
        </p:txBody>
      </p:sp>
      <p:sp>
        <p:nvSpPr>
          <p:cNvPr id="28" name="Shape 26"/>
          <p:cNvSpPr/>
          <p:nvPr/>
        </p:nvSpPr>
        <p:spPr>
          <a:xfrm>
            <a:off x="3401568" y="3392424"/>
            <a:ext cx="0" cy="502920"/>
          </a:xfrm>
          <a:prstGeom prst="line">
            <a:avLst/>
          </a:prstGeom>
          <a:noFill/>
          <a:ln w="6350">
            <a:solidFill>
              <a:srgbClr val="E8E8E8"/>
            </a:solidFill>
            <a:prstDash val="solid"/>
          </a:ln>
        </p:spPr>
        <p:txBody>
          <a:bodyPr/>
          <a:lstStyle/>
          <a:p>
            <a:endParaRPr lang="en-US"/>
          </a:p>
        </p:txBody>
      </p:sp>
      <p:sp>
        <p:nvSpPr>
          <p:cNvPr id="29" name="Text 27"/>
          <p:cNvSpPr/>
          <p:nvPr/>
        </p:nvSpPr>
        <p:spPr>
          <a:xfrm>
            <a:off x="3566160" y="3355848"/>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Groups papers sharing image banks, identifying mill production batches; reveals coordinated fabrication at scale invisible to single-paper screening.</a:t>
            </a:r>
            <a:endParaRPr lang="en-US" sz="1100" dirty="0"/>
          </a:p>
        </p:txBody>
      </p:sp>
      <p:sp>
        <p:nvSpPr>
          <p:cNvPr id="30" name="Shape 28"/>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31" name="Shape 29"/>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2" name="Text 30"/>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33" name="Shape 31"/>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4" name="Text 32"/>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35" name="Shape 33"/>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6" name="Text 34"/>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37" name="Shape 35"/>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8" name="Text 36"/>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9" name="Text 37"/>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2B  —  GROUP / COLLUSION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PAPER MILLS &amp; PREDATORY JOURNALS</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DOAJ quality standards</a:t>
            </a:r>
            <a:endParaRPr lang="en-US" sz="1200" dirty="0"/>
          </a:p>
        </p:txBody>
      </p:sp>
      <p:sp>
        <p:nvSpPr>
          <p:cNvPr id="10" name="Text 8"/>
          <p:cNvSpPr/>
          <p:nvPr/>
        </p:nvSpPr>
        <p:spPr>
          <a:xfrm>
            <a:off x="640080"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Directory of Open Access Journals: maintains transparent criteria for legitimate OA publishers; being listed signals adherence to peer review and ethics standards.</a:t>
            </a:r>
            <a:endParaRPr lang="en-US" sz="1050" dirty="0"/>
          </a:p>
        </p:txBody>
      </p:sp>
      <p:sp>
        <p:nvSpPr>
          <p:cNvPr id="11" name="Shape 9"/>
          <p:cNvSpPr/>
          <p:nvPr/>
        </p:nvSpPr>
        <p:spPr>
          <a:xfrm>
            <a:off x="438912" y="257860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United2Act cross-publisher coordination</a:t>
            </a:r>
            <a:endParaRPr lang="en-US" sz="1200" dirty="0"/>
          </a:p>
        </p:txBody>
      </p:sp>
      <p:sp>
        <p:nvSpPr>
          <p:cNvPr id="14" name="Text 12"/>
          <p:cNvSpPr/>
          <p:nvPr/>
        </p:nvSpPr>
        <p:spPr>
          <a:xfrm>
            <a:off x="640080"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Working group sharing mill identification intelligence across publishers; enables faster coordinated response than single-publisher action.</a:t>
            </a:r>
            <a:endParaRPr lang="en-US" sz="1050" dirty="0"/>
          </a:p>
        </p:txBody>
      </p:sp>
      <p:sp>
        <p:nvSpPr>
          <p:cNvPr id="15" name="Shape 13"/>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Think. Check. Submit. (2015)</a:t>
            </a:r>
            <a:endParaRPr lang="en-US" sz="1200" dirty="0"/>
          </a:p>
        </p:txBody>
      </p:sp>
      <p:sp>
        <p:nvSpPr>
          <p:cNvPr id="18" name="Text 16"/>
          <p:cNvSpPr/>
          <p:nvPr/>
        </p:nvSpPr>
        <p:spPr>
          <a:xfrm>
            <a:off x="5001768"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Researcher guidance checklist for evaluating journal legitimacy before submission; widely adopted in library instruction for early-career researchers.</a:t>
            </a:r>
            <a:endParaRPr lang="en-US" sz="1050" dirty="0"/>
          </a:p>
        </p:txBody>
      </p:sp>
      <p:sp>
        <p:nvSpPr>
          <p:cNvPr id="19" name="Shape 17"/>
          <p:cNvSpPr/>
          <p:nvPr/>
        </p:nvSpPr>
        <p:spPr>
          <a:xfrm>
            <a:off x="4800600" y="257860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Indexing quality requirements</a:t>
            </a:r>
            <a:endParaRPr lang="en-US" sz="1200" dirty="0"/>
          </a:p>
        </p:txBody>
      </p:sp>
      <p:sp>
        <p:nvSpPr>
          <p:cNvPr id="22" name="Text 20"/>
          <p:cNvSpPr/>
          <p:nvPr/>
        </p:nvSpPr>
        <p:spPr>
          <a:xfrm>
            <a:off x="5001768"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PubMed and Scopus delist journals that fail integrity standards; loss of indexing is commercially devastating and deters predatory operation.</a:t>
            </a:r>
            <a:endParaRPr lang="en-US" sz="105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2B  —  GROUP / COLLUSION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INSTITUTIONAL COVER-UP</a:t>
            </a:r>
            <a:endParaRPr lang="en-US" sz="800" dirty="0"/>
          </a:p>
        </p:txBody>
      </p:sp>
      <p:sp>
        <p:nvSpPr>
          <p:cNvPr id="5" name="Text 3"/>
          <p:cNvSpPr/>
          <p:nvPr/>
        </p:nvSpPr>
        <p:spPr>
          <a:xfrm>
            <a:off x="438911" y="1246"/>
            <a:ext cx="7478961" cy="1463040"/>
          </a:xfrm>
          <a:prstGeom prst="rect">
            <a:avLst/>
          </a:prstGeom>
          <a:noFill/>
          <a:ln/>
        </p:spPr>
        <p:txBody>
          <a:bodyPr wrap="square" lIns="0" tIns="0" rIns="0" bIns="0" rtlCol="0" anchor="ctr"/>
          <a:lstStyle/>
          <a:p>
            <a:pPr marL="0" indent="0">
              <a:buNone/>
            </a:pPr>
            <a:r>
              <a:rPr lang="en-US" sz="3200" b="1" dirty="0">
                <a:solidFill>
                  <a:srgbClr val="111111"/>
                </a:solidFill>
                <a:latin typeface="Calibri" pitchFamily="34" charset="0"/>
                <a:ea typeface="Calibri" pitchFamily="34" charset="-122"/>
                <a:cs typeface="Calibri" pitchFamily="34" charset="-120"/>
              </a:rPr>
              <a:t>INSTITUTIONAL MISCONDUCT COVER-UP</a:t>
            </a:r>
            <a:endParaRPr lang="en-US" sz="26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463040"/>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Universities slow-walking or suppressing misconduct investigations; protecting high-profile PIs at the expense of junior whistleblowers; ORI oversight capacity declining as the problem grows. The institution that benefits from grants has structural incentives to minimise findings.</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ORI (2025)</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Only 2 findings</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in 2025</a:t>
            </a:r>
            <a:endParaRPr lang="en-US" sz="2000" dirty="0"/>
          </a:p>
        </p:txBody>
      </p:sp>
      <p:sp>
        <p:nvSpPr>
          <p:cNvPr id="12" name="Text 10"/>
          <p:cNvSpPr/>
          <p:nvPr/>
        </p:nvSpPr>
        <p:spPr>
          <a:xfrm>
            <a:off x="5943600" y="2743200"/>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Lowest since at least 2006. Average is ~10 per year. The office is partly hollowed out amid federal restructuring — at the same time the paper mill problem is accelerating.</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22" name="Text 2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1 / 4</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2B  —  GROUP / COLLUSION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INSTITUTIONAL COVER-UP</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ORI (2025)</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Only 2 misconduct findings released — fewest since 2006. Average is ~10/year. Capacity has declined sharply amid federal restructuring of HHS.</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Hauser case (Harvard)</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3-year internal investigation; Harvard confirmed misconduct but never disclosed details publicly — left the field unable to determine which of Hauser's hundreds of papers were tainted.</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Tessier-Lavigne (Stanford)</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8-month formal investigation triggered only after sustained external pressure from science sleuths and media; final report found 'recklessness' rather than intent.</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False Claims Act settlements</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Private parties can sue on behalf of the federal government for fraudulent use of NIH/NSF funds; some of the largest misconduct cases settled this way without formal ORI finding.</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2 / 4</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2B  —  GROUP / COLLUSION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INSTITUTIONAL COVER-UP</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ORI oversight (capacity declining)</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Federal investigators review institutional inquiry reports for NIH/HHS-funded research; declining capacity means fewer cases reach formal finding.</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Investigative journalism</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Science, Nature, Retraction Watch: external scrutiny routinely triggers institutional action that would not have occurred without public pressure.</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False Claims Act litigation</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Allows private parties to sue on behalf of government for fraud; some of the largest misconduct settlements reached via civil litigation, not ORI.</a:t>
            </a:r>
            <a:endParaRPr lang="en-US" sz="1100" dirty="0"/>
          </a:p>
        </p:txBody>
      </p:sp>
      <p:sp>
        <p:nvSpPr>
          <p:cNvPr id="24" name="Shape 22"/>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5" name="Shape 23"/>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6" name="Text 24"/>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7" name="Shape 25"/>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8" name="Text 26"/>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9" name="Shape 27"/>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0" name="Text 28"/>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31" name="Shape 29"/>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2" name="Text 30"/>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3" name="Text 31"/>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2B  —  GROUP / COLLUSION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INSTITUTIONAL COVER-UP</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ORI mandatory investigation timelines</a:t>
            </a:r>
            <a:endParaRPr lang="en-US" sz="1200" dirty="0"/>
          </a:p>
        </p:txBody>
      </p:sp>
      <p:sp>
        <p:nvSpPr>
          <p:cNvPr id="10" name="Text 8"/>
          <p:cNvSpPr/>
          <p:nvPr/>
        </p:nvSpPr>
        <p:spPr>
          <a:xfrm>
            <a:off x="640080"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Institutions required to complete inquiries within defined windows; persistent delays can trigger ORI's own investigation of the institution.</a:t>
            </a:r>
            <a:endParaRPr lang="en-US" sz="1050" dirty="0"/>
          </a:p>
        </p:txBody>
      </p:sp>
      <p:sp>
        <p:nvSpPr>
          <p:cNvPr id="11" name="Shape 9"/>
          <p:cNvSpPr/>
          <p:nvPr/>
        </p:nvSpPr>
        <p:spPr>
          <a:xfrm>
            <a:off x="438912" y="257860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Bik Science Integrity Fund (2025)</a:t>
            </a:r>
            <a:endParaRPr lang="en-US" sz="1200" dirty="0"/>
          </a:p>
        </p:txBody>
      </p:sp>
      <p:sp>
        <p:nvSpPr>
          <p:cNvPr id="14" name="Text 12"/>
          <p:cNvSpPr/>
          <p:nvPr/>
        </p:nvSpPr>
        <p:spPr>
          <a:xfrm>
            <a:off x="640080"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Financial and legal support for volunteer integrity advocates; launched in partnership with Retraction Watch / Center for Scientific Integrity.</a:t>
            </a:r>
            <a:endParaRPr lang="en-US" sz="1050" dirty="0"/>
          </a:p>
        </p:txBody>
      </p:sp>
      <p:sp>
        <p:nvSpPr>
          <p:cNvPr id="15" name="Shape 13"/>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Federal whistleblower protections</a:t>
            </a:r>
            <a:endParaRPr lang="en-US" sz="1200" dirty="0"/>
          </a:p>
        </p:txBody>
      </p:sp>
      <p:sp>
        <p:nvSpPr>
          <p:cNvPr id="18" name="Text 16"/>
          <p:cNvSpPr/>
          <p:nvPr/>
        </p:nvSpPr>
        <p:spPr>
          <a:xfrm>
            <a:off x="5001768"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Research Integrity Officer role at each institution; federal law prohibits retaliation against researchers who report misconduct to ORI.</a:t>
            </a:r>
            <a:endParaRPr lang="en-US" sz="1050" dirty="0"/>
          </a:p>
        </p:txBody>
      </p:sp>
      <p:sp>
        <p:nvSpPr>
          <p:cNvPr id="19" name="Shape 17"/>
          <p:cNvSpPr/>
          <p:nvPr/>
        </p:nvSpPr>
        <p:spPr>
          <a:xfrm>
            <a:off x="4800600" y="257860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Stockholm Declaration (2025)</a:t>
            </a:r>
            <a:endParaRPr lang="en-US" sz="1200" dirty="0"/>
          </a:p>
        </p:txBody>
      </p:sp>
      <p:sp>
        <p:nvSpPr>
          <p:cNvPr id="22" name="Text 20"/>
          <p:cNvSpPr/>
          <p:nvPr/>
        </p:nvSpPr>
        <p:spPr>
          <a:xfrm>
            <a:off x="5001768"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Calls for independent institutional oversight bodies separate from university administration — removing the structural conflict of interest in self-investigation.</a:t>
            </a:r>
            <a:endParaRPr lang="en-US" sz="105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11480" y="460000"/>
            <a:ext cx="8321040" cy="320040"/>
          </a:xfrm>
          <a:prstGeom prst="rect">
            <a:avLst/>
          </a:prstGeom>
          <a:noFill/>
          <a:ln/>
        </p:spPr>
        <p:txBody>
          <a:bodyPr wrap="square" lIns="0" tIns="0" rIns="0" bIns="0" rtlCol="0" anchor="ctr"/>
          <a:lstStyle/>
          <a:p>
            <a:pPr marL="0" indent="0">
              <a:buNone/>
            </a:pPr>
            <a:r>
              <a:rPr lang="en-US" sz="3200" kern="0" spc="500" dirty="0">
                <a:solidFill>
                  <a:srgbClr val="999999"/>
                </a:solidFill>
                <a:latin typeface="Aptos Black" panose="020B0004020202020204" pitchFamily="34" charset="0"/>
                <a:ea typeface="Calibri" pitchFamily="34" charset="-122"/>
                <a:cs typeface="Calibri" pitchFamily="34" charset="-120"/>
              </a:rPr>
              <a:t>TIER 3</a:t>
            </a:r>
            <a:endParaRPr lang="en-US" sz="3200" dirty="0">
              <a:latin typeface="Aptos Black" panose="020B0004020202020204" pitchFamily="34" charset="0"/>
            </a:endParaRPr>
          </a:p>
        </p:txBody>
      </p:sp>
      <p:sp>
        <p:nvSpPr>
          <p:cNvPr id="4" name="Shape 2"/>
          <p:cNvSpPr/>
          <p:nvPr/>
        </p:nvSpPr>
        <p:spPr>
          <a:xfrm>
            <a:off x="438912" y="932688"/>
            <a:ext cx="1280160" cy="0"/>
          </a:xfrm>
          <a:prstGeom prst="line">
            <a:avLst/>
          </a:prstGeom>
          <a:noFill/>
          <a:ln w="25400">
            <a:solidFill>
              <a:srgbClr val="111111"/>
            </a:solidFill>
            <a:prstDash val="solid"/>
          </a:ln>
        </p:spPr>
        <p:txBody>
          <a:bodyPr/>
          <a:lstStyle/>
          <a:p>
            <a:endParaRPr lang="en-US"/>
          </a:p>
        </p:txBody>
      </p:sp>
      <p:sp>
        <p:nvSpPr>
          <p:cNvPr id="5" name="Text 3"/>
          <p:cNvSpPr/>
          <p:nvPr/>
        </p:nvSpPr>
        <p:spPr>
          <a:xfrm>
            <a:off x="438912" y="1374642"/>
            <a:ext cx="8321040" cy="2011680"/>
          </a:xfrm>
          <a:prstGeom prst="rect">
            <a:avLst/>
          </a:prstGeom>
          <a:noFill/>
          <a:ln/>
        </p:spPr>
        <p:txBody>
          <a:bodyPr wrap="square" lIns="0" tIns="0" rIns="0" bIns="0" rtlCol="0" anchor="ctr"/>
          <a:lstStyle/>
          <a:p>
            <a:pPr marL="0" indent="0">
              <a:lnSpc>
                <a:spcPct val="115000"/>
              </a:lnSpc>
              <a:buNone/>
            </a:pPr>
            <a:r>
              <a:rPr lang="en-US" sz="4400" b="1" dirty="0">
                <a:solidFill>
                  <a:srgbClr val="111111"/>
                </a:solidFill>
                <a:latin typeface="Calibri" pitchFamily="34" charset="0"/>
                <a:ea typeface="Calibri" pitchFamily="34" charset="-122"/>
                <a:cs typeface="Calibri" pitchFamily="34" charset="-120"/>
              </a:rPr>
              <a:t>Field / </a:t>
            </a:r>
          </a:p>
          <a:p>
            <a:pPr marL="0" indent="0">
              <a:lnSpc>
                <a:spcPct val="115000"/>
              </a:lnSpc>
              <a:buNone/>
            </a:pPr>
            <a:r>
              <a:rPr lang="en-US" sz="4400" b="1" dirty="0">
                <a:solidFill>
                  <a:srgbClr val="111111"/>
                </a:solidFill>
                <a:latin typeface="Calibri" pitchFamily="34" charset="0"/>
                <a:ea typeface="Calibri" pitchFamily="34" charset="-122"/>
                <a:cs typeface="Calibri" pitchFamily="34" charset="-120"/>
              </a:rPr>
              <a:t>community-level </a:t>
            </a:r>
          </a:p>
          <a:p>
            <a:pPr marL="0" indent="0">
              <a:lnSpc>
                <a:spcPct val="115000"/>
              </a:lnSpc>
              <a:buNone/>
            </a:pPr>
            <a:r>
              <a:rPr lang="en-US" sz="4400" b="1" dirty="0">
                <a:solidFill>
                  <a:srgbClr val="111111"/>
                </a:solidFill>
                <a:latin typeface="Calibri" pitchFamily="34" charset="0"/>
                <a:ea typeface="Calibri" pitchFamily="34" charset="-122"/>
                <a:cs typeface="Calibri" pitchFamily="34" charset="-120"/>
              </a:rPr>
              <a:t>problems</a:t>
            </a:r>
            <a:endParaRPr lang="en-US" sz="4400" dirty="0"/>
          </a:p>
        </p:txBody>
      </p:sp>
      <p:sp>
        <p:nvSpPr>
          <p:cNvPr id="6" name="Shape 4"/>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FIELD-LEVEL PUBLICATION BIAS</a:t>
            </a:r>
            <a:endParaRPr lang="en-US" sz="800" dirty="0"/>
          </a:p>
        </p:txBody>
      </p:sp>
      <p:sp>
        <p:nvSpPr>
          <p:cNvPr id="5" name="Text 3"/>
          <p:cNvSpPr/>
          <p:nvPr/>
        </p:nvSpPr>
        <p:spPr>
          <a:xfrm>
            <a:off x="438911" y="35883"/>
            <a:ext cx="6654615" cy="1463040"/>
          </a:xfrm>
          <a:prstGeom prst="rect">
            <a:avLst/>
          </a:prstGeom>
          <a:noFill/>
          <a:ln/>
        </p:spPr>
        <p:txBody>
          <a:bodyPr wrap="square" lIns="0" tIns="0" rIns="0" bIns="0" rtlCol="0" anchor="ctr"/>
          <a:lstStyle/>
          <a:p>
            <a:pPr marL="0" indent="0">
              <a:buNone/>
            </a:pPr>
            <a:r>
              <a:rPr lang="en-US" sz="3200" b="1" dirty="0">
                <a:solidFill>
                  <a:srgbClr val="111111"/>
                </a:solidFill>
                <a:latin typeface="Calibri" pitchFamily="34" charset="0"/>
                <a:ea typeface="Calibri" pitchFamily="34" charset="-122"/>
                <a:cs typeface="Calibri" pitchFamily="34" charset="-120"/>
              </a:rPr>
              <a:t>PUBLICATION BIAS AT FIELD LEVEL</a:t>
            </a:r>
            <a:endParaRPr lang="en-US" sz="26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463040"/>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Journals preferentially publish significant, novel findings. Null results accumulate in file drawers. Effect sizes across entire literatures are inflated. The published record is not a representative sample of science conducted — it is a selection biased toward significance.</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OSC REPRODUCIBILITY PROJECT (2015)</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~36–50% of findings</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replicated</a:t>
            </a:r>
            <a:endParaRPr lang="en-US" sz="2000" dirty="0"/>
          </a:p>
        </p:txBody>
      </p:sp>
      <p:sp>
        <p:nvSpPr>
          <p:cNvPr id="12" name="Text 10"/>
          <p:cNvSpPr/>
          <p:nvPr/>
        </p:nvSpPr>
        <p:spPr>
          <a:xfrm>
            <a:off x="5943600" y="2743200"/>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100 psychology studies directly replicated by independent teams. The most rigorous large-scale assessment of field-level publication bias consequences.</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22" name="Text 2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1 / 4</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FIELD-LEVEL PUBLICATION BIAS</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OSC Reproducibility Project (2015, Science)</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~36–50% of 100 psychology findings replicated when directly attempted by independent teams. Effect sizes in replications were on average half the size of originals.</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Camerer et al. (2018, Nature Human Behaviour)</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62% replication rate in economics laboratory experiments; original effect sizes approximately twice the replication effect sizes.</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z-curve meta-analyses (2022)</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Estimated replication rate ~50–60% across social sciences when correcting for publication bias in z-value distributions.</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Ioannidis (2005)</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Theoretical model: 'Why most published research findings are false' — when power is low, bias is present, and many hypotheses are tested, most significant findings are false positives.</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2 / 4</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FIELD-LEVEL PUBLICATION BIAS</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p-curve across literatures (2014)</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Diagnoses whether a body of literature has evidential value — flat or left-skewed distribution indicates absence of true effects or intense p-hacking.</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z-curve replication rate estimates (2022)</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Estimates expected replication success rate from published z-values; quantifies how much of a literature is likely false positive.</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TES excess significance (Ioannidis 2007)</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Compares expected to observed proportion of significant results given estimated power; significant excess implies file-drawer or p-hacking at field scale.</a:t>
            </a:r>
            <a:endParaRPr lang="en-US" sz="1100" dirty="0"/>
          </a:p>
        </p:txBody>
      </p:sp>
      <p:sp>
        <p:nvSpPr>
          <p:cNvPr id="24" name="Shape 22"/>
          <p:cNvSpPr/>
          <p:nvPr/>
        </p:nvSpPr>
        <p:spPr>
          <a:xfrm>
            <a:off x="438912" y="3273552"/>
            <a:ext cx="8321040" cy="0"/>
          </a:xfrm>
          <a:prstGeom prst="line">
            <a:avLst/>
          </a:prstGeom>
          <a:noFill/>
          <a:ln w="6350">
            <a:solidFill>
              <a:srgbClr val="E8E8E8"/>
            </a:solidFill>
            <a:prstDash val="solid"/>
          </a:ln>
        </p:spPr>
        <p:txBody>
          <a:bodyPr/>
          <a:lstStyle/>
          <a:p>
            <a:endParaRPr lang="en-US"/>
          </a:p>
        </p:txBody>
      </p:sp>
      <p:sp>
        <p:nvSpPr>
          <p:cNvPr id="25" name="Text 23"/>
          <p:cNvSpPr/>
          <p:nvPr/>
        </p:nvSpPr>
        <p:spPr>
          <a:xfrm>
            <a:off x="438912" y="3355848"/>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04</a:t>
            </a:r>
            <a:endParaRPr lang="en-US" sz="2000" dirty="0"/>
          </a:p>
        </p:txBody>
      </p:sp>
      <p:sp>
        <p:nvSpPr>
          <p:cNvPr id="26" name="Shape 24"/>
          <p:cNvSpPr/>
          <p:nvPr/>
        </p:nvSpPr>
        <p:spPr>
          <a:xfrm>
            <a:off x="950976" y="3392424"/>
            <a:ext cx="0" cy="502920"/>
          </a:xfrm>
          <a:prstGeom prst="line">
            <a:avLst/>
          </a:prstGeom>
          <a:noFill/>
          <a:ln w="6350">
            <a:solidFill>
              <a:srgbClr val="CCCCCC"/>
            </a:solidFill>
            <a:prstDash val="solid"/>
          </a:ln>
        </p:spPr>
        <p:txBody>
          <a:bodyPr/>
          <a:lstStyle/>
          <a:p>
            <a:endParaRPr lang="en-US"/>
          </a:p>
        </p:txBody>
      </p:sp>
      <p:sp>
        <p:nvSpPr>
          <p:cNvPr id="27" name="Text 25"/>
          <p:cNvSpPr/>
          <p:nvPr/>
        </p:nvSpPr>
        <p:spPr>
          <a:xfrm>
            <a:off x="1097280" y="3355848"/>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Bias-corrected meta-analysis</a:t>
            </a:r>
            <a:endParaRPr lang="en-US" sz="1200" dirty="0"/>
          </a:p>
        </p:txBody>
      </p:sp>
      <p:sp>
        <p:nvSpPr>
          <p:cNvPr id="28" name="Shape 26"/>
          <p:cNvSpPr/>
          <p:nvPr/>
        </p:nvSpPr>
        <p:spPr>
          <a:xfrm>
            <a:off x="3401568" y="3392424"/>
            <a:ext cx="0" cy="502920"/>
          </a:xfrm>
          <a:prstGeom prst="line">
            <a:avLst/>
          </a:prstGeom>
          <a:noFill/>
          <a:ln w="6350">
            <a:solidFill>
              <a:srgbClr val="E8E8E8"/>
            </a:solidFill>
            <a:prstDash val="solid"/>
          </a:ln>
        </p:spPr>
        <p:txBody>
          <a:bodyPr/>
          <a:lstStyle/>
          <a:p>
            <a:endParaRPr lang="en-US"/>
          </a:p>
        </p:txBody>
      </p:sp>
      <p:sp>
        <p:nvSpPr>
          <p:cNvPr id="29" name="Text 27"/>
          <p:cNvSpPr/>
          <p:nvPr/>
        </p:nvSpPr>
        <p:spPr>
          <a:xfrm>
            <a:off x="3566160" y="3355848"/>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PET-PEESE and robust Bayesian meta-analysis adjust for selection bias; provide less inflated effect size estimates for use in power calculations.</a:t>
            </a:r>
            <a:endParaRPr lang="en-US" sz="1100" dirty="0"/>
          </a:p>
        </p:txBody>
      </p:sp>
      <p:sp>
        <p:nvSpPr>
          <p:cNvPr id="30" name="Shape 28"/>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31" name="Shape 29"/>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2" name="Text 30"/>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33" name="Shape 31"/>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4" name="Text 32"/>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35" name="Shape 33"/>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6" name="Text 34"/>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37" name="Shape 35"/>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8" name="Text 36"/>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9" name="Text 37"/>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FIELD-LEVEL PUBLICATION BIAS</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Registered Reports format (2013–)</a:t>
            </a:r>
            <a:endParaRPr lang="en-US" sz="1200" dirty="0"/>
          </a:p>
        </p:txBody>
      </p:sp>
      <p:sp>
        <p:nvSpPr>
          <p:cNvPr id="10" name="Text 8"/>
          <p:cNvSpPr/>
          <p:nvPr/>
        </p:nvSpPr>
        <p:spPr>
          <a:xfrm>
            <a:off x="640080"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Peer review and acceptance before data collection; paper published regardless of results. Cleanest structural fix for field-level publication bias.</a:t>
            </a:r>
            <a:endParaRPr lang="en-US" sz="1050" dirty="0"/>
          </a:p>
        </p:txBody>
      </p:sp>
      <p:sp>
        <p:nvSpPr>
          <p:cNvPr id="11" name="Shape 9"/>
          <p:cNvSpPr/>
          <p:nvPr/>
        </p:nvSpPr>
        <p:spPr>
          <a:xfrm>
            <a:off x="438912" y="257860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Replication journals (AMPPS 2018)</a:t>
            </a:r>
            <a:endParaRPr lang="en-US" sz="1200" dirty="0"/>
          </a:p>
        </p:txBody>
      </p:sp>
      <p:sp>
        <p:nvSpPr>
          <p:cNvPr id="14" name="Text 12"/>
          <p:cNvSpPr/>
          <p:nvPr/>
        </p:nvSpPr>
        <p:spPr>
          <a:xfrm>
            <a:off x="640080"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Advances in Methods and Practices in Psychological Science: dedicated venue for pre-registered replications; Royal Society Open Science has a parallel track.</a:t>
            </a:r>
            <a:endParaRPr lang="en-US" sz="1050" dirty="0"/>
          </a:p>
        </p:txBody>
      </p:sp>
      <p:sp>
        <p:nvSpPr>
          <p:cNvPr id="15" name="Shape 13"/>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PLOS ONE outcomes-neutral review (2006)</a:t>
            </a:r>
            <a:endParaRPr lang="en-US" sz="1200" dirty="0"/>
          </a:p>
        </p:txBody>
      </p:sp>
      <p:sp>
        <p:nvSpPr>
          <p:cNvPr id="18" name="Text 16"/>
          <p:cNvSpPr/>
          <p:nvPr/>
        </p:nvSpPr>
        <p:spPr>
          <a:xfrm>
            <a:off x="5001768"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First major journal to accept based on methodological quality alone; model adopted by hundreds of journals since.</a:t>
            </a:r>
            <a:endParaRPr lang="en-US" sz="1050" dirty="0"/>
          </a:p>
        </p:txBody>
      </p:sp>
      <p:sp>
        <p:nvSpPr>
          <p:cNvPr id="19" name="Shape 17"/>
          <p:cNvSpPr/>
          <p:nvPr/>
        </p:nvSpPr>
        <p:spPr>
          <a:xfrm>
            <a:off x="4800600" y="257860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Pre-results peer review</a:t>
            </a:r>
            <a:endParaRPr lang="en-US" sz="1200" dirty="0"/>
          </a:p>
        </p:txBody>
      </p:sp>
      <p:sp>
        <p:nvSpPr>
          <p:cNvPr id="22" name="Text 20"/>
          <p:cNvSpPr/>
          <p:nvPr/>
        </p:nvSpPr>
        <p:spPr>
          <a:xfrm>
            <a:off x="5001768"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Editorial commitment before data collection or unblinding: the journal evaluates the question and design, not the outcome — eliminates incentive to selectively report.</a:t>
            </a:r>
            <a:endParaRPr lang="en-US" sz="105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INCENTIVE STRUCTURES</a:t>
            </a:r>
            <a:endParaRPr lang="en-US" sz="800" dirty="0"/>
          </a:p>
        </p:txBody>
      </p:sp>
      <p:sp>
        <p:nvSpPr>
          <p:cNvPr id="5" name="Text 3"/>
          <p:cNvSpPr/>
          <p:nvPr/>
        </p:nvSpPr>
        <p:spPr>
          <a:xfrm>
            <a:off x="438912" y="-61101"/>
            <a:ext cx="6800088" cy="1463040"/>
          </a:xfrm>
          <a:prstGeom prst="rect">
            <a:avLst/>
          </a:prstGeom>
          <a:noFill/>
          <a:ln/>
        </p:spPr>
        <p:txBody>
          <a:bodyPr wrap="square" lIns="0" tIns="0" rIns="0" bIns="0" rtlCol="0" anchor="ctr"/>
          <a:lstStyle/>
          <a:p>
            <a:pPr marL="0" indent="0">
              <a:buNone/>
            </a:pPr>
            <a:r>
              <a:rPr lang="en-US" sz="3200" b="1" dirty="0">
                <a:solidFill>
                  <a:srgbClr val="111111"/>
                </a:solidFill>
                <a:latin typeface="Calibri" pitchFamily="34" charset="0"/>
                <a:ea typeface="Calibri" pitchFamily="34" charset="-122"/>
                <a:cs typeface="Calibri" pitchFamily="34" charset="-120"/>
              </a:rPr>
              <a:t>PUBLISH-OR-PERISH &amp; APC ECONOMICS</a:t>
            </a:r>
            <a:endParaRPr lang="en-US" sz="26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463040"/>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Tenure and promotion tied to publication count and impact factor. NIH R01 success rates have declined from ~31% (2000) to ~19% (2024). APC-driven open access rewards volume over quality. Stapel (2011): 'The pressure became too much… I wanted too much, too fast.'</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NIH R01 SUCCESS RATES</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~31% (2000)</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 ~19% (2024)</a:t>
            </a:r>
            <a:endParaRPr lang="en-US" sz="2000" dirty="0"/>
          </a:p>
        </p:txBody>
      </p:sp>
      <p:sp>
        <p:nvSpPr>
          <p:cNvPr id="12" name="Text 10"/>
          <p:cNvSpPr/>
          <p:nvPr/>
        </p:nvSpPr>
        <p:spPr>
          <a:xfrm>
            <a:off x="5943600" y="2743200"/>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Historic decline in grant success rates intensifies competition and the pressure to produce significant publishable results at every stage of a research career.</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22" name="Text 2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1 / 4</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INCENTIVE STRUCTURES</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John et al. (2012, Psych Science)</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Career pressure correlated with self-reported QRPs in psychology survey; researchers at early career stages reported highest QRP rates.</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NIH historical success rate data</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R01 grant success rates fell from ~31% (2000) to ~19% (2024); the fraction of funded researchers is at a historic low.</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Elsevier profit: ~$3.6B (2023)</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Wiley/Hindawi collected APC revenue even for fraudulent paper-mill products before mass retraction — APC model creates incentive to accept regardless of quality.</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Fanelli (2010)</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Proportion of papers reporting 'positive' or 'expected' results increased over 20 years across disciplines; largest increases in applied and clinical fields.</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2 / 4</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INCENTIVE STRUCTURES</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Bibliometric audits</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Measure publication count, citation inflation, and h-index gaming by institution, country, or field; track how incentive changes affect output patterns.</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QRP prevalence surveys</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Periodic surveys benchmark self-reported questionable practices; John et al. (2012) model has been replicated across disciplines and countries.</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Retraction rate by institution</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Comparing institutional retraction rates to output identifies systematic problems; Retraction Watch database enables this analysis.</a:t>
            </a:r>
            <a:endParaRPr lang="en-US" sz="1100" dirty="0"/>
          </a:p>
        </p:txBody>
      </p:sp>
      <p:sp>
        <p:nvSpPr>
          <p:cNvPr id="24" name="Shape 22"/>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5" name="Shape 23"/>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6" name="Text 24"/>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7" name="Shape 25"/>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8" name="Text 26"/>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9" name="Shape 27"/>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0" name="Text 28"/>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31" name="Shape 29"/>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2" name="Text 30"/>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3" name="Text 31"/>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INCENTIVE STRUCTURES</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DORA declaration (San Francisco 2012)</a:t>
            </a:r>
            <a:endParaRPr lang="en-US" sz="1200" dirty="0"/>
          </a:p>
        </p:txBody>
      </p:sp>
      <p:sp>
        <p:nvSpPr>
          <p:cNvPr id="10" name="Text 8"/>
          <p:cNvSpPr/>
          <p:nvPr/>
        </p:nvSpPr>
        <p:spPr>
          <a:xfrm>
            <a:off x="640080"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Signatories commit to not using journal impact factor in hiring, promotion, or funding decisions; now has thousands of institutional signatories.</a:t>
            </a:r>
            <a:endParaRPr lang="en-US" sz="1050" dirty="0"/>
          </a:p>
        </p:txBody>
      </p:sp>
      <p:sp>
        <p:nvSpPr>
          <p:cNvPr id="11" name="Shape 9"/>
          <p:cNvSpPr/>
          <p:nvPr/>
        </p:nvSpPr>
        <p:spPr>
          <a:xfrm>
            <a:off x="438912" y="257860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Stockholm Declaration (2025)</a:t>
            </a:r>
            <a:endParaRPr lang="en-US" sz="1200" dirty="0"/>
          </a:p>
        </p:txBody>
      </p:sp>
      <p:sp>
        <p:nvSpPr>
          <p:cNvPr id="14" name="Text 12"/>
          <p:cNvSpPr/>
          <p:nvPr/>
        </p:nvSpPr>
        <p:spPr>
          <a:xfrm>
            <a:off x="640080"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34 specific actions including abandoning publication counting in hiring and tenure decisions; calls for structural reform of research assessment globally.</a:t>
            </a:r>
            <a:endParaRPr lang="en-US" sz="1050" dirty="0"/>
          </a:p>
        </p:txBody>
      </p:sp>
      <p:sp>
        <p:nvSpPr>
          <p:cNvPr id="15" name="Shape 13"/>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Leiden Manifesto (2015)</a:t>
            </a:r>
            <a:endParaRPr lang="en-US" sz="1200" dirty="0"/>
          </a:p>
        </p:txBody>
      </p:sp>
      <p:sp>
        <p:nvSpPr>
          <p:cNvPr id="18" name="Text 16"/>
          <p:cNvSpPr/>
          <p:nvPr/>
        </p:nvSpPr>
        <p:spPr>
          <a:xfrm>
            <a:off x="5001768"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10 principles for responsible use of quantitative metrics in research evaluation; counters over-reliance on publication count and JIF.</a:t>
            </a:r>
            <a:endParaRPr lang="en-US" sz="1050" dirty="0"/>
          </a:p>
        </p:txBody>
      </p:sp>
      <p:sp>
        <p:nvSpPr>
          <p:cNvPr id="19" name="Shape 17"/>
          <p:cNvSpPr/>
          <p:nvPr/>
        </p:nvSpPr>
        <p:spPr>
          <a:xfrm>
            <a:off x="4800600" y="257860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Diamond OA / subsidy models</a:t>
            </a:r>
            <a:endParaRPr lang="en-US" sz="1200" dirty="0"/>
          </a:p>
        </p:txBody>
      </p:sp>
      <p:sp>
        <p:nvSpPr>
          <p:cNvPr id="22" name="Text 20"/>
          <p:cNvSpPr/>
          <p:nvPr/>
        </p:nvSpPr>
        <p:spPr>
          <a:xfrm>
            <a:off x="5001768"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Decouples access from APC revenue; removes the financial incentive to accept papers regardless of quality; funded by institutions or funders directly.</a:t>
            </a:r>
            <a:endParaRPr lang="en-US" sz="105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LACK OF REPLICATION CULTURE</a:t>
            </a:r>
            <a:endParaRPr lang="en-US" sz="800" dirty="0"/>
          </a:p>
        </p:txBody>
      </p:sp>
      <p:sp>
        <p:nvSpPr>
          <p:cNvPr id="5" name="Text 3"/>
          <p:cNvSpPr/>
          <p:nvPr/>
        </p:nvSpPr>
        <p:spPr>
          <a:xfrm>
            <a:off x="438912" y="181360"/>
            <a:ext cx="7303008" cy="1005840"/>
          </a:xfrm>
          <a:prstGeom prst="rect">
            <a:avLst/>
          </a:prstGeom>
          <a:noFill/>
          <a:ln/>
        </p:spPr>
        <p:txBody>
          <a:bodyPr wrap="square" lIns="0" tIns="0" rIns="0" bIns="0" rtlCol="0" anchor="ctr"/>
          <a:lstStyle/>
          <a:p>
            <a:pPr marL="0" indent="0">
              <a:buNone/>
            </a:pPr>
            <a:r>
              <a:rPr lang="en-US" sz="4200" b="1" dirty="0">
                <a:solidFill>
                  <a:srgbClr val="111111"/>
                </a:solidFill>
                <a:latin typeface="Calibri" pitchFamily="34" charset="0"/>
                <a:ea typeface="Calibri" pitchFamily="34" charset="-122"/>
                <a:cs typeface="Calibri" pitchFamily="34" charset="-120"/>
              </a:rPr>
              <a:t>LACK OF REPLICATION CULTURE</a:t>
            </a:r>
            <a:endParaRPr lang="en-US" sz="36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16736"/>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No career credit for replication studies. Novel findings rewarded over verification. Failed replications difficult to publish in top journals. Fraud-detection work by volunteer sleuths receives no formal academic credit despite enormous public value.</a:t>
            </a:r>
            <a:endParaRPr lang="en-US" sz="1350" dirty="0"/>
          </a:p>
        </p:txBody>
      </p:sp>
      <p:sp>
        <p:nvSpPr>
          <p:cNvPr id="8" name="Shape 6"/>
          <p:cNvSpPr/>
          <p:nvPr/>
        </p:nvSpPr>
        <p:spPr>
          <a:xfrm>
            <a:off x="5760720" y="1316735"/>
            <a:ext cx="2944368" cy="2677059"/>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469898"/>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MUELLER-LANGER ET AL. (2019)</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&lt; 0.1% of top</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economics papers</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were replications</a:t>
            </a:r>
            <a:endParaRPr lang="en-US" sz="2000" dirty="0"/>
          </a:p>
        </p:txBody>
      </p:sp>
      <p:sp>
        <p:nvSpPr>
          <p:cNvPr id="12" name="Text 10"/>
          <p:cNvSpPr/>
          <p:nvPr/>
        </p:nvSpPr>
        <p:spPr>
          <a:xfrm>
            <a:off x="5943600" y="2883408"/>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Among top 50 economics journals 1974–2014. Psychology is modestly better — ~1% of top 100 journal articles since 1900 qualify as replications.</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22" name="Text 2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1 / 4</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LACK OF REPLICATION CULTURE</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Mueller-Langer et al. (2019)</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Fewer than 0.1% of articles published in top 50 economics journals from 1974 to 2014 were replications — an almost complete absence of verification.</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Makel, Plucker &amp; Hegarty (2012)</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Approximately 1% of articles in top 100 psychology journals since 1900 qualify as replications; the rate has improved since 2011 but remains very low.</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Many Labs 1–4 (2013–2018)</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Large variation in replication success; original effect size is the most reliable predictor of replication outcome — large effects replicate, small ones often do not.</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No credit for sleuthing</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Elisabeth Bik left a stable industry position to do integrity work full-time — financially precarious and professionally unrecognised by standard academic metrics.</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2 / 4</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LACK OF REPLICATION CULTURE</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OSC Reproducibility Project (2015)</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First large-scale systematic assessment; 100 psychology studies replicated across dozens of independent teams — established the benchmark for field-level replication work.</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Many Labs projects (2013–2018)</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Multi-site coordinated replications enabling detection of context dependence vs. genuine failure to replicate; Many Labs 2 tested 28 effects in 36 countries.</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Institute for Replication (i4rep, 2022–)</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Independent infrastructure for economics and social science replication; connects replicators with original authors and journals for efficient verification.</a:t>
            </a:r>
            <a:endParaRPr lang="en-US" sz="1100" dirty="0"/>
          </a:p>
        </p:txBody>
      </p:sp>
      <p:sp>
        <p:nvSpPr>
          <p:cNvPr id="24" name="Shape 22"/>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5" name="Shape 23"/>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6" name="Text 24"/>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7" name="Shape 25"/>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8" name="Text 26"/>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9" name="Shape 27"/>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0" name="Text 28"/>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31" name="Shape 29"/>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2" name="Text 30"/>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3" name="Text 31"/>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LACK OF REPLICATION CULTURE</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CRediT taxonomy (CASRAI 2014)</a:t>
            </a:r>
            <a:endParaRPr lang="en-US" sz="1200" dirty="0"/>
          </a:p>
        </p:txBody>
      </p:sp>
      <p:sp>
        <p:nvSpPr>
          <p:cNvPr id="10" name="Text 8"/>
          <p:cNvSpPr/>
          <p:nvPr/>
        </p:nvSpPr>
        <p:spPr>
          <a:xfrm>
            <a:off x="640080"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14 contributor roles including 'Validation' — enables replication credit in the author byline; standardised across thousands of journals.</a:t>
            </a:r>
            <a:endParaRPr lang="en-US" sz="1050" dirty="0"/>
          </a:p>
        </p:txBody>
      </p:sp>
      <p:sp>
        <p:nvSpPr>
          <p:cNvPr id="11" name="Shape 9"/>
          <p:cNvSpPr/>
          <p:nvPr/>
        </p:nvSpPr>
        <p:spPr>
          <a:xfrm>
            <a:off x="438912" y="257860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Sleuths in Residence (RW, 2024)</a:t>
            </a:r>
            <a:endParaRPr lang="en-US" sz="1200" dirty="0"/>
          </a:p>
        </p:txBody>
      </p:sp>
      <p:sp>
        <p:nvSpPr>
          <p:cNvPr id="14" name="Text 12"/>
          <p:cNvSpPr/>
          <p:nvPr/>
        </p:nvSpPr>
        <p:spPr>
          <a:xfrm>
            <a:off x="640080"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Paid positions for science integrity advocates at Retraction Watch; formal recognition and support for a role that was entirely volunteer-based.</a:t>
            </a:r>
            <a:endParaRPr lang="en-US" sz="1050" dirty="0"/>
          </a:p>
        </p:txBody>
      </p:sp>
      <p:sp>
        <p:nvSpPr>
          <p:cNvPr id="15" name="Shape 13"/>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Replication journals &amp; tracks</a:t>
            </a:r>
            <a:endParaRPr lang="en-US" sz="1200" dirty="0"/>
          </a:p>
        </p:txBody>
      </p:sp>
      <p:sp>
        <p:nvSpPr>
          <p:cNvPr id="18" name="Text 16"/>
          <p:cNvSpPr/>
          <p:nvPr/>
        </p:nvSpPr>
        <p:spPr>
          <a:xfrm>
            <a:off x="5001768"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Advances in Methods and Practices in Psychological Science (AMPPS, 2018); Royal Society Open Science replication track; Journal of Negative Results.</a:t>
            </a:r>
            <a:endParaRPr lang="en-US" sz="1050" dirty="0"/>
          </a:p>
        </p:txBody>
      </p:sp>
      <p:sp>
        <p:nvSpPr>
          <p:cNvPr id="19" name="Shape 17"/>
          <p:cNvSpPr/>
          <p:nvPr/>
        </p:nvSpPr>
        <p:spPr>
          <a:xfrm>
            <a:off x="4800600" y="257860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Big Team Science / PSA (2017–)</a:t>
            </a:r>
            <a:endParaRPr lang="en-US" sz="1200" dirty="0"/>
          </a:p>
        </p:txBody>
      </p:sp>
      <p:sp>
        <p:nvSpPr>
          <p:cNvPr id="22" name="Text 20"/>
          <p:cNvSpPr/>
          <p:nvPr/>
        </p:nvSpPr>
        <p:spPr>
          <a:xfrm>
            <a:off x="5001768"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Psychological Science Accelerator: large multi-site collaborations that build replication into initial study design; Many Labs format institutionalised.</a:t>
            </a:r>
            <a:endParaRPr lang="en-US" sz="105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POOR DATA STEWARDSHIP</a:t>
            </a:r>
            <a:endParaRPr lang="en-US" sz="800" dirty="0"/>
          </a:p>
        </p:txBody>
      </p:sp>
      <p:sp>
        <p:nvSpPr>
          <p:cNvPr id="5" name="Text 3"/>
          <p:cNvSpPr/>
          <p:nvPr/>
        </p:nvSpPr>
        <p:spPr>
          <a:xfrm>
            <a:off x="438912" y="-102661"/>
            <a:ext cx="8430768" cy="1463040"/>
          </a:xfrm>
          <a:prstGeom prst="rect">
            <a:avLst/>
          </a:prstGeom>
          <a:noFill/>
          <a:ln/>
        </p:spPr>
        <p:txBody>
          <a:bodyPr wrap="square" lIns="0" tIns="0" rIns="0" bIns="0" rtlCol="0" anchor="ctr"/>
          <a:lstStyle/>
          <a:p>
            <a:pPr marL="0" indent="0">
              <a:buNone/>
            </a:pPr>
            <a:r>
              <a:rPr lang="en-US" sz="3200" b="1" dirty="0">
                <a:solidFill>
                  <a:srgbClr val="111111"/>
                </a:solidFill>
                <a:latin typeface="Calibri" pitchFamily="34" charset="0"/>
                <a:ea typeface="Calibri" pitchFamily="34" charset="-122"/>
                <a:cs typeface="Calibri" pitchFamily="34" charset="-120"/>
              </a:rPr>
              <a:t>POOR DATA STEWARDSHIP &amp; </a:t>
            </a:r>
            <a:br>
              <a:rPr lang="en-US" sz="3200" b="1" dirty="0">
                <a:solidFill>
                  <a:srgbClr val="111111"/>
                </a:solidFill>
                <a:latin typeface="Calibri" pitchFamily="34" charset="0"/>
                <a:ea typeface="Calibri" pitchFamily="34" charset="-122"/>
                <a:cs typeface="Calibri" pitchFamily="34" charset="-120"/>
              </a:rPr>
            </a:br>
            <a:r>
              <a:rPr lang="en-US" sz="3200" b="1" dirty="0">
                <a:solidFill>
                  <a:srgbClr val="111111"/>
                </a:solidFill>
                <a:latin typeface="Calibri" pitchFamily="34" charset="0"/>
                <a:ea typeface="Calibri" pitchFamily="34" charset="-122"/>
                <a:cs typeface="Calibri" pitchFamily="34" charset="-120"/>
              </a:rPr>
              <a:t>INACCESSIBLE RESEARCH</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463040"/>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Data lost after publication through staff turnover, institutional change, or format obsolescence. Code not shared or not executable. No persistent identifiers. Barriers to auditing allow errors and fraud to persist undetected for years after publication.</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VINES ET AL. (2014)</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buNone/>
            </a:pPr>
            <a:r>
              <a:rPr lang="en-US" sz="2000" b="1" dirty="0">
                <a:solidFill>
                  <a:srgbClr val="111111"/>
                </a:solidFill>
                <a:latin typeface="Calibri" pitchFamily="34" charset="0"/>
                <a:ea typeface="Calibri" pitchFamily="34" charset="-122"/>
                <a:cs typeface="Calibri" pitchFamily="34" charset="-120"/>
              </a:rPr>
              <a:t>Data availability</a:t>
            </a:r>
            <a:endParaRPr lang="en-US" sz="2000" dirty="0"/>
          </a:p>
          <a:p>
            <a:pPr marL="0" indent="0">
              <a:buNone/>
            </a:pPr>
            <a:r>
              <a:rPr lang="en-US" sz="2000" b="1" dirty="0">
                <a:solidFill>
                  <a:srgbClr val="111111"/>
                </a:solidFill>
                <a:latin typeface="Calibri" pitchFamily="34" charset="0"/>
                <a:ea typeface="Calibri" pitchFamily="34" charset="-122"/>
                <a:cs typeface="Calibri" pitchFamily="34" charset="-120"/>
              </a:rPr>
              <a:t>declines ~17%</a:t>
            </a:r>
            <a:endParaRPr lang="en-US" sz="2000" dirty="0"/>
          </a:p>
          <a:p>
            <a:pPr marL="0" indent="0">
              <a:buNone/>
            </a:pPr>
            <a:r>
              <a:rPr lang="en-US" sz="2000" b="1" dirty="0">
                <a:solidFill>
                  <a:srgbClr val="111111"/>
                </a:solidFill>
                <a:latin typeface="Calibri" pitchFamily="34" charset="0"/>
                <a:ea typeface="Calibri" pitchFamily="34" charset="-122"/>
                <a:cs typeface="Calibri" pitchFamily="34" charset="-120"/>
              </a:rPr>
              <a:t>per year</a:t>
            </a:r>
            <a:endParaRPr lang="en-US" sz="2000" dirty="0"/>
          </a:p>
        </p:txBody>
      </p:sp>
      <p:sp>
        <p:nvSpPr>
          <p:cNvPr id="12" name="Text 10"/>
          <p:cNvSpPr/>
          <p:nvPr/>
        </p:nvSpPr>
        <p:spPr>
          <a:xfrm>
            <a:off x="5943600" y="2826324"/>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After publication. A paper 20 years old has a near-zero probability of yielding recoverable data on request — regardless of any stated availability.</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22" name="Text 2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1 / 4</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POOR DATA STEWARDSHIP</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Stodden, Seiler &amp; Ma (2018, Science)</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Contacted authors of 204 Science papers — only 26% shared data and code on request, despite the journal's data policy requiring it.</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Gabelica et al. (2022)</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3,556 biomedical papers with data availability statements: 79% of the data was unavailable when actually requested from the authors.</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Vines et al. (2014)</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Data availability declines ~17% per year after publication — a paper from 20 years ago has virtually no recoverable data, regardless of its stated availability.</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Eklund et al. (2016, PNAS)</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fMRI software bug was discoverable only because researchers eventually obtained access to the original processing pipeline — data access enabled the correction.</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2 / 4</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POOR DATA STEWARDSHIP</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Computational reproducibility checks</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Independent researchers attempt to re-run published code on shared data; the gap between 'data available' and 'data actually usable' is diagnostic.</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Data availability statement audits</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Track compliance between stated and actual data access; Gabelica et al. (2022) documented the gap at 79% unavailability despite stated availability.</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FAIR compliance assessment tools (2021–)</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Automated scoring of datasets against Findability, Accessibility, Interoperability, Reusability criteria; FAIRshake and F-UJI used by funders.</a:t>
            </a:r>
            <a:endParaRPr lang="en-US" sz="1100" dirty="0"/>
          </a:p>
        </p:txBody>
      </p:sp>
      <p:sp>
        <p:nvSpPr>
          <p:cNvPr id="24" name="Shape 22"/>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5" name="Shape 23"/>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6" name="Text 24"/>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7" name="Shape 25"/>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8" name="Text 26"/>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9" name="Shape 27"/>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0" name="Text 28"/>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31" name="Shape 29"/>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2" name="Text 30"/>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3" name="Text 31"/>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POOR DATA STEWARDSHIP</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20624" y="1054304"/>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FAIR data principles (2016)</a:t>
            </a:r>
            <a:endParaRPr lang="en-US" sz="1200" dirty="0"/>
          </a:p>
        </p:txBody>
      </p:sp>
      <p:sp>
        <p:nvSpPr>
          <p:cNvPr id="10" name="Text 8"/>
          <p:cNvSpPr/>
          <p:nvPr/>
        </p:nvSpPr>
        <p:spPr>
          <a:xfrm>
            <a:off x="640080" y="1700784"/>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Wilkinson et al.: Findable, Accessible, Interoperable, Reusable — the foundational framework now adopted by NIH, NSF, Wellcome, and most major funders.</a:t>
            </a:r>
            <a:endParaRPr lang="en-US" sz="1050" dirty="0"/>
          </a:p>
        </p:txBody>
      </p:sp>
      <p:sp>
        <p:nvSpPr>
          <p:cNvPr id="11" name="Shape 9"/>
          <p:cNvSpPr/>
          <p:nvPr/>
        </p:nvSpPr>
        <p:spPr>
          <a:xfrm>
            <a:off x="438912" y="239572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52374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48716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Zenodo / Figshare / Dryad / OSF (2012–)</a:t>
            </a:r>
            <a:endParaRPr lang="en-US" sz="1200" dirty="0"/>
          </a:p>
        </p:txBody>
      </p:sp>
      <p:sp>
        <p:nvSpPr>
          <p:cNvPr id="14" name="Text 12"/>
          <p:cNvSpPr/>
          <p:nvPr/>
        </p:nvSpPr>
        <p:spPr>
          <a:xfrm>
            <a:off x="640080" y="2798064"/>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Free infrastructure for depositing research data and code; institutional repositories supplemented by these discipline-agnostic platforms.</a:t>
            </a:r>
            <a:endParaRPr lang="en-US" sz="1050" dirty="0"/>
          </a:p>
        </p:txBody>
      </p:sp>
      <p:sp>
        <p:nvSpPr>
          <p:cNvPr id="15" name="Shape 13"/>
          <p:cNvSpPr/>
          <p:nvPr/>
        </p:nvSpPr>
        <p:spPr>
          <a:xfrm>
            <a:off x="438912" y="349300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38912" y="362102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640080" y="35844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RO-Crate packaging (2019–)</a:t>
            </a:r>
            <a:endParaRPr lang="en-US" sz="1200" dirty="0"/>
          </a:p>
        </p:txBody>
      </p:sp>
      <p:sp>
        <p:nvSpPr>
          <p:cNvPr id="18" name="Text 16"/>
          <p:cNvSpPr/>
          <p:nvPr/>
        </p:nvSpPr>
        <p:spPr>
          <a:xfrm>
            <a:off x="640080" y="3895344"/>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Container format preserving data, code, metadata, and provenance information together — the research object as a citable, shareable, executable unit.</a:t>
            </a:r>
            <a:endParaRPr lang="en-US" sz="1050" dirty="0"/>
          </a:p>
        </p:txBody>
      </p:sp>
      <p:sp>
        <p:nvSpPr>
          <p:cNvPr id="19" name="Shape 17"/>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NIH data sharing mandate (2023)</a:t>
            </a:r>
            <a:endParaRPr lang="en-US" sz="1200" dirty="0"/>
          </a:p>
        </p:txBody>
      </p:sp>
      <p:sp>
        <p:nvSpPr>
          <p:cNvPr id="22" name="Text 20"/>
          <p:cNvSpPr/>
          <p:nvPr/>
        </p:nvSpPr>
        <p:spPr>
          <a:xfrm>
            <a:off x="5001768" y="1700784"/>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All NIH-funded research must deposit data in a public repository meeting FAIR standards; largest single mandate in research data history.</a:t>
            </a:r>
            <a:endParaRPr lang="en-US" sz="1050" dirty="0"/>
          </a:p>
        </p:txBody>
      </p:sp>
      <p:sp>
        <p:nvSpPr>
          <p:cNvPr id="23" name="Shape 21"/>
          <p:cNvSpPr/>
          <p:nvPr/>
        </p:nvSpPr>
        <p:spPr>
          <a:xfrm>
            <a:off x="4800600" y="2395728"/>
            <a:ext cx="4160520" cy="0"/>
          </a:xfrm>
          <a:prstGeom prst="line">
            <a:avLst/>
          </a:prstGeom>
          <a:noFill/>
          <a:ln w="9525">
            <a:solidFill>
              <a:srgbClr val="CCCCCC"/>
            </a:solidFill>
            <a:prstDash val="solid"/>
          </a:ln>
        </p:spPr>
        <p:txBody>
          <a:bodyPr/>
          <a:lstStyle/>
          <a:p>
            <a:endParaRPr lang="en-US"/>
          </a:p>
        </p:txBody>
      </p:sp>
      <p:sp>
        <p:nvSpPr>
          <p:cNvPr id="24" name="Shape 22"/>
          <p:cNvSpPr/>
          <p:nvPr/>
        </p:nvSpPr>
        <p:spPr>
          <a:xfrm>
            <a:off x="4800600" y="2523744"/>
            <a:ext cx="100584" cy="100584"/>
          </a:xfrm>
          <a:prstGeom prst="rect">
            <a:avLst/>
          </a:prstGeom>
          <a:solidFill>
            <a:srgbClr val="111111"/>
          </a:solidFill>
          <a:ln w="12700">
            <a:solidFill>
              <a:srgbClr val="111111"/>
            </a:solidFill>
            <a:prstDash val="solid"/>
          </a:ln>
        </p:spPr>
        <p:txBody>
          <a:bodyPr/>
          <a:lstStyle/>
          <a:p>
            <a:endParaRPr lang="en-US"/>
          </a:p>
        </p:txBody>
      </p:sp>
      <p:sp>
        <p:nvSpPr>
          <p:cNvPr id="25" name="Text 23"/>
          <p:cNvSpPr/>
          <p:nvPr/>
        </p:nvSpPr>
        <p:spPr>
          <a:xfrm>
            <a:off x="5001768" y="248716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Data DOIs &amp; versioning (DataCite 2009–)</a:t>
            </a:r>
            <a:endParaRPr lang="en-US" sz="1200" dirty="0"/>
          </a:p>
        </p:txBody>
      </p:sp>
      <p:sp>
        <p:nvSpPr>
          <p:cNvPr id="26" name="Text 24"/>
          <p:cNvSpPr/>
          <p:nvPr/>
        </p:nvSpPr>
        <p:spPr>
          <a:xfrm>
            <a:off x="5001768" y="2798064"/>
            <a:ext cx="3840480" cy="59436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Persistent identifiers for datasets; version tracking ensures the exact dataset used in a paper is permanently citable and distinguishable from later versions.</a:t>
            </a:r>
            <a:endParaRPr lang="en-US" sz="1050" dirty="0"/>
          </a:p>
        </p:txBody>
      </p:sp>
      <p:sp>
        <p:nvSpPr>
          <p:cNvPr id="27" name="Shape 25"/>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8" name="Shape 26"/>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30" name="Shape 28"/>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32" name="Shape 30"/>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3" name="Text 31"/>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4" name="Shape 32"/>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5" name="Text 33"/>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6" name="Text 34"/>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REVIEWER BURNOUT</a:t>
            </a:r>
            <a:endParaRPr lang="en-US" sz="800" dirty="0"/>
          </a:p>
        </p:txBody>
      </p:sp>
      <p:sp>
        <p:nvSpPr>
          <p:cNvPr id="5" name="Text 3"/>
          <p:cNvSpPr/>
          <p:nvPr/>
        </p:nvSpPr>
        <p:spPr>
          <a:xfrm>
            <a:off x="475488" y="-128016"/>
            <a:ext cx="7607808" cy="1463040"/>
          </a:xfrm>
          <a:prstGeom prst="rect">
            <a:avLst/>
          </a:prstGeom>
          <a:noFill/>
          <a:ln/>
        </p:spPr>
        <p:txBody>
          <a:bodyPr wrap="square" lIns="0" tIns="0" rIns="0" bIns="0" rtlCol="0" anchor="ctr"/>
          <a:lstStyle/>
          <a:p>
            <a:pPr marL="0" indent="0">
              <a:buNone/>
            </a:pPr>
            <a:r>
              <a:rPr lang="en-US" sz="3200" b="1" dirty="0">
                <a:solidFill>
                  <a:srgbClr val="111111"/>
                </a:solidFill>
                <a:latin typeface="Calibri" pitchFamily="34" charset="0"/>
                <a:ea typeface="Calibri" pitchFamily="34" charset="-122"/>
                <a:cs typeface="Calibri" pitchFamily="34" charset="-120"/>
              </a:rPr>
              <a:t>REVIEWER BURNOUT &amp; DECLINING PEER REVIEW QUALITY</a:t>
            </a:r>
            <a:endParaRPr lang="en-US" sz="26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463040"/>
            <a:ext cx="4937760" cy="2468880"/>
          </a:xfrm>
          <a:prstGeom prst="rect">
            <a:avLst/>
          </a:prstGeom>
          <a:noFill/>
          <a:ln/>
        </p:spPr>
        <p:txBody>
          <a:bodyPr wrap="square" lIns="0" tIns="0" rIns="0" bIns="0" rtlCol="0" anchor="ctr"/>
          <a:lstStyle/>
          <a:p>
            <a:pPr marL="0" indent="0">
              <a:lnSpc>
                <a:spcPct val="160000"/>
              </a:lnSpc>
              <a:buNone/>
            </a:pPr>
            <a:r>
              <a:rPr lang="en-US" sz="1350" dirty="0">
                <a:solidFill>
                  <a:srgbClr val="555555"/>
                </a:solidFill>
                <a:latin typeface="Calibri" pitchFamily="34" charset="0"/>
                <a:ea typeface="Calibri" pitchFamily="34" charset="-122"/>
                <a:cs typeface="Calibri" pitchFamily="34" charset="-120"/>
              </a:rPr>
              <a:t>Volume of manuscript submissions far exceeds reviewer capacity. AI-generated submissions are accelerating the problem. Superficial review allows errors and fraud through. The system relies on uncompensated expert labour with no formal career credit mechanism.</a:t>
            </a:r>
            <a:endParaRPr lang="en-US" sz="1350" dirty="0"/>
          </a:p>
        </p:txBody>
      </p:sp>
      <p:sp>
        <p:nvSpPr>
          <p:cNvPr id="8" name="Shape 6"/>
          <p:cNvSpPr/>
          <p:nvPr/>
        </p:nvSpPr>
        <p:spPr>
          <a:xfrm>
            <a:off x="5760720" y="1316736"/>
            <a:ext cx="2944368" cy="2468880"/>
          </a:xfrm>
          <a:prstGeom prst="rect">
            <a:avLst/>
          </a:prstGeom>
          <a:solidFill>
            <a:srgbClr val="FFFFFF"/>
          </a:solidFill>
          <a:ln w="9525">
            <a:solidFill>
              <a:srgbClr val="CCCCCC"/>
            </a:solidFill>
            <a:prstDash val="solid"/>
          </a:ln>
        </p:spPr>
        <p:txBody>
          <a:bodyPr/>
          <a:lstStyle/>
          <a:p>
            <a:endParaRPr lang="en-US"/>
          </a:p>
        </p:txBody>
      </p:sp>
      <p:sp>
        <p:nvSpPr>
          <p:cNvPr id="9" name="Text 7"/>
          <p:cNvSpPr/>
          <p:nvPr/>
        </p:nvSpPr>
        <p:spPr>
          <a:xfrm>
            <a:off x="5943600" y="1536192"/>
            <a:ext cx="2560320" cy="320040"/>
          </a:xfrm>
          <a:prstGeom prst="rect">
            <a:avLst/>
          </a:prstGeom>
          <a:noFill/>
          <a:ln/>
        </p:spPr>
        <p:txBody>
          <a:bodyPr wrap="square" lIns="0" tIns="0" rIns="0" bIns="0" rtlCol="0" anchor="ctr"/>
          <a:lstStyle/>
          <a:p>
            <a:pPr marL="0" indent="0">
              <a:buNone/>
            </a:pPr>
            <a:r>
              <a:rPr lang="en-US" sz="900" b="1" kern="0" spc="150" dirty="0">
                <a:solidFill>
                  <a:srgbClr val="111111"/>
                </a:solidFill>
                <a:latin typeface="Calibri" pitchFamily="34" charset="0"/>
                <a:ea typeface="Calibri" pitchFamily="34" charset="-122"/>
                <a:cs typeface="Calibri" pitchFamily="34" charset="-120"/>
              </a:rPr>
              <a:t>BRUBAKER (2023)</a:t>
            </a:r>
            <a:endParaRPr lang="en-US" sz="900" dirty="0"/>
          </a:p>
        </p:txBody>
      </p:sp>
      <p:sp>
        <p:nvSpPr>
          <p:cNvPr id="10" name="Shape 8"/>
          <p:cNvSpPr/>
          <p:nvPr/>
        </p:nvSpPr>
        <p:spPr>
          <a:xfrm>
            <a:off x="5943600" y="1883664"/>
            <a:ext cx="2468880" cy="0"/>
          </a:xfrm>
          <a:prstGeom prst="line">
            <a:avLst/>
          </a:prstGeom>
          <a:noFill/>
          <a:ln w="6350">
            <a:solidFill>
              <a:srgbClr val="CCCCCC"/>
            </a:solidFill>
            <a:prstDash val="solid"/>
          </a:ln>
        </p:spPr>
        <p:txBody>
          <a:bodyPr/>
          <a:lstStyle/>
          <a:p>
            <a:endParaRPr lang="en-US"/>
          </a:p>
        </p:txBody>
      </p:sp>
      <p:sp>
        <p:nvSpPr>
          <p:cNvPr id="11" name="Text 9"/>
          <p:cNvSpPr/>
          <p:nvPr/>
        </p:nvSpPr>
        <p:spPr>
          <a:xfrm>
            <a:off x="5943600" y="1993392"/>
            <a:ext cx="2560320" cy="658368"/>
          </a:xfrm>
          <a:prstGeom prst="rect">
            <a:avLst/>
          </a:prstGeom>
          <a:noFill/>
          <a:ln/>
        </p:spPr>
        <p:txBody>
          <a:bodyPr wrap="square" lIns="0" tIns="0" rIns="0" bIns="0" rtlCol="0" anchor="ctr"/>
          <a:lstStyle/>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~15 million review</a:t>
            </a:r>
            <a:endParaRPr lang="en-US" sz="2000" dirty="0"/>
          </a:p>
          <a:p>
            <a:pPr marL="0" indent="0">
              <a:lnSpc>
                <a:spcPct val="120000"/>
              </a:lnSpc>
              <a:buNone/>
            </a:pPr>
            <a:r>
              <a:rPr lang="en-US" sz="2000" b="1" dirty="0">
                <a:solidFill>
                  <a:srgbClr val="111111"/>
                </a:solidFill>
                <a:latin typeface="Calibri" pitchFamily="34" charset="0"/>
                <a:ea typeface="Calibri" pitchFamily="34" charset="-122"/>
                <a:cs typeface="Calibri" pitchFamily="34" charset="-120"/>
              </a:rPr>
              <a:t>hours wasted annually</a:t>
            </a:r>
            <a:endParaRPr lang="en-US" sz="2000" dirty="0"/>
          </a:p>
        </p:txBody>
      </p:sp>
      <p:sp>
        <p:nvSpPr>
          <p:cNvPr id="12" name="Text 10"/>
          <p:cNvSpPr/>
          <p:nvPr/>
        </p:nvSpPr>
        <p:spPr>
          <a:xfrm>
            <a:off x="5943600" y="2743200"/>
            <a:ext cx="2560320" cy="91440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Estimated on papers that are desk-rejected without being reviewed — reviewer time consumed before any editorial decision, with zero scientific benefit.</a:t>
            </a:r>
            <a:endParaRPr lang="en-US" sz="1050" dirty="0"/>
          </a:p>
        </p:txBody>
      </p:sp>
      <p:sp>
        <p:nvSpPr>
          <p:cNvPr id="13" name="Shape 1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14" name="Shape 12"/>
          <p:cNvSpPr/>
          <p:nvPr/>
        </p:nvSpPr>
        <p:spPr>
          <a:xfrm>
            <a:off x="36576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15" name="Text 1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INTRO</a:t>
            </a:r>
            <a:endParaRPr lang="en-US" sz="750" dirty="0"/>
          </a:p>
        </p:txBody>
      </p:sp>
      <p:sp>
        <p:nvSpPr>
          <p:cNvPr id="16" name="Shape 1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7" name="Text 1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18" name="Shape 1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19" name="Text 1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20" name="Shape 1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1" name="Text 1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22" name="Text 2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1 / 4</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REVIEWER BURNOUT</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EVIDENCE OF SCOPE</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01</a:t>
            </a:r>
            <a:endParaRPr lang="en-US" sz="3600" dirty="0"/>
          </a:p>
        </p:txBody>
      </p:sp>
      <p:sp>
        <p:nvSpPr>
          <p:cNvPr id="8" name="Text 6"/>
          <p:cNvSpPr/>
          <p:nvPr/>
        </p:nvSpPr>
        <p:spPr>
          <a:xfrm>
            <a:off x="969264"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Publons Global State of Peer Review (2018)</a:t>
            </a:r>
            <a:endParaRPr lang="en-US" sz="1100" dirty="0"/>
          </a:p>
        </p:txBody>
      </p:sp>
      <p:sp>
        <p:nvSpPr>
          <p:cNvPr id="9" name="Shape 7"/>
          <p:cNvSpPr/>
          <p:nvPr/>
        </p:nvSpPr>
        <p:spPr>
          <a:xfrm>
            <a:off x="969264" y="1719072"/>
            <a:ext cx="3429000" cy="0"/>
          </a:xfrm>
          <a:prstGeom prst="line">
            <a:avLst/>
          </a:prstGeom>
          <a:noFill/>
          <a:ln w="6350">
            <a:solidFill>
              <a:srgbClr val="E8E8E8"/>
            </a:solidFill>
            <a:prstDash val="solid"/>
          </a:ln>
        </p:spPr>
        <p:txBody>
          <a:bodyPr/>
          <a:lstStyle/>
          <a:p>
            <a:endParaRPr lang="en-US"/>
          </a:p>
        </p:txBody>
      </p:sp>
      <p:sp>
        <p:nvSpPr>
          <p:cNvPr id="10" name="Text 8"/>
          <p:cNvSpPr/>
          <p:nvPr/>
        </p:nvSpPr>
        <p:spPr>
          <a:xfrm>
            <a:off x="969264"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Reviewer workload growing faster than the research community; declining willingness to review; ~15M review requests per year globally estimated.</a:t>
            </a:r>
            <a:endParaRPr lang="en-US" sz="1100" dirty="0"/>
          </a:p>
        </p:txBody>
      </p:sp>
      <p:sp>
        <p:nvSpPr>
          <p:cNvPr id="11" name="Text 9"/>
          <p:cNvSpPr/>
          <p:nvPr/>
        </p:nvSpPr>
        <p:spPr>
          <a:xfrm>
            <a:off x="4809744" y="124358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5340096" y="131673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Brubaker (2023)</a:t>
            </a:r>
            <a:endParaRPr lang="en-US" sz="1100" dirty="0"/>
          </a:p>
        </p:txBody>
      </p:sp>
      <p:sp>
        <p:nvSpPr>
          <p:cNvPr id="13" name="Shape 11"/>
          <p:cNvSpPr/>
          <p:nvPr/>
        </p:nvSpPr>
        <p:spPr>
          <a:xfrm>
            <a:off x="5340096" y="1719072"/>
            <a:ext cx="3429000" cy="0"/>
          </a:xfrm>
          <a:prstGeom prst="line">
            <a:avLst/>
          </a:prstGeom>
          <a:noFill/>
          <a:ln w="6350">
            <a:solidFill>
              <a:srgbClr val="E8E8E8"/>
            </a:solidFill>
            <a:prstDash val="solid"/>
          </a:ln>
        </p:spPr>
        <p:txBody>
          <a:bodyPr/>
          <a:lstStyle/>
          <a:p>
            <a:endParaRPr lang="en-US"/>
          </a:p>
        </p:txBody>
      </p:sp>
      <p:sp>
        <p:nvSpPr>
          <p:cNvPr id="14" name="Text 12"/>
          <p:cNvSpPr/>
          <p:nvPr/>
        </p:nvSpPr>
        <p:spPr>
          <a:xfrm>
            <a:off x="5340096" y="181051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Estimated ~15 million peer review hours wasted annually on papers that are desk-rejected without review — before any editorial decision is made.</a:t>
            </a:r>
            <a:endParaRPr lang="en-US" sz="1100" dirty="0"/>
          </a:p>
        </p:txBody>
      </p:sp>
      <p:sp>
        <p:nvSpPr>
          <p:cNvPr id="15" name="Text 13"/>
          <p:cNvSpPr/>
          <p:nvPr/>
        </p:nvSpPr>
        <p:spPr>
          <a:xfrm>
            <a:off x="438912"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969264"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Nature (2023–)</a:t>
            </a:r>
            <a:endParaRPr lang="en-US" sz="1100" dirty="0"/>
          </a:p>
        </p:txBody>
      </p:sp>
      <p:sp>
        <p:nvSpPr>
          <p:cNvPr id="17" name="Shape 15"/>
          <p:cNvSpPr/>
          <p:nvPr/>
        </p:nvSpPr>
        <p:spPr>
          <a:xfrm>
            <a:off x="969264" y="3364992"/>
            <a:ext cx="3429000" cy="0"/>
          </a:xfrm>
          <a:prstGeom prst="line">
            <a:avLst/>
          </a:prstGeom>
          <a:noFill/>
          <a:ln w="6350">
            <a:solidFill>
              <a:srgbClr val="E8E8E8"/>
            </a:solidFill>
            <a:prstDash val="solid"/>
          </a:ln>
        </p:spPr>
        <p:txBody>
          <a:bodyPr/>
          <a:lstStyle/>
          <a:p>
            <a:endParaRPr lang="en-US"/>
          </a:p>
        </p:txBody>
      </p:sp>
      <p:sp>
        <p:nvSpPr>
          <p:cNvPr id="18" name="Text 16"/>
          <p:cNvSpPr/>
          <p:nvPr/>
        </p:nvSpPr>
        <p:spPr>
          <a:xfrm>
            <a:off x="969264"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Editors report dramatic increases in AI-generated manuscript submissions, stretching review capacity and requiring new detection workflows at submission.</a:t>
            </a:r>
            <a:endParaRPr lang="en-US" sz="1100" dirty="0"/>
          </a:p>
        </p:txBody>
      </p:sp>
      <p:sp>
        <p:nvSpPr>
          <p:cNvPr id="19" name="Text 17"/>
          <p:cNvSpPr/>
          <p:nvPr/>
        </p:nvSpPr>
        <p:spPr>
          <a:xfrm>
            <a:off x="4809744" y="2889504"/>
            <a:ext cx="548640" cy="685800"/>
          </a:xfrm>
          <a:prstGeom prst="rect">
            <a:avLst/>
          </a:prstGeom>
          <a:noFill/>
          <a:ln/>
        </p:spPr>
        <p:txBody>
          <a:bodyPr wrap="square" lIns="0" tIns="0" rIns="0" bIns="0" rtlCol="0" anchor="ctr"/>
          <a:lstStyle/>
          <a:p>
            <a:pPr marL="0" indent="0">
              <a:buNone/>
            </a:pPr>
            <a:r>
              <a:rPr lang="en-US" sz="3600" b="1" dirty="0">
                <a:solidFill>
                  <a:srgbClr val="E8E8E8"/>
                </a:solidFill>
                <a:latin typeface="Calibri" pitchFamily="34" charset="0"/>
                <a:ea typeface="Calibri" pitchFamily="34" charset="-122"/>
                <a:cs typeface="Calibri" pitchFamily="34" charset="-120"/>
              </a:rPr>
              <a:t>04</a:t>
            </a:r>
            <a:endParaRPr lang="en-US" sz="3600" dirty="0"/>
          </a:p>
        </p:txBody>
      </p:sp>
      <p:sp>
        <p:nvSpPr>
          <p:cNvPr id="20" name="Text 18"/>
          <p:cNvSpPr/>
          <p:nvPr/>
        </p:nvSpPr>
        <p:spPr>
          <a:xfrm>
            <a:off x="5340096" y="2962656"/>
            <a:ext cx="3611880" cy="365760"/>
          </a:xfrm>
          <a:prstGeom prst="rect">
            <a:avLst/>
          </a:prstGeom>
          <a:noFill/>
          <a:ln/>
        </p:spPr>
        <p:txBody>
          <a:bodyPr wrap="square" lIns="0" tIns="0" rIns="0" bIns="0" rtlCol="0" anchor="ctr"/>
          <a:lstStyle/>
          <a:p>
            <a:pPr marL="0" indent="0">
              <a:buNone/>
            </a:pPr>
            <a:r>
              <a:rPr lang="en-US" sz="1100" b="1" dirty="0">
                <a:solidFill>
                  <a:srgbClr val="111111"/>
                </a:solidFill>
                <a:latin typeface="Calibri" pitchFamily="34" charset="0"/>
                <a:ea typeface="Calibri" pitchFamily="34" charset="-122"/>
                <a:cs typeface="Calibri" pitchFamily="34" charset="-120"/>
              </a:rPr>
              <a:t>Mass resignation events (2022–23)</a:t>
            </a:r>
            <a:endParaRPr lang="en-US" sz="1100" dirty="0"/>
          </a:p>
        </p:txBody>
      </p:sp>
      <p:sp>
        <p:nvSpPr>
          <p:cNvPr id="21" name="Shape 19"/>
          <p:cNvSpPr/>
          <p:nvPr/>
        </p:nvSpPr>
        <p:spPr>
          <a:xfrm>
            <a:off x="5340096" y="3364992"/>
            <a:ext cx="3429000" cy="0"/>
          </a:xfrm>
          <a:prstGeom prst="line">
            <a:avLst/>
          </a:prstGeom>
          <a:noFill/>
          <a:ln w="6350">
            <a:solidFill>
              <a:srgbClr val="E8E8E8"/>
            </a:solidFill>
            <a:prstDash val="solid"/>
          </a:ln>
        </p:spPr>
        <p:txBody>
          <a:bodyPr/>
          <a:lstStyle/>
          <a:p>
            <a:endParaRPr lang="en-US"/>
          </a:p>
        </p:txBody>
      </p:sp>
      <p:sp>
        <p:nvSpPr>
          <p:cNvPr id="22" name="Text 20"/>
          <p:cNvSpPr/>
          <p:nvPr/>
        </p:nvSpPr>
        <p:spPr>
          <a:xfrm>
            <a:off x="5340096" y="3456432"/>
            <a:ext cx="3611880" cy="914400"/>
          </a:xfrm>
          <a:prstGeom prst="rect">
            <a:avLst/>
          </a:prstGeom>
          <a:noFill/>
          <a:ln/>
        </p:spPr>
        <p:txBody>
          <a:bodyPr wrap="square" lIns="0" tIns="0" rIns="0" bIns="0" rtlCol="0" anchor="ctr"/>
          <a:lstStyle/>
          <a:p>
            <a:pPr marL="0" indent="0">
              <a:lnSpc>
                <a:spcPct val="140000"/>
              </a:lnSpc>
              <a:buNone/>
            </a:pPr>
            <a:r>
              <a:rPr lang="en-US" sz="1100" dirty="0">
                <a:solidFill>
                  <a:srgbClr val="555555"/>
                </a:solidFill>
                <a:latin typeface="Calibri" pitchFamily="34" charset="0"/>
                <a:ea typeface="Calibri" pitchFamily="34" charset="-122"/>
                <a:cs typeface="Calibri" pitchFamily="34" charset="-120"/>
              </a:rPr>
              <a:t>40+ scientists resigned from Neuroimage (Elsevier) editorial board over excessive APC fees; entire editorial board of Journal of Human Evolution resigned (Dec 2024).</a:t>
            </a:r>
            <a:endParaRPr lang="en-US" sz="110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2 / 4</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REVIEWER BURNOUT</a:t>
            </a:r>
            <a:endParaRPr lang="en-US" sz="800" dirty="0"/>
          </a:p>
        </p:txBody>
      </p:sp>
      <p:sp>
        <p:nvSpPr>
          <p:cNvPr id="5" name="Text 3"/>
          <p:cNvSpPr/>
          <p:nvPr/>
        </p:nvSpPr>
        <p:spPr>
          <a:xfrm>
            <a:off x="438912" y="319900"/>
            <a:ext cx="64008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DETECTION TOOLS</a:t>
            </a:r>
            <a:endParaRPr lang="en-US" sz="2800" dirty="0"/>
          </a:p>
        </p:txBody>
      </p:sp>
      <p:sp>
        <p:nvSpPr>
          <p:cNvPr id="6" name="Shape 4"/>
          <p:cNvSpPr/>
          <p:nvPr/>
        </p:nvSpPr>
        <p:spPr>
          <a:xfrm>
            <a:off x="438912" y="1170432"/>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Text 5"/>
          <p:cNvSpPr/>
          <p:nvPr/>
        </p:nvSpPr>
        <p:spPr>
          <a:xfrm>
            <a:off x="438912" y="1353312"/>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01</a:t>
            </a:r>
            <a:endParaRPr lang="en-US" sz="2000" dirty="0"/>
          </a:p>
        </p:txBody>
      </p:sp>
      <p:sp>
        <p:nvSpPr>
          <p:cNvPr id="8" name="Shape 6"/>
          <p:cNvSpPr/>
          <p:nvPr/>
        </p:nvSpPr>
        <p:spPr>
          <a:xfrm>
            <a:off x="950976" y="1389888"/>
            <a:ext cx="0" cy="502920"/>
          </a:xfrm>
          <a:prstGeom prst="line">
            <a:avLst/>
          </a:prstGeom>
          <a:noFill/>
          <a:ln w="6350">
            <a:solidFill>
              <a:srgbClr val="CCCCCC"/>
            </a:solidFill>
            <a:prstDash val="solid"/>
          </a:ln>
        </p:spPr>
        <p:txBody>
          <a:bodyPr/>
          <a:lstStyle/>
          <a:p>
            <a:endParaRPr lang="en-US"/>
          </a:p>
        </p:txBody>
      </p:sp>
      <p:sp>
        <p:nvSpPr>
          <p:cNvPr id="9" name="Text 7"/>
          <p:cNvSpPr/>
          <p:nvPr/>
        </p:nvSpPr>
        <p:spPr>
          <a:xfrm>
            <a:off x="1097280" y="1353312"/>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Open peer review audit trails</a:t>
            </a:r>
            <a:endParaRPr lang="en-US" sz="1200" dirty="0"/>
          </a:p>
        </p:txBody>
      </p:sp>
      <p:sp>
        <p:nvSpPr>
          <p:cNvPr id="10" name="Shape 8"/>
          <p:cNvSpPr/>
          <p:nvPr/>
        </p:nvSpPr>
        <p:spPr>
          <a:xfrm>
            <a:off x="3401568" y="1389888"/>
            <a:ext cx="0" cy="502920"/>
          </a:xfrm>
          <a:prstGeom prst="line">
            <a:avLst/>
          </a:prstGeom>
          <a:noFill/>
          <a:ln w="6350">
            <a:solidFill>
              <a:srgbClr val="E8E8E8"/>
            </a:solidFill>
            <a:prstDash val="solid"/>
          </a:ln>
        </p:spPr>
        <p:txBody>
          <a:bodyPr/>
          <a:lstStyle/>
          <a:p>
            <a:endParaRPr lang="en-US"/>
          </a:p>
        </p:txBody>
      </p:sp>
      <p:sp>
        <p:nvSpPr>
          <p:cNvPr id="11" name="Text 9"/>
          <p:cNvSpPr/>
          <p:nvPr/>
        </p:nvSpPr>
        <p:spPr>
          <a:xfrm>
            <a:off x="3566160" y="1353312"/>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Published reviewer reports allow post-publication assessment of review quality and depth; accountability through transparency.</a:t>
            </a:r>
            <a:endParaRPr lang="en-US" sz="1100" dirty="0"/>
          </a:p>
        </p:txBody>
      </p:sp>
      <p:sp>
        <p:nvSpPr>
          <p:cNvPr id="12" name="Shape 10"/>
          <p:cNvSpPr/>
          <p:nvPr/>
        </p:nvSpPr>
        <p:spPr>
          <a:xfrm>
            <a:off x="438912" y="1938528"/>
            <a:ext cx="8321040" cy="0"/>
          </a:xfrm>
          <a:prstGeom prst="line">
            <a:avLst/>
          </a:prstGeom>
          <a:noFill/>
          <a:ln w="6350">
            <a:solidFill>
              <a:srgbClr val="E8E8E8"/>
            </a:solidFill>
            <a:prstDash val="solid"/>
          </a:ln>
        </p:spPr>
        <p:txBody>
          <a:bodyPr/>
          <a:lstStyle/>
          <a:p>
            <a:endParaRPr lang="en-US"/>
          </a:p>
        </p:txBody>
      </p:sp>
      <p:sp>
        <p:nvSpPr>
          <p:cNvPr id="13" name="Text 11"/>
          <p:cNvSpPr/>
          <p:nvPr/>
        </p:nvSpPr>
        <p:spPr>
          <a:xfrm>
            <a:off x="438912" y="2020824"/>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02</a:t>
            </a:r>
            <a:endParaRPr lang="en-US" sz="2000" dirty="0"/>
          </a:p>
        </p:txBody>
      </p:sp>
      <p:sp>
        <p:nvSpPr>
          <p:cNvPr id="14" name="Shape 12"/>
          <p:cNvSpPr/>
          <p:nvPr/>
        </p:nvSpPr>
        <p:spPr>
          <a:xfrm>
            <a:off x="950976" y="2057400"/>
            <a:ext cx="0" cy="502920"/>
          </a:xfrm>
          <a:prstGeom prst="line">
            <a:avLst/>
          </a:prstGeom>
          <a:noFill/>
          <a:ln w="6350">
            <a:solidFill>
              <a:srgbClr val="CCCCCC"/>
            </a:solidFill>
            <a:prstDash val="solid"/>
          </a:ln>
        </p:spPr>
        <p:txBody>
          <a:bodyPr/>
          <a:lstStyle/>
          <a:p>
            <a:endParaRPr lang="en-US"/>
          </a:p>
        </p:txBody>
      </p:sp>
      <p:sp>
        <p:nvSpPr>
          <p:cNvPr id="15" name="Text 13"/>
          <p:cNvSpPr/>
          <p:nvPr/>
        </p:nvSpPr>
        <p:spPr>
          <a:xfrm>
            <a:off x="1097280" y="2020824"/>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Post-publication review (PubPeer 2012–)</a:t>
            </a:r>
            <a:endParaRPr lang="en-US" sz="1200" dirty="0"/>
          </a:p>
        </p:txBody>
      </p:sp>
      <p:sp>
        <p:nvSpPr>
          <p:cNvPr id="16" name="Shape 14"/>
          <p:cNvSpPr/>
          <p:nvPr/>
        </p:nvSpPr>
        <p:spPr>
          <a:xfrm>
            <a:off x="3401568" y="2057400"/>
            <a:ext cx="0" cy="502920"/>
          </a:xfrm>
          <a:prstGeom prst="line">
            <a:avLst/>
          </a:prstGeom>
          <a:noFill/>
          <a:ln w="6350">
            <a:solidFill>
              <a:srgbClr val="E8E8E8"/>
            </a:solidFill>
            <a:prstDash val="solid"/>
          </a:ln>
        </p:spPr>
        <p:txBody>
          <a:bodyPr/>
          <a:lstStyle/>
          <a:p>
            <a:endParaRPr lang="en-US"/>
          </a:p>
        </p:txBody>
      </p:sp>
      <p:sp>
        <p:nvSpPr>
          <p:cNvPr id="17" name="Text 15"/>
          <p:cNvSpPr/>
          <p:nvPr/>
        </p:nvSpPr>
        <p:spPr>
          <a:xfrm>
            <a:off x="3566160" y="2020824"/>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Crowd-sourced error detection compensates for pre-publication review failures; has triggered retractions at rates journals alone would not achieve.</a:t>
            </a:r>
            <a:endParaRPr lang="en-US" sz="1100" dirty="0"/>
          </a:p>
        </p:txBody>
      </p:sp>
      <p:sp>
        <p:nvSpPr>
          <p:cNvPr id="18" name="Shape 16"/>
          <p:cNvSpPr/>
          <p:nvPr/>
        </p:nvSpPr>
        <p:spPr>
          <a:xfrm>
            <a:off x="438912" y="2606040"/>
            <a:ext cx="8321040" cy="0"/>
          </a:xfrm>
          <a:prstGeom prst="line">
            <a:avLst/>
          </a:prstGeom>
          <a:noFill/>
          <a:ln w="6350">
            <a:solidFill>
              <a:srgbClr val="E8E8E8"/>
            </a:solidFill>
            <a:prstDash val="solid"/>
          </a:ln>
        </p:spPr>
        <p:txBody>
          <a:bodyPr/>
          <a:lstStyle/>
          <a:p>
            <a:endParaRPr lang="en-US"/>
          </a:p>
        </p:txBody>
      </p:sp>
      <p:sp>
        <p:nvSpPr>
          <p:cNvPr id="19" name="Text 17"/>
          <p:cNvSpPr/>
          <p:nvPr/>
        </p:nvSpPr>
        <p:spPr>
          <a:xfrm>
            <a:off x="438912" y="2688336"/>
            <a:ext cx="475488" cy="576072"/>
          </a:xfrm>
          <a:prstGeom prst="rect">
            <a:avLst/>
          </a:prstGeom>
          <a:noFill/>
          <a:ln/>
        </p:spPr>
        <p:txBody>
          <a:bodyPr wrap="square" lIns="0" tIns="0" rIns="0" bIns="0" rtlCol="0" anchor="ctr"/>
          <a:lstStyle/>
          <a:p>
            <a:pPr marL="0" indent="0">
              <a:buNone/>
            </a:pPr>
            <a:r>
              <a:rPr lang="en-US" sz="2000" b="1" dirty="0">
                <a:solidFill>
                  <a:srgbClr val="CCCCCC"/>
                </a:solidFill>
                <a:latin typeface="Calibri" pitchFamily="34" charset="0"/>
                <a:ea typeface="Calibri" pitchFamily="34" charset="-122"/>
                <a:cs typeface="Calibri" pitchFamily="34" charset="-120"/>
              </a:rPr>
              <a:t>03</a:t>
            </a:r>
            <a:endParaRPr lang="en-US" sz="2000" dirty="0"/>
          </a:p>
        </p:txBody>
      </p:sp>
      <p:sp>
        <p:nvSpPr>
          <p:cNvPr id="20" name="Shape 18"/>
          <p:cNvSpPr/>
          <p:nvPr/>
        </p:nvSpPr>
        <p:spPr>
          <a:xfrm>
            <a:off x="950976" y="2724912"/>
            <a:ext cx="0" cy="502920"/>
          </a:xfrm>
          <a:prstGeom prst="line">
            <a:avLst/>
          </a:prstGeom>
          <a:noFill/>
          <a:ln w="6350">
            <a:solidFill>
              <a:srgbClr val="CCCCCC"/>
            </a:solidFill>
            <a:prstDash val="solid"/>
          </a:ln>
        </p:spPr>
        <p:txBody>
          <a:bodyPr/>
          <a:lstStyle/>
          <a:p>
            <a:endParaRPr lang="en-US"/>
          </a:p>
        </p:txBody>
      </p:sp>
      <p:sp>
        <p:nvSpPr>
          <p:cNvPr id="21" name="Text 19"/>
          <p:cNvSpPr/>
          <p:nvPr/>
        </p:nvSpPr>
        <p:spPr>
          <a:xfrm>
            <a:off x="1097280" y="2688336"/>
            <a:ext cx="2286000" cy="576072"/>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Review quality scoring (proposed)</a:t>
            </a:r>
            <a:endParaRPr lang="en-US" sz="1200" dirty="0"/>
          </a:p>
        </p:txBody>
      </p:sp>
      <p:sp>
        <p:nvSpPr>
          <p:cNvPr id="22" name="Shape 20"/>
          <p:cNvSpPr/>
          <p:nvPr/>
        </p:nvSpPr>
        <p:spPr>
          <a:xfrm>
            <a:off x="3401568" y="2724912"/>
            <a:ext cx="0" cy="502920"/>
          </a:xfrm>
          <a:prstGeom prst="line">
            <a:avLst/>
          </a:prstGeom>
          <a:noFill/>
          <a:ln w="6350">
            <a:solidFill>
              <a:srgbClr val="E8E8E8"/>
            </a:solidFill>
            <a:prstDash val="solid"/>
          </a:ln>
        </p:spPr>
        <p:txBody>
          <a:bodyPr/>
          <a:lstStyle/>
          <a:p>
            <a:endParaRPr lang="en-US"/>
          </a:p>
        </p:txBody>
      </p:sp>
      <p:sp>
        <p:nvSpPr>
          <p:cNvPr id="23" name="Text 21"/>
          <p:cNvSpPr/>
          <p:nvPr/>
        </p:nvSpPr>
        <p:spPr>
          <a:xfrm>
            <a:off x="3566160" y="2688336"/>
            <a:ext cx="5166360" cy="576072"/>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Rubric-based scoring of reviewer thoroughness — no widely adopted standard yet; Publons and Web of Science track reviewer output, not quality.</a:t>
            </a:r>
            <a:endParaRPr lang="en-US" sz="1100" dirty="0"/>
          </a:p>
        </p:txBody>
      </p:sp>
      <p:sp>
        <p:nvSpPr>
          <p:cNvPr id="24" name="Shape 22"/>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5" name="Shape 23"/>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6" name="Text 24"/>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7" name="Shape 25"/>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8" name="Text 26"/>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9" name="Shape 27"/>
          <p:cNvSpPr/>
          <p:nvPr/>
        </p:nvSpPr>
        <p:spPr>
          <a:xfrm>
            <a:off x="393192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0" name="Text 28"/>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DETECTION</a:t>
            </a:r>
            <a:endParaRPr lang="en-US" sz="750" dirty="0"/>
          </a:p>
        </p:txBody>
      </p:sp>
      <p:sp>
        <p:nvSpPr>
          <p:cNvPr id="31" name="Shape 29"/>
          <p:cNvSpPr/>
          <p:nvPr/>
        </p:nvSpPr>
        <p:spPr>
          <a:xfrm>
            <a:off x="571500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32" name="Text 30"/>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PREVENTION</a:t>
            </a:r>
            <a:endParaRPr lang="en-US" sz="750" dirty="0"/>
          </a:p>
        </p:txBody>
      </p:sp>
      <p:sp>
        <p:nvSpPr>
          <p:cNvPr id="33" name="Text 31"/>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3 / 4</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2860"/>
          </a:xfrm>
          <a:prstGeom prst="rect">
            <a:avLst/>
          </a:prstGeom>
          <a:solidFill>
            <a:srgbClr val="111111"/>
          </a:solidFill>
          <a:ln w="12700">
            <a:solidFill>
              <a:srgbClr val="111111"/>
            </a:solidFill>
            <a:prstDash val="solid"/>
          </a:ln>
        </p:spPr>
        <p:txBody>
          <a:bodyPr/>
          <a:lstStyle/>
          <a:p>
            <a:endParaRPr lang="en-US"/>
          </a:p>
        </p:txBody>
      </p:sp>
      <p:sp>
        <p:nvSpPr>
          <p:cNvPr id="3" name="Text 1"/>
          <p:cNvSpPr/>
          <p:nvPr/>
        </p:nvSpPr>
        <p:spPr>
          <a:xfrm>
            <a:off x="438912" y="4551720"/>
            <a:ext cx="6400800" cy="182800"/>
          </a:xfrm>
          <a:prstGeom prst="rect">
            <a:avLst/>
          </a:prstGeom>
          <a:noFill/>
          <a:ln/>
        </p:spPr>
        <p:txBody>
          <a:bodyPr wrap="square" lIns="0" tIns="0" rIns="0" bIns="0" rtlCol="0" anchor="ctr"/>
          <a:lstStyle/>
          <a:p>
            <a:pPr marL="0" indent="0">
              <a:buNone/>
            </a:pPr>
            <a:r>
              <a:rPr lang="en-US" sz="800" kern="0" spc="350" dirty="0">
                <a:solidFill>
                  <a:srgbClr val="999999"/>
                </a:solidFill>
                <a:latin typeface="Calibri" pitchFamily="34" charset="0"/>
                <a:ea typeface="Calibri" pitchFamily="34" charset="-122"/>
                <a:cs typeface="Calibri" pitchFamily="34" charset="-120"/>
              </a:rPr>
              <a:t>TIER 3  —  FIELD / COMMUNITY LEVEL</a:t>
            </a:r>
            <a:endParaRPr lang="en-US" sz="800" dirty="0"/>
          </a:p>
        </p:txBody>
      </p:sp>
      <p:sp>
        <p:nvSpPr>
          <p:cNvPr id="4" name="Text 2"/>
          <p:cNvSpPr/>
          <p:nvPr/>
        </p:nvSpPr>
        <p:spPr>
          <a:xfrm>
            <a:off x="5029200" y="4551720"/>
            <a:ext cx="3675888" cy="182800"/>
          </a:xfrm>
          <a:prstGeom prst="rect">
            <a:avLst/>
          </a:prstGeom>
          <a:noFill/>
          <a:ln/>
        </p:spPr>
        <p:txBody>
          <a:bodyPr wrap="square" lIns="0" tIns="0" rIns="0" bIns="0" rtlCol="0" anchor="ctr"/>
          <a:lstStyle/>
          <a:p>
            <a:pPr marL="0" indent="0" algn="r">
              <a:buNone/>
            </a:pPr>
            <a:r>
              <a:rPr lang="en-US" sz="800" kern="0" spc="350" dirty="0">
                <a:solidFill>
                  <a:srgbClr val="999999"/>
                </a:solidFill>
                <a:latin typeface="Calibri" pitchFamily="34" charset="0"/>
                <a:ea typeface="Calibri" pitchFamily="34" charset="-122"/>
                <a:cs typeface="Calibri" pitchFamily="34" charset="-120"/>
              </a:rPr>
              <a:t>REVIEWER BURNOUT</a:t>
            </a:r>
            <a:endParaRPr lang="en-US" sz="800" dirty="0"/>
          </a:p>
        </p:txBody>
      </p:sp>
      <p:sp>
        <p:nvSpPr>
          <p:cNvPr id="5" name="Text 3"/>
          <p:cNvSpPr/>
          <p:nvPr/>
        </p:nvSpPr>
        <p:spPr>
          <a:xfrm>
            <a:off x="438912" y="319900"/>
            <a:ext cx="8229600" cy="640080"/>
          </a:xfrm>
          <a:prstGeom prst="rect">
            <a:avLst/>
          </a:prstGeom>
          <a:noFill/>
          <a:ln/>
        </p:spPr>
        <p:txBody>
          <a:bodyPr wrap="square" lIns="0" tIns="0" rIns="0" bIns="0" rtlCol="0" anchor="ctr"/>
          <a:lstStyle/>
          <a:p>
            <a:pPr marL="0" indent="0">
              <a:buNone/>
            </a:pPr>
            <a:r>
              <a:rPr lang="en-US" sz="3400" b="1" dirty="0">
                <a:solidFill>
                  <a:srgbClr val="111111"/>
                </a:solidFill>
                <a:latin typeface="Calibri" pitchFamily="34" charset="0"/>
                <a:ea typeface="Calibri" pitchFamily="34" charset="-122"/>
                <a:cs typeface="Calibri" pitchFamily="34" charset="-120"/>
              </a:rPr>
              <a:t>PREVENTION &amp; REMEDIATION</a:t>
            </a:r>
            <a:endParaRPr lang="en-US" sz="2800" dirty="0"/>
          </a:p>
        </p:txBody>
      </p:sp>
      <p:sp>
        <p:nvSpPr>
          <p:cNvPr id="6" name="Shape 4"/>
          <p:cNvSpPr/>
          <p:nvPr/>
        </p:nvSpPr>
        <p:spPr>
          <a:xfrm>
            <a:off x="429768" y="1067950"/>
            <a:ext cx="9144000" cy="16459"/>
          </a:xfrm>
          <a:prstGeom prst="rect">
            <a:avLst/>
          </a:prstGeom>
          <a:solidFill>
            <a:srgbClr val="CCCCCC"/>
          </a:solidFill>
          <a:ln w="12700">
            <a:solidFill>
              <a:srgbClr val="CCCCCC"/>
            </a:solidFill>
            <a:prstDash val="solid"/>
          </a:ln>
        </p:spPr>
        <p:txBody>
          <a:bodyPr/>
          <a:lstStyle/>
          <a:p>
            <a:endParaRPr lang="en-US"/>
          </a:p>
        </p:txBody>
      </p:sp>
      <p:sp>
        <p:nvSpPr>
          <p:cNvPr id="7" name="Shape 5"/>
          <p:cNvSpPr/>
          <p:nvPr/>
        </p:nvSpPr>
        <p:spPr>
          <a:xfrm>
            <a:off x="438912" y="1298448"/>
            <a:ext cx="4160520" cy="0"/>
          </a:xfrm>
          <a:prstGeom prst="line">
            <a:avLst/>
          </a:prstGeom>
          <a:noFill/>
          <a:ln w="9525">
            <a:solidFill>
              <a:srgbClr val="CCCCCC"/>
            </a:solidFill>
            <a:prstDash val="solid"/>
          </a:ln>
        </p:spPr>
        <p:txBody>
          <a:bodyPr/>
          <a:lstStyle/>
          <a:p>
            <a:endParaRPr lang="en-US"/>
          </a:p>
        </p:txBody>
      </p:sp>
      <p:sp>
        <p:nvSpPr>
          <p:cNvPr id="8" name="Shape 6"/>
          <p:cNvSpPr/>
          <p:nvPr/>
        </p:nvSpPr>
        <p:spPr>
          <a:xfrm>
            <a:off x="438912"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640080"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Open peer review (eLife, F1000 2012–)</a:t>
            </a:r>
            <a:endParaRPr lang="en-US" sz="1200" dirty="0"/>
          </a:p>
        </p:txBody>
      </p:sp>
      <p:sp>
        <p:nvSpPr>
          <p:cNvPr id="10" name="Text 8"/>
          <p:cNvSpPr/>
          <p:nvPr/>
        </p:nvSpPr>
        <p:spPr>
          <a:xfrm>
            <a:off x="640080"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Reviewer reports published alongside paper; reviewer accountability through transparency; reviewers credited by name for their intellectual contribution.</a:t>
            </a:r>
            <a:endParaRPr lang="en-US" sz="1050" dirty="0"/>
          </a:p>
        </p:txBody>
      </p:sp>
      <p:sp>
        <p:nvSpPr>
          <p:cNvPr id="11" name="Shape 9"/>
          <p:cNvSpPr/>
          <p:nvPr/>
        </p:nvSpPr>
        <p:spPr>
          <a:xfrm>
            <a:off x="438912" y="2578608"/>
            <a:ext cx="4160520" cy="0"/>
          </a:xfrm>
          <a:prstGeom prst="line">
            <a:avLst/>
          </a:prstGeom>
          <a:noFill/>
          <a:ln w="9525">
            <a:solidFill>
              <a:srgbClr val="CCCCCC"/>
            </a:solidFill>
            <a:prstDash val="solid"/>
          </a:ln>
        </p:spPr>
        <p:txBody>
          <a:bodyPr/>
          <a:lstStyle/>
          <a:p>
            <a:endParaRPr lang="en-US"/>
          </a:p>
        </p:txBody>
      </p:sp>
      <p:sp>
        <p:nvSpPr>
          <p:cNvPr id="12" name="Shape 10"/>
          <p:cNvSpPr/>
          <p:nvPr/>
        </p:nvSpPr>
        <p:spPr>
          <a:xfrm>
            <a:off x="438912"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640080"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Portable peer review (Review Commons 2019)</a:t>
            </a:r>
            <a:endParaRPr lang="en-US" sz="1200" dirty="0"/>
          </a:p>
        </p:txBody>
      </p:sp>
      <p:sp>
        <p:nvSpPr>
          <p:cNvPr id="14" name="Text 12"/>
          <p:cNvSpPr/>
          <p:nvPr/>
        </p:nvSpPr>
        <p:spPr>
          <a:xfrm>
            <a:off x="640080"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 single peer review transfers across multiple journals; eliminates duplicated reviewer effort when authors resubmit after rejection.</a:t>
            </a:r>
            <a:endParaRPr lang="en-US" sz="1050" dirty="0"/>
          </a:p>
        </p:txBody>
      </p:sp>
      <p:sp>
        <p:nvSpPr>
          <p:cNvPr id="15" name="Shape 13"/>
          <p:cNvSpPr/>
          <p:nvPr/>
        </p:nvSpPr>
        <p:spPr>
          <a:xfrm>
            <a:off x="4800600" y="1298448"/>
            <a:ext cx="4160520" cy="0"/>
          </a:xfrm>
          <a:prstGeom prst="line">
            <a:avLst/>
          </a:prstGeom>
          <a:noFill/>
          <a:ln w="9525">
            <a:solidFill>
              <a:srgbClr val="CCCCCC"/>
            </a:solidFill>
            <a:prstDash val="solid"/>
          </a:ln>
        </p:spPr>
        <p:txBody>
          <a:bodyPr/>
          <a:lstStyle/>
          <a:p>
            <a:endParaRPr lang="en-US"/>
          </a:p>
        </p:txBody>
      </p:sp>
      <p:sp>
        <p:nvSpPr>
          <p:cNvPr id="16" name="Shape 14"/>
          <p:cNvSpPr/>
          <p:nvPr/>
        </p:nvSpPr>
        <p:spPr>
          <a:xfrm>
            <a:off x="4800600" y="1426464"/>
            <a:ext cx="100584" cy="100584"/>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5001768" y="138988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Reviewer recognition (Publons 2012)</a:t>
            </a:r>
            <a:endParaRPr lang="en-US" sz="1200" dirty="0"/>
          </a:p>
        </p:txBody>
      </p:sp>
      <p:sp>
        <p:nvSpPr>
          <p:cNvPr id="18" name="Text 16"/>
          <p:cNvSpPr/>
          <p:nvPr/>
        </p:nvSpPr>
        <p:spPr>
          <a:xfrm>
            <a:off x="5001768" y="170078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Formal attribution of peer review work to researcher profiles; now integrated into Web of Science; recognition visible in hiring and promotion processes.</a:t>
            </a:r>
            <a:endParaRPr lang="en-US" sz="1050" dirty="0"/>
          </a:p>
        </p:txBody>
      </p:sp>
      <p:sp>
        <p:nvSpPr>
          <p:cNvPr id="19" name="Shape 17"/>
          <p:cNvSpPr/>
          <p:nvPr/>
        </p:nvSpPr>
        <p:spPr>
          <a:xfrm>
            <a:off x="4800600" y="2578608"/>
            <a:ext cx="4160520" cy="0"/>
          </a:xfrm>
          <a:prstGeom prst="line">
            <a:avLst/>
          </a:prstGeom>
          <a:noFill/>
          <a:ln w="9525">
            <a:solidFill>
              <a:srgbClr val="CCCCCC"/>
            </a:solidFill>
            <a:prstDash val="solid"/>
          </a:ln>
        </p:spPr>
        <p:txBody>
          <a:bodyPr/>
          <a:lstStyle/>
          <a:p>
            <a:endParaRPr lang="en-US"/>
          </a:p>
        </p:txBody>
      </p:sp>
      <p:sp>
        <p:nvSpPr>
          <p:cNvPr id="20" name="Shape 18"/>
          <p:cNvSpPr/>
          <p:nvPr/>
        </p:nvSpPr>
        <p:spPr>
          <a:xfrm>
            <a:off x="4800600" y="2706624"/>
            <a:ext cx="100584" cy="100584"/>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5001768" y="2670048"/>
            <a:ext cx="3840480" cy="274320"/>
          </a:xfrm>
          <a:prstGeom prst="rect">
            <a:avLst/>
          </a:prstGeom>
          <a:noFill/>
          <a:ln/>
        </p:spPr>
        <p:txBody>
          <a:bodyPr wrap="square" lIns="0" tIns="0" rIns="0" bIns="0"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AI-assisted pre-screening (2023–)</a:t>
            </a:r>
            <a:endParaRPr lang="en-US" sz="1200" dirty="0"/>
          </a:p>
        </p:txBody>
      </p:sp>
      <p:sp>
        <p:nvSpPr>
          <p:cNvPr id="22" name="Text 20"/>
          <p:cNvSpPr/>
          <p:nvPr/>
        </p:nvSpPr>
        <p:spPr>
          <a:xfrm>
            <a:off x="5001768" y="2980944"/>
            <a:ext cx="3840480" cy="777240"/>
          </a:xfrm>
          <a:prstGeom prst="rect">
            <a:avLst/>
          </a:prstGeom>
          <a:noFill/>
          <a:ln/>
        </p:spPr>
        <p:txBody>
          <a:bodyPr wrap="square" lIns="0" tIns="0" rIns="0" bIns="0" rtlCol="0" anchor="ctr"/>
          <a:lstStyle/>
          <a:p>
            <a:pPr marL="0" indent="0">
              <a:lnSpc>
                <a:spcPct val="140000"/>
              </a:lnSpc>
              <a:buNone/>
            </a:pPr>
            <a:r>
              <a:rPr lang="en-US" sz="1050" dirty="0">
                <a:solidFill>
                  <a:srgbClr val="555555"/>
                </a:solidFill>
                <a:latin typeface="Calibri" pitchFamily="34" charset="0"/>
                <a:ea typeface="Calibri" pitchFamily="34" charset="-122"/>
                <a:cs typeface="Calibri" pitchFamily="34" charset="-120"/>
              </a:rPr>
              <a:t>Automated desk rejection of clearly out-of-scope or AI-generated manuscripts frees reviewer time for genuine papers; deployed by Nature, Springer Nature, and others.</a:t>
            </a:r>
            <a:endParaRPr lang="en-US" sz="1050" dirty="0"/>
          </a:p>
        </p:txBody>
      </p:sp>
      <p:sp>
        <p:nvSpPr>
          <p:cNvPr id="23" name="Shape 21"/>
          <p:cNvSpPr/>
          <p:nvPr/>
        </p:nvSpPr>
        <p:spPr>
          <a:xfrm>
            <a:off x="0" y="4736592"/>
            <a:ext cx="9144000" cy="22860"/>
          </a:xfrm>
          <a:prstGeom prst="rect">
            <a:avLst/>
          </a:prstGeom>
          <a:solidFill>
            <a:srgbClr val="CCCCCC"/>
          </a:solidFill>
          <a:ln w="12700">
            <a:solidFill>
              <a:srgbClr val="CCCCCC"/>
            </a:solidFill>
            <a:prstDash val="solid"/>
          </a:ln>
        </p:spPr>
        <p:txBody>
          <a:bodyPr/>
          <a:lstStyle/>
          <a:p>
            <a:endParaRPr lang="en-US"/>
          </a:p>
        </p:txBody>
      </p:sp>
      <p:sp>
        <p:nvSpPr>
          <p:cNvPr id="24" name="Shape 22"/>
          <p:cNvSpPr/>
          <p:nvPr/>
        </p:nvSpPr>
        <p:spPr>
          <a:xfrm>
            <a:off x="36576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5" name="Text 23"/>
          <p:cNvSpPr/>
          <p:nvPr/>
        </p:nvSpPr>
        <p:spPr>
          <a:xfrm>
            <a:off x="53949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INTRO</a:t>
            </a:r>
            <a:endParaRPr lang="en-US" sz="750" dirty="0"/>
          </a:p>
        </p:txBody>
      </p:sp>
      <p:sp>
        <p:nvSpPr>
          <p:cNvPr id="26" name="Shape 24"/>
          <p:cNvSpPr/>
          <p:nvPr/>
        </p:nvSpPr>
        <p:spPr>
          <a:xfrm>
            <a:off x="214884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7" name="Text 25"/>
          <p:cNvSpPr/>
          <p:nvPr/>
        </p:nvSpPr>
        <p:spPr>
          <a:xfrm>
            <a:off x="232257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EVIDENCE</a:t>
            </a:r>
            <a:endParaRPr lang="en-US" sz="750" dirty="0"/>
          </a:p>
        </p:txBody>
      </p:sp>
      <p:sp>
        <p:nvSpPr>
          <p:cNvPr id="28" name="Shape 26"/>
          <p:cNvSpPr/>
          <p:nvPr/>
        </p:nvSpPr>
        <p:spPr>
          <a:xfrm>
            <a:off x="3931920" y="4828032"/>
            <a:ext cx="109728" cy="109728"/>
          </a:xfrm>
          <a:prstGeom prst="ellipse">
            <a:avLst/>
          </a:prstGeom>
          <a:solidFill>
            <a:srgbClr val="E8E8E8"/>
          </a:solidFill>
          <a:ln w="6350">
            <a:solidFill>
              <a:srgbClr val="CCCCCC"/>
            </a:solidFill>
            <a:prstDash val="solid"/>
          </a:ln>
        </p:spPr>
        <p:txBody>
          <a:bodyPr/>
          <a:lstStyle/>
          <a:p>
            <a:endParaRPr lang="en-US"/>
          </a:p>
        </p:txBody>
      </p:sp>
      <p:sp>
        <p:nvSpPr>
          <p:cNvPr id="29" name="Text 27"/>
          <p:cNvSpPr/>
          <p:nvPr/>
        </p:nvSpPr>
        <p:spPr>
          <a:xfrm>
            <a:off x="4105656" y="4828032"/>
            <a:ext cx="1463040" cy="128016"/>
          </a:xfrm>
          <a:prstGeom prst="rect">
            <a:avLst/>
          </a:prstGeom>
          <a:noFill/>
          <a:ln/>
        </p:spPr>
        <p:txBody>
          <a:bodyPr wrap="square" lIns="0" tIns="0" rIns="0" bIns="0" rtlCol="0" anchor="ctr"/>
          <a:lstStyle/>
          <a:p>
            <a:pPr marL="0" indent="0">
              <a:buNone/>
            </a:pPr>
            <a:r>
              <a:rPr lang="en-US" sz="750" kern="0" spc="50" dirty="0">
                <a:solidFill>
                  <a:srgbClr val="999999"/>
                </a:solidFill>
                <a:latin typeface="Calibri" pitchFamily="34" charset="0"/>
                <a:ea typeface="Calibri" pitchFamily="34" charset="-122"/>
                <a:cs typeface="Calibri" pitchFamily="34" charset="-120"/>
              </a:rPr>
              <a:t>DETECTION</a:t>
            </a:r>
            <a:endParaRPr lang="en-US" sz="750" dirty="0"/>
          </a:p>
        </p:txBody>
      </p:sp>
      <p:sp>
        <p:nvSpPr>
          <p:cNvPr id="30" name="Shape 28"/>
          <p:cNvSpPr/>
          <p:nvPr/>
        </p:nvSpPr>
        <p:spPr>
          <a:xfrm>
            <a:off x="5715000" y="4828032"/>
            <a:ext cx="109728" cy="109728"/>
          </a:xfrm>
          <a:prstGeom prst="ellipse">
            <a:avLst/>
          </a:prstGeom>
          <a:solidFill>
            <a:srgbClr val="111111"/>
          </a:solidFill>
          <a:ln w="6350">
            <a:solidFill>
              <a:srgbClr val="111111"/>
            </a:solidFill>
            <a:prstDash val="solid"/>
          </a:ln>
        </p:spPr>
        <p:txBody>
          <a:bodyPr/>
          <a:lstStyle/>
          <a:p>
            <a:endParaRPr lang="en-US"/>
          </a:p>
        </p:txBody>
      </p:sp>
      <p:sp>
        <p:nvSpPr>
          <p:cNvPr id="31" name="Text 29"/>
          <p:cNvSpPr/>
          <p:nvPr/>
        </p:nvSpPr>
        <p:spPr>
          <a:xfrm>
            <a:off x="5888736" y="4828032"/>
            <a:ext cx="1463040" cy="128016"/>
          </a:xfrm>
          <a:prstGeom prst="rect">
            <a:avLst/>
          </a:prstGeom>
          <a:noFill/>
          <a:ln/>
        </p:spPr>
        <p:txBody>
          <a:bodyPr wrap="square" lIns="0" tIns="0" rIns="0" bIns="0" rtlCol="0" anchor="ctr"/>
          <a:lstStyle/>
          <a:p>
            <a:pPr marL="0" indent="0">
              <a:buNone/>
            </a:pPr>
            <a:r>
              <a:rPr lang="en-US" sz="750" kern="0" spc="150" dirty="0">
                <a:solidFill>
                  <a:srgbClr val="111111"/>
                </a:solidFill>
                <a:latin typeface="Calibri" pitchFamily="34" charset="0"/>
                <a:ea typeface="Calibri" pitchFamily="34" charset="-122"/>
                <a:cs typeface="Calibri" pitchFamily="34" charset="-120"/>
              </a:rPr>
              <a:t>PREVENTION</a:t>
            </a:r>
            <a:endParaRPr lang="en-US" sz="7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marL="0" indent="0" algn="r">
              <a:buNone/>
            </a:pPr>
            <a:r>
              <a:rPr lang="en-US" sz="800" dirty="0">
                <a:solidFill>
                  <a:srgbClr val="999999"/>
                </a:solidFill>
                <a:latin typeface="Calibri" pitchFamily="34" charset="0"/>
                <a:ea typeface="Calibri" pitchFamily="34" charset="-122"/>
                <a:cs typeface="Calibri" pitchFamily="34" charset="-120"/>
              </a:rPr>
              <a:t>4 / 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9028</Words>
  <Application>Microsoft Office PowerPoint</Application>
  <PresentationFormat>On-screen Show (16:9)</PresentationFormat>
  <Paragraphs>1341</Paragraphs>
  <Slides>77</Slides>
  <Notes>77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77</vt:i4>
      </vt:variant>
    </vt:vector>
  </HeadingPairs>
  <TitlesOfParts>
    <vt:vector size="83" baseType="lpstr">
      <vt:lpstr>Aptos</vt:lpstr>
      <vt:lpstr>Aptos Black</vt:lpstr>
      <vt:lpstr>Arial</vt:lpstr>
      <vt:lpstr>Calibri</vt:lpstr>
      <vt:lpstr>Segoe UI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Integrity Framework</dc:title>
  <dc:subject>PptxGenJS Presentation</dc:subject>
  <dc:creator>PptxGenJS</dc:creator>
  <cp:lastModifiedBy>Jesse Lecy</cp:lastModifiedBy>
  <cp:revision>4</cp:revision>
  <dcterms:created xsi:type="dcterms:W3CDTF">2026-04-13T21:09:32Z</dcterms:created>
  <dcterms:modified xsi:type="dcterms:W3CDTF">2026-04-14T15:24:23Z</dcterms:modified>
</cp:coreProperties>
</file>