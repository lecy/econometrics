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0" r:id="rId3"/>
    <p:sldMasterId id="2147483694" r:id="rId4"/>
  </p:sldMasterIdLst>
  <p:notesMasterIdLst>
    <p:notesMasterId r:id="rId39"/>
  </p:notesMasterIdLst>
  <p:sldIdLst>
    <p:sldId id="258" r:id="rId5"/>
    <p:sldId id="583" r:id="rId6"/>
    <p:sldId id="592" r:id="rId7"/>
    <p:sldId id="605" r:id="rId8"/>
    <p:sldId id="596" r:id="rId9"/>
    <p:sldId id="623" r:id="rId10"/>
    <p:sldId id="624" r:id="rId11"/>
    <p:sldId id="622" r:id="rId12"/>
    <p:sldId id="599" r:id="rId13"/>
    <p:sldId id="625" r:id="rId14"/>
    <p:sldId id="593" r:id="rId15"/>
    <p:sldId id="603" r:id="rId16"/>
    <p:sldId id="604" r:id="rId17"/>
    <p:sldId id="606" r:id="rId18"/>
    <p:sldId id="598" r:id="rId19"/>
    <p:sldId id="594" r:id="rId20"/>
    <p:sldId id="611" r:id="rId21"/>
    <p:sldId id="597" r:id="rId22"/>
    <p:sldId id="608" r:id="rId23"/>
    <p:sldId id="601" r:id="rId24"/>
    <p:sldId id="620" r:id="rId25"/>
    <p:sldId id="607" r:id="rId26"/>
    <p:sldId id="600" r:id="rId27"/>
    <p:sldId id="602" r:id="rId28"/>
    <p:sldId id="615" r:id="rId29"/>
    <p:sldId id="614" r:id="rId30"/>
    <p:sldId id="616" r:id="rId31"/>
    <p:sldId id="617" r:id="rId32"/>
    <p:sldId id="609" r:id="rId33"/>
    <p:sldId id="610" r:id="rId34"/>
    <p:sldId id="621" r:id="rId35"/>
    <p:sldId id="613" r:id="rId36"/>
    <p:sldId id="612" r:id="rId37"/>
    <p:sldId id="618" r:id="rId38"/>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78A7"/>
    <a:srgbClr val="1F4E79"/>
    <a:srgbClr val="3A4950"/>
    <a:srgbClr val="1696D2"/>
    <a:srgbClr val="44AD32"/>
    <a:srgbClr val="EC008B"/>
    <a:srgbClr val="F4B502"/>
    <a:srgbClr val="FDBF11"/>
    <a:srgbClr val="CC41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1" autoAdjust="0"/>
    <p:restoredTop sz="94660"/>
  </p:normalViewPr>
  <p:slideViewPr>
    <p:cSldViewPr snapToGrid="0">
      <p:cViewPr varScale="1">
        <p:scale>
          <a:sx n="84" d="100"/>
          <a:sy n="84" d="100"/>
        </p:scale>
        <p:origin x="5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6803E21-C0D9-4EDA-84A8-3C716BE139E3}" type="datetimeFigureOut">
              <a:rPr lang="en-US" smtClean="0"/>
              <a:t>9/29/2026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ED2B6E7-B15D-4C8D-A89F-EAE3A2BF0C91}" type="slidenum">
              <a:rPr lang="en-US" smtClean="0"/>
              <a:t>‹#›</a:t>
            </a:fld>
            <a:endParaRPr lang="en-US"/>
          </a:p>
        </p:txBody>
      </p:sp>
    </p:spTree>
    <p:extLst>
      <p:ext uri="{BB962C8B-B14F-4D97-AF65-F5344CB8AC3E}">
        <p14:creationId xmlns:p14="http://schemas.microsoft.com/office/powerpoint/2010/main" val="1904689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p: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D2B6E7-B15D-4C8D-A89F-EAE3A2BF0C91}" type="slidenum">
              <a:rPr lang="en-US" smtClean="0"/>
              <a:t>12</a:t>
            </a:fld>
            <a:endParaRPr lang="en-US"/>
          </a:p>
        </p:txBody>
      </p:sp>
    </p:spTree>
    <p:extLst>
      <p:ext uri="{BB962C8B-B14F-4D97-AF65-F5344CB8AC3E}">
        <p14:creationId xmlns:p14="http://schemas.microsoft.com/office/powerpoint/2010/main" val="3037550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https://dataverse.org/files/dataverseorg/files/metadataprovenance-mercecrosas.pdf</a:t>
            </a:r>
          </a:p>
        </p:txBody>
      </p:sp>
      <p:sp>
        <p:nvSpPr>
          <p:cNvPr id="4" name="Slide Number Placeholder 3"/>
          <p:cNvSpPr>
            <a:spLocks noGrp="1"/>
          </p:cNvSpPr>
          <p:nvPr>
            <p:ph type="sldNum" sz="quarter" idx="5"/>
          </p:nvPr>
        </p:nvSpPr>
        <p:spPr/>
        <p:txBody>
          <a:bodyPr/>
          <a:lstStyle/>
          <a:p>
            <a:fld id="{AED2B6E7-B15D-4C8D-A89F-EAE3A2BF0C91}" type="slidenum">
              <a:rPr lang="en-US" smtClean="0"/>
              <a:t>13</a:t>
            </a:fld>
            <a:endParaRPr lang="en-US"/>
          </a:p>
        </p:txBody>
      </p:sp>
    </p:spTree>
    <p:extLst>
      <p:ext uri="{BB962C8B-B14F-4D97-AF65-F5344CB8AC3E}">
        <p14:creationId xmlns:p14="http://schemas.microsoft.com/office/powerpoint/2010/main" val="851066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0208D-61AE-BD2A-565D-C1F582C05F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EF20E2-7ED7-A8C0-E8AB-2684AB2D39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5E3390-0F71-21AB-6E81-19C79BF5ED54}"/>
              </a:ext>
            </a:extLst>
          </p:cNvPr>
          <p:cNvSpPr>
            <a:spLocks noGrp="1"/>
          </p:cNvSpPr>
          <p:nvPr>
            <p:ph type="dt" sz="half" idx="10"/>
          </p:nvPr>
        </p:nvSpPr>
        <p:spPr/>
        <p:txBody>
          <a:bodyPr/>
          <a:lstStyle/>
          <a:p>
            <a:fld id="{DB24AF28-A855-46D9-99A6-E7D7DB18C2EF}" type="datetimeFigureOut">
              <a:rPr lang="en-US" smtClean="0"/>
              <a:t>9/29/2026</a:t>
            </a:fld>
            <a:endParaRPr lang="en-US"/>
          </a:p>
        </p:txBody>
      </p:sp>
      <p:sp>
        <p:nvSpPr>
          <p:cNvPr id="5" name="Footer Placeholder 4">
            <a:extLst>
              <a:ext uri="{FF2B5EF4-FFF2-40B4-BE49-F238E27FC236}">
                <a16:creationId xmlns:a16="http://schemas.microsoft.com/office/drawing/2014/main" id="{843BB414-E42D-F20D-DAF7-19DE7CEC9A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0F4A41-6CD2-3E49-EFEA-C476FA0E7DAD}"/>
              </a:ext>
            </a:extLst>
          </p:cNvPr>
          <p:cNvSpPr>
            <a:spLocks noGrp="1"/>
          </p:cNvSpPr>
          <p:nvPr>
            <p:ph type="sldNum" sz="quarter" idx="12"/>
          </p:nvPr>
        </p:nvSpPr>
        <p:spPr/>
        <p:txBody>
          <a:bodyPr/>
          <a:lstStyle/>
          <a:p>
            <a:fld id="{8798BF52-2529-4B79-8EC9-E74A87F370B0}" type="slidenum">
              <a:rPr lang="en-US" smtClean="0"/>
              <a:t>‹#›</a:t>
            </a:fld>
            <a:endParaRPr lang="en-US"/>
          </a:p>
        </p:txBody>
      </p:sp>
    </p:spTree>
    <p:extLst>
      <p:ext uri="{BB962C8B-B14F-4D97-AF65-F5344CB8AC3E}">
        <p14:creationId xmlns:p14="http://schemas.microsoft.com/office/powerpoint/2010/main" val="2995224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70762-1C3D-A170-8835-5CBEBE2E3C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01225B-F731-7B53-5117-C3A6A40848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BD92B5-5533-7472-915F-81505D213714}"/>
              </a:ext>
            </a:extLst>
          </p:cNvPr>
          <p:cNvSpPr>
            <a:spLocks noGrp="1"/>
          </p:cNvSpPr>
          <p:nvPr>
            <p:ph type="dt" sz="half" idx="10"/>
          </p:nvPr>
        </p:nvSpPr>
        <p:spPr/>
        <p:txBody>
          <a:bodyPr/>
          <a:lstStyle/>
          <a:p>
            <a:fld id="{DB24AF28-A855-46D9-99A6-E7D7DB18C2EF}" type="datetimeFigureOut">
              <a:rPr lang="en-US" smtClean="0"/>
              <a:t>9/29/2026</a:t>
            </a:fld>
            <a:endParaRPr lang="en-US"/>
          </a:p>
        </p:txBody>
      </p:sp>
      <p:sp>
        <p:nvSpPr>
          <p:cNvPr id="5" name="Footer Placeholder 4">
            <a:extLst>
              <a:ext uri="{FF2B5EF4-FFF2-40B4-BE49-F238E27FC236}">
                <a16:creationId xmlns:a16="http://schemas.microsoft.com/office/drawing/2014/main" id="{EF6C53E2-EA63-5A7A-1D52-97F1A73936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9FEA6-400C-D120-64AF-68C2FEA1DE10}"/>
              </a:ext>
            </a:extLst>
          </p:cNvPr>
          <p:cNvSpPr>
            <a:spLocks noGrp="1"/>
          </p:cNvSpPr>
          <p:nvPr>
            <p:ph type="sldNum" sz="quarter" idx="12"/>
          </p:nvPr>
        </p:nvSpPr>
        <p:spPr/>
        <p:txBody>
          <a:bodyPr/>
          <a:lstStyle/>
          <a:p>
            <a:fld id="{8798BF52-2529-4B79-8EC9-E74A87F370B0}" type="slidenum">
              <a:rPr lang="en-US" smtClean="0"/>
              <a:t>‹#›</a:t>
            </a:fld>
            <a:endParaRPr lang="en-US"/>
          </a:p>
        </p:txBody>
      </p:sp>
    </p:spTree>
    <p:extLst>
      <p:ext uri="{BB962C8B-B14F-4D97-AF65-F5344CB8AC3E}">
        <p14:creationId xmlns:p14="http://schemas.microsoft.com/office/powerpoint/2010/main" val="3449800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FDA4E-9C52-1FE8-9113-0C59CFF7C2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B43751-ED47-A956-AB77-F2D1958CFD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B32E6B-62FD-904F-C014-C79F080626E3}"/>
              </a:ext>
            </a:extLst>
          </p:cNvPr>
          <p:cNvSpPr>
            <a:spLocks noGrp="1"/>
          </p:cNvSpPr>
          <p:nvPr>
            <p:ph type="dt" sz="half" idx="10"/>
          </p:nvPr>
        </p:nvSpPr>
        <p:spPr/>
        <p:txBody>
          <a:bodyPr/>
          <a:lstStyle/>
          <a:p>
            <a:fld id="{DB24AF28-A855-46D9-99A6-E7D7DB18C2EF}" type="datetimeFigureOut">
              <a:rPr lang="en-US" smtClean="0"/>
              <a:t>9/29/2026</a:t>
            </a:fld>
            <a:endParaRPr lang="en-US"/>
          </a:p>
        </p:txBody>
      </p:sp>
      <p:sp>
        <p:nvSpPr>
          <p:cNvPr id="5" name="Footer Placeholder 4">
            <a:extLst>
              <a:ext uri="{FF2B5EF4-FFF2-40B4-BE49-F238E27FC236}">
                <a16:creationId xmlns:a16="http://schemas.microsoft.com/office/drawing/2014/main" id="{65838485-7DC3-59A8-1C39-048E4ED853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F243D0-E42F-1BB9-46C1-EDE5B1B978FA}"/>
              </a:ext>
            </a:extLst>
          </p:cNvPr>
          <p:cNvSpPr>
            <a:spLocks noGrp="1"/>
          </p:cNvSpPr>
          <p:nvPr>
            <p:ph type="sldNum" sz="quarter" idx="12"/>
          </p:nvPr>
        </p:nvSpPr>
        <p:spPr/>
        <p:txBody>
          <a:bodyPr/>
          <a:lstStyle/>
          <a:p>
            <a:fld id="{8798BF52-2529-4B79-8EC9-E74A87F370B0}" type="slidenum">
              <a:rPr lang="en-US" smtClean="0"/>
              <a:t>‹#›</a:t>
            </a:fld>
            <a:endParaRPr lang="en-US"/>
          </a:p>
        </p:txBody>
      </p:sp>
    </p:spTree>
    <p:extLst>
      <p:ext uri="{BB962C8B-B14F-4D97-AF65-F5344CB8AC3E}">
        <p14:creationId xmlns:p14="http://schemas.microsoft.com/office/powerpoint/2010/main" val="3459671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961D9-09FD-E6E7-E306-FDE3916476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A430EA-B47C-DADB-4EFA-3A71DED722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CA0F8CE-1D66-FFAD-EB4E-5C1E387E51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F618BB-45BD-2D04-77F5-4AEF99FA1A4D}"/>
              </a:ext>
            </a:extLst>
          </p:cNvPr>
          <p:cNvSpPr>
            <a:spLocks noGrp="1"/>
          </p:cNvSpPr>
          <p:nvPr>
            <p:ph type="dt" sz="half" idx="10"/>
          </p:nvPr>
        </p:nvSpPr>
        <p:spPr/>
        <p:txBody>
          <a:bodyPr/>
          <a:lstStyle/>
          <a:p>
            <a:fld id="{DB24AF28-A855-46D9-99A6-E7D7DB18C2EF}" type="datetimeFigureOut">
              <a:rPr lang="en-US" smtClean="0"/>
              <a:t>9/29/2026</a:t>
            </a:fld>
            <a:endParaRPr lang="en-US"/>
          </a:p>
        </p:txBody>
      </p:sp>
      <p:sp>
        <p:nvSpPr>
          <p:cNvPr id="6" name="Footer Placeholder 5">
            <a:extLst>
              <a:ext uri="{FF2B5EF4-FFF2-40B4-BE49-F238E27FC236}">
                <a16:creationId xmlns:a16="http://schemas.microsoft.com/office/drawing/2014/main" id="{6B67C3B3-7C23-C71A-1B1E-4BE3E6EA89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BB85FE-7750-6573-E7B1-C7CF0935E6E1}"/>
              </a:ext>
            </a:extLst>
          </p:cNvPr>
          <p:cNvSpPr>
            <a:spLocks noGrp="1"/>
          </p:cNvSpPr>
          <p:nvPr>
            <p:ph type="sldNum" sz="quarter" idx="12"/>
          </p:nvPr>
        </p:nvSpPr>
        <p:spPr/>
        <p:txBody>
          <a:bodyPr/>
          <a:lstStyle/>
          <a:p>
            <a:fld id="{8798BF52-2529-4B79-8EC9-E74A87F370B0}" type="slidenum">
              <a:rPr lang="en-US" smtClean="0"/>
              <a:t>‹#›</a:t>
            </a:fld>
            <a:endParaRPr lang="en-US"/>
          </a:p>
        </p:txBody>
      </p:sp>
    </p:spTree>
    <p:extLst>
      <p:ext uri="{BB962C8B-B14F-4D97-AF65-F5344CB8AC3E}">
        <p14:creationId xmlns:p14="http://schemas.microsoft.com/office/powerpoint/2010/main" val="460721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C9C8E-BCA5-E650-BF2C-982332C0BC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5792C6-1208-2BE3-0C82-0E2B26A9C2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131FBA-62B8-5C34-003A-667F91B82D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70EC81-257F-E1C9-9E34-3ECE8CF43E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7271DD-4515-6C45-7FAB-EAAE153405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1A53F-5FCB-62A0-0A17-C53B05B01A1B}"/>
              </a:ext>
            </a:extLst>
          </p:cNvPr>
          <p:cNvSpPr>
            <a:spLocks noGrp="1"/>
          </p:cNvSpPr>
          <p:nvPr>
            <p:ph type="dt" sz="half" idx="10"/>
          </p:nvPr>
        </p:nvSpPr>
        <p:spPr/>
        <p:txBody>
          <a:bodyPr/>
          <a:lstStyle/>
          <a:p>
            <a:fld id="{DB24AF28-A855-46D9-99A6-E7D7DB18C2EF}" type="datetimeFigureOut">
              <a:rPr lang="en-US" smtClean="0"/>
              <a:t>9/29/2026</a:t>
            </a:fld>
            <a:endParaRPr lang="en-US"/>
          </a:p>
        </p:txBody>
      </p:sp>
      <p:sp>
        <p:nvSpPr>
          <p:cNvPr id="8" name="Footer Placeholder 7">
            <a:extLst>
              <a:ext uri="{FF2B5EF4-FFF2-40B4-BE49-F238E27FC236}">
                <a16:creationId xmlns:a16="http://schemas.microsoft.com/office/drawing/2014/main" id="{EC78ACA3-0A4E-1449-A9D5-269089C206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A9A6C7-9AA5-966B-9579-CFE9D54FEF39}"/>
              </a:ext>
            </a:extLst>
          </p:cNvPr>
          <p:cNvSpPr>
            <a:spLocks noGrp="1"/>
          </p:cNvSpPr>
          <p:nvPr>
            <p:ph type="sldNum" sz="quarter" idx="12"/>
          </p:nvPr>
        </p:nvSpPr>
        <p:spPr/>
        <p:txBody>
          <a:bodyPr/>
          <a:lstStyle/>
          <a:p>
            <a:fld id="{8798BF52-2529-4B79-8EC9-E74A87F370B0}" type="slidenum">
              <a:rPr lang="en-US" smtClean="0"/>
              <a:t>‹#›</a:t>
            </a:fld>
            <a:endParaRPr lang="en-US"/>
          </a:p>
        </p:txBody>
      </p:sp>
    </p:spTree>
    <p:extLst>
      <p:ext uri="{BB962C8B-B14F-4D97-AF65-F5344CB8AC3E}">
        <p14:creationId xmlns:p14="http://schemas.microsoft.com/office/powerpoint/2010/main" val="2840810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BCD21-8EF1-A949-FC93-C5089E0CA4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FE2075-ACA6-D7FD-5C97-25CFF45A63E9}"/>
              </a:ext>
            </a:extLst>
          </p:cNvPr>
          <p:cNvSpPr>
            <a:spLocks noGrp="1"/>
          </p:cNvSpPr>
          <p:nvPr>
            <p:ph type="dt" sz="half" idx="10"/>
          </p:nvPr>
        </p:nvSpPr>
        <p:spPr/>
        <p:txBody>
          <a:bodyPr/>
          <a:lstStyle/>
          <a:p>
            <a:fld id="{DB24AF28-A855-46D9-99A6-E7D7DB18C2EF}" type="datetimeFigureOut">
              <a:rPr lang="en-US" smtClean="0"/>
              <a:t>9/29/2026</a:t>
            </a:fld>
            <a:endParaRPr lang="en-US"/>
          </a:p>
        </p:txBody>
      </p:sp>
      <p:sp>
        <p:nvSpPr>
          <p:cNvPr id="4" name="Footer Placeholder 3">
            <a:extLst>
              <a:ext uri="{FF2B5EF4-FFF2-40B4-BE49-F238E27FC236}">
                <a16:creationId xmlns:a16="http://schemas.microsoft.com/office/drawing/2014/main" id="{AE4F0AE7-C273-8008-CB22-2D00AFFDE7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10F87E-4CBD-397D-5FFD-CC2071512DED}"/>
              </a:ext>
            </a:extLst>
          </p:cNvPr>
          <p:cNvSpPr>
            <a:spLocks noGrp="1"/>
          </p:cNvSpPr>
          <p:nvPr>
            <p:ph type="sldNum" sz="quarter" idx="12"/>
          </p:nvPr>
        </p:nvSpPr>
        <p:spPr/>
        <p:txBody>
          <a:bodyPr/>
          <a:lstStyle/>
          <a:p>
            <a:fld id="{8798BF52-2529-4B79-8EC9-E74A87F370B0}" type="slidenum">
              <a:rPr lang="en-US" smtClean="0"/>
              <a:t>‹#›</a:t>
            </a:fld>
            <a:endParaRPr lang="en-US"/>
          </a:p>
        </p:txBody>
      </p:sp>
    </p:spTree>
    <p:extLst>
      <p:ext uri="{BB962C8B-B14F-4D97-AF65-F5344CB8AC3E}">
        <p14:creationId xmlns:p14="http://schemas.microsoft.com/office/powerpoint/2010/main" val="2579495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F1B2E1-E845-D88F-717F-59EBD9EA466B}"/>
              </a:ext>
            </a:extLst>
          </p:cNvPr>
          <p:cNvSpPr>
            <a:spLocks noGrp="1"/>
          </p:cNvSpPr>
          <p:nvPr>
            <p:ph type="dt" sz="half" idx="10"/>
          </p:nvPr>
        </p:nvSpPr>
        <p:spPr/>
        <p:txBody>
          <a:bodyPr/>
          <a:lstStyle/>
          <a:p>
            <a:fld id="{DB24AF28-A855-46D9-99A6-E7D7DB18C2EF}" type="datetimeFigureOut">
              <a:rPr lang="en-US" smtClean="0"/>
              <a:t>9/29/2026</a:t>
            </a:fld>
            <a:endParaRPr lang="en-US"/>
          </a:p>
        </p:txBody>
      </p:sp>
      <p:sp>
        <p:nvSpPr>
          <p:cNvPr id="3" name="Footer Placeholder 2">
            <a:extLst>
              <a:ext uri="{FF2B5EF4-FFF2-40B4-BE49-F238E27FC236}">
                <a16:creationId xmlns:a16="http://schemas.microsoft.com/office/drawing/2014/main" id="{339C1B96-BA50-F433-87C4-6682F984295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1BFF2B-D08E-FC4A-3C57-79F835D63EA0}"/>
              </a:ext>
            </a:extLst>
          </p:cNvPr>
          <p:cNvSpPr>
            <a:spLocks noGrp="1"/>
          </p:cNvSpPr>
          <p:nvPr>
            <p:ph type="sldNum" sz="quarter" idx="12"/>
          </p:nvPr>
        </p:nvSpPr>
        <p:spPr/>
        <p:txBody>
          <a:bodyPr/>
          <a:lstStyle/>
          <a:p>
            <a:fld id="{8798BF52-2529-4B79-8EC9-E74A87F370B0}" type="slidenum">
              <a:rPr lang="en-US" smtClean="0"/>
              <a:t>‹#›</a:t>
            </a:fld>
            <a:endParaRPr lang="en-US"/>
          </a:p>
        </p:txBody>
      </p:sp>
    </p:spTree>
    <p:extLst>
      <p:ext uri="{BB962C8B-B14F-4D97-AF65-F5344CB8AC3E}">
        <p14:creationId xmlns:p14="http://schemas.microsoft.com/office/powerpoint/2010/main" val="248488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FEF52-2CE2-F125-10EE-C1CBCF29A3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9314E9-5430-9700-0B87-C1B7D6F9DD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FC80EE-FFBF-3272-DE5F-7690499F81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5CAE0-814A-F432-19F1-0665FAB46F36}"/>
              </a:ext>
            </a:extLst>
          </p:cNvPr>
          <p:cNvSpPr>
            <a:spLocks noGrp="1"/>
          </p:cNvSpPr>
          <p:nvPr>
            <p:ph type="dt" sz="half" idx="10"/>
          </p:nvPr>
        </p:nvSpPr>
        <p:spPr/>
        <p:txBody>
          <a:bodyPr/>
          <a:lstStyle/>
          <a:p>
            <a:fld id="{DB24AF28-A855-46D9-99A6-E7D7DB18C2EF}" type="datetimeFigureOut">
              <a:rPr lang="en-US" smtClean="0"/>
              <a:t>9/29/2026</a:t>
            </a:fld>
            <a:endParaRPr lang="en-US"/>
          </a:p>
        </p:txBody>
      </p:sp>
      <p:sp>
        <p:nvSpPr>
          <p:cNvPr id="6" name="Footer Placeholder 5">
            <a:extLst>
              <a:ext uri="{FF2B5EF4-FFF2-40B4-BE49-F238E27FC236}">
                <a16:creationId xmlns:a16="http://schemas.microsoft.com/office/drawing/2014/main" id="{D901FC13-CAB9-E180-FAB9-9AFD95B2AF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D71BB6-7C90-D025-884C-80855D42A6A1}"/>
              </a:ext>
            </a:extLst>
          </p:cNvPr>
          <p:cNvSpPr>
            <a:spLocks noGrp="1"/>
          </p:cNvSpPr>
          <p:nvPr>
            <p:ph type="sldNum" sz="quarter" idx="12"/>
          </p:nvPr>
        </p:nvSpPr>
        <p:spPr/>
        <p:txBody>
          <a:bodyPr/>
          <a:lstStyle/>
          <a:p>
            <a:fld id="{8798BF52-2529-4B79-8EC9-E74A87F370B0}" type="slidenum">
              <a:rPr lang="en-US" smtClean="0"/>
              <a:t>‹#›</a:t>
            </a:fld>
            <a:endParaRPr lang="en-US"/>
          </a:p>
        </p:txBody>
      </p:sp>
    </p:spTree>
    <p:extLst>
      <p:ext uri="{BB962C8B-B14F-4D97-AF65-F5344CB8AC3E}">
        <p14:creationId xmlns:p14="http://schemas.microsoft.com/office/powerpoint/2010/main" val="3814890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3D6C8-E8B5-BBB7-0377-4E2A532A99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301E2E-4B0B-3E09-0DA6-C8B5AF0128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86FF17-C6F9-5C47-6D4F-4CA0D5C1D1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0D144C-CCB8-2A82-8A8F-787F38F7C6B2}"/>
              </a:ext>
            </a:extLst>
          </p:cNvPr>
          <p:cNvSpPr>
            <a:spLocks noGrp="1"/>
          </p:cNvSpPr>
          <p:nvPr>
            <p:ph type="dt" sz="half" idx="10"/>
          </p:nvPr>
        </p:nvSpPr>
        <p:spPr/>
        <p:txBody>
          <a:bodyPr/>
          <a:lstStyle/>
          <a:p>
            <a:fld id="{DB24AF28-A855-46D9-99A6-E7D7DB18C2EF}" type="datetimeFigureOut">
              <a:rPr lang="en-US" smtClean="0"/>
              <a:t>9/29/2026</a:t>
            </a:fld>
            <a:endParaRPr lang="en-US"/>
          </a:p>
        </p:txBody>
      </p:sp>
      <p:sp>
        <p:nvSpPr>
          <p:cNvPr id="6" name="Footer Placeholder 5">
            <a:extLst>
              <a:ext uri="{FF2B5EF4-FFF2-40B4-BE49-F238E27FC236}">
                <a16:creationId xmlns:a16="http://schemas.microsoft.com/office/drawing/2014/main" id="{CA6B297E-BA1E-2983-E9F5-6C53CAE3F2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048EF5-4926-2720-EF9E-2242CE5AC50E}"/>
              </a:ext>
            </a:extLst>
          </p:cNvPr>
          <p:cNvSpPr>
            <a:spLocks noGrp="1"/>
          </p:cNvSpPr>
          <p:nvPr>
            <p:ph type="sldNum" sz="quarter" idx="12"/>
          </p:nvPr>
        </p:nvSpPr>
        <p:spPr/>
        <p:txBody>
          <a:bodyPr/>
          <a:lstStyle/>
          <a:p>
            <a:fld id="{8798BF52-2529-4B79-8EC9-E74A87F370B0}" type="slidenum">
              <a:rPr lang="en-US" smtClean="0"/>
              <a:t>‹#›</a:t>
            </a:fld>
            <a:endParaRPr lang="en-US"/>
          </a:p>
        </p:txBody>
      </p:sp>
    </p:spTree>
    <p:extLst>
      <p:ext uri="{BB962C8B-B14F-4D97-AF65-F5344CB8AC3E}">
        <p14:creationId xmlns:p14="http://schemas.microsoft.com/office/powerpoint/2010/main" val="664668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07C9F-F9A9-E8DA-45E3-F07F86F33E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C49AFA-FE05-A107-83ED-D7A4B35C5A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FCA7E0-503F-4CC5-9A69-A5B845D5469D}"/>
              </a:ext>
            </a:extLst>
          </p:cNvPr>
          <p:cNvSpPr>
            <a:spLocks noGrp="1"/>
          </p:cNvSpPr>
          <p:nvPr>
            <p:ph type="dt" sz="half" idx="10"/>
          </p:nvPr>
        </p:nvSpPr>
        <p:spPr/>
        <p:txBody>
          <a:bodyPr/>
          <a:lstStyle/>
          <a:p>
            <a:fld id="{DB24AF28-A855-46D9-99A6-E7D7DB18C2EF}" type="datetimeFigureOut">
              <a:rPr lang="en-US" smtClean="0"/>
              <a:t>9/29/2026</a:t>
            </a:fld>
            <a:endParaRPr lang="en-US"/>
          </a:p>
        </p:txBody>
      </p:sp>
      <p:sp>
        <p:nvSpPr>
          <p:cNvPr id="5" name="Footer Placeholder 4">
            <a:extLst>
              <a:ext uri="{FF2B5EF4-FFF2-40B4-BE49-F238E27FC236}">
                <a16:creationId xmlns:a16="http://schemas.microsoft.com/office/drawing/2014/main" id="{C5B4B9F4-EAFF-4264-5938-C087A3A0B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BDD877-CC99-076B-40A5-118447883992}"/>
              </a:ext>
            </a:extLst>
          </p:cNvPr>
          <p:cNvSpPr>
            <a:spLocks noGrp="1"/>
          </p:cNvSpPr>
          <p:nvPr>
            <p:ph type="sldNum" sz="quarter" idx="12"/>
          </p:nvPr>
        </p:nvSpPr>
        <p:spPr/>
        <p:txBody>
          <a:bodyPr/>
          <a:lstStyle/>
          <a:p>
            <a:fld id="{8798BF52-2529-4B79-8EC9-E74A87F370B0}" type="slidenum">
              <a:rPr lang="en-US" smtClean="0"/>
              <a:t>‹#›</a:t>
            </a:fld>
            <a:endParaRPr lang="en-US"/>
          </a:p>
        </p:txBody>
      </p:sp>
    </p:spTree>
    <p:extLst>
      <p:ext uri="{BB962C8B-B14F-4D97-AF65-F5344CB8AC3E}">
        <p14:creationId xmlns:p14="http://schemas.microsoft.com/office/powerpoint/2010/main" val="2056492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6E752F-8F1B-FFD1-D7F2-CF4357EC3A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376599-082C-547F-6522-8CA187CC8C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2FB907-B8A1-A531-3808-3BC5FC889DED}"/>
              </a:ext>
            </a:extLst>
          </p:cNvPr>
          <p:cNvSpPr>
            <a:spLocks noGrp="1"/>
          </p:cNvSpPr>
          <p:nvPr>
            <p:ph type="dt" sz="half" idx="10"/>
          </p:nvPr>
        </p:nvSpPr>
        <p:spPr/>
        <p:txBody>
          <a:bodyPr/>
          <a:lstStyle/>
          <a:p>
            <a:fld id="{DB24AF28-A855-46D9-99A6-E7D7DB18C2EF}" type="datetimeFigureOut">
              <a:rPr lang="en-US" smtClean="0"/>
              <a:t>9/29/2026</a:t>
            </a:fld>
            <a:endParaRPr lang="en-US"/>
          </a:p>
        </p:txBody>
      </p:sp>
      <p:sp>
        <p:nvSpPr>
          <p:cNvPr id="5" name="Footer Placeholder 4">
            <a:extLst>
              <a:ext uri="{FF2B5EF4-FFF2-40B4-BE49-F238E27FC236}">
                <a16:creationId xmlns:a16="http://schemas.microsoft.com/office/drawing/2014/main" id="{90A9E5FD-5A9A-CB76-D6EB-5B426F81A3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9CBECE-2DFA-0E99-282D-130922C08B22}"/>
              </a:ext>
            </a:extLst>
          </p:cNvPr>
          <p:cNvSpPr>
            <a:spLocks noGrp="1"/>
          </p:cNvSpPr>
          <p:nvPr>
            <p:ph type="sldNum" sz="quarter" idx="12"/>
          </p:nvPr>
        </p:nvSpPr>
        <p:spPr/>
        <p:txBody>
          <a:bodyPr/>
          <a:lstStyle/>
          <a:p>
            <a:fld id="{8798BF52-2529-4B79-8EC9-E74A87F370B0}" type="slidenum">
              <a:rPr lang="en-US" smtClean="0"/>
              <a:t>‹#›</a:t>
            </a:fld>
            <a:endParaRPr lang="en-US"/>
          </a:p>
        </p:txBody>
      </p:sp>
    </p:spTree>
    <p:extLst>
      <p:ext uri="{BB962C8B-B14F-4D97-AF65-F5344CB8AC3E}">
        <p14:creationId xmlns:p14="http://schemas.microsoft.com/office/powerpoint/2010/main" val="7935591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44103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9233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8649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09637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568047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545009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73160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16594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373846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072510F-8C52-483F-A0B7-B48FA3B75220}"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AEE05-C05A-4AE0-9F08-ED2E999A8549}" type="slidenum">
              <a:rPr lang="en-US" smtClean="0"/>
              <a:t>‹#›</a:t>
            </a:fld>
            <a:endParaRPr lang="en-US"/>
          </a:p>
        </p:txBody>
      </p:sp>
    </p:spTree>
    <p:extLst>
      <p:ext uri="{BB962C8B-B14F-4D97-AF65-F5344CB8AC3E}">
        <p14:creationId xmlns:p14="http://schemas.microsoft.com/office/powerpoint/2010/main" val="490868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72510F-8C52-483F-A0B7-B48FA3B75220}"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AEE05-C05A-4AE0-9F08-ED2E999A8549}" type="slidenum">
              <a:rPr lang="en-US" smtClean="0"/>
              <a:t>‹#›</a:t>
            </a:fld>
            <a:endParaRPr lang="en-US"/>
          </a:p>
        </p:txBody>
      </p:sp>
    </p:spTree>
    <p:extLst>
      <p:ext uri="{BB962C8B-B14F-4D97-AF65-F5344CB8AC3E}">
        <p14:creationId xmlns:p14="http://schemas.microsoft.com/office/powerpoint/2010/main" val="24890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72510F-8C52-483F-A0B7-B48FA3B75220}"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AEE05-C05A-4AE0-9F08-ED2E999A8549}" type="slidenum">
              <a:rPr lang="en-US" smtClean="0"/>
              <a:t>‹#›</a:t>
            </a:fld>
            <a:endParaRPr lang="en-US"/>
          </a:p>
        </p:txBody>
      </p:sp>
    </p:spTree>
    <p:extLst>
      <p:ext uri="{BB962C8B-B14F-4D97-AF65-F5344CB8AC3E}">
        <p14:creationId xmlns:p14="http://schemas.microsoft.com/office/powerpoint/2010/main" val="40473530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072510F-8C52-483F-A0B7-B48FA3B75220}"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AEE05-C05A-4AE0-9F08-ED2E999A8549}" type="slidenum">
              <a:rPr lang="en-US" smtClean="0"/>
              <a:t>‹#›</a:t>
            </a:fld>
            <a:endParaRPr lang="en-US"/>
          </a:p>
        </p:txBody>
      </p:sp>
    </p:spTree>
    <p:extLst>
      <p:ext uri="{BB962C8B-B14F-4D97-AF65-F5344CB8AC3E}">
        <p14:creationId xmlns:p14="http://schemas.microsoft.com/office/powerpoint/2010/main" val="760459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072510F-8C52-483F-A0B7-B48FA3B75220}"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3AEE05-C05A-4AE0-9F08-ED2E999A8549}" type="slidenum">
              <a:rPr lang="en-US" smtClean="0"/>
              <a:t>‹#›</a:t>
            </a:fld>
            <a:endParaRPr lang="en-US"/>
          </a:p>
        </p:txBody>
      </p:sp>
    </p:spTree>
    <p:extLst>
      <p:ext uri="{BB962C8B-B14F-4D97-AF65-F5344CB8AC3E}">
        <p14:creationId xmlns:p14="http://schemas.microsoft.com/office/powerpoint/2010/main" val="9240858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72510F-8C52-483F-A0B7-B48FA3B75220}"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3AEE05-C05A-4AE0-9F08-ED2E999A8549}" type="slidenum">
              <a:rPr lang="en-US" smtClean="0"/>
              <a:t>‹#›</a:t>
            </a:fld>
            <a:endParaRPr lang="en-US"/>
          </a:p>
        </p:txBody>
      </p:sp>
    </p:spTree>
    <p:extLst>
      <p:ext uri="{BB962C8B-B14F-4D97-AF65-F5344CB8AC3E}">
        <p14:creationId xmlns:p14="http://schemas.microsoft.com/office/powerpoint/2010/main" val="8033442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72510F-8C52-483F-A0B7-B48FA3B75220}"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3AEE05-C05A-4AE0-9F08-ED2E999A8549}" type="slidenum">
              <a:rPr lang="en-US" smtClean="0"/>
              <a:t>‹#›</a:t>
            </a:fld>
            <a:endParaRPr lang="en-US"/>
          </a:p>
        </p:txBody>
      </p:sp>
    </p:spTree>
    <p:extLst>
      <p:ext uri="{BB962C8B-B14F-4D97-AF65-F5344CB8AC3E}">
        <p14:creationId xmlns:p14="http://schemas.microsoft.com/office/powerpoint/2010/main" val="27448882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72510F-8C52-483F-A0B7-B48FA3B75220}"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AEE05-C05A-4AE0-9F08-ED2E999A8549}" type="slidenum">
              <a:rPr lang="en-US" smtClean="0"/>
              <a:t>‹#›</a:t>
            </a:fld>
            <a:endParaRPr lang="en-US"/>
          </a:p>
        </p:txBody>
      </p:sp>
    </p:spTree>
    <p:extLst>
      <p:ext uri="{BB962C8B-B14F-4D97-AF65-F5344CB8AC3E}">
        <p14:creationId xmlns:p14="http://schemas.microsoft.com/office/powerpoint/2010/main" val="99703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72510F-8C52-483F-A0B7-B48FA3B75220}"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AEE05-C05A-4AE0-9F08-ED2E999A8549}" type="slidenum">
              <a:rPr lang="en-US" smtClean="0"/>
              <a:t>‹#›</a:t>
            </a:fld>
            <a:endParaRPr lang="en-US"/>
          </a:p>
        </p:txBody>
      </p:sp>
    </p:spTree>
    <p:extLst>
      <p:ext uri="{BB962C8B-B14F-4D97-AF65-F5344CB8AC3E}">
        <p14:creationId xmlns:p14="http://schemas.microsoft.com/office/powerpoint/2010/main" val="19980972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72510F-8C52-483F-A0B7-B48FA3B75220}"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AEE05-C05A-4AE0-9F08-ED2E999A8549}" type="slidenum">
              <a:rPr lang="en-US" smtClean="0"/>
              <a:t>‹#›</a:t>
            </a:fld>
            <a:endParaRPr lang="en-US"/>
          </a:p>
        </p:txBody>
      </p:sp>
    </p:spTree>
    <p:extLst>
      <p:ext uri="{BB962C8B-B14F-4D97-AF65-F5344CB8AC3E}">
        <p14:creationId xmlns:p14="http://schemas.microsoft.com/office/powerpoint/2010/main" val="6020165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72510F-8C52-483F-A0B7-B48FA3B75220}"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AEE05-C05A-4AE0-9F08-ED2E999A8549}" type="slidenum">
              <a:rPr lang="en-US" smtClean="0"/>
              <a:t>‹#›</a:t>
            </a:fld>
            <a:endParaRPr lang="en-US"/>
          </a:p>
        </p:txBody>
      </p:sp>
    </p:spTree>
    <p:extLst>
      <p:ext uri="{BB962C8B-B14F-4D97-AF65-F5344CB8AC3E}">
        <p14:creationId xmlns:p14="http://schemas.microsoft.com/office/powerpoint/2010/main" val="35442789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93A27-5C81-4AB5-8399-5D486527A7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6F6EC4-1724-4F3A-A005-A37D09179D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2544C3-6EA1-491D-A3E1-C71B805F3C0B}"/>
              </a:ext>
            </a:extLst>
          </p:cNvPr>
          <p:cNvSpPr>
            <a:spLocks noGrp="1"/>
          </p:cNvSpPr>
          <p:nvPr>
            <p:ph type="dt" sz="half" idx="10"/>
          </p:nvPr>
        </p:nvSpPr>
        <p:spPr/>
        <p:txBody>
          <a:bodyPr/>
          <a:lstStyle/>
          <a:p>
            <a:fld id="{2C184D62-E87B-4E78-8D51-A71AAF7EFE70}" type="datetime1">
              <a:rPr lang="en-US" smtClean="0"/>
              <a:t>9/29/2026</a:t>
            </a:fld>
            <a:endParaRPr lang="en-US"/>
          </a:p>
        </p:txBody>
      </p:sp>
      <p:sp>
        <p:nvSpPr>
          <p:cNvPr id="5" name="Footer Placeholder 4">
            <a:extLst>
              <a:ext uri="{FF2B5EF4-FFF2-40B4-BE49-F238E27FC236}">
                <a16:creationId xmlns:a16="http://schemas.microsoft.com/office/drawing/2014/main" id="{A58F7350-6062-4FEE-93F7-39DBFDB254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61B2C2-F002-4F83-83D9-5DC9415D609A}"/>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46003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F50DE-4667-482C-A2D3-A38F59FCED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252D1C-6889-452E-A492-EBD17E108E1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989D5C-3CC8-4194-99E8-46D8E84587A4}"/>
              </a:ext>
            </a:extLst>
          </p:cNvPr>
          <p:cNvSpPr>
            <a:spLocks noGrp="1"/>
          </p:cNvSpPr>
          <p:nvPr>
            <p:ph type="dt" sz="half" idx="10"/>
          </p:nvPr>
        </p:nvSpPr>
        <p:spPr/>
        <p:txBody>
          <a:bodyPr/>
          <a:lstStyle/>
          <a:p>
            <a:fld id="{C656BC0E-6968-47DA-9DB9-D508F49A0C0D}" type="datetime1">
              <a:rPr lang="en-US" smtClean="0"/>
              <a:t>9/29/2026</a:t>
            </a:fld>
            <a:endParaRPr lang="en-US"/>
          </a:p>
        </p:txBody>
      </p:sp>
      <p:sp>
        <p:nvSpPr>
          <p:cNvPr id="5" name="Footer Placeholder 4">
            <a:extLst>
              <a:ext uri="{FF2B5EF4-FFF2-40B4-BE49-F238E27FC236}">
                <a16:creationId xmlns:a16="http://schemas.microsoft.com/office/drawing/2014/main" id="{8ECA486D-A456-4A19-8567-6ED738113E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38F71D-8FCE-4C36-90E4-F6588BE53760}"/>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5346951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1B1D4-BD2E-4B4C-8416-A6F6193664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6C0E8B-DB9C-4E7A-AA09-A1CC62E71B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9CB7F07-40F2-454C-8F19-1FD05CDB26B5}"/>
              </a:ext>
            </a:extLst>
          </p:cNvPr>
          <p:cNvSpPr>
            <a:spLocks noGrp="1"/>
          </p:cNvSpPr>
          <p:nvPr>
            <p:ph type="dt" sz="half" idx="10"/>
          </p:nvPr>
        </p:nvSpPr>
        <p:spPr/>
        <p:txBody>
          <a:bodyPr/>
          <a:lstStyle/>
          <a:p>
            <a:fld id="{2588A9C0-7A89-4285-8B2D-1E4FA1910F1E}" type="datetime1">
              <a:rPr lang="en-US" smtClean="0"/>
              <a:t>9/29/2026</a:t>
            </a:fld>
            <a:endParaRPr lang="en-US"/>
          </a:p>
        </p:txBody>
      </p:sp>
      <p:sp>
        <p:nvSpPr>
          <p:cNvPr id="5" name="Footer Placeholder 4">
            <a:extLst>
              <a:ext uri="{FF2B5EF4-FFF2-40B4-BE49-F238E27FC236}">
                <a16:creationId xmlns:a16="http://schemas.microsoft.com/office/drawing/2014/main" id="{03794549-F0E7-46FC-ACD4-47330C13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044BBB-A757-43CE-9651-DF91F7E0342B}"/>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14606724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0CECF-D588-468B-A7A3-90A98346B6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D951B1-1553-4958-9D61-E1F0A1D9DF6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AF1E5E-7AAE-444D-86E4-1C566EFC0B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BC9A7E-E423-4A61-828D-BDF012BA275C}"/>
              </a:ext>
            </a:extLst>
          </p:cNvPr>
          <p:cNvSpPr>
            <a:spLocks noGrp="1"/>
          </p:cNvSpPr>
          <p:nvPr>
            <p:ph type="dt" sz="half" idx="10"/>
          </p:nvPr>
        </p:nvSpPr>
        <p:spPr/>
        <p:txBody>
          <a:bodyPr/>
          <a:lstStyle/>
          <a:p>
            <a:fld id="{DA5CC23E-F11C-48D9-AE55-0EF6324A9F73}" type="datetime1">
              <a:rPr lang="en-US" smtClean="0"/>
              <a:t>9/29/2026</a:t>
            </a:fld>
            <a:endParaRPr lang="en-US"/>
          </a:p>
        </p:txBody>
      </p:sp>
      <p:sp>
        <p:nvSpPr>
          <p:cNvPr id="6" name="Footer Placeholder 5">
            <a:extLst>
              <a:ext uri="{FF2B5EF4-FFF2-40B4-BE49-F238E27FC236}">
                <a16:creationId xmlns:a16="http://schemas.microsoft.com/office/drawing/2014/main" id="{A366D3F1-3B66-4228-9A47-E7D04A065F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61B5D7-E998-411F-BEDA-F76665A5D79D}"/>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17125684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BB8DF-503D-48C4-9D47-463A470AD4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C338F9-2BFA-4C1A-A29F-44F778CC87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80319EB-DD39-4B32-87D0-49873CED0F2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6925FA-E7BE-4DA6-B13F-609287FC5C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D98FF09-0267-44A3-B767-F5AD1CB5CCA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3EC5D4-0A9B-4479-9DD6-B1FB0CFDEBB4}"/>
              </a:ext>
            </a:extLst>
          </p:cNvPr>
          <p:cNvSpPr>
            <a:spLocks noGrp="1"/>
          </p:cNvSpPr>
          <p:nvPr>
            <p:ph type="dt" sz="half" idx="10"/>
          </p:nvPr>
        </p:nvSpPr>
        <p:spPr/>
        <p:txBody>
          <a:bodyPr/>
          <a:lstStyle/>
          <a:p>
            <a:fld id="{E6454B23-E954-413E-A340-E1B67CB96215}" type="datetime1">
              <a:rPr lang="en-US" smtClean="0"/>
              <a:t>9/29/2026</a:t>
            </a:fld>
            <a:endParaRPr lang="en-US"/>
          </a:p>
        </p:txBody>
      </p:sp>
      <p:sp>
        <p:nvSpPr>
          <p:cNvPr id="8" name="Footer Placeholder 7">
            <a:extLst>
              <a:ext uri="{FF2B5EF4-FFF2-40B4-BE49-F238E27FC236}">
                <a16:creationId xmlns:a16="http://schemas.microsoft.com/office/drawing/2014/main" id="{AD07A819-CF02-4B5A-9314-E58BF873C0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B6AC02-78C3-411E-B17B-73949C2E77DE}"/>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32119880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1B3D0-BEF4-46A2-8EE3-F3297DBD7D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0CE44D-5F24-4B91-A27D-C841001E269A}"/>
              </a:ext>
            </a:extLst>
          </p:cNvPr>
          <p:cNvSpPr>
            <a:spLocks noGrp="1"/>
          </p:cNvSpPr>
          <p:nvPr>
            <p:ph type="dt" sz="half" idx="10"/>
          </p:nvPr>
        </p:nvSpPr>
        <p:spPr/>
        <p:txBody>
          <a:bodyPr/>
          <a:lstStyle/>
          <a:p>
            <a:fld id="{98D01C05-EBE7-4848-9605-17FA64F26282}" type="datetime1">
              <a:rPr lang="en-US" smtClean="0"/>
              <a:t>9/29/2026</a:t>
            </a:fld>
            <a:endParaRPr lang="en-US"/>
          </a:p>
        </p:txBody>
      </p:sp>
      <p:sp>
        <p:nvSpPr>
          <p:cNvPr id="4" name="Footer Placeholder 3">
            <a:extLst>
              <a:ext uri="{FF2B5EF4-FFF2-40B4-BE49-F238E27FC236}">
                <a16:creationId xmlns:a16="http://schemas.microsoft.com/office/drawing/2014/main" id="{0594DDE8-BE40-4E0F-8179-93E9114EA3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20E8C3-3FFA-43CB-9F7D-676DA3E6D067}"/>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32270673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C3E83F-67C2-4EC0-A1BF-781564BDF8EB}"/>
              </a:ext>
            </a:extLst>
          </p:cNvPr>
          <p:cNvSpPr>
            <a:spLocks noGrp="1"/>
          </p:cNvSpPr>
          <p:nvPr>
            <p:ph type="dt" sz="half" idx="10"/>
          </p:nvPr>
        </p:nvSpPr>
        <p:spPr/>
        <p:txBody>
          <a:bodyPr/>
          <a:lstStyle/>
          <a:p>
            <a:fld id="{2DF4748F-0361-4B75-9FB6-0FD67B2CAA53}" type="datetime1">
              <a:rPr lang="en-US" smtClean="0"/>
              <a:t>9/29/2026</a:t>
            </a:fld>
            <a:endParaRPr lang="en-US"/>
          </a:p>
        </p:txBody>
      </p:sp>
      <p:sp>
        <p:nvSpPr>
          <p:cNvPr id="3" name="Footer Placeholder 2">
            <a:extLst>
              <a:ext uri="{FF2B5EF4-FFF2-40B4-BE49-F238E27FC236}">
                <a16:creationId xmlns:a16="http://schemas.microsoft.com/office/drawing/2014/main" id="{0A174CAF-DD5A-42DE-9ADC-E470A2FE2A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2CE4DC-1BE1-416A-8CA9-3EDBC0B64E8B}"/>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217399998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0F94-114F-4B20-8531-86B9FCF7B3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2FAA2F-7591-4346-BB8B-0DD708EDBF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BB4CFF-8B87-469F-B046-657143C665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5F8285A-56BE-4733-B81F-F0CAB5CAF031}"/>
              </a:ext>
            </a:extLst>
          </p:cNvPr>
          <p:cNvSpPr>
            <a:spLocks noGrp="1"/>
          </p:cNvSpPr>
          <p:nvPr>
            <p:ph type="dt" sz="half" idx="10"/>
          </p:nvPr>
        </p:nvSpPr>
        <p:spPr/>
        <p:txBody>
          <a:bodyPr/>
          <a:lstStyle/>
          <a:p>
            <a:fld id="{B719F1C2-23BD-4B0F-AE95-81945CE4C218}" type="datetime1">
              <a:rPr lang="en-US" smtClean="0"/>
              <a:t>9/29/2026</a:t>
            </a:fld>
            <a:endParaRPr lang="en-US"/>
          </a:p>
        </p:txBody>
      </p:sp>
      <p:sp>
        <p:nvSpPr>
          <p:cNvPr id="6" name="Footer Placeholder 5">
            <a:extLst>
              <a:ext uri="{FF2B5EF4-FFF2-40B4-BE49-F238E27FC236}">
                <a16:creationId xmlns:a16="http://schemas.microsoft.com/office/drawing/2014/main" id="{0C471FEE-C965-4808-AD73-D20914F464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D0AE28-0F2E-4DC5-8081-42E11060D6A9}"/>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24568311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B92C6-9900-4026-AE3F-5DE9EE3D1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B5F55B-CF73-4795-BB09-765913996D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C86D78-3C96-4322-B161-088747E29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08C49A7-7D2D-4551-80A9-6FC8CEED8AB0}"/>
              </a:ext>
            </a:extLst>
          </p:cNvPr>
          <p:cNvSpPr>
            <a:spLocks noGrp="1"/>
          </p:cNvSpPr>
          <p:nvPr>
            <p:ph type="dt" sz="half" idx="10"/>
          </p:nvPr>
        </p:nvSpPr>
        <p:spPr/>
        <p:txBody>
          <a:bodyPr/>
          <a:lstStyle/>
          <a:p>
            <a:fld id="{F43C9308-E77D-4F00-A0E0-E2C48A09AD1C}" type="datetime1">
              <a:rPr lang="en-US" smtClean="0"/>
              <a:t>9/29/2026</a:t>
            </a:fld>
            <a:endParaRPr lang="en-US"/>
          </a:p>
        </p:txBody>
      </p:sp>
      <p:sp>
        <p:nvSpPr>
          <p:cNvPr id="6" name="Footer Placeholder 5">
            <a:extLst>
              <a:ext uri="{FF2B5EF4-FFF2-40B4-BE49-F238E27FC236}">
                <a16:creationId xmlns:a16="http://schemas.microsoft.com/office/drawing/2014/main" id="{11B8F690-9942-4FF6-8BB9-6F80782F5F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D1670E-28ED-4533-A0BE-7272B33C238D}"/>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3938918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66AD4-7EC1-44FD-BA32-805E71BA83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C786EE-6894-40B3-8DAA-6528BE9831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73173-5EF4-4028-ABAA-461721A925F7}"/>
              </a:ext>
            </a:extLst>
          </p:cNvPr>
          <p:cNvSpPr>
            <a:spLocks noGrp="1"/>
          </p:cNvSpPr>
          <p:nvPr>
            <p:ph type="dt" sz="half" idx="10"/>
          </p:nvPr>
        </p:nvSpPr>
        <p:spPr/>
        <p:txBody>
          <a:bodyPr/>
          <a:lstStyle/>
          <a:p>
            <a:fld id="{0BF6E970-6936-4886-BB3E-53EA998AF177}" type="datetime1">
              <a:rPr lang="en-US" smtClean="0"/>
              <a:t>9/29/2026</a:t>
            </a:fld>
            <a:endParaRPr lang="en-US"/>
          </a:p>
        </p:txBody>
      </p:sp>
      <p:sp>
        <p:nvSpPr>
          <p:cNvPr id="5" name="Footer Placeholder 4">
            <a:extLst>
              <a:ext uri="{FF2B5EF4-FFF2-40B4-BE49-F238E27FC236}">
                <a16:creationId xmlns:a16="http://schemas.microsoft.com/office/drawing/2014/main" id="{E9952984-EED2-4AE3-A5A8-A4BEF7BFF7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E4F1ED-7233-44F5-9AF2-AC5385782F71}"/>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418948905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7FA787-0A36-446A-AD2A-D5BD22D7EF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D43D2B-089C-4FDB-95F1-A7E0E014BC5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98847E-DAFB-49B3-8D62-FBECCC18C7D1}"/>
              </a:ext>
            </a:extLst>
          </p:cNvPr>
          <p:cNvSpPr>
            <a:spLocks noGrp="1"/>
          </p:cNvSpPr>
          <p:nvPr>
            <p:ph type="dt" sz="half" idx="10"/>
          </p:nvPr>
        </p:nvSpPr>
        <p:spPr/>
        <p:txBody>
          <a:bodyPr/>
          <a:lstStyle/>
          <a:p>
            <a:fld id="{12FEA7D1-46F2-462B-AA03-0A881131FDBD}" type="datetime1">
              <a:rPr lang="en-US" smtClean="0"/>
              <a:t>9/29/2026</a:t>
            </a:fld>
            <a:endParaRPr lang="en-US"/>
          </a:p>
        </p:txBody>
      </p:sp>
      <p:sp>
        <p:nvSpPr>
          <p:cNvPr id="5" name="Footer Placeholder 4">
            <a:extLst>
              <a:ext uri="{FF2B5EF4-FFF2-40B4-BE49-F238E27FC236}">
                <a16:creationId xmlns:a16="http://schemas.microsoft.com/office/drawing/2014/main" id="{9037F1BB-9FC8-4547-B68E-79FDA7585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395C7B-DDD1-42C6-833D-5920DDB8B515}"/>
              </a:ext>
            </a:extLst>
          </p:cNvPr>
          <p:cNvSpPr>
            <a:spLocks noGrp="1"/>
          </p:cNvSpPr>
          <p:nvPr>
            <p:ph type="sldNum" sz="quarter" idx="12"/>
          </p:nvPr>
        </p:nvSpPr>
        <p:spPr/>
        <p:txBody>
          <a:bodyPr/>
          <a:lstStyle/>
          <a:p>
            <a:fld id="{0FDD4DA2-4FBE-4694-B57B-F9990517B432}" type="slidenum">
              <a:rPr lang="en-US" smtClean="0"/>
              <a:t>‹#›</a:t>
            </a:fld>
            <a:endParaRPr lang="en-US"/>
          </a:p>
        </p:txBody>
      </p:sp>
    </p:spTree>
    <p:extLst>
      <p:ext uri="{BB962C8B-B14F-4D97-AF65-F5344CB8AC3E}">
        <p14:creationId xmlns:p14="http://schemas.microsoft.com/office/powerpoint/2010/main" val="2351955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9508FD-8C0E-8C47-D89E-8492005409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7A2EBC-4CBC-CD98-2EF1-BAE967F92D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184680-CBB9-717E-B3BB-50B828BA82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24AF28-A855-46D9-99A6-E7D7DB18C2EF}" type="datetimeFigureOut">
              <a:rPr lang="en-US" smtClean="0"/>
              <a:t>9/29/2026</a:t>
            </a:fld>
            <a:endParaRPr lang="en-US"/>
          </a:p>
        </p:txBody>
      </p:sp>
      <p:sp>
        <p:nvSpPr>
          <p:cNvPr id="5" name="Footer Placeholder 4">
            <a:extLst>
              <a:ext uri="{FF2B5EF4-FFF2-40B4-BE49-F238E27FC236}">
                <a16:creationId xmlns:a16="http://schemas.microsoft.com/office/drawing/2014/main" id="{EBF9923D-929D-6D88-2050-AE93F1854D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8F025F8-3938-B6E8-1223-389BDA61A7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98BF52-2529-4B79-8EC9-E74A87F370B0}" type="slidenum">
              <a:rPr lang="en-US" smtClean="0"/>
              <a:t>‹#›</a:t>
            </a:fld>
            <a:endParaRPr lang="en-US"/>
          </a:p>
        </p:txBody>
      </p:sp>
    </p:spTree>
    <p:extLst>
      <p:ext uri="{BB962C8B-B14F-4D97-AF65-F5344CB8AC3E}">
        <p14:creationId xmlns:p14="http://schemas.microsoft.com/office/powerpoint/2010/main" val="4286493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930997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72510F-8C52-483F-A0B7-B48FA3B75220}" type="datetimeFigureOut">
              <a:rPr lang="en-US" smtClean="0"/>
              <a:t>9/29/2026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3AEE05-C05A-4AE0-9F08-ED2E999A8549}" type="slidenum">
              <a:rPr lang="en-US" smtClean="0"/>
              <a:t>‹#›</a:t>
            </a:fld>
            <a:endParaRPr lang="en-US"/>
          </a:p>
        </p:txBody>
      </p:sp>
    </p:spTree>
    <p:extLst>
      <p:ext uri="{BB962C8B-B14F-4D97-AF65-F5344CB8AC3E}">
        <p14:creationId xmlns:p14="http://schemas.microsoft.com/office/powerpoint/2010/main" val="306833880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88ADB2-3439-480F-828A-343BD40BAA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18C5C50-CEF0-4038-8EBF-CB13C80FAF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E32D1D-09BF-4804-9D12-8FB791E6E5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98191-276C-495B-A44A-B9D8EBF2CD4E}" type="datetime1">
              <a:rPr lang="en-US" smtClean="0"/>
              <a:t>9/29/2026</a:t>
            </a:fld>
            <a:endParaRPr lang="en-US"/>
          </a:p>
        </p:txBody>
      </p:sp>
      <p:sp>
        <p:nvSpPr>
          <p:cNvPr id="5" name="Footer Placeholder 4">
            <a:extLst>
              <a:ext uri="{FF2B5EF4-FFF2-40B4-BE49-F238E27FC236}">
                <a16:creationId xmlns:a16="http://schemas.microsoft.com/office/drawing/2014/main" id="{D556848E-4C26-41B4-9BA1-57C17AB6BA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2FC73F-5748-4602-9732-C1A2EF5D76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DD4DA2-4FBE-4694-B57B-F9990517B432}" type="slidenum">
              <a:rPr lang="en-US" smtClean="0"/>
              <a:t>‹#›</a:t>
            </a:fld>
            <a:endParaRPr lang="en-US"/>
          </a:p>
        </p:txBody>
      </p:sp>
    </p:spTree>
    <p:extLst>
      <p:ext uri="{BB962C8B-B14F-4D97-AF65-F5344CB8AC3E}">
        <p14:creationId xmlns:p14="http://schemas.microsoft.com/office/powerpoint/2010/main" val="265954139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cap="all" baseline="0">
          <a:solidFill>
            <a:schemeClr val="accent1">
              <a:lumMod val="50000"/>
            </a:schemeClr>
          </a:solidFill>
          <a:latin typeface="Euphemia" panose="020B05030401020201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j.mp/2ovSzoT" TargetMode="External"/><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force11.org/info/joint-declaration-of-data-citation-principles-final/"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hyperlink" Target="https://doi.org/10.7910/DVN/1EMHTK/v2.15"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guides.dataverse.org/en/4.6/user/appendix.html#metadata-references"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ctrTitle"/>
          </p:nvPr>
        </p:nvSpPr>
        <p:spPr>
          <a:xfrm>
            <a:off x="230415" y="3979036"/>
            <a:ext cx="11360800" cy="2736800"/>
          </a:xfrm>
          <a:prstGeom prst="rect">
            <a:avLst/>
          </a:prstGeom>
        </p:spPr>
        <p:txBody>
          <a:bodyPr spcFirstLastPara="1" wrap="square" lIns="121900" tIns="121900" rIns="121900" bIns="121900" anchor="b" anchorCtr="0">
            <a:normAutofit fontScale="90000"/>
          </a:bodyPr>
          <a:lstStyle/>
          <a:p>
            <a:r>
              <a:rPr lang="en-US" sz="7300" b="1" dirty="0">
                <a:solidFill>
                  <a:srgbClr val="3A4950"/>
                </a:solidFill>
                <a:latin typeface="Arial" panose="020B0604020202020204" pitchFamily="34" charset="0"/>
                <a:ea typeface="Oswald"/>
                <a:cs typeface="Arial" panose="020B0604020202020204" pitchFamily="34" charset="0"/>
                <a:sym typeface="Oswald"/>
              </a:rPr>
              <a:t>Emerging Data</a:t>
            </a:r>
            <a:r>
              <a:rPr lang="en-US" sz="7300" b="1" dirty="0">
                <a:solidFill>
                  <a:schemeClr val="accent3">
                    <a:lumMod val="50000"/>
                  </a:schemeClr>
                </a:solidFill>
                <a:latin typeface="Arial" panose="020B0604020202020204" pitchFamily="34" charset="0"/>
                <a:ea typeface="Oswald"/>
                <a:cs typeface="Arial" panose="020B0604020202020204" pitchFamily="34" charset="0"/>
                <a:sym typeface="Oswald"/>
              </a:rPr>
              <a:t> </a:t>
            </a:r>
            <a:br>
              <a:rPr lang="en-US" sz="7300" b="1" dirty="0">
                <a:solidFill>
                  <a:schemeClr val="accent3">
                    <a:lumMod val="50000"/>
                  </a:schemeClr>
                </a:solidFill>
                <a:latin typeface="Arial" panose="020B0604020202020204" pitchFamily="34" charset="0"/>
                <a:ea typeface="Oswald"/>
                <a:cs typeface="Arial" panose="020B0604020202020204" pitchFamily="34" charset="0"/>
                <a:sym typeface="Oswald"/>
              </a:rPr>
            </a:br>
            <a:r>
              <a:rPr lang="en-US" sz="7300" b="1" dirty="0">
                <a:solidFill>
                  <a:schemeClr val="accent3">
                    <a:lumMod val="50000"/>
                  </a:schemeClr>
                </a:solidFill>
                <a:latin typeface="Arial" panose="020B0604020202020204" pitchFamily="34" charset="0"/>
                <a:ea typeface="Oswald"/>
                <a:cs typeface="Arial" panose="020B0604020202020204" pitchFamily="34" charset="0"/>
                <a:sym typeface="Oswald"/>
              </a:rPr>
              <a:t>Citation Standards</a:t>
            </a:r>
            <a:br>
              <a:rPr lang="en-US" sz="7300" b="1" dirty="0">
                <a:solidFill>
                  <a:schemeClr val="accent3">
                    <a:lumMod val="50000"/>
                  </a:schemeClr>
                </a:solidFill>
                <a:latin typeface="Arial" panose="020B0604020202020204" pitchFamily="34" charset="0"/>
                <a:ea typeface="Oswald"/>
                <a:cs typeface="Arial" panose="020B0604020202020204" pitchFamily="34" charset="0"/>
                <a:sym typeface="Oswald"/>
              </a:rPr>
            </a:br>
            <a:br>
              <a:rPr lang="en-US" sz="5867" dirty="0">
                <a:solidFill>
                  <a:srgbClr val="CC4125"/>
                </a:solidFill>
                <a:latin typeface="Arial" panose="020B0604020202020204" pitchFamily="34" charset="0"/>
                <a:ea typeface="Oswald"/>
                <a:cs typeface="Arial" panose="020B0604020202020204" pitchFamily="34" charset="0"/>
                <a:sym typeface="Oswald"/>
              </a:rPr>
            </a:br>
            <a:r>
              <a:rPr lang="en-US" sz="4900" dirty="0">
                <a:solidFill>
                  <a:srgbClr val="CC4125"/>
                </a:solidFill>
                <a:latin typeface="Arial" panose="020B0604020202020204" pitchFamily="34" charset="0"/>
                <a:ea typeface="Oswald"/>
                <a:cs typeface="Arial" panose="020B0604020202020204" pitchFamily="34" charset="0"/>
                <a:sym typeface="Oswald"/>
              </a:rPr>
              <a:t>Jesse Lecy</a:t>
            </a:r>
            <a:br>
              <a:rPr lang="en-US" sz="5867" dirty="0">
                <a:solidFill>
                  <a:srgbClr val="44AD32"/>
                </a:solidFill>
                <a:latin typeface="Arial" panose="020B0604020202020204" pitchFamily="34" charset="0"/>
                <a:ea typeface="Oswald"/>
                <a:cs typeface="Arial" panose="020B0604020202020204" pitchFamily="34" charset="0"/>
                <a:sym typeface="Oswald"/>
              </a:rPr>
            </a:br>
            <a:endParaRPr lang="en-US" sz="5867" dirty="0">
              <a:solidFill>
                <a:srgbClr val="44AD32"/>
              </a:solidFill>
              <a:latin typeface="Arial" panose="020B0604020202020204" pitchFamily="34" charset="0"/>
              <a:ea typeface="Oswald"/>
              <a:cs typeface="Arial" panose="020B0604020202020204" pitchFamily="34" charset="0"/>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D9989-1C78-093B-9990-CC58F0DBB42B}"/>
              </a:ext>
            </a:extLst>
          </p:cNvPr>
          <p:cNvSpPr>
            <a:spLocks noGrp="1"/>
          </p:cNvSpPr>
          <p:nvPr>
            <p:ph type="title"/>
          </p:nvPr>
        </p:nvSpPr>
        <p:spPr>
          <a:xfrm>
            <a:off x="838200" y="98493"/>
            <a:ext cx="10515600" cy="1325563"/>
          </a:xfrm>
        </p:spPr>
        <p:txBody>
          <a:bodyPr/>
          <a:lstStyle/>
          <a:p>
            <a:r>
              <a:rPr lang="en-US" b="1" dirty="0">
                <a:solidFill>
                  <a:srgbClr val="3A4950"/>
                </a:solidFill>
                <a:latin typeface="Arial" panose="020B0604020202020204" pitchFamily="34" charset="0"/>
              </a:rPr>
              <a:t>Value of PROPER citation</a:t>
            </a:r>
          </a:p>
        </p:txBody>
      </p:sp>
      <p:sp>
        <p:nvSpPr>
          <p:cNvPr id="3" name="Content Placeholder 2">
            <a:extLst>
              <a:ext uri="{FF2B5EF4-FFF2-40B4-BE49-F238E27FC236}">
                <a16:creationId xmlns:a16="http://schemas.microsoft.com/office/drawing/2014/main" id="{0E3938EF-C9E7-125E-2807-A14CD936EDF3}"/>
              </a:ext>
            </a:extLst>
          </p:cNvPr>
          <p:cNvSpPr>
            <a:spLocks noGrp="1"/>
          </p:cNvSpPr>
          <p:nvPr>
            <p:ph idx="1"/>
          </p:nvPr>
        </p:nvSpPr>
        <p:spPr>
          <a:xfrm>
            <a:off x="838200" y="1424056"/>
            <a:ext cx="9744307" cy="5015057"/>
          </a:xfrm>
        </p:spPr>
        <p:txBody>
          <a:bodyPr>
            <a:noAutofit/>
          </a:bodyPr>
          <a:lstStyle/>
          <a:p>
            <a:pPr>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Proper citations make it easier to </a:t>
            </a:r>
            <a:r>
              <a:rPr lang="en-US" sz="1600" b="1" cap="all" dirty="0">
                <a:solidFill>
                  <a:srgbClr val="1278A7"/>
                </a:solidFill>
                <a:latin typeface="Arial" panose="020B0604020202020204" pitchFamily="34" charset="0"/>
                <a:ea typeface="Cascadia Mono Light" panose="020B0609020000020004" pitchFamily="49" charset="0"/>
                <a:cs typeface="Cascadia Mono Light" panose="020B0609020000020004" pitchFamily="49" charset="0"/>
              </a:rPr>
              <a:t>search for existing data and tools</a:t>
            </a:r>
            <a:r>
              <a:rPr lang="en-US" sz="1600" dirty="0">
                <a:latin typeface="Lato" panose="020F0502020204030203" pitchFamily="34" charset="0"/>
                <a:ea typeface="Cascadia Mono Light" panose="020B0609020000020004" pitchFamily="49" charset="0"/>
                <a:cs typeface="Cascadia Mono Light" panose="020B0609020000020004" pitchFamily="49" charset="0"/>
              </a:rPr>
              <a:t> and users are more likely to give credit with the citation method is clear . </a:t>
            </a:r>
          </a:p>
          <a:p>
            <a:pPr>
              <a:lnSpc>
                <a:spcPct val="100000"/>
              </a:lnSpc>
            </a:pPr>
            <a:endParaRPr lang="en-US" sz="1600" dirty="0">
              <a:latin typeface="Lato" panose="020F0502020204030203" pitchFamily="34" charset="0"/>
              <a:ea typeface="Cascadia Mono Light" panose="020B0609020000020004" pitchFamily="49" charset="0"/>
              <a:cs typeface="Cascadia Mono Light" panose="020B0609020000020004" pitchFamily="49" charset="0"/>
            </a:endParaRPr>
          </a:p>
          <a:p>
            <a:pPr>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Researchers can </a:t>
            </a:r>
            <a:r>
              <a:rPr lang="en-US" sz="1600" b="1" cap="all" dirty="0">
                <a:solidFill>
                  <a:srgbClr val="1278A7"/>
                </a:solidFill>
                <a:latin typeface="Arial" panose="020B0604020202020204" pitchFamily="34" charset="0"/>
                <a:ea typeface="Cascadia Mono Light" panose="020B0609020000020004" pitchFamily="49" charset="0"/>
                <a:cs typeface="Cascadia Mono Light" panose="020B0609020000020004" pitchFamily="49" charset="0"/>
              </a:rPr>
              <a:t>measure impact </a:t>
            </a:r>
            <a:r>
              <a:rPr lang="en-US" sz="1600" dirty="0">
                <a:latin typeface="Lato" panose="020F0502020204030203" pitchFamily="34" charset="0"/>
                <a:ea typeface="Cascadia Mono Light" panose="020B0609020000020004" pitchFamily="49" charset="0"/>
                <a:cs typeface="Cascadia Mono Light" panose="020B0609020000020004" pitchFamily="49" charset="0"/>
              </a:rPr>
              <a:t>by tracking DOIs across multiple contexts: </a:t>
            </a:r>
            <a:br>
              <a:rPr lang="en-US" sz="1600" dirty="0">
                <a:latin typeface="Lato" panose="020F0502020204030203" pitchFamily="34" charset="0"/>
                <a:ea typeface="Cascadia Mono Light" panose="020B0609020000020004" pitchFamily="49" charset="0"/>
                <a:cs typeface="Cascadia Mono Light" panose="020B0609020000020004" pitchFamily="49" charset="0"/>
              </a:rPr>
            </a:br>
            <a:br>
              <a:rPr lang="en-US" sz="1600" dirty="0">
                <a:latin typeface="Lato" panose="020F0502020204030203" pitchFamily="34" charset="0"/>
                <a:ea typeface="Cascadia Mono Light" panose="020B0609020000020004" pitchFamily="49" charset="0"/>
                <a:cs typeface="Cascadia Mono Light" panose="020B0609020000020004" pitchFamily="49" charset="0"/>
              </a:rPr>
            </a:br>
            <a:r>
              <a:rPr lang="en-US" sz="1600" dirty="0">
                <a:latin typeface="Lato" panose="020F0502020204030203" pitchFamily="34" charset="0"/>
                <a:ea typeface="Cascadia Mono Light" panose="020B0609020000020004" pitchFamily="49" charset="0"/>
                <a:cs typeface="Cascadia Mono Light" panose="020B0609020000020004" pitchFamily="49" charset="0"/>
              </a:rPr>
              <a:t>	(1) scientific research</a:t>
            </a:r>
            <a:br>
              <a:rPr lang="en-US" sz="1600" dirty="0">
                <a:latin typeface="Lato" panose="020F0502020204030203" pitchFamily="34" charset="0"/>
                <a:ea typeface="Cascadia Mono Light" panose="020B0609020000020004" pitchFamily="49" charset="0"/>
                <a:cs typeface="Cascadia Mono Light" panose="020B0609020000020004" pitchFamily="49" charset="0"/>
              </a:rPr>
            </a:br>
            <a:r>
              <a:rPr lang="en-US" sz="1600" dirty="0">
                <a:latin typeface="Lato" panose="020F0502020204030203" pitchFamily="34" charset="0"/>
                <a:ea typeface="Cascadia Mono Light" panose="020B0609020000020004" pitchFamily="49" charset="0"/>
                <a:cs typeface="Cascadia Mono Light" panose="020B0609020000020004" pitchFamily="49" charset="0"/>
              </a:rPr>
              <a:t>	(2) the media</a:t>
            </a:r>
            <a:br>
              <a:rPr lang="en-US" sz="1600" dirty="0">
                <a:latin typeface="Lato" panose="020F0502020204030203" pitchFamily="34" charset="0"/>
                <a:ea typeface="Cascadia Mono Light" panose="020B0609020000020004" pitchFamily="49" charset="0"/>
                <a:cs typeface="Cascadia Mono Light" panose="020B0609020000020004" pitchFamily="49" charset="0"/>
              </a:rPr>
            </a:br>
            <a:r>
              <a:rPr lang="en-US" sz="1600" dirty="0">
                <a:latin typeface="Lato" panose="020F0502020204030203" pitchFamily="34" charset="0"/>
                <a:ea typeface="Cascadia Mono Light" panose="020B0609020000020004" pitchFamily="49" charset="0"/>
                <a:cs typeface="Cascadia Mono Light" panose="020B0609020000020004" pitchFamily="49" charset="0"/>
              </a:rPr>
              <a:t>	(3) on social media</a:t>
            </a:r>
          </a:p>
          <a:p>
            <a:pPr>
              <a:lnSpc>
                <a:spcPct val="100000"/>
              </a:lnSpc>
            </a:pPr>
            <a:endParaRPr lang="en-US" sz="1600" dirty="0">
              <a:latin typeface="Lato" panose="020F0502020204030203" pitchFamily="34" charset="0"/>
              <a:ea typeface="Cascadia Mono Light" panose="020B0609020000020004" pitchFamily="49" charset="0"/>
              <a:cs typeface="Cascadia Mono Light" panose="020B0609020000020004" pitchFamily="49" charset="0"/>
            </a:endParaRPr>
          </a:p>
          <a:p>
            <a:pPr>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Proper citations enable </a:t>
            </a:r>
            <a:r>
              <a:rPr lang="en-US" sz="1600" b="1" cap="all" dirty="0">
                <a:solidFill>
                  <a:srgbClr val="1278A7"/>
                </a:solidFill>
                <a:latin typeface="Arial" panose="020B0604020202020204" pitchFamily="34" charset="0"/>
                <a:ea typeface="Cascadia Mono Light" panose="020B0609020000020004" pitchFamily="49" charset="0"/>
                <a:cs typeface="Cascadia Mono Light" panose="020B0609020000020004" pitchFamily="49" charset="0"/>
              </a:rPr>
              <a:t>reproducible workflows</a:t>
            </a:r>
            <a:r>
              <a:rPr lang="en-US" sz="1600" dirty="0">
                <a:latin typeface="Lato" panose="020F0502020204030203" pitchFamily="34" charset="0"/>
                <a:ea typeface="Cascadia Mono Light" panose="020B0609020000020004" pitchFamily="49" charset="0"/>
                <a:cs typeface="Cascadia Mono Light" panose="020B0609020000020004" pitchFamily="49" charset="0"/>
              </a:rPr>
              <a:t>, and thus promote open science best practices </a:t>
            </a:r>
          </a:p>
          <a:p>
            <a:pPr lvl="1">
              <a:lnSpc>
                <a:spcPct val="100000"/>
              </a:lnSpc>
            </a:pPr>
            <a:endParaRPr lang="en-US" sz="1600" dirty="0">
              <a:latin typeface="Lato" panose="020F0502020204030203" pitchFamily="34" charset="0"/>
              <a:ea typeface="Cascadia Mono Light" panose="020B0609020000020004" pitchFamily="49" charset="0"/>
              <a:cs typeface="Cascadia Mono Light" panose="020B0609020000020004" pitchFamily="49" charset="0"/>
            </a:endParaRP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Reproducible pipelines make analytics </a:t>
            </a:r>
            <a:r>
              <a:rPr lang="en-US" sz="1600" b="1" cap="all" dirty="0">
                <a:solidFill>
                  <a:srgbClr val="1278A7"/>
                </a:solidFill>
                <a:latin typeface="Arial" panose="020B0604020202020204" pitchFamily="34" charset="0"/>
                <a:ea typeface="Cascadia Mono Light" panose="020B0609020000020004" pitchFamily="49" charset="0"/>
                <a:cs typeface="Cascadia Mono Light" panose="020B0609020000020004" pitchFamily="49" charset="0"/>
              </a:rPr>
              <a:t>extensible</a:t>
            </a:r>
            <a:r>
              <a:rPr lang="en-US" sz="1600" cap="all" dirty="0">
                <a:latin typeface="Lato" panose="020F0502020204030203" pitchFamily="34" charset="0"/>
                <a:ea typeface="Cascadia Mono Light" panose="020B0609020000020004" pitchFamily="49" charset="0"/>
                <a:cs typeface="Cascadia Mono Light" panose="020B0609020000020004" pitchFamily="49" charset="0"/>
              </a:rPr>
              <a:t>, </a:t>
            </a:r>
            <a:r>
              <a:rPr lang="en-US" sz="1600" dirty="0">
                <a:latin typeface="Lato" panose="020F0502020204030203" pitchFamily="34" charset="0"/>
                <a:ea typeface="Cascadia Mono Light" panose="020B0609020000020004" pitchFamily="49" charset="0"/>
                <a:cs typeface="Cascadia Mono Light" panose="020B0609020000020004" pitchFamily="49" charset="0"/>
              </a:rPr>
              <a:t>meaning new insights can be </a:t>
            </a:r>
            <a:br>
              <a:rPr lang="en-US" sz="1600" dirty="0">
                <a:latin typeface="Lato" panose="020F0502020204030203" pitchFamily="34" charset="0"/>
                <a:ea typeface="Cascadia Mono Light" panose="020B0609020000020004" pitchFamily="49" charset="0"/>
                <a:cs typeface="Cascadia Mono Light" panose="020B0609020000020004" pitchFamily="49" charset="0"/>
              </a:rPr>
            </a:br>
            <a:r>
              <a:rPr lang="en-US" sz="1600" dirty="0">
                <a:latin typeface="Lato" panose="020F0502020204030203" pitchFamily="34" charset="0"/>
                <a:ea typeface="Cascadia Mono Light" panose="020B0609020000020004" pitchFamily="49" charset="0"/>
                <a:cs typeface="Cascadia Mono Light" panose="020B0609020000020004" pitchFamily="49" charset="0"/>
              </a:rPr>
              <a:t>generated </a:t>
            </a:r>
            <a:r>
              <a:rPr lang="en-US" sz="1600" b="1" cap="all" dirty="0">
                <a:solidFill>
                  <a:srgbClr val="1278A7"/>
                </a:solidFill>
                <a:latin typeface="Arial" panose="020B0604020202020204" pitchFamily="34" charset="0"/>
                <a:ea typeface="Cascadia Mono Light" panose="020B0609020000020004" pitchFamily="49" charset="0"/>
                <a:cs typeface="Cascadia Mono Light" panose="020B0609020000020004" pitchFamily="49" charset="0"/>
              </a:rPr>
              <a:t>faster and more reliably</a:t>
            </a:r>
            <a:r>
              <a:rPr lang="en-US" sz="1600" dirty="0">
                <a:latin typeface="Lato" panose="020F0502020204030203" pitchFamily="34" charset="0"/>
                <a:ea typeface="Cascadia Mono Light" panose="020B0609020000020004" pitchFamily="49" charset="0"/>
                <a:cs typeface="Cascadia Mono Light" panose="020B0609020000020004" pitchFamily="49" charset="0"/>
              </a:rPr>
              <a:t> using existing infrastructure and workflows </a:t>
            </a:r>
            <a:br>
              <a:rPr lang="en-US" sz="1600" dirty="0">
                <a:latin typeface="Lato" panose="020F0502020204030203" pitchFamily="34" charset="0"/>
                <a:ea typeface="Cascadia Mono Light" panose="020B0609020000020004" pitchFamily="49" charset="0"/>
                <a:cs typeface="Cascadia Mono Light" panose="020B0609020000020004" pitchFamily="49" charset="0"/>
              </a:rPr>
            </a:br>
            <a:endParaRPr lang="en-US" sz="1600" dirty="0">
              <a:latin typeface="Lato" panose="020F0502020204030203" pitchFamily="34" charset="0"/>
              <a:ea typeface="Cascadia Mono Light" panose="020B0609020000020004" pitchFamily="49" charset="0"/>
              <a:cs typeface="Cascadia Mono Light" panose="020B0609020000020004" pitchFamily="49" charset="0"/>
            </a:endParaRP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It is easier to identify and </a:t>
            </a:r>
            <a:r>
              <a:rPr lang="en-US" sz="1600" b="1" cap="all" dirty="0">
                <a:solidFill>
                  <a:srgbClr val="1278A7"/>
                </a:solidFill>
                <a:latin typeface="Arial" panose="020B0604020202020204" pitchFamily="34" charset="0"/>
                <a:ea typeface="Cascadia Mono Light" panose="020B0609020000020004" pitchFamily="49" charset="0"/>
                <a:cs typeface="Cascadia Mono Light" panose="020B0609020000020004" pitchFamily="49" charset="0"/>
              </a:rPr>
              <a:t>correct scientific errors </a:t>
            </a:r>
            <a:r>
              <a:rPr lang="en-US" sz="1600" dirty="0">
                <a:latin typeface="Lato" panose="020F0502020204030203" pitchFamily="34" charset="0"/>
                <a:ea typeface="Cascadia Mono Light" panose="020B0609020000020004" pitchFamily="49" charset="0"/>
                <a:cs typeface="Cascadia Mono Light" panose="020B0609020000020004" pitchFamily="49" charset="0"/>
              </a:rPr>
              <a:t>in research </a:t>
            </a:r>
          </a:p>
        </p:txBody>
      </p:sp>
      <p:sp>
        <p:nvSpPr>
          <p:cNvPr id="4" name="Slide Number Placeholder 3">
            <a:extLst>
              <a:ext uri="{FF2B5EF4-FFF2-40B4-BE49-F238E27FC236}">
                <a16:creationId xmlns:a16="http://schemas.microsoft.com/office/drawing/2014/main" id="{645DA98A-712C-0A7C-B155-6E9761CD26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DD4DA2-4FBE-4694-B57B-F9990517B432}"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886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D9989-1C78-093B-9990-CC58F0DBB42B}"/>
              </a:ext>
            </a:extLst>
          </p:cNvPr>
          <p:cNvSpPr>
            <a:spLocks noGrp="1"/>
          </p:cNvSpPr>
          <p:nvPr>
            <p:ph type="title"/>
          </p:nvPr>
        </p:nvSpPr>
        <p:spPr>
          <a:xfrm>
            <a:off x="838200" y="98493"/>
            <a:ext cx="10515600" cy="1325563"/>
          </a:xfrm>
        </p:spPr>
        <p:txBody>
          <a:bodyPr/>
          <a:lstStyle/>
          <a:p>
            <a:r>
              <a:rPr lang="en-US" b="1" dirty="0">
                <a:solidFill>
                  <a:srgbClr val="3A4950"/>
                </a:solidFill>
                <a:latin typeface="Arial" panose="020B0604020202020204" pitchFamily="34" charset="0"/>
              </a:rPr>
              <a:t>CHALLENGES of </a:t>
            </a:r>
            <a:br>
              <a:rPr lang="en-US" b="1" dirty="0">
                <a:solidFill>
                  <a:srgbClr val="3A4950"/>
                </a:solidFill>
                <a:latin typeface="Arial" panose="020B0604020202020204" pitchFamily="34" charset="0"/>
              </a:rPr>
            </a:br>
            <a:r>
              <a:rPr lang="en-US" b="1" dirty="0">
                <a:solidFill>
                  <a:srgbClr val="3A4950"/>
                </a:solidFill>
                <a:latin typeface="Arial" panose="020B0604020202020204" pitchFamily="34" charset="0"/>
              </a:rPr>
              <a:t>Data citation systems</a:t>
            </a:r>
          </a:p>
        </p:txBody>
      </p:sp>
      <p:sp>
        <p:nvSpPr>
          <p:cNvPr id="3" name="Content Placeholder 2">
            <a:extLst>
              <a:ext uri="{FF2B5EF4-FFF2-40B4-BE49-F238E27FC236}">
                <a16:creationId xmlns:a16="http://schemas.microsoft.com/office/drawing/2014/main" id="{0E3938EF-C9E7-125E-2807-A14CD936EDF3}"/>
              </a:ext>
            </a:extLst>
          </p:cNvPr>
          <p:cNvSpPr>
            <a:spLocks noGrp="1"/>
          </p:cNvSpPr>
          <p:nvPr>
            <p:ph idx="1"/>
          </p:nvPr>
        </p:nvSpPr>
        <p:spPr>
          <a:xfrm>
            <a:off x="838200" y="1525125"/>
            <a:ext cx="10515600" cy="5015057"/>
          </a:xfrm>
        </p:spPr>
        <p:txBody>
          <a:bodyPr>
            <a:noAutofit/>
          </a:bodyPr>
          <a:lstStyle/>
          <a:p>
            <a:pPr>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They are not well-established standards for citing data </a:t>
            </a: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Data is typically generated as part of a research project and has historically been references through published research done with the data, not as a distinct citation. </a:t>
            </a:r>
          </a:p>
          <a:p>
            <a:pPr>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Data is not one thing: is can be tables, text, crosswalks, images, video, voice, or workflows </a:t>
            </a:r>
          </a:p>
          <a:p>
            <a:pPr>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Unlike publications, “data” looks more like a Russian Doll than a single entity:  </a:t>
            </a: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A panel includes many years of data </a:t>
            </a: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A database includes many tables</a:t>
            </a: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A data series can include multiple databases </a:t>
            </a: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An ecosystem can link multiple data series  </a:t>
            </a:r>
          </a:p>
          <a:p>
            <a:pPr>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Data is dynamic:</a:t>
            </a: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Panels are updated by adding new waves </a:t>
            </a: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Data is cleaned and refined</a:t>
            </a: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Linking datasets can add new columns to existing data  </a:t>
            </a:r>
          </a:p>
          <a:p>
            <a:pPr>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Standards for defining “distinct” or enhanced are poorly-defined: </a:t>
            </a: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Do modifications to an existing dataset constitute new data? </a:t>
            </a:r>
          </a:p>
          <a:p>
            <a:pPr lvl="1">
              <a:lnSpc>
                <a:spcPct val="100000"/>
              </a:lnSpc>
            </a:pPr>
            <a:r>
              <a:rPr lang="en-US" sz="1600" dirty="0">
                <a:latin typeface="Lato" panose="020F0502020204030203" pitchFamily="34" charset="0"/>
                <a:ea typeface="Cascadia Mono Light" panose="020B0609020000020004" pitchFamily="49" charset="0"/>
                <a:cs typeface="Cascadia Mono Light" panose="020B0609020000020004" pitchFamily="49" charset="0"/>
              </a:rPr>
              <a:t>Does linking two datasets result in a new dataset? </a:t>
            </a:r>
          </a:p>
          <a:p>
            <a:pPr marL="457200" lvl="1" indent="0">
              <a:lnSpc>
                <a:spcPct val="100000"/>
              </a:lnSpc>
              <a:buNone/>
            </a:pPr>
            <a:endParaRPr lang="en-US" sz="1600" dirty="0">
              <a:latin typeface="Lato" panose="020F0502020204030203" pitchFamily="34" charset="0"/>
              <a:ea typeface="Cascadia Mono Light" panose="020B0609020000020004" pitchFamily="49" charset="0"/>
              <a:cs typeface="Cascadia Mono Light" panose="020B0609020000020004" pitchFamily="49" charset="0"/>
            </a:endParaRPr>
          </a:p>
        </p:txBody>
      </p:sp>
      <p:sp>
        <p:nvSpPr>
          <p:cNvPr id="4" name="Slide Number Placeholder 3">
            <a:extLst>
              <a:ext uri="{FF2B5EF4-FFF2-40B4-BE49-F238E27FC236}">
                <a16:creationId xmlns:a16="http://schemas.microsoft.com/office/drawing/2014/main" id="{645DA98A-712C-0A7C-B155-6E9761CD26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DD4DA2-4FBE-4694-B57B-F9990517B432}"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1414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4" name="TextBox 3"/>
          <p:cNvSpPr txBox="1"/>
          <p:nvPr/>
        </p:nvSpPr>
        <p:spPr>
          <a:xfrm>
            <a:off x="3530472" y="1000974"/>
            <a:ext cx="5452134" cy="415498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t>digital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6600" b="1" cap="all" dirty="0">
                <a:solidFill>
                  <a:prstClr val="white"/>
                </a:solidFill>
                <a:latin typeface="Arial" panose="020B0604020202020204" pitchFamily="34" charset="0"/>
              </a:rPr>
              <a:t>object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t>identifiers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6600" b="1" cap="all" dirty="0">
                <a:solidFill>
                  <a:prstClr val="white"/>
                </a:solidFill>
                <a:latin typeface="Arial" panose="020B0604020202020204" pitchFamily="34" charset="0"/>
              </a:rPr>
              <a:t>(DOI</a:t>
            </a:r>
            <a:r>
              <a:rPr lang="en-US" sz="6600" b="1" dirty="0">
                <a:solidFill>
                  <a:prstClr val="white"/>
                </a:solidFill>
                <a:latin typeface="Arial" panose="020B0604020202020204" pitchFamily="34" charset="0"/>
              </a:rPr>
              <a:t>s</a:t>
            </a:r>
            <a:r>
              <a:rPr lang="en-US" sz="6600" b="1" cap="all" dirty="0">
                <a:solidFill>
                  <a:prstClr val="white"/>
                </a:solidFill>
                <a:latin typeface="Arial" panose="020B0604020202020204" pitchFamily="34" charset="0"/>
              </a:rPr>
              <a:t>)</a:t>
            </a:r>
            <a:endParaRPr kumimoji="0" lang="en-US" sz="6600" b="1" i="0" u="none" strike="noStrike" kern="1200" cap="all"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19456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B585EAB-CE5E-5BE2-F056-812C814EAC90}"/>
              </a:ext>
            </a:extLst>
          </p:cNvPr>
          <p:cNvGrpSpPr/>
          <p:nvPr/>
        </p:nvGrpSpPr>
        <p:grpSpPr>
          <a:xfrm>
            <a:off x="548476" y="1106299"/>
            <a:ext cx="11370764" cy="1152022"/>
            <a:chOff x="488098" y="682552"/>
            <a:chExt cx="11370764" cy="1152022"/>
          </a:xfrm>
        </p:grpSpPr>
        <p:pic>
          <p:nvPicPr>
            <p:cNvPr id="3" name="Picture 2">
              <a:extLst>
                <a:ext uri="{FF2B5EF4-FFF2-40B4-BE49-F238E27FC236}">
                  <a16:creationId xmlns:a16="http://schemas.microsoft.com/office/drawing/2014/main" id="{24924AE0-90DC-B11E-9954-D68AA7E97715}"/>
                </a:ext>
              </a:extLst>
            </p:cNvPr>
            <p:cNvPicPr>
              <a:picLocks noChangeAspect="1"/>
            </p:cNvPicPr>
            <p:nvPr/>
          </p:nvPicPr>
          <p:blipFill>
            <a:blip r:embed="rId2"/>
            <a:stretch>
              <a:fillRect/>
            </a:stretch>
          </p:blipFill>
          <p:spPr>
            <a:xfrm>
              <a:off x="488098" y="682552"/>
              <a:ext cx="6044880" cy="1152022"/>
            </a:xfrm>
            <a:prstGeom prst="rect">
              <a:avLst/>
            </a:prstGeom>
          </p:spPr>
        </p:pic>
        <p:sp>
          <p:nvSpPr>
            <p:cNvPr id="4" name="TextBox 3">
              <a:extLst>
                <a:ext uri="{FF2B5EF4-FFF2-40B4-BE49-F238E27FC236}">
                  <a16:creationId xmlns:a16="http://schemas.microsoft.com/office/drawing/2014/main" id="{292F1BB4-B037-081D-5D51-07011F9CA93B}"/>
                </a:ext>
              </a:extLst>
            </p:cNvPr>
            <p:cNvSpPr txBox="1"/>
            <p:nvPr/>
          </p:nvSpPr>
          <p:spPr>
            <a:xfrm>
              <a:off x="6987015" y="786359"/>
              <a:ext cx="4871847" cy="923330"/>
            </a:xfrm>
            <a:prstGeom prst="rect">
              <a:avLst/>
            </a:prstGeom>
            <a:noFill/>
          </p:spPr>
          <p:txBody>
            <a:bodyPr wrap="none" rtlCol="0">
              <a:spAutoFit/>
            </a:bodyPr>
            <a:lstStyle/>
            <a:p>
              <a:r>
                <a:rPr lang="en-US" dirty="0">
                  <a:solidFill>
                    <a:srgbClr val="1696D2"/>
                  </a:solidFill>
                  <a:latin typeface="Roboto Mono" panose="00000009000000000000" pitchFamily="49" charset="0"/>
                  <a:ea typeface="Roboto Mono" panose="00000009000000000000" pitchFamily="49" charset="0"/>
                </a:rPr>
                <a:t>prefix = organization</a:t>
              </a:r>
            </a:p>
            <a:p>
              <a:endParaRPr lang="en-US" dirty="0">
                <a:solidFill>
                  <a:srgbClr val="1696D2"/>
                </a:solidFill>
                <a:latin typeface="Roboto Mono" panose="00000009000000000000" pitchFamily="49" charset="0"/>
                <a:ea typeface="Roboto Mono" panose="00000009000000000000" pitchFamily="49" charset="0"/>
              </a:endParaRPr>
            </a:p>
            <a:p>
              <a:r>
                <a:rPr lang="en-US" dirty="0">
                  <a:solidFill>
                    <a:srgbClr val="F4B502"/>
                  </a:solidFill>
                  <a:latin typeface="Roboto Mono" panose="00000009000000000000" pitchFamily="49" charset="0"/>
                  <a:ea typeface="Roboto Mono" panose="00000009000000000000" pitchFamily="49" charset="0"/>
                </a:rPr>
                <a:t>suffix = object id (ex. pub, data)</a:t>
              </a:r>
            </a:p>
          </p:txBody>
        </p:sp>
      </p:grpSp>
      <p:grpSp>
        <p:nvGrpSpPr>
          <p:cNvPr id="12" name="Group 11">
            <a:extLst>
              <a:ext uri="{FF2B5EF4-FFF2-40B4-BE49-F238E27FC236}">
                <a16:creationId xmlns:a16="http://schemas.microsoft.com/office/drawing/2014/main" id="{24545A86-A13F-6A57-7F15-932919D14AA5}"/>
              </a:ext>
            </a:extLst>
          </p:cNvPr>
          <p:cNvGrpSpPr/>
          <p:nvPr/>
        </p:nvGrpSpPr>
        <p:grpSpPr>
          <a:xfrm>
            <a:off x="838200" y="2676076"/>
            <a:ext cx="10874995" cy="3570208"/>
            <a:chOff x="934145" y="2358461"/>
            <a:chExt cx="10874995" cy="3570208"/>
          </a:xfrm>
        </p:grpSpPr>
        <p:sp>
          <p:nvSpPr>
            <p:cNvPr id="6" name="TextBox 5">
              <a:extLst>
                <a:ext uri="{FF2B5EF4-FFF2-40B4-BE49-F238E27FC236}">
                  <a16:creationId xmlns:a16="http://schemas.microsoft.com/office/drawing/2014/main" id="{E788D884-B43E-5BA9-E9D4-C94270E4DD10}"/>
                </a:ext>
              </a:extLst>
            </p:cNvPr>
            <p:cNvSpPr txBox="1"/>
            <p:nvPr/>
          </p:nvSpPr>
          <p:spPr>
            <a:xfrm>
              <a:off x="934145" y="2358461"/>
              <a:ext cx="10874995" cy="3570208"/>
            </a:xfrm>
            <a:prstGeom prst="rect">
              <a:avLst/>
            </a:prstGeom>
            <a:noFill/>
          </p:spPr>
          <p:txBody>
            <a:bodyPr wrap="square">
              <a:spAutoFit/>
            </a:bodyPr>
            <a:lstStyle/>
            <a:p>
              <a:r>
                <a:rPr lang="en-US" sz="1800" dirty="0"/>
                <a:t>In the DOI database the citations can be hierarchical:</a:t>
              </a:r>
            </a:p>
            <a:p>
              <a:endParaRPr lang="en-US" sz="1800" dirty="0"/>
            </a:p>
            <a:p>
              <a:pPr lvl="1"/>
              <a:r>
                <a:rPr lang="en-US" sz="2800" dirty="0">
                  <a:solidFill>
                    <a:srgbClr val="1F4E79"/>
                  </a:solidFill>
                  <a:hlinkClick r:id="rId3">
                    <a:extLst>
                      <a:ext uri="{A12FA001-AC4F-418D-AE19-62706E023703}">
                        <ahyp:hlinkClr xmlns:ahyp="http://schemas.microsoft.com/office/drawing/2018/hyperlinkcolor" val="tx"/>
                      </a:ext>
                    </a:extLst>
                  </a:hlinkClick>
                </a:rPr>
                <a:t>https://doi.org/</a:t>
              </a:r>
              <a:r>
                <a:rPr lang="en-US" sz="2800" dirty="0">
                  <a:solidFill>
                    <a:srgbClr val="1F4E79"/>
                  </a:solidFill>
                </a:rPr>
                <a:t>        </a:t>
              </a:r>
              <a:r>
                <a:rPr lang="en-US" sz="2800" dirty="0">
                  <a:solidFill>
                    <a:srgbClr val="1696D2"/>
                  </a:solidFill>
                </a:rPr>
                <a:t>10.7910      </a:t>
              </a:r>
              <a:r>
                <a:rPr lang="en-US" sz="2800" dirty="0"/>
                <a:t>/      </a:t>
              </a:r>
              <a:r>
                <a:rPr lang="en-US" sz="2800" dirty="0">
                  <a:solidFill>
                    <a:srgbClr val="EC008B"/>
                  </a:solidFill>
                </a:rPr>
                <a:t>DVN</a:t>
              </a:r>
              <a:r>
                <a:rPr lang="en-US" sz="2800" dirty="0"/>
                <a:t>      /    </a:t>
              </a:r>
              <a:r>
                <a:rPr lang="en-US" sz="2800" dirty="0">
                  <a:solidFill>
                    <a:srgbClr val="44AD32"/>
                  </a:solidFill>
                </a:rPr>
                <a:t>1EMHTK</a:t>
              </a:r>
            </a:p>
            <a:p>
              <a:endParaRPr lang="en-US" dirty="0"/>
            </a:p>
            <a:p>
              <a:endParaRPr lang="en-US" dirty="0"/>
            </a:p>
            <a:p>
              <a:endParaRPr lang="en-US" dirty="0"/>
            </a:p>
            <a:p>
              <a:r>
                <a:rPr lang="en-US" sz="1800" dirty="0"/>
                <a:t>Example: </a:t>
              </a:r>
            </a:p>
            <a:p>
              <a:endParaRPr lang="en-US" dirty="0"/>
            </a:p>
            <a:p>
              <a:r>
                <a:rPr lang="en-US" sz="1800" dirty="0"/>
                <a:t>Gary King, Benjamin </a:t>
              </a:r>
              <a:r>
                <a:rPr lang="en-US" sz="1800" dirty="0" err="1"/>
                <a:t>Schneer</a:t>
              </a:r>
              <a:r>
                <a:rPr lang="en-US" sz="1800" dirty="0"/>
                <a:t>, &amp; Ariel White. (2017). Replication Data for: How the News Media Activates Public Expression and Influences National Agendas. Harvard Dataverse. </a:t>
              </a:r>
            </a:p>
            <a:p>
              <a:r>
                <a:rPr lang="en-US" sz="1800" dirty="0"/>
                <a:t> </a:t>
              </a:r>
            </a:p>
            <a:p>
              <a:r>
                <a:rPr lang="en-US" sz="1800" b="1" dirty="0"/>
                <a:t>https://doi.org</a:t>
              </a:r>
              <a:r>
                <a:rPr lang="en-US" sz="1800" dirty="0"/>
                <a:t>/</a:t>
              </a:r>
              <a:r>
                <a:rPr lang="en-US" sz="1800" b="1" dirty="0">
                  <a:solidFill>
                    <a:srgbClr val="1696D2"/>
                  </a:solidFill>
                </a:rPr>
                <a:t>10.7910</a:t>
              </a:r>
              <a:r>
                <a:rPr lang="en-US" sz="1800" dirty="0"/>
                <a:t>/</a:t>
              </a:r>
              <a:r>
                <a:rPr lang="en-US" sz="1800" b="1" dirty="0">
                  <a:solidFill>
                    <a:srgbClr val="EC008B"/>
                  </a:solidFill>
                </a:rPr>
                <a:t>DVN</a:t>
              </a:r>
              <a:r>
                <a:rPr lang="en-US" sz="1800" dirty="0"/>
                <a:t>/</a:t>
              </a:r>
              <a:r>
                <a:rPr lang="en-US" sz="1800" b="1" dirty="0">
                  <a:solidFill>
                    <a:srgbClr val="44AD32"/>
                  </a:solidFill>
                </a:rPr>
                <a:t>1EMHTK</a:t>
              </a:r>
              <a:r>
                <a:rPr lang="en-US" sz="1800" dirty="0"/>
                <a:t>.</a:t>
              </a:r>
            </a:p>
          </p:txBody>
        </p:sp>
        <p:sp>
          <p:nvSpPr>
            <p:cNvPr id="7" name="TextBox 6">
              <a:extLst>
                <a:ext uri="{FF2B5EF4-FFF2-40B4-BE49-F238E27FC236}">
                  <a16:creationId xmlns:a16="http://schemas.microsoft.com/office/drawing/2014/main" id="{1FF45761-94C3-01D9-1691-F02B7F9E6268}"/>
                </a:ext>
              </a:extLst>
            </p:cNvPr>
            <p:cNvSpPr txBox="1"/>
            <p:nvPr/>
          </p:nvSpPr>
          <p:spPr>
            <a:xfrm>
              <a:off x="6205391" y="3545848"/>
              <a:ext cx="1563248" cy="369332"/>
            </a:xfrm>
            <a:prstGeom prst="rect">
              <a:avLst/>
            </a:prstGeom>
            <a:noFill/>
          </p:spPr>
          <p:txBody>
            <a:bodyPr wrap="none" rtlCol="0">
              <a:spAutoFit/>
            </a:bodyPr>
            <a:lstStyle/>
            <a:p>
              <a:r>
                <a:rPr lang="en-US" dirty="0">
                  <a:solidFill>
                    <a:srgbClr val="EC008B"/>
                  </a:solidFill>
                  <a:latin typeface="Roboto Mono" panose="00000009000000000000" pitchFamily="49" charset="0"/>
                  <a:ea typeface="Roboto Mono" panose="00000009000000000000" pitchFamily="49" charset="0"/>
                </a:rPr>
                <a:t>project ID</a:t>
              </a:r>
              <a:endParaRPr lang="en-US" dirty="0">
                <a:solidFill>
                  <a:srgbClr val="44AD32"/>
                </a:solidFill>
                <a:latin typeface="Roboto Mono" panose="00000009000000000000" pitchFamily="49" charset="0"/>
                <a:ea typeface="Roboto Mono" panose="00000009000000000000" pitchFamily="49" charset="0"/>
              </a:endParaRPr>
            </a:p>
          </p:txBody>
        </p:sp>
        <p:sp>
          <p:nvSpPr>
            <p:cNvPr id="8" name="TextBox 7">
              <a:extLst>
                <a:ext uri="{FF2B5EF4-FFF2-40B4-BE49-F238E27FC236}">
                  <a16:creationId xmlns:a16="http://schemas.microsoft.com/office/drawing/2014/main" id="{26B1A918-9D12-089F-EA36-C23316D764C3}"/>
                </a:ext>
              </a:extLst>
            </p:cNvPr>
            <p:cNvSpPr txBox="1"/>
            <p:nvPr/>
          </p:nvSpPr>
          <p:spPr>
            <a:xfrm>
              <a:off x="8131909" y="3515302"/>
              <a:ext cx="1425390" cy="369332"/>
            </a:xfrm>
            <a:prstGeom prst="rect">
              <a:avLst/>
            </a:prstGeom>
            <a:noFill/>
          </p:spPr>
          <p:txBody>
            <a:bodyPr wrap="none" rtlCol="0">
              <a:spAutoFit/>
            </a:bodyPr>
            <a:lstStyle/>
            <a:p>
              <a:r>
                <a:rPr lang="en-US" dirty="0">
                  <a:solidFill>
                    <a:srgbClr val="44AD32"/>
                  </a:solidFill>
                  <a:latin typeface="Roboto Mono" panose="00000009000000000000" pitchFamily="49" charset="0"/>
                  <a:ea typeface="Roboto Mono" panose="00000009000000000000" pitchFamily="49" charset="0"/>
                </a:rPr>
                <a:t>object ID</a:t>
              </a:r>
            </a:p>
          </p:txBody>
        </p:sp>
        <p:sp>
          <p:nvSpPr>
            <p:cNvPr id="9" name="TextBox 8">
              <a:extLst>
                <a:ext uri="{FF2B5EF4-FFF2-40B4-BE49-F238E27FC236}">
                  <a16:creationId xmlns:a16="http://schemas.microsoft.com/office/drawing/2014/main" id="{EDE8A15B-78F6-DC01-4111-5EE3ED7C8B9F}"/>
                </a:ext>
              </a:extLst>
            </p:cNvPr>
            <p:cNvSpPr txBox="1"/>
            <p:nvPr/>
          </p:nvSpPr>
          <p:spPr>
            <a:xfrm>
              <a:off x="3814993" y="3545848"/>
              <a:ext cx="2390398" cy="369332"/>
            </a:xfrm>
            <a:prstGeom prst="rect">
              <a:avLst/>
            </a:prstGeom>
            <a:noFill/>
          </p:spPr>
          <p:txBody>
            <a:bodyPr wrap="none" rtlCol="0">
              <a:spAutoFit/>
            </a:bodyPr>
            <a:lstStyle/>
            <a:p>
              <a:r>
                <a:rPr lang="en-US" dirty="0">
                  <a:solidFill>
                    <a:srgbClr val="1696D2"/>
                  </a:solidFill>
                  <a:latin typeface="Roboto Mono" panose="00000009000000000000" pitchFamily="49" charset="0"/>
                  <a:ea typeface="Roboto Mono" panose="00000009000000000000" pitchFamily="49" charset="0"/>
                </a:rPr>
                <a:t>Havard Dataverse</a:t>
              </a:r>
            </a:p>
          </p:txBody>
        </p:sp>
      </p:grpSp>
      <p:sp>
        <p:nvSpPr>
          <p:cNvPr id="10" name="Title 1">
            <a:extLst>
              <a:ext uri="{FF2B5EF4-FFF2-40B4-BE49-F238E27FC236}">
                <a16:creationId xmlns:a16="http://schemas.microsoft.com/office/drawing/2014/main" id="{6CC19C25-E10F-90A1-1FFB-9FA9593111BB}"/>
              </a:ext>
            </a:extLst>
          </p:cNvPr>
          <p:cNvSpPr txBox="1">
            <a:spLocks/>
          </p:cNvSpPr>
          <p:nvPr/>
        </p:nvSpPr>
        <p:spPr>
          <a:xfrm>
            <a:off x="851646" y="338447"/>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3A4950"/>
                </a:solidFill>
                <a:latin typeface="Arial" panose="020B0604020202020204" pitchFamily="34" charset="0"/>
              </a:rPr>
              <a:t>DOI STRUCTURE</a:t>
            </a:r>
          </a:p>
        </p:txBody>
      </p:sp>
    </p:spTree>
    <p:extLst>
      <p:ext uri="{BB962C8B-B14F-4D97-AF65-F5344CB8AC3E}">
        <p14:creationId xmlns:p14="http://schemas.microsoft.com/office/powerpoint/2010/main" val="889418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5CFB401E-CE0B-4022-880F-A768414884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4898" y="1286702"/>
            <a:ext cx="5553054" cy="517302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a:extLst>
              <a:ext uri="{FF2B5EF4-FFF2-40B4-BE49-F238E27FC236}">
                <a16:creationId xmlns:a16="http://schemas.microsoft.com/office/drawing/2014/main" id="{FB81886E-5BB9-B6E4-8BB8-7DD45F495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428273"/>
            <a:ext cx="5971906" cy="458723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CBCF1EA-9327-E752-958A-9C523357A772}"/>
              </a:ext>
            </a:extLst>
          </p:cNvPr>
          <p:cNvSpPr txBox="1">
            <a:spLocks/>
          </p:cNvSpPr>
          <p:nvPr/>
        </p:nvSpPr>
        <p:spPr>
          <a:xfrm>
            <a:off x="838200" y="40535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3A4950"/>
                </a:solidFill>
                <a:latin typeface="Arial" panose="020B0604020202020204" pitchFamily="34" charset="0"/>
              </a:rPr>
              <a:t>VALUE OF DOI DATABASE:</a:t>
            </a:r>
          </a:p>
        </p:txBody>
      </p:sp>
    </p:spTree>
    <p:extLst>
      <p:ext uri="{BB962C8B-B14F-4D97-AF65-F5344CB8AC3E}">
        <p14:creationId xmlns:p14="http://schemas.microsoft.com/office/powerpoint/2010/main" val="1091575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341873-CB54-8920-5EFC-6EA97EEBFD79}"/>
              </a:ext>
            </a:extLst>
          </p:cNvPr>
          <p:cNvPicPr>
            <a:picLocks noChangeAspect="1"/>
          </p:cNvPicPr>
          <p:nvPr/>
        </p:nvPicPr>
        <p:blipFill>
          <a:blip r:embed="rId2"/>
          <a:stretch>
            <a:fillRect/>
          </a:stretch>
        </p:blipFill>
        <p:spPr>
          <a:xfrm>
            <a:off x="563880" y="1117307"/>
            <a:ext cx="10408920" cy="5468762"/>
          </a:xfrm>
          <a:prstGeom prst="rect">
            <a:avLst/>
          </a:prstGeom>
        </p:spPr>
      </p:pic>
      <p:pic>
        <p:nvPicPr>
          <p:cNvPr id="5" name="Picture 4">
            <a:extLst>
              <a:ext uri="{FF2B5EF4-FFF2-40B4-BE49-F238E27FC236}">
                <a16:creationId xmlns:a16="http://schemas.microsoft.com/office/drawing/2014/main" id="{5DF8E3D3-C3B5-B8D6-12C4-8BEA58EF867F}"/>
              </a:ext>
            </a:extLst>
          </p:cNvPr>
          <p:cNvPicPr>
            <a:picLocks noChangeAspect="1"/>
          </p:cNvPicPr>
          <p:nvPr/>
        </p:nvPicPr>
        <p:blipFill>
          <a:blip r:embed="rId3"/>
          <a:stretch>
            <a:fillRect/>
          </a:stretch>
        </p:blipFill>
        <p:spPr>
          <a:xfrm>
            <a:off x="563880" y="195731"/>
            <a:ext cx="6115904" cy="752580"/>
          </a:xfrm>
          <a:prstGeom prst="rect">
            <a:avLst/>
          </a:prstGeom>
        </p:spPr>
      </p:pic>
      <p:sp>
        <p:nvSpPr>
          <p:cNvPr id="6" name="Title 1">
            <a:extLst>
              <a:ext uri="{FF2B5EF4-FFF2-40B4-BE49-F238E27FC236}">
                <a16:creationId xmlns:a16="http://schemas.microsoft.com/office/drawing/2014/main" id="{1E09E6CA-E964-83A4-3415-68944C8E1FA5}"/>
              </a:ext>
            </a:extLst>
          </p:cNvPr>
          <p:cNvSpPr txBox="1">
            <a:spLocks/>
          </p:cNvSpPr>
          <p:nvPr/>
        </p:nvSpPr>
        <p:spPr>
          <a:xfrm>
            <a:off x="8705277" y="948311"/>
            <a:ext cx="2524001" cy="132556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cap="all" baseline="0">
                <a:solidFill>
                  <a:schemeClr val="accent1">
                    <a:lumMod val="50000"/>
                  </a:schemeClr>
                </a:solidFill>
                <a:latin typeface="Euphemia" panose="020B0503040102020104" pitchFamily="34" charset="0"/>
                <a:ea typeface="+mj-ea"/>
                <a:cs typeface="+mj-cs"/>
              </a:defRPr>
            </a:lvl1pPr>
          </a:lstStyle>
          <a:p>
            <a:pPr algn="ctr">
              <a:lnSpc>
                <a:spcPct val="110000"/>
              </a:lnSpc>
            </a:pPr>
            <a:r>
              <a:rPr lang="en-US" sz="1800" b="1" cap="none" dirty="0">
                <a:solidFill>
                  <a:schemeClr val="accent2"/>
                </a:solidFill>
                <a:latin typeface="Arial" panose="020B0604020202020204" pitchFamily="34" charset="0"/>
              </a:rPr>
              <a:t>DOIs Enable Tracking Content Use – </a:t>
            </a:r>
          </a:p>
          <a:p>
            <a:pPr algn="ctr">
              <a:lnSpc>
                <a:spcPct val="110000"/>
              </a:lnSpc>
            </a:pPr>
            <a:r>
              <a:rPr lang="en-US" sz="1800" b="1" cap="none" dirty="0">
                <a:solidFill>
                  <a:schemeClr val="accent2"/>
                </a:solidFill>
                <a:latin typeface="Arial" panose="020B0604020202020204" pitchFamily="34" charset="0"/>
              </a:rPr>
              <a:t>The First Step of Measuring Impact</a:t>
            </a:r>
          </a:p>
        </p:txBody>
      </p:sp>
    </p:spTree>
    <p:extLst>
      <p:ext uri="{BB962C8B-B14F-4D97-AF65-F5344CB8AC3E}">
        <p14:creationId xmlns:p14="http://schemas.microsoft.com/office/powerpoint/2010/main" val="2297339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etadata Retrieval - Crossref">
            <a:extLst>
              <a:ext uri="{FF2B5EF4-FFF2-40B4-BE49-F238E27FC236}">
                <a16:creationId xmlns:a16="http://schemas.microsoft.com/office/drawing/2014/main" id="{3DDDC623-DF6B-E79B-237B-DFF2742400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625" y="0"/>
            <a:ext cx="118427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9031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5E791C-AC33-CD3C-122C-320188665675}"/>
              </a:ext>
            </a:extLst>
          </p:cNvPr>
          <p:cNvSpPr txBox="1"/>
          <p:nvPr/>
        </p:nvSpPr>
        <p:spPr>
          <a:xfrm>
            <a:off x="967368" y="1440272"/>
            <a:ext cx="6069051" cy="2739211"/>
          </a:xfrm>
          <a:prstGeom prst="rect">
            <a:avLst/>
          </a:prstGeom>
          <a:noFill/>
        </p:spPr>
        <p:txBody>
          <a:bodyPr wrap="square" numCol="1">
            <a:spAutoFit/>
          </a:bodyPr>
          <a:lstStyle/>
          <a:p>
            <a:pPr algn="l"/>
            <a:r>
              <a:rPr lang="en-US" b="1" i="0" cap="all" dirty="0">
                <a:solidFill>
                  <a:srgbClr val="1F4E79"/>
                </a:solidFill>
                <a:effectLst/>
                <a:highlight>
                  <a:srgbClr val="FFFFFF"/>
                </a:highlight>
                <a:latin typeface="Arial" panose="020B0604020202020204" pitchFamily="34" charset="0"/>
              </a:rPr>
              <a:t>possible NCCS DOI</a:t>
            </a:r>
            <a:r>
              <a:rPr lang="en-US" b="1" i="0" dirty="0">
                <a:solidFill>
                  <a:srgbClr val="1F4E79"/>
                </a:solidFill>
                <a:effectLst/>
                <a:highlight>
                  <a:srgbClr val="FFFFFF"/>
                </a:highlight>
                <a:latin typeface="Arial" panose="020B0604020202020204" pitchFamily="34" charset="0"/>
              </a:rPr>
              <a:t>s</a:t>
            </a:r>
          </a:p>
          <a:p>
            <a:pPr algn="l"/>
            <a:endParaRPr lang="en-US" sz="1400" dirty="0">
              <a:solidFill>
                <a:srgbClr val="1F2328"/>
              </a:solidFill>
              <a:highlight>
                <a:srgbClr val="FFFFFF"/>
              </a:highlight>
              <a:latin typeface="-apple-system"/>
            </a:endParaRPr>
          </a:p>
          <a:p>
            <a:pPr lvl="1"/>
            <a:r>
              <a:rPr lang="en-US" sz="1400" b="0" i="0" dirty="0" err="1">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sz="1400" b="0" i="0" dirty="0">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/xx-urban/  pub/report/id</a:t>
            </a:r>
          </a:p>
          <a:p>
            <a:pPr lvl="1"/>
            <a:r>
              <a:rPr lang="en-US" sz="1400" b="0" i="0" dirty="0" err="1">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sz="1400" b="0" i="0" dirty="0">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/xx-urban/  pub/book/id</a:t>
            </a:r>
          </a:p>
          <a:p>
            <a:pPr lvl="1"/>
            <a:r>
              <a:rPr lang="en-US" sz="1400" b="0" i="0" dirty="0" err="1">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sz="1400" b="0" i="0" dirty="0">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/xx-urban/  pub/blog/id</a:t>
            </a:r>
          </a:p>
          <a:p>
            <a:pPr lvl="1"/>
            <a:r>
              <a:rPr lang="en-US" sz="1400" b="0" i="0" dirty="0" err="1">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sz="1400" b="0" i="0" dirty="0">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/xx-urban/  pub/series/id</a:t>
            </a:r>
          </a:p>
          <a:p>
            <a:pPr lvl="1"/>
            <a:r>
              <a:rPr lang="en-US" sz="1400" b="0" i="0" dirty="0" err="1">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sz="1400" b="0" i="0" dirty="0">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/xx-urban/  data/meta/</a:t>
            </a:r>
            <a:r>
              <a:rPr lang="en-US" sz="1400" b="0" i="0" dirty="0" err="1">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npnames</a:t>
            </a:r>
            <a:endParaRPr lang="en-US" sz="1400" b="0" i="0" dirty="0">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400" b="0" i="0" dirty="0" err="1">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sz="1400" b="0" i="0" dirty="0">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/xx-urban/  data/meta/</a:t>
            </a:r>
            <a:r>
              <a:rPr lang="en-US" sz="1400" b="0" i="0" dirty="0" err="1">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nplocations</a:t>
            </a:r>
            <a:endParaRPr lang="en-US" sz="1400" b="0" i="0" dirty="0">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400" b="0" i="0" dirty="0" err="1">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sz="1400" b="0" i="0" dirty="0">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/xx-urban/  data/crosswalk/</a:t>
            </a:r>
            <a:r>
              <a:rPr lang="en-US" sz="1400" b="0" i="0" dirty="0" err="1">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ntee</a:t>
            </a:r>
            <a:r>
              <a:rPr lang="en-US" sz="1400" b="0" i="0" dirty="0">
                <a:solidFill>
                  <a:srgbClr val="1F2328"/>
                </a:solidFill>
                <a:effectLst/>
                <a:highlight>
                  <a:srgbClr val="FFFFFF"/>
                </a:highlight>
                <a:latin typeface="Cascadia Mono Light" panose="020B0609020000020004" pitchFamily="49" charset="0"/>
                <a:ea typeface="Cascadia Mono Light" panose="020B0609020000020004" pitchFamily="49" charset="0"/>
                <a:cs typeface="Cascadia Mono Light" panose="020B0609020000020004" pitchFamily="49" charset="0"/>
              </a:rPr>
              <a:t>-to-pcs</a:t>
            </a:r>
          </a:p>
          <a:p>
            <a:endParaRPr lang="en-US" sz="1400" dirty="0"/>
          </a:p>
          <a:p>
            <a:endParaRPr lang="en-US" sz="1400" dirty="0"/>
          </a:p>
          <a:p>
            <a:endParaRPr lang="en-US" sz="1400" dirty="0"/>
          </a:p>
        </p:txBody>
      </p:sp>
      <p:sp>
        <p:nvSpPr>
          <p:cNvPr id="6" name="TextBox 5">
            <a:extLst>
              <a:ext uri="{FF2B5EF4-FFF2-40B4-BE49-F238E27FC236}">
                <a16:creationId xmlns:a16="http://schemas.microsoft.com/office/drawing/2014/main" id="{6CD6F4FA-FC23-16A1-4456-21A91C675386}"/>
              </a:ext>
            </a:extLst>
          </p:cNvPr>
          <p:cNvSpPr txBox="1"/>
          <p:nvPr/>
        </p:nvSpPr>
        <p:spPr>
          <a:xfrm>
            <a:off x="7362592" y="1440272"/>
            <a:ext cx="6094140" cy="4462760"/>
          </a:xfrm>
          <a:prstGeom prst="rect">
            <a:avLst/>
          </a:prstGeom>
          <a:noFill/>
        </p:spPr>
        <p:txBody>
          <a:bodyPr wrap="square">
            <a:spAutoFit/>
          </a:bodyPr>
          <a:lstStyle/>
          <a:p>
            <a:r>
              <a:rPr lang="en-US" sz="1600" b="1" cap="all" dirty="0">
                <a:solidFill>
                  <a:srgbClr val="1F4E79"/>
                </a:solidFill>
                <a:latin typeface="Arial" panose="020B0604020202020204" pitchFamily="34" charset="0"/>
              </a:rPr>
              <a:t>publications series:</a:t>
            </a:r>
          </a:p>
          <a:p>
            <a:endParaRPr lang="en-US" sz="1400" dirty="0"/>
          </a:p>
          <a:p>
            <a:pPr lvl="1"/>
            <a:r>
              <a:rPr lang="en-US" sz="1400" dirty="0">
                <a:latin typeface="Cascadia Mono Light" panose="020B0609020000020004" pitchFamily="49" charset="0"/>
                <a:ea typeface="Cascadia Mono Light" panose="020B0609020000020004" pitchFamily="49" charset="0"/>
                <a:cs typeface="Cascadia Mono Light" panose="020B0609020000020004" pitchFamily="49" charset="0"/>
              </a:rPr>
              <a:t>pub/</a:t>
            </a:r>
            <a:r>
              <a:rPr lang="en-US" sz="1400" dirty="0" err="1">
                <a:latin typeface="Cascadia Mono Light" panose="020B0609020000020004" pitchFamily="49" charset="0"/>
                <a:ea typeface="Cascadia Mono Light" panose="020B0609020000020004" pitchFamily="49" charset="0"/>
                <a:cs typeface="Cascadia Mono Light" panose="020B0609020000020004" pitchFamily="49" charset="0"/>
              </a:rPr>
              <a:t>sectorbrief</a:t>
            </a:r>
            <a:r>
              <a:rPr lang="en-US" sz="1400" dirty="0">
                <a:latin typeface="Cascadia Mono Light" panose="020B0609020000020004" pitchFamily="49" charset="0"/>
                <a:ea typeface="Cascadia Mono Light" panose="020B0609020000020004" pitchFamily="49" charset="0"/>
                <a:cs typeface="Cascadia Mono Light" panose="020B0609020000020004" pitchFamily="49" charset="0"/>
              </a:rPr>
              <a:t>/sib2018</a:t>
            </a:r>
          </a:p>
          <a:p>
            <a:pPr lvl="1"/>
            <a:r>
              <a:rPr lang="en-US" sz="1400" dirty="0">
                <a:latin typeface="Cascadia Mono Light" panose="020B0609020000020004" pitchFamily="49" charset="0"/>
                <a:ea typeface="Cascadia Mono Light" panose="020B0609020000020004" pitchFamily="49" charset="0"/>
                <a:cs typeface="Cascadia Mono Light" panose="020B0609020000020004" pitchFamily="49" charset="0"/>
              </a:rPr>
              <a:t>pub/</a:t>
            </a:r>
            <a:r>
              <a:rPr lang="en-US" sz="1400" dirty="0" err="1">
                <a:latin typeface="Cascadia Mono Light" panose="020B0609020000020004" pitchFamily="49" charset="0"/>
                <a:ea typeface="Cascadia Mono Light" panose="020B0609020000020004" pitchFamily="49" charset="0"/>
                <a:cs typeface="Cascadia Mono Light" panose="020B0609020000020004" pitchFamily="49" charset="0"/>
              </a:rPr>
              <a:t>sectorbrief</a:t>
            </a:r>
            <a:r>
              <a:rPr lang="en-US" sz="1400" dirty="0">
                <a:latin typeface="Cascadia Mono Light" panose="020B0609020000020004" pitchFamily="49" charset="0"/>
                <a:ea typeface="Cascadia Mono Light" panose="020B0609020000020004" pitchFamily="49" charset="0"/>
                <a:cs typeface="Cascadia Mono Light" panose="020B0609020000020004" pitchFamily="49" charset="0"/>
              </a:rPr>
              <a:t>/sib2019</a:t>
            </a:r>
          </a:p>
          <a:p>
            <a:endParaRPr lang="en-US" sz="1400" dirty="0"/>
          </a:p>
          <a:p>
            <a:endParaRPr lang="en-US" sz="1400" dirty="0"/>
          </a:p>
          <a:p>
            <a:endParaRPr lang="en-US" sz="1400" dirty="0"/>
          </a:p>
          <a:p>
            <a:r>
              <a:rPr lang="en-US" sz="1600" b="1" cap="all" dirty="0">
                <a:solidFill>
                  <a:srgbClr val="1F4E79"/>
                </a:solidFill>
                <a:latin typeface="Arial" panose="020B0604020202020204" pitchFamily="34" charset="0"/>
              </a:rPr>
              <a:t>Data series:</a:t>
            </a:r>
          </a:p>
          <a:p>
            <a:endParaRPr lang="en-US" sz="1400" dirty="0"/>
          </a:p>
          <a:p>
            <a:pPr lvl="1"/>
            <a:r>
              <a:rPr lang="en-US" sz="1400" dirty="0">
                <a:latin typeface="Cascadia Mono Light" panose="020B0609020000020004" pitchFamily="49" charset="0"/>
                <a:ea typeface="Cascadia Mono Light" panose="020B0609020000020004" pitchFamily="49" charset="0"/>
                <a:cs typeface="Cascadia Mono Light" panose="020B0609020000020004" pitchFamily="49" charset="0"/>
              </a:rPr>
              <a:t>data/core</a:t>
            </a:r>
          </a:p>
          <a:p>
            <a:pPr lvl="1"/>
            <a:r>
              <a:rPr lang="en-US" sz="1400" dirty="0">
                <a:latin typeface="Cascadia Mono Light" panose="020B0609020000020004" pitchFamily="49" charset="0"/>
                <a:ea typeface="Cascadia Mono Light" panose="020B0609020000020004" pitchFamily="49" charset="0"/>
                <a:cs typeface="Cascadia Mono Light" panose="020B0609020000020004" pitchFamily="49" charset="0"/>
              </a:rPr>
              <a:t>data/</a:t>
            </a:r>
            <a:r>
              <a:rPr lang="en-US" sz="1400" dirty="0" err="1">
                <a:latin typeface="Cascadia Mono Light" panose="020B0609020000020004" pitchFamily="49" charset="0"/>
                <a:ea typeface="Cascadia Mono Light" panose="020B0609020000020004" pitchFamily="49" charset="0"/>
                <a:cs typeface="Cascadia Mono Light" panose="020B0609020000020004" pitchFamily="49" charset="0"/>
              </a:rPr>
              <a:t>bmf</a:t>
            </a:r>
            <a:endParaRPr lang="en-US" sz="140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400" dirty="0">
                <a:latin typeface="Cascadia Mono Light" panose="020B0609020000020004" pitchFamily="49" charset="0"/>
                <a:ea typeface="Cascadia Mono Light" panose="020B0609020000020004" pitchFamily="49" charset="0"/>
                <a:cs typeface="Cascadia Mono Light" panose="020B0609020000020004" pitchFamily="49" charset="0"/>
              </a:rPr>
              <a:t>data/pub78</a:t>
            </a:r>
          </a:p>
          <a:p>
            <a:endParaRPr lang="en-US" sz="1400" dirty="0"/>
          </a:p>
          <a:p>
            <a:endParaRPr lang="en-US" sz="1400" dirty="0"/>
          </a:p>
          <a:p>
            <a:endParaRPr lang="en-US" sz="1400" dirty="0"/>
          </a:p>
          <a:p>
            <a:r>
              <a:rPr lang="en-US" sz="1600" b="1" cap="all" dirty="0">
                <a:solidFill>
                  <a:srgbClr val="1F4E79"/>
                </a:solidFill>
                <a:latin typeface="Arial" panose="020B0604020202020204" pitchFamily="34" charset="0"/>
              </a:rPr>
              <a:t>Tables in a database?</a:t>
            </a:r>
          </a:p>
          <a:p>
            <a:endParaRPr lang="en-US" sz="1400" dirty="0"/>
          </a:p>
          <a:p>
            <a:pPr lvl="1"/>
            <a:r>
              <a:rPr lang="en-US" sz="1400" dirty="0">
                <a:latin typeface="Cascadia Mono Light" panose="020B0609020000020004" pitchFamily="49" charset="0"/>
                <a:ea typeface="Cascadia Mono Light" panose="020B0609020000020004" pitchFamily="49" charset="0"/>
                <a:cs typeface="Cascadia Mono Light" panose="020B0609020000020004" pitchFamily="49" charset="0"/>
              </a:rPr>
              <a:t>data/meta/</a:t>
            </a:r>
            <a:r>
              <a:rPr lang="en-US" sz="1400" dirty="0" err="1">
                <a:latin typeface="Cascadia Mono Light" panose="020B0609020000020004" pitchFamily="49" charset="0"/>
                <a:ea typeface="Cascadia Mono Light" panose="020B0609020000020004" pitchFamily="49" charset="0"/>
                <a:cs typeface="Cascadia Mono Light" panose="020B0609020000020004" pitchFamily="49" charset="0"/>
              </a:rPr>
              <a:t>npnames</a:t>
            </a:r>
            <a:endParaRPr lang="en-US" sz="140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400" dirty="0">
                <a:latin typeface="Cascadia Mono Light" panose="020B0609020000020004" pitchFamily="49" charset="0"/>
                <a:ea typeface="Cascadia Mono Light" panose="020B0609020000020004" pitchFamily="49" charset="0"/>
                <a:cs typeface="Cascadia Mono Light" panose="020B0609020000020004" pitchFamily="49" charset="0"/>
              </a:rPr>
              <a:t>data/meta/</a:t>
            </a:r>
            <a:r>
              <a:rPr lang="en-US" sz="1400" dirty="0" err="1">
                <a:latin typeface="Cascadia Mono Light" panose="020B0609020000020004" pitchFamily="49" charset="0"/>
                <a:ea typeface="Cascadia Mono Light" panose="020B0609020000020004" pitchFamily="49" charset="0"/>
                <a:cs typeface="Cascadia Mono Light" panose="020B0609020000020004" pitchFamily="49" charset="0"/>
              </a:rPr>
              <a:t>nplocations</a:t>
            </a:r>
            <a:endParaRPr lang="en-US" sz="140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400" dirty="0">
                <a:latin typeface="Cascadia Mono Light" panose="020B0609020000020004" pitchFamily="49" charset="0"/>
                <a:ea typeface="Cascadia Mono Light" panose="020B0609020000020004" pitchFamily="49" charset="0"/>
                <a:cs typeface="Cascadia Mono Light" panose="020B0609020000020004" pitchFamily="49" charset="0"/>
              </a:rPr>
              <a:t>data/meta/</a:t>
            </a:r>
            <a:r>
              <a:rPr lang="en-US" sz="1400" dirty="0" err="1">
                <a:latin typeface="Cascadia Mono Light" panose="020B0609020000020004" pitchFamily="49" charset="0"/>
                <a:ea typeface="Cascadia Mono Light" panose="020B0609020000020004" pitchFamily="49" charset="0"/>
                <a:cs typeface="Cascadia Mono Light" panose="020B0609020000020004" pitchFamily="49" charset="0"/>
              </a:rPr>
              <a:t>npmissions</a:t>
            </a:r>
            <a:endParaRPr lang="en-US" sz="1400" dirty="0">
              <a:latin typeface="Cascadia Mono Light" panose="020B0609020000020004" pitchFamily="49" charset="0"/>
              <a:ea typeface="Cascadia Mono Light" panose="020B0609020000020004" pitchFamily="49" charset="0"/>
              <a:cs typeface="Cascadia Mono Light" panose="020B0609020000020004" pitchFamily="49" charset="0"/>
            </a:endParaRPr>
          </a:p>
        </p:txBody>
      </p:sp>
      <p:sp>
        <p:nvSpPr>
          <p:cNvPr id="7" name="Title 1">
            <a:extLst>
              <a:ext uri="{FF2B5EF4-FFF2-40B4-BE49-F238E27FC236}">
                <a16:creationId xmlns:a16="http://schemas.microsoft.com/office/drawing/2014/main" id="{E0A94F5E-8BC1-EF1B-6EC9-A4D219BAF1EB}"/>
              </a:ext>
            </a:extLst>
          </p:cNvPr>
          <p:cNvSpPr txBox="1">
            <a:spLocks/>
          </p:cNvSpPr>
          <p:nvPr/>
        </p:nvSpPr>
        <p:spPr>
          <a:xfrm>
            <a:off x="838200" y="40535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3A4950"/>
                </a:solidFill>
                <a:latin typeface="Arial" panose="020B0604020202020204" pitchFamily="34" charset="0"/>
              </a:rPr>
              <a:t>CUSTOMIZING DOIs</a:t>
            </a:r>
          </a:p>
        </p:txBody>
      </p:sp>
    </p:spTree>
    <p:extLst>
      <p:ext uri="{BB962C8B-B14F-4D97-AF65-F5344CB8AC3E}">
        <p14:creationId xmlns:p14="http://schemas.microsoft.com/office/powerpoint/2010/main" val="3931612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a:extLst>
            <a:ext uri="{FF2B5EF4-FFF2-40B4-BE49-F238E27FC236}">
              <a16:creationId xmlns:a16="http://schemas.microsoft.com/office/drawing/2014/main" id="{FF565FCD-B78D-A679-2629-FC0CF0510DD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B3D258B-EB0F-487B-FCA5-31A51D1FCCAD}"/>
              </a:ext>
            </a:extLst>
          </p:cNvPr>
          <p:cNvSpPr txBox="1"/>
          <p:nvPr/>
        </p:nvSpPr>
        <p:spPr>
          <a:xfrm>
            <a:off x="2599651" y="1380115"/>
            <a:ext cx="7291483" cy="255454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t>How do you </a:t>
            </a:r>
            <a:br>
              <a:rPr kumimoji="0" lang="en-US" sz="80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br>
            <a:r>
              <a:rPr kumimoji="0" lang="en-US" sz="80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t>cite data?</a:t>
            </a:r>
          </a:p>
        </p:txBody>
      </p:sp>
    </p:spTree>
    <p:extLst>
      <p:ext uri="{BB962C8B-B14F-4D97-AF65-F5344CB8AC3E}">
        <p14:creationId xmlns:p14="http://schemas.microsoft.com/office/powerpoint/2010/main" val="3283800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5DA98A-712C-0A7C-B155-6E9761CD26BE}"/>
              </a:ext>
            </a:extLst>
          </p:cNvPr>
          <p:cNvSpPr>
            <a:spLocks noGrp="1"/>
          </p:cNvSpPr>
          <p:nvPr>
            <p:ph type="sldNum" sz="quarter" idx="12"/>
          </p:nvPr>
        </p:nvSpPr>
        <p:spPr>
          <a:xfrm>
            <a:off x="8610600" y="6534767"/>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DD4DA2-4FBE-4694-B57B-F9990517B432}"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F491CAB1-B789-7687-CA6D-BDF4BC5223A3}"/>
              </a:ext>
            </a:extLst>
          </p:cNvPr>
          <p:cNvGrpSpPr/>
          <p:nvPr/>
        </p:nvGrpSpPr>
        <p:grpSpPr>
          <a:xfrm>
            <a:off x="4948135" y="1576205"/>
            <a:ext cx="3136116" cy="2214138"/>
            <a:chOff x="4997116" y="2147857"/>
            <a:chExt cx="3136116" cy="2214138"/>
          </a:xfrm>
        </p:grpSpPr>
        <p:sp>
          <p:nvSpPr>
            <p:cNvPr id="7" name="TextBox 6">
              <a:extLst>
                <a:ext uri="{FF2B5EF4-FFF2-40B4-BE49-F238E27FC236}">
                  <a16:creationId xmlns:a16="http://schemas.microsoft.com/office/drawing/2014/main" id="{EF2FB939-0440-7BB7-15B7-68DDA178408C}"/>
                </a:ext>
              </a:extLst>
            </p:cNvPr>
            <p:cNvSpPr txBox="1"/>
            <p:nvPr/>
          </p:nvSpPr>
          <p:spPr>
            <a:xfrm>
              <a:off x="5423836" y="2147857"/>
              <a:ext cx="2709396" cy="400110"/>
            </a:xfrm>
            <a:prstGeom prst="rect">
              <a:avLst/>
            </a:prstGeom>
            <a:noFill/>
          </p:spPr>
          <p:txBody>
            <a:bodyPr wrap="none" rtlCol="0">
              <a:spAutoFit/>
            </a:bodyPr>
            <a:lstStyle/>
            <a:p>
              <a:r>
                <a:rPr lang="en-US" sz="2000" b="1" cap="all" dirty="0">
                  <a:solidFill>
                    <a:schemeClr val="tx2">
                      <a:lumMod val="60000"/>
                      <a:lumOff val="40000"/>
                    </a:schemeClr>
                  </a:solidFill>
                  <a:latin typeface="Arial" panose="020B0604020202020204" pitchFamily="34" charset="0"/>
                </a:rPr>
                <a:t>Core 2003 Legacy</a:t>
              </a:r>
            </a:p>
          </p:txBody>
        </p:sp>
        <p:pic>
          <p:nvPicPr>
            <p:cNvPr id="9" name="Graphic 8" descr="Database with solid fill">
              <a:extLst>
                <a:ext uri="{FF2B5EF4-FFF2-40B4-BE49-F238E27FC236}">
                  <a16:creationId xmlns:a16="http://schemas.microsoft.com/office/drawing/2014/main" id="{382BF3D7-7E25-55E1-1CC0-B95B6405F5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46558" y="2713015"/>
              <a:ext cx="549442" cy="549442"/>
            </a:xfrm>
            <a:prstGeom prst="rect">
              <a:avLst/>
            </a:prstGeom>
          </p:spPr>
        </p:pic>
        <p:pic>
          <p:nvPicPr>
            <p:cNvPr id="10" name="Graphic 9" descr="Database with solid fill">
              <a:extLst>
                <a:ext uri="{FF2B5EF4-FFF2-40B4-BE49-F238E27FC236}">
                  <a16:creationId xmlns:a16="http://schemas.microsoft.com/office/drawing/2014/main" id="{36579528-099E-9A2E-3C53-AF9E215FEA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03821" y="2713015"/>
              <a:ext cx="549442" cy="549442"/>
            </a:xfrm>
            <a:prstGeom prst="rect">
              <a:avLst/>
            </a:prstGeom>
          </p:spPr>
        </p:pic>
        <p:pic>
          <p:nvPicPr>
            <p:cNvPr id="11" name="Graphic 10" descr="Database with solid fill">
              <a:extLst>
                <a:ext uri="{FF2B5EF4-FFF2-40B4-BE49-F238E27FC236}">
                  <a16:creationId xmlns:a16="http://schemas.microsoft.com/office/drawing/2014/main" id="{6D5FF010-6888-7088-1E4D-3E93F8A09E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00701" y="2713015"/>
              <a:ext cx="549442" cy="549442"/>
            </a:xfrm>
            <a:prstGeom prst="rect">
              <a:avLst/>
            </a:prstGeom>
          </p:spPr>
        </p:pic>
        <p:sp>
          <p:nvSpPr>
            <p:cNvPr id="12" name="TextBox 11">
              <a:extLst>
                <a:ext uri="{FF2B5EF4-FFF2-40B4-BE49-F238E27FC236}">
                  <a16:creationId xmlns:a16="http://schemas.microsoft.com/office/drawing/2014/main" id="{8F79E62B-1758-5334-7A50-32A2FD84E357}"/>
                </a:ext>
              </a:extLst>
            </p:cNvPr>
            <p:cNvSpPr txBox="1"/>
            <p:nvPr/>
          </p:nvSpPr>
          <p:spPr>
            <a:xfrm>
              <a:off x="5458726" y="3992663"/>
              <a:ext cx="748923" cy="369332"/>
            </a:xfrm>
            <a:prstGeom prst="rect">
              <a:avLst/>
            </a:prstGeom>
            <a:noFill/>
          </p:spPr>
          <p:txBody>
            <a:bodyPr wrap="none" rtlCol="0">
              <a:spAutoFit/>
            </a:bodyPr>
            <a:lstStyle/>
            <a:p>
              <a:r>
                <a:rPr lang="en-US" b="1" dirty="0">
                  <a:solidFill>
                    <a:schemeClr val="tx2">
                      <a:lumMod val="60000"/>
                      <a:lumOff val="40000"/>
                    </a:schemeClr>
                  </a:solidFill>
                </a:rPr>
                <a:t>501c3</a:t>
              </a:r>
            </a:p>
          </p:txBody>
        </p:sp>
        <p:sp>
          <p:nvSpPr>
            <p:cNvPr id="13" name="TextBox 12">
              <a:extLst>
                <a:ext uri="{FF2B5EF4-FFF2-40B4-BE49-F238E27FC236}">
                  <a16:creationId xmlns:a16="http://schemas.microsoft.com/office/drawing/2014/main" id="{5AA0439C-3B1C-4C1E-C71B-823B7AD1045A}"/>
                </a:ext>
              </a:extLst>
            </p:cNvPr>
            <p:cNvSpPr txBox="1"/>
            <p:nvPr/>
          </p:nvSpPr>
          <p:spPr>
            <a:xfrm>
              <a:off x="4997116" y="2835231"/>
              <a:ext cx="426720" cy="369332"/>
            </a:xfrm>
            <a:prstGeom prst="rect">
              <a:avLst/>
            </a:prstGeom>
            <a:noFill/>
          </p:spPr>
          <p:txBody>
            <a:bodyPr wrap="none" rtlCol="0">
              <a:spAutoFit/>
            </a:bodyPr>
            <a:lstStyle/>
            <a:p>
              <a:r>
                <a:rPr lang="en-US" b="1" dirty="0">
                  <a:solidFill>
                    <a:schemeClr val="tx2">
                      <a:lumMod val="60000"/>
                      <a:lumOff val="40000"/>
                    </a:schemeClr>
                  </a:solidFill>
                </a:rPr>
                <a:t>PZ</a:t>
              </a:r>
            </a:p>
          </p:txBody>
        </p:sp>
        <p:pic>
          <p:nvPicPr>
            <p:cNvPr id="14" name="Graphic 13" descr="Database with solid fill">
              <a:extLst>
                <a:ext uri="{FF2B5EF4-FFF2-40B4-BE49-F238E27FC236}">
                  <a16:creationId xmlns:a16="http://schemas.microsoft.com/office/drawing/2014/main" id="{8015A0FC-AB27-6054-7367-6F09ABF847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58467" y="3320823"/>
              <a:ext cx="549442" cy="549442"/>
            </a:xfrm>
            <a:prstGeom prst="rect">
              <a:avLst/>
            </a:prstGeom>
          </p:spPr>
        </p:pic>
        <p:pic>
          <p:nvPicPr>
            <p:cNvPr id="15" name="Graphic 14" descr="Database with solid fill">
              <a:extLst>
                <a:ext uri="{FF2B5EF4-FFF2-40B4-BE49-F238E27FC236}">
                  <a16:creationId xmlns:a16="http://schemas.microsoft.com/office/drawing/2014/main" id="{3F9E85C6-6A2A-7BF9-56F1-C6198A6D0FB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15730" y="3320823"/>
              <a:ext cx="549442" cy="549442"/>
            </a:xfrm>
            <a:prstGeom prst="rect">
              <a:avLst/>
            </a:prstGeom>
          </p:spPr>
        </p:pic>
        <p:pic>
          <p:nvPicPr>
            <p:cNvPr id="16" name="Graphic 15" descr="Database with solid fill">
              <a:extLst>
                <a:ext uri="{FF2B5EF4-FFF2-40B4-BE49-F238E27FC236}">
                  <a16:creationId xmlns:a16="http://schemas.microsoft.com/office/drawing/2014/main" id="{0DCC0F46-A362-AC5B-B8C4-5C90227106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12610" y="3320823"/>
              <a:ext cx="549442" cy="549442"/>
            </a:xfrm>
            <a:prstGeom prst="rect">
              <a:avLst/>
            </a:prstGeom>
          </p:spPr>
        </p:pic>
        <p:sp>
          <p:nvSpPr>
            <p:cNvPr id="17" name="TextBox 16">
              <a:extLst>
                <a:ext uri="{FF2B5EF4-FFF2-40B4-BE49-F238E27FC236}">
                  <a16:creationId xmlns:a16="http://schemas.microsoft.com/office/drawing/2014/main" id="{1BB0C1D3-9708-27AD-5412-75E7B02BDD05}"/>
                </a:ext>
              </a:extLst>
            </p:cNvPr>
            <p:cNvSpPr txBox="1"/>
            <p:nvPr/>
          </p:nvSpPr>
          <p:spPr>
            <a:xfrm>
              <a:off x="5009025" y="3443039"/>
              <a:ext cx="429926" cy="369332"/>
            </a:xfrm>
            <a:prstGeom prst="rect">
              <a:avLst/>
            </a:prstGeom>
            <a:noFill/>
          </p:spPr>
          <p:txBody>
            <a:bodyPr wrap="none" rtlCol="0">
              <a:spAutoFit/>
            </a:bodyPr>
            <a:lstStyle/>
            <a:p>
              <a:r>
                <a:rPr lang="en-US" b="1" dirty="0">
                  <a:solidFill>
                    <a:schemeClr val="tx2">
                      <a:lumMod val="60000"/>
                      <a:lumOff val="40000"/>
                    </a:schemeClr>
                  </a:solidFill>
                </a:rPr>
                <a:t>PC</a:t>
              </a:r>
            </a:p>
          </p:txBody>
        </p:sp>
        <p:sp>
          <p:nvSpPr>
            <p:cNvPr id="18" name="TextBox 17">
              <a:extLst>
                <a:ext uri="{FF2B5EF4-FFF2-40B4-BE49-F238E27FC236}">
                  <a16:creationId xmlns:a16="http://schemas.microsoft.com/office/drawing/2014/main" id="{CA8D9C09-3BFF-188C-9E70-D102678C6130}"/>
                </a:ext>
              </a:extLst>
            </p:cNvPr>
            <p:cNvSpPr txBox="1"/>
            <p:nvPr/>
          </p:nvSpPr>
          <p:spPr>
            <a:xfrm>
              <a:off x="6260312" y="3992663"/>
              <a:ext cx="758541" cy="369332"/>
            </a:xfrm>
            <a:prstGeom prst="rect">
              <a:avLst/>
            </a:prstGeom>
            <a:noFill/>
          </p:spPr>
          <p:txBody>
            <a:bodyPr wrap="none" rtlCol="0">
              <a:spAutoFit/>
            </a:bodyPr>
            <a:lstStyle/>
            <a:p>
              <a:r>
                <a:rPr lang="en-US" b="1" dirty="0">
                  <a:solidFill>
                    <a:schemeClr val="tx2">
                      <a:lumMod val="60000"/>
                      <a:lumOff val="40000"/>
                    </a:schemeClr>
                  </a:solidFill>
                </a:rPr>
                <a:t>501cX</a:t>
              </a:r>
            </a:p>
          </p:txBody>
        </p:sp>
        <p:sp>
          <p:nvSpPr>
            <p:cNvPr id="19" name="TextBox 18">
              <a:extLst>
                <a:ext uri="{FF2B5EF4-FFF2-40B4-BE49-F238E27FC236}">
                  <a16:creationId xmlns:a16="http://schemas.microsoft.com/office/drawing/2014/main" id="{66EADE81-8DB7-0764-686A-A41F071CB267}"/>
                </a:ext>
              </a:extLst>
            </p:cNvPr>
            <p:cNvSpPr txBox="1"/>
            <p:nvPr/>
          </p:nvSpPr>
          <p:spPr>
            <a:xfrm>
              <a:off x="7159607" y="3992663"/>
              <a:ext cx="502445" cy="369332"/>
            </a:xfrm>
            <a:prstGeom prst="rect">
              <a:avLst/>
            </a:prstGeom>
            <a:noFill/>
          </p:spPr>
          <p:txBody>
            <a:bodyPr wrap="none" rtlCol="0">
              <a:spAutoFit/>
            </a:bodyPr>
            <a:lstStyle/>
            <a:p>
              <a:r>
                <a:rPr lang="en-US" b="1" dirty="0">
                  <a:solidFill>
                    <a:schemeClr val="tx2">
                      <a:lumMod val="60000"/>
                      <a:lumOff val="40000"/>
                    </a:schemeClr>
                  </a:solidFill>
                </a:rPr>
                <a:t>PFs</a:t>
              </a:r>
            </a:p>
          </p:txBody>
        </p:sp>
      </p:grpSp>
      <p:grpSp>
        <p:nvGrpSpPr>
          <p:cNvPr id="21" name="Group 20">
            <a:extLst>
              <a:ext uri="{FF2B5EF4-FFF2-40B4-BE49-F238E27FC236}">
                <a16:creationId xmlns:a16="http://schemas.microsoft.com/office/drawing/2014/main" id="{8AD49E96-5234-05F6-7373-234F2E37A451}"/>
              </a:ext>
            </a:extLst>
          </p:cNvPr>
          <p:cNvGrpSpPr/>
          <p:nvPr/>
        </p:nvGrpSpPr>
        <p:grpSpPr>
          <a:xfrm>
            <a:off x="8425629" y="1583399"/>
            <a:ext cx="3404081" cy="2206944"/>
            <a:chOff x="4997116" y="2155051"/>
            <a:chExt cx="3404081" cy="2206944"/>
          </a:xfrm>
        </p:grpSpPr>
        <p:sp>
          <p:nvSpPr>
            <p:cNvPr id="22" name="TextBox 21">
              <a:extLst>
                <a:ext uri="{FF2B5EF4-FFF2-40B4-BE49-F238E27FC236}">
                  <a16:creationId xmlns:a16="http://schemas.microsoft.com/office/drawing/2014/main" id="{1BB3A171-D7AC-EAEB-C12A-45EB01A8F469}"/>
                </a:ext>
              </a:extLst>
            </p:cNvPr>
            <p:cNvSpPr txBox="1"/>
            <p:nvPr/>
          </p:nvSpPr>
          <p:spPr>
            <a:xfrm>
              <a:off x="5021746" y="2155051"/>
              <a:ext cx="3379451" cy="400110"/>
            </a:xfrm>
            <a:prstGeom prst="rect">
              <a:avLst/>
            </a:prstGeom>
            <a:noFill/>
          </p:spPr>
          <p:txBody>
            <a:bodyPr wrap="none" rtlCol="0">
              <a:spAutoFit/>
            </a:bodyPr>
            <a:lstStyle/>
            <a:p>
              <a:r>
                <a:rPr lang="en-US" sz="2000" b="1" cap="all" dirty="0">
                  <a:solidFill>
                    <a:srgbClr val="F4B502"/>
                  </a:solidFill>
                  <a:latin typeface="Arial" panose="020B0604020202020204" pitchFamily="34" charset="0"/>
                </a:rPr>
                <a:t>Core 2003 HARMONIZED</a:t>
              </a:r>
            </a:p>
          </p:txBody>
        </p:sp>
        <p:pic>
          <p:nvPicPr>
            <p:cNvPr id="23" name="Graphic 22" descr="Database with solid fill">
              <a:extLst>
                <a:ext uri="{FF2B5EF4-FFF2-40B4-BE49-F238E27FC236}">
                  <a16:creationId xmlns:a16="http://schemas.microsoft.com/office/drawing/2014/main" id="{B35160E2-DDBF-7174-063D-F71DC5A408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46558" y="2713015"/>
              <a:ext cx="549442" cy="549442"/>
            </a:xfrm>
            <a:prstGeom prst="rect">
              <a:avLst/>
            </a:prstGeom>
          </p:spPr>
        </p:pic>
        <p:pic>
          <p:nvPicPr>
            <p:cNvPr id="24" name="Graphic 23" descr="Database with solid fill">
              <a:extLst>
                <a:ext uri="{FF2B5EF4-FFF2-40B4-BE49-F238E27FC236}">
                  <a16:creationId xmlns:a16="http://schemas.microsoft.com/office/drawing/2014/main" id="{2AF7BAAA-ADC4-9E13-294C-EBB2226086C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03821" y="2713015"/>
              <a:ext cx="549442" cy="549442"/>
            </a:xfrm>
            <a:prstGeom prst="rect">
              <a:avLst/>
            </a:prstGeom>
          </p:spPr>
        </p:pic>
        <p:pic>
          <p:nvPicPr>
            <p:cNvPr id="25" name="Graphic 24" descr="Database with solid fill">
              <a:extLst>
                <a:ext uri="{FF2B5EF4-FFF2-40B4-BE49-F238E27FC236}">
                  <a16:creationId xmlns:a16="http://schemas.microsoft.com/office/drawing/2014/main" id="{3644FD15-C441-3726-873B-18E0F45D9D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00701" y="2713015"/>
              <a:ext cx="549442" cy="549442"/>
            </a:xfrm>
            <a:prstGeom prst="rect">
              <a:avLst/>
            </a:prstGeom>
          </p:spPr>
        </p:pic>
        <p:sp>
          <p:nvSpPr>
            <p:cNvPr id="26" name="TextBox 25">
              <a:extLst>
                <a:ext uri="{FF2B5EF4-FFF2-40B4-BE49-F238E27FC236}">
                  <a16:creationId xmlns:a16="http://schemas.microsoft.com/office/drawing/2014/main" id="{A633A610-06FC-013C-32B6-34F3C85D0D01}"/>
                </a:ext>
              </a:extLst>
            </p:cNvPr>
            <p:cNvSpPr txBox="1"/>
            <p:nvPr/>
          </p:nvSpPr>
          <p:spPr>
            <a:xfrm>
              <a:off x="5458726" y="3992663"/>
              <a:ext cx="748923" cy="369332"/>
            </a:xfrm>
            <a:prstGeom prst="rect">
              <a:avLst/>
            </a:prstGeom>
            <a:noFill/>
          </p:spPr>
          <p:txBody>
            <a:bodyPr wrap="none" rtlCol="0">
              <a:spAutoFit/>
            </a:bodyPr>
            <a:lstStyle/>
            <a:p>
              <a:r>
                <a:rPr lang="en-US" b="1" dirty="0">
                  <a:solidFill>
                    <a:schemeClr val="tx2">
                      <a:lumMod val="60000"/>
                      <a:lumOff val="40000"/>
                    </a:schemeClr>
                  </a:solidFill>
                </a:rPr>
                <a:t>501c3</a:t>
              </a:r>
            </a:p>
          </p:txBody>
        </p:sp>
        <p:sp>
          <p:nvSpPr>
            <p:cNvPr id="27" name="TextBox 26">
              <a:extLst>
                <a:ext uri="{FF2B5EF4-FFF2-40B4-BE49-F238E27FC236}">
                  <a16:creationId xmlns:a16="http://schemas.microsoft.com/office/drawing/2014/main" id="{3F8E2B82-470F-3250-D9A6-E178117B3DDD}"/>
                </a:ext>
              </a:extLst>
            </p:cNvPr>
            <p:cNvSpPr txBox="1"/>
            <p:nvPr/>
          </p:nvSpPr>
          <p:spPr>
            <a:xfrm>
              <a:off x="4997116" y="2835231"/>
              <a:ext cx="426720" cy="369332"/>
            </a:xfrm>
            <a:prstGeom prst="rect">
              <a:avLst/>
            </a:prstGeom>
            <a:noFill/>
          </p:spPr>
          <p:txBody>
            <a:bodyPr wrap="none" rtlCol="0">
              <a:spAutoFit/>
            </a:bodyPr>
            <a:lstStyle/>
            <a:p>
              <a:r>
                <a:rPr lang="en-US" b="1" dirty="0">
                  <a:solidFill>
                    <a:schemeClr val="tx2">
                      <a:lumMod val="60000"/>
                      <a:lumOff val="40000"/>
                    </a:schemeClr>
                  </a:solidFill>
                </a:rPr>
                <a:t>PZ</a:t>
              </a:r>
            </a:p>
          </p:txBody>
        </p:sp>
        <p:pic>
          <p:nvPicPr>
            <p:cNvPr id="28" name="Graphic 27" descr="Database with solid fill">
              <a:extLst>
                <a:ext uri="{FF2B5EF4-FFF2-40B4-BE49-F238E27FC236}">
                  <a16:creationId xmlns:a16="http://schemas.microsoft.com/office/drawing/2014/main" id="{146CE510-2ABF-DEEA-0E98-902FA810F0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58467" y="3320823"/>
              <a:ext cx="549442" cy="549442"/>
            </a:xfrm>
            <a:prstGeom prst="rect">
              <a:avLst/>
            </a:prstGeom>
          </p:spPr>
        </p:pic>
        <p:pic>
          <p:nvPicPr>
            <p:cNvPr id="29" name="Graphic 28" descr="Database with solid fill">
              <a:extLst>
                <a:ext uri="{FF2B5EF4-FFF2-40B4-BE49-F238E27FC236}">
                  <a16:creationId xmlns:a16="http://schemas.microsoft.com/office/drawing/2014/main" id="{B9C5067A-D6CD-43F5-BD06-D8D80255AEE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15730" y="3320823"/>
              <a:ext cx="549442" cy="549442"/>
            </a:xfrm>
            <a:prstGeom prst="rect">
              <a:avLst/>
            </a:prstGeom>
          </p:spPr>
        </p:pic>
        <p:pic>
          <p:nvPicPr>
            <p:cNvPr id="30" name="Graphic 29" descr="Database with solid fill">
              <a:extLst>
                <a:ext uri="{FF2B5EF4-FFF2-40B4-BE49-F238E27FC236}">
                  <a16:creationId xmlns:a16="http://schemas.microsoft.com/office/drawing/2014/main" id="{E714BA08-75F6-64C0-106C-F5A3664D2E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12610" y="3320823"/>
              <a:ext cx="549442" cy="549442"/>
            </a:xfrm>
            <a:prstGeom prst="rect">
              <a:avLst/>
            </a:prstGeom>
          </p:spPr>
        </p:pic>
        <p:sp>
          <p:nvSpPr>
            <p:cNvPr id="31" name="TextBox 30">
              <a:extLst>
                <a:ext uri="{FF2B5EF4-FFF2-40B4-BE49-F238E27FC236}">
                  <a16:creationId xmlns:a16="http://schemas.microsoft.com/office/drawing/2014/main" id="{C4B2B642-79A2-032B-D0F7-25F96D57A69D}"/>
                </a:ext>
              </a:extLst>
            </p:cNvPr>
            <p:cNvSpPr txBox="1"/>
            <p:nvPr/>
          </p:nvSpPr>
          <p:spPr>
            <a:xfrm>
              <a:off x="5009025" y="3443039"/>
              <a:ext cx="429926" cy="369332"/>
            </a:xfrm>
            <a:prstGeom prst="rect">
              <a:avLst/>
            </a:prstGeom>
            <a:noFill/>
          </p:spPr>
          <p:txBody>
            <a:bodyPr wrap="none" rtlCol="0">
              <a:spAutoFit/>
            </a:bodyPr>
            <a:lstStyle/>
            <a:p>
              <a:r>
                <a:rPr lang="en-US" b="1" dirty="0">
                  <a:solidFill>
                    <a:schemeClr val="tx2">
                      <a:lumMod val="60000"/>
                      <a:lumOff val="40000"/>
                    </a:schemeClr>
                  </a:solidFill>
                </a:rPr>
                <a:t>PC</a:t>
              </a:r>
            </a:p>
          </p:txBody>
        </p:sp>
        <p:sp>
          <p:nvSpPr>
            <p:cNvPr id="32" name="TextBox 31">
              <a:extLst>
                <a:ext uri="{FF2B5EF4-FFF2-40B4-BE49-F238E27FC236}">
                  <a16:creationId xmlns:a16="http://schemas.microsoft.com/office/drawing/2014/main" id="{BD8CAFEA-7FF6-DB7B-EFD3-EB8D52FE1A02}"/>
                </a:ext>
              </a:extLst>
            </p:cNvPr>
            <p:cNvSpPr txBox="1"/>
            <p:nvPr/>
          </p:nvSpPr>
          <p:spPr>
            <a:xfrm>
              <a:off x="6260312" y="3992663"/>
              <a:ext cx="758541" cy="369332"/>
            </a:xfrm>
            <a:prstGeom prst="rect">
              <a:avLst/>
            </a:prstGeom>
            <a:noFill/>
          </p:spPr>
          <p:txBody>
            <a:bodyPr wrap="none" rtlCol="0">
              <a:spAutoFit/>
            </a:bodyPr>
            <a:lstStyle/>
            <a:p>
              <a:r>
                <a:rPr lang="en-US" b="1" dirty="0">
                  <a:solidFill>
                    <a:schemeClr val="tx2">
                      <a:lumMod val="60000"/>
                      <a:lumOff val="40000"/>
                    </a:schemeClr>
                  </a:solidFill>
                </a:rPr>
                <a:t>501cX</a:t>
              </a:r>
            </a:p>
          </p:txBody>
        </p:sp>
        <p:sp>
          <p:nvSpPr>
            <p:cNvPr id="33" name="TextBox 32">
              <a:extLst>
                <a:ext uri="{FF2B5EF4-FFF2-40B4-BE49-F238E27FC236}">
                  <a16:creationId xmlns:a16="http://schemas.microsoft.com/office/drawing/2014/main" id="{AD8D7D66-04AD-B0D1-5C34-C9DD61E2765E}"/>
                </a:ext>
              </a:extLst>
            </p:cNvPr>
            <p:cNvSpPr txBox="1"/>
            <p:nvPr/>
          </p:nvSpPr>
          <p:spPr>
            <a:xfrm>
              <a:off x="7159607" y="3992663"/>
              <a:ext cx="502445" cy="369332"/>
            </a:xfrm>
            <a:prstGeom prst="rect">
              <a:avLst/>
            </a:prstGeom>
            <a:noFill/>
          </p:spPr>
          <p:txBody>
            <a:bodyPr wrap="none" rtlCol="0">
              <a:spAutoFit/>
            </a:bodyPr>
            <a:lstStyle/>
            <a:p>
              <a:r>
                <a:rPr lang="en-US" b="1" dirty="0">
                  <a:solidFill>
                    <a:schemeClr val="tx2">
                      <a:lumMod val="60000"/>
                      <a:lumOff val="40000"/>
                    </a:schemeClr>
                  </a:solidFill>
                </a:rPr>
                <a:t>PFs</a:t>
              </a:r>
            </a:p>
          </p:txBody>
        </p:sp>
      </p:grpSp>
      <p:grpSp>
        <p:nvGrpSpPr>
          <p:cNvPr id="34" name="Group 33">
            <a:extLst>
              <a:ext uri="{FF2B5EF4-FFF2-40B4-BE49-F238E27FC236}">
                <a16:creationId xmlns:a16="http://schemas.microsoft.com/office/drawing/2014/main" id="{D0E6B32E-536B-E884-9D98-AA259B7DD07E}"/>
              </a:ext>
            </a:extLst>
          </p:cNvPr>
          <p:cNvGrpSpPr/>
          <p:nvPr/>
        </p:nvGrpSpPr>
        <p:grpSpPr>
          <a:xfrm>
            <a:off x="4948135" y="4113361"/>
            <a:ext cx="3136116" cy="2214138"/>
            <a:chOff x="4997116" y="2147857"/>
            <a:chExt cx="3136116" cy="2214138"/>
          </a:xfrm>
        </p:grpSpPr>
        <p:sp>
          <p:nvSpPr>
            <p:cNvPr id="35" name="TextBox 34">
              <a:extLst>
                <a:ext uri="{FF2B5EF4-FFF2-40B4-BE49-F238E27FC236}">
                  <a16:creationId xmlns:a16="http://schemas.microsoft.com/office/drawing/2014/main" id="{950DCAEF-9ABA-819B-0963-D69BDDBECE7C}"/>
                </a:ext>
              </a:extLst>
            </p:cNvPr>
            <p:cNvSpPr txBox="1"/>
            <p:nvPr/>
          </p:nvSpPr>
          <p:spPr>
            <a:xfrm>
              <a:off x="5423836" y="2147857"/>
              <a:ext cx="2709396" cy="400110"/>
            </a:xfrm>
            <a:prstGeom prst="rect">
              <a:avLst/>
            </a:prstGeom>
            <a:noFill/>
          </p:spPr>
          <p:txBody>
            <a:bodyPr wrap="none" rtlCol="0">
              <a:spAutoFit/>
            </a:bodyPr>
            <a:lstStyle/>
            <a:p>
              <a:r>
                <a:rPr lang="en-US" sz="2000" b="1" cap="all" dirty="0">
                  <a:solidFill>
                    <a:schemeClr val="tx2">
                      <a:lumMod val="60000"/>
                      <a:lumOff val="40000"/>
                    </a:schemeClr>
                  </a:solidFill>
                  <a:latin typeface="Arial" panose="020B0604020202020204" pitchFamily="34" charset="0"/>
                </a:rPr>
                <a:t>Core 2004 Legacy</a:t>
              </a:r>
            </a:p>
          </p:txBody>
        </p:sp>
        <p:pic>
          <p:nvPicPr>
            <p:cNvPr id="36" name="Graphic 35" descr="Database with solid fill">
              <a:extLst>
                <a:ext uri="{FF2B5EF4-FFF2-40B4-BE49-F238E27FC236}">
                  <a16:creationId xmlns:a16="http://schemas.microsoft.com/office/drawing/2014/main" id="{E68B6BFB-D76F-08AF-DE1A-A6F7C7C818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46558" y="2713015"/>
              <a:ext cx="549442" cy="549442"/>
            </a:xfrm>
            <a:prstGeom prst="rect">
              <a:avLst/>
            </a:prstGeom>
          </p:spPr>
        </p:pic>
        <p:pic>
          <p:nvPicPr>
            <p:cNvPr id="37" name="Graphic 36" descr="Database with solid fill">
              <a:extLst>
                <a:ext uri="{FF2B5EF4-FFF2-40B4-BE49-F238E27FC236}">
                  <a16:creationId xmlns:a16="http://schemas.microsoft.com/office/drawing/2014/main" id="{90E4AEA5-B438-E8BB-9E94-E9804EBC8F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03821" y="2713015"/>
              <a:ext cx="549442" cy="549442"/>
            </a:xfrm>
            <a:prstGeom prst="rect">
              <a:avLst/>
            </a:prstGeom>
          </p:spPr>
        </p:pic>
        <p:pic>
          <p:nvPicPr>
            <p:cNvPr id="38" name="Graphic 37" descr="Database with solid fill">
              <a:extLst>
                <a:ext uri="{FF2B5EF4-FFF2-40B4-BE49-F238E27FC236}">
                  <a16:creationId xmlns:a16="http://schemas.microsoft.com/office/drawing/2014/main" id="{40911A6C-2374-B504-CDB3-51D34777CD4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00701" y="2713015"/>
              <a:ext cx="549442" cy="549442"/>
            </a:xfrm>
            <a:prstGeom prst="rect">
              <a:avLst/>
            </a:prstGeom>
          </p:spPr>
        </p:pic>
        <p:sp>
          <p:nvSpPr>
            <p:cNvPr id="39" name="TextBox 38">
              <a:extLst>
                <a:ext uri="{FF2B5EF4-FFF2-40B4-BE49-F238E27FC236}">
                  <a16:creationId xmlns:a16="http://schemas.microsoft.com/office/drawing/2014/main" id="{F5FF58B2-0782-CE18-C998-82AC2FF1E83B}"/>
                </a:ext>
              </a:extLst>
            </p:cNvPr>
            <p:cNvSpPr txBox="1"/>
            <p:nvPr/>
          </p:nvSpPr>
          <p:spPr>
            <a:xfrm>
              <a:off x="5458726" y="3992663"/>
              <a:ext cx="748923" cy="369332"/>
            </a:xfrm>
            <a:prstGeom prst="rect">
              <a:avLst/>
            </a:prstGeom>
            <a:noFill/>
          </p:spPr>
          <p:txBody>
            <a:bodyPr wrap="none" rtlCol="0">
              <a:spAutoFit/>
            </a:bodyPr>
            <a:lstStyle/>
            <a:p>
              <a:r>
                <a:rPr lang="en-US" b="1" dirty="0">
                  <a:solidFill>
                    <a:schemeClr val="tx2">
                      <a:lumMod val="60000"/>
                      <a:lumOff val="40000"/>
                    </a:schemeClr>
                  </a:solidFill>
                </a:rPr>
                <a:t>501c3</a:t>
              </a:r>
            </a:p>
          </p:txBody>
        </p:sp>
        <p:sp>
          <p:nvSpPr>
            <p:cNvPr id="40" name="TextBox 39">
              <a:extLst>
                <a:ext uri="{FF2B5EF4-FFF2-40B4-BE49-F238E27FC236}">
                  <a16:creationId xmlns:a16="http://schemas.microsoft.com/office/drawing/2014/main" id="{D3090771-87ED-099A-9EEC-38BEC8DE5698}"/>
                </a:ext>
              </a:extLst>
            </p:cNvPr>
            <p:cNvSpPr txBox="1"/>
            <p:nvPr/>
          </p:nvSpPr>
          <p:spPr>
            <a:xfrm>
              <a:off x="4997116" y="2835231"/>
              <a:ext cx="426720" cy="369332"/>
            </a:xfrm>
            <a:prstGeom prst="rect">
              <a:avLst/>
            </a:prstGeom>
            <a:noFill/>
          </p:spPr>
          <p:txBody>
            <a:bodyPr wrap="none" rtlCol="0">
              <a:spAutoFit/>
            </a:bodyPr>
            <a:lstStyle/>
            <a:p>
              <a:r>
                <a:rPr lang="en-US" b="1" dirty="0">
                  <a:solidFill>
                    <a:schemeClr val="tx2">
                      <a:lumMod val="60000"/>
                      <a:lumOff val="40000"/>
                    </a:schemeClr>
                  </a:solidFill>
                </a:rPr>
                <a:t>PZ</a:t>
              </a:r>
            </a:p>
          </p:txBody>
        </p:sp>
        <p:pic>
          <p:nvPicPr>
            <p:cNvPr id="41" name="Graphic 40" descr="Database with solid fill">
              <a:extLst>
                <a:ext uri="{FF2B5EF4-FFF2-40B4-BE49-F238E27FC236}">
                  <a16:creationId xmlns:a16="http://schemas.microsoft.com/office/drawing/2014/main" id="{C985D33D-0329-C761-F432-45181D7BA3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58467" y="3320823"/>
              <a:ext cx="549442" cy="549442"/>
            </a:xfrm>
            <a:prstGeom prst="rect">
              <a:avLst/>
            </a:prstGeom>
          </p:spPr>
        </p:pic>
        <p:pic>
          <p:nvPicPr>
            <p:cNvPr id="42" name="Graphic 41" descr="Database with solid fill">
              <a:extLst>
                <a:ext uri="{FF2B5EF4-FFF2-40B4-BE49-F238E27FC236}">
                  <a16:creationId xmlns:a16="http://schemas.microsoft.com/office/drawing/2014/main" id="{78480560-8216-57C1-E933-6D6BD5DC293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15730" y="3320823"/>
              <a:ext cx="549442" cy="549442"/>
            </a:xfrm>
            <a:prstGeom prst="rect">
              <a:avLst/>
            </a:prstGeom>
          </p:spPr>
        </p:pic>
        <p:pic>
          <p:nvPicPr>
            <p:cNvPr id="43" name="Graphic 42" descr="Database with solid fill">
              <a:extLst>
                <a:ext uri="{FF2B5EF4-FFF2-40B4-BE49-F238E27FC236}">
                  <a16:creationId xmlns:a16="http://schemas.microsoft.com/office/drawing/2014/main" id="{7D932C2A-66AD-3E93-AA78-1C22D2CE38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12610" y="3320823"/>
              <a:ext cx="549442" cy="549442"/>
            </a:xfrm>
            <a:prstGeom prst="rect">
              <a:avLst/>
            </a:prstGeom>
          </p:spPr>
        </p:pic>
        <p:sp>
          <p:nvSpPr>
            <p:cNvPr id="44" name="TextBox 43">
              <a:extLst>
                <a:ext uri="{FF2B5EF4-FFF2-40B4-BE49-F238E27FC236}">
                  <a16:creationId xmlns:a16="http://schemas.microsoft.com/office/drawing/2014/main" id="{D56CF227-1807-84B6-17AC-670F35C29150}"/>
                </a:ext>
              </a:extLst>
            </p:cNvPr>
            <p:cNvSpPr txBox="1"/>
            <p:nvPr/>
          </p:nvSpPr>
          <p:spPr>
            <a:xfrm>
              <a:off x="5009025" y="3443039"/>
              <a:ext cx="429926" cy="369332"/>
            </a:xfrm>
            <a:prstGeom prst="rect">
              <a:avLst/>
            </a:prstGeom>
            <a:noFill/>
          </p:spPr>
          <p:txBody>
            <a:bodyPr wrap="none" rtlCol="0">
              <a:spAutoFit/>
            </a:bodyPr>
            <a:lstStyle/>
            <a:p>
              <a:r>
                <a:rPr lang="en-US" b="1" dirty="0">
                  <a:solidFill>
                    <a:schemeClr val="tx2">
                      <a:lumMod val="60000"/>
                      <a:lumOff val="40000"/>
                    </a:schemeClr>
                  </a:solidFill>
                </a:rPr>
                <a:t>PC</a:t>
              </a:r>
            </a:p>
          </p:txBody>
        </p:sp>
        <p:sp>
          <p:nvSpPr>
            <p:cNvPr id="45" name="TextBox 44">
              <a:extLst>
                <a:ext uri="{FF2B5EF4-FFF2-40B4-BE49-F238E27FC236}">
                  <a16:creationId xmlns:a16="http://schemas.microsoft.com/office/drawing/2014/main" id="{9686866B-8E25-E675-8D98-1D99B65B034F}"/>
                </a:ext>
              </a:extLst>
            </p:cNvPr>
            <p:cNvSpPr txBox="1"/>
            <p:nvPr/>
          </p:nvSpPr>
          <p:spPr>
            <a:xfrm>
              <a:off x="6260312" y="3992663"/>
              <a:ext cx="758541" cy="369332"/>
            </a:xfrm>
            <a:prstGeom prst="rect">
              <a:avLst/>
            </a:prstGeom>
            <a:noFill/>
          </p:spPr>
          <p:txBody>
            <a:bodyPr wrap="none" rtlCol="0">
              <a:spAutoFit/>
            </a:bodyPr>
            <a:lstStyle/>
            <a:p>
              <a:r>
                <a:rPr lang="en-US" b="1" dirty="0">
                  <a:solidFill>
                    <a:schemeClr val="tx2">
                      <a:lumMod val="60000"/>
                      <a:lumOff val="40000"/>
                    </a:schemeClr>
                  </a:solidFill>
                </a:rPr>
                <a:t>501cX</a:t>
              </a:r>
            </a:p>
          </p:txBody>
        </p:sp>
        <p:sp>
          <p:nvSpPr>
            <p:cNvPr id="46" name="TextBox 45">
              <a:extLst>
                <a:ext uri="{FF2B5EF4-FFF2-40B4-BE49-F238E27FC236}">
                  <a16:creationId xmlns:a16="http://schemas.microsoft.com/office/drawing/2014/main" id="{6B4CCF88-9AE6-EC3C-4414-3245740E50F1}"/>
                </a:ext>
              </a:extLst>
            </p:cNvPr>
            <p:cNvSpPr txBox="1"/>
            <p:nvPr/>
          </p:nvSpPr>
          <p:spPr>
            <a:xfrm>
              <a:off x="7159607" y="3992663"/>
              <a:ext cx="502445" cy="369332"/>
            </a:xfrm>
            <a:prstGeom prst="rect">
              <a:avLst/>
            </a:prstGeom>
            <a:noFill/>
          </p:spPr>
          <p:txBody>
            <a:bodyPr wrap="none" rtlCol="0">
              <a:spAutoFit/>
            </a:bodyPr>
            <a:lstStyle/>
            <a:p>
              <a:r>
                <a:rPr lang="en-US" b="1" dirty="0">
                  <a:solidFill>
                    <a:schemeClr val="tx2">
                      <a:lumMod val="60000"/>
                      <a:lumOff val="40000"/>
                    </a:schemeClr>
                  </a:solidFill>
                </a:rPr>
                <a:t>PFs</a:t>
              </a:r>
            </a:p>
          </p:txBody>
        </p:sp>
      </p:grpSp>
      <p:grpSp>
        <p:nvGrpSpPr>
          <p:cNvPr id="47" name="Group 46">
            <a:extLst>
              <a:ext uri="{FF2B5EF4-FFF2-40B4-BE49-F238E27FC236}">
                <a16:creationId xmlns:a16="http://schemas.microsoft.com/office/drawing/2014/main" id="{8A2474A8-7D88-F2C4-8EA1-0E6638F2FA02}"/>
              </a:ext>
            </a:extLst>
          </p:cNvPr>
          <p:cNvGrpSpPr/>
          <p:nvPr/>
        </p:nvGrpSpPr>
        <p:grpSpPr>
          <a:xfrm>
            <a:off x="8425629" y="4133550"/>
            <a:ext cx="3379451" cy="2201480"/>
            <a:chOff x="4985207" y="2160515"/>
            <a:chExt cx="3379451" cy="2201480"/>
          </a:xfrm>
        </p:grpSpPr>
        <p:sp>
          <p:nvSpPr>
            <p:cNvPr id="48" name="TextBox 47">
              <a:extLst>
                <a:ext uri="{FF2B5EF4-FFF2-40B4-BE49-F238E27FC236}">
                  <a16:creationId xmlns:a16="http://schemas.microsoft.com/office/drawing/2014/main" id="{A1FD2C1A-C559-517B-AEA0-2C0F46EF15C2}"/>
                </a:ext>
              </a:extLst>
            </p:cNvPr>
            <p:cNvSpPr txBox="1"/>
            <p:nvPr/>
          </p:nvSpPr>
          <p:spPr>
            <a:xfrm>
              <a:off x="4985207" y="2160515"/>
              <a:ext cx="3379451" cy="400110"/>
            </a:xfrm>
            <a:prstGeom prst="rect">
              <a:avLst/>
            </a:prstGeom>
            <a:noFill/>
          </p:spPr>
          <p:txBody>
            <a:bodyPr wrap="none" rtlCol="0">
              <a:spAutoFit/>
            </a:bodyPr>
            <a:lstStyle/>
            <a:p>
              <a:r>
                <a:rPr lang="en-US" sz="2000" b="1" cap="all" dirty="0">
                  <a:solidFill>
                    <a:schemeClr val="tx2">
                      <a:lumMod val="60000"/>
                      <a:lumOff val="40000"/>
                    </a:schemeClr>
                  </a:solidFill>
                  <a:latin typeface="Arial" panose="020B0604020202020204" pitchFamily="34" charset="0"/>
                </a:rPr>
                <a:t>Core 2004 HARMONIZED</a:t>
              </a:r>
            </a:p>
          </p:txBody>
        </p:sp>
        <p:pic>
          <p:nvPicPr>
            <p:cNvPr id="49" name="Graphic 48" descr="Database with solid fill">
              <a:extLst>
                <a:ext uri="{FF2B5EF4-FFF2-40B4-BE49-F238E27FC236}">
                  <a16:creationId xmlns:a16="http://schemas.microsoft.com/office/drawing/2014/main" id="{CB2F054C-B357-A085-C93D-DED949162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46558" y="2713015"/>
              <a:ext cx="549442" cy="549442"/>
            </a:xfrm>
            <a:prstGeom prst="rect">
              <a:avLst/>
            </a:prstGeom>
          </p:spPr>
        </p:pic>
        <p:pic>
          <p:nvPicPr>
            <p:cNvPr id="50" name="Graphic 49" descr="Database with solid fill">
              <a:extLst>
                <a:ext uri="{FF2B5EF4-FFF2-40B4-BE49-F238E27FC236}">
                  <a16:creationId xmlns:a16="http://schemas.microsoft.com/office/drawing/2014/main" id="{ED573E43-61B5-F82D-EF79-B188F32748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03821" y="2713015"/>
              <a:ext cx="549442" cy="549442"/>
            </a:xfrm>
            <a:prstGeom prst="rect">
              <a:avLst/>
            </a:prstGeom>
          </p:spPr>
        </p:pic>
        <p:pic>
          <p:nvPicPr>
            <p:cNvPr id="51" name="Graphic 50" descr="Database with solid fill">
              <a:extLst>
                <a:ext uri="{FF2B5EF4-FFF2-40B4-BE49-F238E27FC236}">
                  <a16:creationId xmlns:a16="http://schemas.microsoft.com/office/drawing/2014/main" id="{5FB43056-5637-078B-4F49-E5184614EE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00701" y="2713015"/>
              <a:ext cx="549442" cy="549442"/>
            </a:xfrm>
            <a:prstGeom prst="rect">
              <a:avLst/>
            </a:prstGeom>
          </p:spPr>
        </p:pic>
        <p:sp>
          <p:nvSpPr>
            <p:cNvPr id="52" name="TextBox 51">
              <a:extLst>
                <a:ext uri="{FF2B5EF4-FFF2-40B4-BE49-F238E27FC236}">
                  <a16:creationId xmlns:a16="http://schemas.microsoft.com/office/drawing/2014/main" id="{AF79C72A-5776-437C-0D4C-812203D2AB40}"/>
                </a:ext>
              </a:extLst>
            </p:cNvPr>
            <p:cNvSpPr txBox="1"/>
            <p:nvPr/>
          </p:nvSpPr>
          <p:spPr>
            <a:xfrm>
              <a:off x="5458726" y="3992663"/>
              <a:ext cx="748923" cy="369332"/>
            </a:xfrm>
            <a:prstGeom prst="rect">
              <a:avLst/>
            </a:prstGeom>
            <a:noFill/>
          </p:spPr>
          <p:txBody>
            <a:bodyPr wrap="none" rtlCol="0">
              <a:spAutoFit/>
            </a:bodyPr>
            <a:lstStyle/>
            <a:p>
              <a:r>
                <a:rPr lang="en-US" b="1" dirty="0">
                  <a:solidFill>
                    <a:schemeClr val="tx2">
                      <a:lumMod val="60000"/>
                      <a:lumOff val="40000"/>
                    </a:schemeClr>
                  </a:solidFill>
                </a:rPr>
                <a:t>501c3</a:t>
              </a:r>
            </a:p>
          </p:txBody>
        </p:sp>
        <p:sp>
          <p:nvSpPr>
            <p:cNvPr id="53" name="TextBox 52">
              <a:extLst>
                <a:ext uri="{FF2B5EF4-FFF2-40B4-BE49-F238E27FC236}">
                  <a16:creationId xmlns:a16="http://schemas.microsoft.com/office/drawing/2014/main" id="{589C0B40-93FA-D9BF-F026-0B3183FF7C78}"/>
                </a:ext>
              </a:extLst>
            </p:cNvPr>
            <p:cNvSpPr txBox="1"/>
            <p:nvPr/>
          </p:nvSpPr>
          <p:spPr>
            <a:xfrm>
              <a:off x="4997116" y="2835231"/>
              <a:ext cx="426720" cy="369332"/>
            </a:xfrm>
            <a:prstGeom prst="rect">
              <a:avLst/>
            </a:prstGeom>
            <a:noFill/>
          </p:spPr>
          <p:txBody>
            <a:bodyPr wrap="none" rtlCol="0">
              <a:spAutoFit/>
            </a:bodyPr>
            <a:lstStyle/>
            <a:p>
              <a:r>
                <a:rPr lang="en-US" b="1" dirty="0">
                  <a:solidFill>
                    <a:schemeClr val="tx2">
                      <a:lumMod val="60000"/>
                      <a:lumOff val="40000"/>
                    </a:schemeClr>
                  </a:solidFill>
                </a:rPr>
                <a:t>PZ</a:t>
              </a:r>
            </a:p>
          </p:txBody>
        </p:sp>
        <p:pic>
          <p:nvPicPr>
            <p:cNvPr id="54" name="Graphic 53" descr="Database with solid fill">
              <a:extLst>
                <a:ext uri="{FF2B5EF4-FFF2-40B4-BE49-F238E27FC236}">
                  <a16:creationId xmlns:a16="http://schemas.microsoft.com/office/drawing/2014/main" id="{1D42932E-058E-B646-E56C-0445E708C0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58467" y="3320823"/>
              <a:ext cx="549442" cy="549442"/>
            </a:xfrm>
            <a:prstGeom prst="rect">
              <a:avLst/>
            </a:prstGeom>
          </p:spPr>
        </p:pic>
        <p:pic>
          <p:nvPicPr>
            <p:cNvPr id="55" name="Graphic 54" descr="Database with solid fill">
              <a:extLst>
                <a:ext uri="{FF2B5EF4-FFF2-40B4-BE49-F238E27FC236}">
                  <a16:creationId xmlns:a16="http://schemas.microsoft.com/office/drawing/2014/main" id="{AC8AED55-C04B-AD91-6160-6059D88FC1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15730" y="3320823"/>
              <a:ext cx="549442" cy="549442"/>
            </a:xfrm>
            <a:prstGeom prst="rect">
              <a:avLst/>
            </a:prstGeom>
          </p:spPr>
        </p:pic>
        <p:pic>
          <p:nvPicPr>
            <p:cNvPr id="56" name="Graphic 55" descr="Database with solid fill">
              <a:extLst>
                <a:ext uri="{FF2B5EF4-FFF2-40B4-BE49-F238E27FC236}">
                  <a16:creationId xmlns:a16="http://schemas.microsoft.com/office/drawing/2014/main" id="{F93407A2-9913-2768-DF3B-12C32B4593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12610" y="3320823"/>
              <a:ext cx="549442" cy="549442"/>
            </a:xfrm>
            <a:prstGeom prst="rect">
              <a:avLst/>
            </a:prstGeom>
          </p:spPr>
        </p:pic>
        <p:sp>
          <p:nvSpPr>
            <p:cNvPr id="57" name="TextBox 56">
              <a:extLst>
                <a:ext uri="{FF2B5EF4-FFF2-40B4-BE49-F238E27FC236}">
                  <a16:creationId xmlns:a16="http://schemas.microsoft.com/office/drawing/2014/main" id="{4B7E9953-626A-193C-BF0D-DACCE87A0603}"/>
                </a:ext>
              </a:extLst>
            </p:cNvPr>
            <p:cNvSpPr txBox="1"/>
            <p:nvPr/>
          </p:nvSpPr>
          <p:spPr>
            <a:xfrm>
              <a:off x="5009025" y="3443039"/>
              <a:ext cx="429926" cy="369332"/>
            </a:xfrm>
            <a:prstGeom prst="rect">
              <a:avLst/>
            </a:prstGeom>
            <a:noFill/>
          </p:spPr>
          <p:txBody>
            <a:bodyPr wrap="none" rtlCol="0">
              <a:spAutoFit/>
            </a:bodyPr>
            <a:lstStyle/>
            <a:p>
              <a:r>
                <a:rPr lang="en-US" b="1" dirty="0">
                  <a:solidFill>
                    <a:schemeClr val="tx2">
                      <a:lumMod val="60000"/>
                      <a:lumOff val="40000"/>
                    </a:schemeClr>
                  </a:solidFill>
                </a:rPr>
                <a:t>PC</a:t>
              </a:r>
            </a:p>
          </p:txBody>
        </p:sp>
        <p:sp>
          <p:nvSpPr>
            <p:cNvPr id="58" name="TextBox 57">
              <a:extLst>
                <a:ext uri="{FF2B5EF4-FFF2-40B4-BE49-F238E27FC236}">
                  <a16:creationId xmlns:a16="http://schemas.microsoft.com/office/drawing/2014/main" id="{1442C9E3-381A-8403-9D40-71A32DA686A9}"/>
                </a:ext>
              </a:extLst>
            </p:cNvPr>
            <p:cNvSpPr txBox="1"/>
            <p:nvPr/>
          </p:nvSpPr>
          <p:spPr>
            <a:xfrm>
              <a:off x="6260312" y="3992663"/>
              <a:ext cx="758541" cy="369332"/>
            </a:xfrm>
            <a:prstGeom prst="rect">
              <a:avLst/>
            </a:prstGeom>
            <a:noFill/>
          </p:spPr>
          <p:txBody>
            <a:bodyPr wrap="none" rtlCol="0">
              <a:spAutoFit/>
            </a:bodyPr>
            <a:lstStyle/>
            <a:p>
              <a:r>
                <a:rPr lang="en-US" b="1" dirty="0">
                  <a:solidFill>
                    <a:schemeClr val="tx2">
                      <a:lumMod val="60000"/>
                      <a:lumOff val="40000"/>
                    </a:schemeClr>
                  </a:solidFill>
                </a:rPr>
                <a:t>501cX</a:t>
              </a:r>
            </a:p>
          </p:txBody>
        </p:sp>
        <p:sp>
          <p:nvSpPr>
            <p:cNvPr id="59" name="TextBox 58">
              <a:extLst>
                <a:ext uri="{FF2B5EF4-FFF2-40B4-BE49-F238E27FC236}">
                  <a16:creationId xmlns:a16="http://schemas.microsoft.com/office/drawing/2014/main" id="{E212B972-C75C-D9EF-49C5-F75428943614}"/>
                </a:ext>
              </a:extLst>
            </p:cNvPr>
            <p:cNvSpPr txBox="1"/>
            <p:nvPr/>
          </p:nvSpPr>
          <p:spPr>
            <a:xfrm>
              <a:off x="7159607" y="3992663"/>
              <a:ext cx="502445" cy="369332"/>
            </a:xfrm>
            <a:prstGeom prst="rect">
              <a:avLst/>
            </a:prstGeom>
            <a:noFill/>
          </p:spPr>
          <p:txBody>
            <a:bodyPr wrap="none" rtlCol="0">
              <a:spAutoFit/>
            </a:bodyPr>
            <a:lstStyle/>
            <a:p>
              <a:r>
                <a:rPr lang="en-US" b="1" dirty="0">
                  <a:solidFill>
                    <a:schemeClr val="tx2">
                      <a:lumMod val="60000"/>
                      <a:lumOff val="40000"/>
                    </a:schemeClr>
                  </a:solidFill>
                </a:rPr>
                <a:t>PFs</a:t>
              </a:r>
            </a:p>
          </p:txBody>
        </p:sp>
      </p:grpSp>
      <p:sp>
        <p:nvSpPr>
          <p:cNvPr id="60" name="Oval 59">
            <a:extLst>
              <a:ext uri="{FF2B5EF4-FFF2-40B4-BE49-F238E27FC236}">
                <a16:creationId xmlns:a16="http://schemas.microsoft.com/office/drawing/2014/main" id="{20670104-ACA0-5CDD-7D91-6B4B8FEE8B1B}"/>
              </a:ext>
            </a:extLst>
          </p:cNvPr>
          <p:cNvSpPr/>
          <p:nvPr/>
        </p:nvSpPr>
        <p:spPr>
          <a:xfrm>
            <a:off x="9628423" y="2687128"/>
            <a:ext cx="757263" cy="693767"/>
          </a:xfrm>
          <a:prstGeom prst="ellipse">
            <a:avLst/>
          </a:prstGeom>
          <a:noFill/>
          <a:ln w="34925">
            <a:solidFill>
              <a:srgbClr val="EC008B"/>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32261B7-AD33-C392-F5E8-E0C3B0BCA75E}"/>
              </a:ext>
            </a:extLst>
          </p:cNvPr>
          <p:cNvSpPr/>
          <p:nvPr/>
        </p:nvSpPr>
        <p:spPr>
          <a:xfrm>
            <a:off x="8039258" y="1397900"/>
            <a:ext cx="3629179" cy="693767"/>
          </a:xfrm>
          <a:prstGeom prst="ellipse">
            <a:avLst/>
          </a:prstGeom>
          <a:noFill/>
          <a:ln w="41275">
            <a:solidFill>
              <a:srgbClr val="FDBF1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B5DB1F44-1688-6831-1B60-FDBE5D1EFC18}"/>
              </a:ext>
            </a:extLst>
          </p:cNvPr>
          <p:cNvSpPr/>
          <p:nvPr/>
        </p:nvSpPr>
        <p:spPr>
          <a:xfrm>
            <a:off x="7860509" y="1226946"/>
            <a:ext cx="4068255" cy="5307821"/>
          </a:xfrm>
          <a:prstGeom prst="rect">
            <a:avLst/>
          </a:prstGeom>
          <a:noFill/>
          <a:ln w="44450">
            <a:solidFill>
              <a:srgbClr val="44AD3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3A5E59DB-BC41-BE1C-468F-565261952C3D}"/>
              </a:ext>
            </a:extLst>
          </p:cNvPr>
          <p:cNvSpPr/>
          <p:nvPr/>
        </p:nvSpPr>
        <p:spPr>
          <a:xfrm>
            <a:off x="4825413" y="680068"/>
            <a:ext cx="7255751" cy="6007100"/>
          </a:xfrm>
          <a:prstGeom prst="rect">
            <a:avLst/>
          </a:prstGeom>
          <a:noFill/>
          <a:ln w="41275">
            <a:solidFill>
              <a:srgbClr val="1696D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696D2"/>
              </a:solidFill>
            </a:endParaRPr>
          </a:p>
        </p:txBody>
      </p:sp>
      <p:sp>
        <p:nvSpPr>
          <p:cNvPr id="64" name="TextBox 63">
            <a:extLst>
              <a:ext uri="{FF2B5EF4-FFF2-40B4-BE49-F238E27FC236}">
                <a16:creationId xmlns:a16="http://schemas.microsoft.com/office/drawing/2014/main" id="{68DB2F9E-6575-DC4B-5497-3277F5C916C6}"/>
              </a:ext>
            </a:extLst>
          </p:cNvPr>
          <p:cNvSpPr txBox="1"/>
          <p:nvPr/>
        </p:nvSpPr>
        <p:spPr>
          <a:xfrm>
            <a:off x="479973" y="284799"/>
            <a:ext cx="3882274" cy="5632311"/>
          </a:xfrm>
          <a:prstGeom prst="rect">
            <a:avLst/>
          </a:prstGeom>
          <a:noFill/>
        </p:spPr>
        <p:txBody>
          <a:bodyPr wrap="square" rtlCol="0">
            <a:spAutoFit/>
          </a:bodyPr>
          <a:lstStyle/>
          <a:p>
            <a:pPr algn="ctr"/>
            <a:r>
              <a:rPr lang="en-US" b="1" dirty="0">
                <a:solidFill>
                  <a:srgbClr val="1F4E79"/>
                </a:solidFill>
                <a:latin typeface="Arial" panose="020B0604020202020204" pitchFamily="34" charset="0"/>
                <a:ea typeface="Roboto Mono" panose="00000009000000000000" pitchFamily="49" charset="0"/>
              </a:rPr>
              <a:t>Should you cite a data series, </a:t>
            </a:r>
            <a:br>
              <a:rPr lang="en-US" b="1" dirty="0">
                <a:solidFill>
                  <a:srgbClr val="1F4E79"/>
                </a:solidFill>
                <a:latin typeface="Arial" panose="020B0604020202020204" pitchFamily="34" charset="0"/>
                <a:ea typeface="Roboto Mono" panose="00000009000000000000" pitchFamily="49" charset="0"/>
              </a:rPr>
            </a:br>
            <a:r>
              <a:rPr lang="en-US" b="1" dirty="0">
                <a:solidFill>
                  <a:srgbClr val="1F4E79"/>
                </a:solidFill>
                <a:latin typeface="Arial" panose="020B0604020202020204" pitchFamily="34" charset="0"/>
                <a:ea typeface="Roboto Mono" panose="00000009000000000000" pitchFamily="49" charset="0"/>
              </a:rPr>
              <a:t>database, or table? </a:t>
            </a:r>
          </a:p>
          <a:p>
            <a:endParaRPr lang="en-US" b="1" dirty="0">
              <a:solidFill>
                <a:srgbClr val="1F4E79"/>
              </a:solidFill>
              <a:latin typeface="Arial" panose="020B0604020202020204" pitchFamily="34" charset="0"/>
              <a:ea typeface="Roboto Mono" panose="00000009000000000000" pitchFamily="49" charset="0"/>
            </a:endParaRPr>
          </a:p>
          <a:p>
            <a:r>
              <a:rPr lang="en-US" dirty="0">
                <a:solidFill>
                  <a:srgbClr val="1F4E79"/>
                </a:solidFill>
                <a:latin typeface="Arial" panose="020B0604020202020204" pitchFamily="34" charset="0"/>
                <a:ea typeface="Roboto Mono" panose="00000009000000000000" pitchFamily="49" charset="0"/>
              </a:rPr>
              <a:t>Data has time dimensions (annual waves), different tables for different orgs, and multiple versions. </a:t>
            </a:r>
          </a:p>
          <a:p>
            <a:endParaRPr lang="en-US" dirty="0">
              <a:latin typeface="+mj-lt"/>
              <a:ea typeface="Roboto Mono" panose="00000009000000000000" pitchFamily="49" charset="0"/>
            </a:endParaRPr>
          </a:p>
          <a:p>
            <a:pPr marL="285750" indent="-285750">
              <a:buFont typeface="Arial" panose="020B0604020202020204" pitchFamily="34" charset="0"/>
              <a:buChar char="•"/>
            </a:pPr>
            <a:r>
              <a:rPr lang="en-US" b="1" dirty="0">
                <a:solidFill>
                  <a:schemeClr val="tx2">
                    <a:lumMod val="60000"/>
                    <a:lumOff val="40000"/>
                  </a:schemeClr>
                </a:solidFill>
                <a:latin typeface="+mj-lt"/>
                <a:ea typeface="Roboto Mono" panose="00000009000000000000" pitchFamily="49" charset="0"/>
              </a:rPr>
              <a:t>NCCS Data, downloaded in 2024</a:t>
            </a:r>
            <a:br>
              <a:rPr lang="en-US" b="1" dirty="0">
                <a:solidFill>
                  <a:schemeClr val="tx2">
                    <a:lumMod val="60000"/>
                    <a:lumOff val="40000"/>
                  </a:schemeClr>
                </a:solidFill>
                <a:latin typeface="+mj-lt"/>
                <a:ea typeface="Roboto Mono" panose="00000009000000000000" pitchFamily="49" charset="0"/>
              </a:rPr>
            </a:br>
            <a:r>
              <a:rPr lang="en-US" b="1" dirty="0">
                <a:solidFill>
                  <a:schemeClr val="tx2">
                    <a:lumMod val="60000"/>
                    <a:lumOff val="40000"/>
                  </a:schemeClr>
                </a:solidFill>
                <a:latin typeface="+mj-lt"/>
                <a:ea typeface="Roboto Mono" panose="00000009000000000000" pitchFamily="49" charset="0"/>
              </a:rPr>
              <a:t>(typical, but not helpful)</a:t>
            </a:r>
            <a:br>
              <a:rPr lang="en-US" dirty="0">
                <a:latin typeface="+mj-lt"/>
                <a:ea typeface="Roboto Mono" panose="00000009000000000000" pitchFamily="49" charset="0"/>
              </a:rPr>
            </a:br>
            <a:endParaRPr lang="en-US" dirty="0">
              <a:latin typeface="+mj-lt"/>
              <a:ea typeface="Roboto Mono" panose="00000009000000000000" pitchFamily="49" charset="0"/>
            </a:endParaRPr>
          </a:p>
          <a:p>
            <a:pPr marL="285750" indent="-285750">
              <a:buFont typeface="Arial" panose="020B0604020202020204" pitchFamily="34" charset="0"/>
              <a:buChar char="•"/>
            </a:pPr>
            <a:r>
              <a:rPr lang="en-US" b="1" dirty="0">
                <a:solidFill>
                  <a:srgbClr val="1696D2"/>
                </a:solidFill>
                <a:latin typeface="+mj-lt"/>
                <a:ea typeface="Roboto Mono" panose="00000009000000000000" pitchFamily="49" charset="0"/>
              </a:rPr>
              <a:t>NCCS Core:   </a:t>
            </a:r>
            <a:r>
              <a:rPr lang="en-US" b="1" dirty="0" err="1">
                <a:solidFill>
                  <a:srgbClr val="1696D2"/>
                </a:solidFill>
                <a:latin typeface="+mj-lt"/>
                <a:ea typeface="Roboto Mono" panose="00000009000000000000" pitchFamily="49" charset="0"/>
              </a:rPr>
              <a:t>doi</a:t>
            </a:r>
            <a:r>
              <a:rPr lang="en-US" b="1" dirty="0">
                <a:solidFill>
                  <a:srgbClr val="1696D2"/>
                </a:solidFill>
                <a:latin typeface="+mj-lt"/>
                <a:ea typeface="Roboto Mono" panose="00000009000000000000" pitchFamily="49" charset="0"/>
              </a:rPr>
              <a:t>/xxx</a:t>
            </a:r>
            <a:br>
              <a:rPr lang="en-US" b="1" dirty="0">
                <a:latin typeface="+mj-lt"/>
                <a:ea typeface="Roboto Mono" panose="00000009000000000000" pitchFamily="49" charset="0"/>
              </a:rPr>
            </a:br>
            <a:endParaRPr lang="en-US" b="1" dirty="0">
              <a:latin typeface="+mj-lt"/>
              <a:ea typeface="Roboto Mono" panose="00000009000000000000" pitchFamily="49" charset="0"/>
            </a:endParaRPr>
          </a:p>
          <a:p>
            <a:pPr marL="285750" indent="-285750">
              <a:buFont typeface="Arial" panose="020B0604020202020204" pitchFamily="34" charset="0"/>
              <a:buChar char="•"/>
            </a:pPr>
            <a:r>
              <a:rPr lang="en-US" b="1" dirty="0">
                <a:solidFill>
                  <a:srgbClr val="44AD32"/>
                </a:solidFill>
                <a:latin typeface="+mj-lt"/>
                <a:ea typeface="Roboto Mono" panose="00000009000000000000" pitchFamily="49" charset="0"/>
              </a:rPr>
              <a:t>NCCS Core:   </a:t>
            </a:r>
            <a:r>
              <a:rPr lang="en-US" b="1" dirty="0" err="1">
                <a:solidFill>
                  <a:srgbClr val="44AD32"/>
                </a:solidFill>
                <a:latin typeface="+mj-lt"/>
                <a:ea typeface="Roboto Mono" panose="00000009000000000000" pitchFamily="49" charset="0"/>
              </a:rPr>
              <a:t>doi</a:t>
            </a:r>
            <a:r>
              <a:rPr lang="en-US" b="1" dirty="0">
                <a:solidFill>
                  <a:srgbClr val="44AD32"/>
                </a:solidFill>
                <a:latin typeface="+mj-lt"/>
                <a:ea typeface="Roboto Mono" panose="00000009000000000000" pitchFamily="49" charset="0"/>
              </a:rPr>
              <a:t>/xxx/V3.41 </a:t>
            </a:r>
            <a:br>
              <a:rPr lang="en-US" b="1" dirty="0">
                <a:latin typeface="+mj-lt"/>
                <a:ea typeface="Roboto Mono" panose="00000009000000000000" pitchFamily="49" charset="0"/>
              </a:rPr>
            </a:br>
            <a:endParaRPr lang="en-US" b="1" dirty="0">
              <a:latin typeface="+mj-lt"/>
              <a:ea typeface="Roboto Mono" panose="00000009000000000000" pitchFamily="49" charset="0"/>
            </a:endParaRPr>
          </a:p>
          <a:p>
            <a:pPr marL="285750" indent="-285750">
              <a:buFont typeface="Arial" panose="020B0604020202020204" pitchFamily="34" charset="0"/>
              <a:buChar char="•"/>
            </a:pPr>
            <a:r>
              <a:rPr lang="en-US" b="1" dirty="0">
                <a:solidFill>
                  <a:srgbClr val="FDBF11"/>
                </a:solidFill>
                <a:latin typeface="+mj-lt"/>
                <a:ea typeface="Roboto Mono" panose="00000009000000000000" pitchFamily="49" charset="0"/>
              </a:rPr>
              <a:t>NCCS Core:   </a:t>
            </a:r>
            <a:r>
              <a:rPr lang="en-US" b="1" dirty="0" err="1">
                <a:solidFill>
                  <a:srgbClr val="FDBF11"/>
                </a:solidFill>
                <a:latin typeface="+mj-lt"/>
                <a:ea typeface="Roboto Mono" panose="00000009000000000000" pitchFamily="49" charset="0"/>
              </a:rPr>
              <a:t>doi</a:t>
            </a:r>
            <a:r>
              <a:rPr lang="en-US" b="1" dirty="0">
                <a:solidFill>
                  <a:srgbClr val="FDBF11"/>
                </a:solidFill>
                <a:latin typeface="+mj-lt"/>
                <a:ea typeface="Roboto Mono" panose="00000009000000000000" pitchFamily="49" charset="0"/>
              </a:rPr>
              <a:t>/xxx/V3.41 (2003)</a:t>
            </a:r>
            <a:br>
              <a:rPr lang="en-US" b="1" dirty="0">
                <a:latin typeface="+mj-lt"/>
                <a:ea typeface="Roboto Mono" panose="00000009000000000000" pitchFamily="49" charset="0"/>
              </a:rPr>
            </a:br>
            <a:endParaRPr lang="en-US" b="1" dirty="0">
              <a:latin typeface="+mj-lt"/>
              <a:ea typeface="Roboto Mono" panose="00000009000000000000" pitchFamily="49" charset="0"/>
            </a:endParaRPr>
          </a:p>
          <a:p>
            <a:pPr marL="285750" indent="-285750">
              <a:buFont typeface="Arial" panose="020B0604020202020204" pitchFamily="34" charset="0"/>
              <a:buChar char="•"/>
            </a:pPr>
            <a:r>
              <a:rPr lang="en-US" b="1" dirty="0">
                <a:solidFill>
                  <a:srgbClr val="EC008B"/>
                </a:solidFill>
                <a:latin typeface="+mj-lt"/>
                <a:ea typeface="Roboto Mono" panose="00000009000000000000" pitchFamily="49" charset="0"/>
              </a:rPr>
              <a:t>NCCS Core:  </a:t>
            </a:r>
            <a:br>
              <a:rPr lang="en-US" b="1" dirty="0">
                <a:solidFill>
                  <a:srgbClr val="EC008B"/>
                </a:solidFill>
                <a:latin typeface="+mj-lt"/>
                <a:ea typeface="Roboto Mono" panose="00000009000000000000" pitchFamily="49" charset="0"/>
              </a:rPr>
            </a:br>
            <a:r>
              <a:rPr lang="en-US" b="1" dirty="0" err="1">
                <a:solidFill>
                  <a:srgbClr val="EC008B"/>
                </a:solidFill>
                <a:latin typeface="+mj-lt"/>
                <a:ea typeface="Roboto Mono" panose="00000009000000000000" pitchFamily="49" charset="0"/>
              </a:rPr>
              <a:t>doi</a:t>
            </a:r>
            <a:r>
              <a:rPr lang="en-US" b="1" dirty="0">
                <a:solidFill>
                  <a:srgbClr val="EC008B"/>
                </a:solidFill>
                <a:latin typeface="+mj-lt"/>
                <a:ea typeface="Roboto Mono" panose="00000009000000000000" pitchFamily="49" charset="0"/>
              </a:rPr>
              <a:t>/xxx/V3.41/PC-501cX-2003</a:t>
            </a:r>
            <a:br>
              <a:rPr lang="en-US" b="1" dirty="0">
                <a:solidFill>
                  <a:srgbClr val="EC008B"/>
                </a:solidFill>
                <a:latin typeface="+mj-lt"/>
                <a:ea typeface="Roboto Mono" panose="00000009000000000000" pitchFamily="49" charset="0"/>
              </a:rPr>
            </a:br>
            <a:endParaRPr lang="en-US" b="1" dirty="0">
              <a:solidFill>
                <a:srgbClr val="EC008B"/>
              </a:solidFill>
              <a:latin typeface="+mj-lt"/>
              <a:ea typeface="Roboto Mono" panose="00000009000000000000" pitchFamily="49" charset="0"/>
            </a:endParaRPr>
          </a:p>
          <a:p>
            <a:endParaRPr lang="en-US" b="1" dirty="0">
              <a:solidFill>
                <a:srgbClr val="EC008B"/>
              </a:solidFill>
              <a:latin typeface="+mj-lt"/>
              <a:ea typeface="Roboto Mono" panose="00000009000000000000" pitchFamily="49" charset="0"/>
            </a:endParaRPr>
          </a:p>
        </p:txBody>
      </p:sp>
      <p:sp>
        <p:nvSpPr>
          <p:cNvPr id="67" name="TextBox 66">
            <a:extLst>
              <a:ext uri="{FF2B5EF4-FFF2-40B4-BE49-F238E27FC236}">
                <a16:creationId xmlns:a16="http://schemas.microsoft.com/office/drawing/2014/main" id="{F00B6211-8E3F-247F-6330-E430D888051E}"/>
              </a:ext>
            </a:extLst>
          </p:cNvPr>
          <p:cNvSpPr txBox="1"/>
          <p:nvPr/>
        </p:nvSpPr>
        <p:spPr>
          <a:xfrm>
            <a:off x="721386" y="5681168"/>
            <a:ext cx="3122793" cy="923330"/>
          </a:xfrm>
          <a:prstGeom prst="rect">
            <a:avLst/>
          </a:prstGeom>
          <a:noFill/>
        </p:spPr>
        <p:txBody>
          <a:bodyPr wrap="square" rtlCol="0">
            <a:spAutoFit/>
          </a:bodyPr>
          <a:lstStyle/>
          <a:p>
            <a:pPr algn="ctr"/>
            <a:r>
              <a:rPr lang="en-US" cap="all" dirty="0">
                <a:solidFill>
                  <a:srgbClr val="1F4E79"/>
                </a:solidFill>
                <a:latin typeface="Arial" panose="020B0604020202020204" pitchFamily="34" charset="0"/>
                <a:ea typeface="Cascadia Mono Light" panose="020B0609020000020004" pitchFamily="49" charset="0"/>
                <a:cs typeface="Cascadia Mono Light" panose="020B0609020000020004" pitchFamily="49" charset="0"/>
              </a:rPr>
              <a:t>only the last version is reproducible in a workflow</a:t>
            </a:r>
          </a:p>
        </p:txBody>
      </p:sp>
      <p:sp>
        <p:nvSpPr>
          <p:cNvPr id="68" name="TextBox 67">
            <a:extLst>
              <a:ext uri="{FF2B5EF4-FFF2-40B4-BE49-F238E27FC236}">
                <a16:creationId xmlns:a16="http://schemas.microsoft.com/office/drawing/2014/main" id="{8DBDAE72-778A-3984-23A3-461907299161}"/>
              </a:ext>
            </a:extLst>
          </p:cNvPr>
          <p:cNvSpPr txBox="1"/>
          <p:nvPr/>
        </p:nvSpPr>
        <p:spPr>
          <a:xfrm>
            <a:off x="8699742" y="771871"/>
            <a:ext cx="2738250" cy="400110"/>
          </a:xfrm>
          <a:prstGeom prst="rect">
            <a:avLst/>
          </a:prstGeom>
          <a:noFill/>
        </p:spPr>
        <p:txBody>
          <a:bodyPr wrap="none" rtlCol="0">
            <a:spAutoFit/>
          </a:bodyPr>
          <a:lstStyle/>
          <a:p>
            <a:r>
              <a:rPr lang="en-US" sz="2000" b="1" cap="all" dirty="0">
                <a:solidFill>
                  <a:srgbClr val="44AD32"/>
                </a:solidFill>
                <a:latin typeface="Arial" panose="020B0604020202020204" pitchFamily="34" charset="0"/>
              </a:rPr>
              <a:t>Core HARMONIZED</a:t>
            </a:r>
          </a:p>
        </p:txBody>
      </p:sp>
      <p:sp>
        <p:nvSpPr>
          <p:cNvPr id="69" name="TextBox 68">
            <a:extLst>
              <a:ext uri="{FF2B5EF4-FFF2-40B4-BE49-F238E27FC236}">
                <a16:creationId xmlns:a16="http://schemas.microsoft.com/office/drawing/2014/main" id="{23997C45-B061-EED9-655E-A1E064B5A430}"/>
              </a:ext>
            </a:extLst>
          </p:cNvPr>
          <p:cNvSpPr txBox="1"/>
          <p:nvPr/>
        </p:nvSpPr>
        <p:spPr>
          <a:xfrm>
            <a:off x="5091924" y="223273"/>
            <a:ext cx="5673861" cy="400110"/>
          </a:xfrm>
          <a:prstGeom prst="rect">
            <a:avLst/>
          </a:prstGeom>
          <a:noFill/>
        </p:spPr>
        <p:txBody>
          <a:bodyPr wrap="none" rtlCol="0">
            <a:spAutoFit/>
          </a:bodyPr>
          <a:lstStyle/>
          <a:p>
            <a:r>
              <a:rPr lang="en-US" sz="2000" b="1" cap="all" dirty="0">
                <a:solidFill>
                  <a:srgbClr val="1696D2"/>
                </a:solidFill>
                <a:latin typeface="Arial" panose="020B0604020202020204" pitchFamily="34" charset="0"/>
              </a:rPr>
              <a:t>Example using NCCS Core data series</a:t>
            </a:r>
          </a:p>
        </p:txBody>
      </p:sp>
    </p:spTree>
    <p:extLst>
      <p:ext uri="{BB962C8B-B14F-4D97-AF65-F5344CB8AC3E}">
        <p14:creationId xmlns:p14="http://schemas.microsoft.com/office/powerpoint/2010/main" val="2232146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D9989-1C78-093B-9990-CC58F0DBB42B}"/>
              </a:ext>
            </a:extLst>
          </p:cNvPr>
          <p:cNvSpPr>
            <a:spLocks noGrp="1"/>
          </p:cNvSpPr>
          <p:nvPr>
            <p:ph type="title"/>
          </p:nvPr>
        </p:nvSpPr>
        <p:spPr>
          <a:xfrm>
            <a:off x="838200" y="98493"/>
            <a:ext cx="10515600" cy="1325563"/>
          </a:xfrm>
        </p:spPr>
        <p:txBody>
          <a:bodyPr>
            <a:normAutofit/>
          </a:bodyPr>
          <a:lstStyle/>
          <a:p>
            <a:r>
              <a:rPr lang="en-US" sz="3600" b="1" dirty="0">
                <a:solidFill>
                  <a:srgbClr val="3A4950"/>
                </a:solidFill>
                <a:latin typeface="Arial" panose="020B0604020202020204" pitchFamily="34" charset="0"/>
              </a:rPr>
              <a:t>LIFE-CYCLE of a research paper through DOI</a:t>
            </a:r>
            <a:r>
              <a:rPr lang="en-US" sz="3600" b="1" cap="none" dirty="0">
                <a:solidFill>
                  <a:srgbClr val="3A4950"/>
                </a:solidFill>
                <a:latin typeface="Arial" panose="020B0604020202020204" pitchFamily="34" charset="0"/>
              </a:rPr>
              <a:t>s</a:t>
            </a:r>
          </a:p>
        </p:txBody>
      </p:sp>
      <p:sp>
        <p:nvSpPr>
          <p:cNvPr id="7" name="TextBox 6">
            <a:extLst>
              <a:ext uri="{FF2B5EF4-FFF2-40B4-BE49-F238E27FC236}">
                <a16:creationId xmlns:a16="http://schemas.microsoft.com/office/drawing/2014/main" id="{A01BE37A-A6A5-CB34-0984-38FE68B80855}"/>
              </a:ext>
            </a:extLst>
          </p:cNvPr>
          <p:cNvSpPr txBox="1"/>
          <p:nvPr/>
        </p:nvSpPr>
        <p:spPr>
          <a:xfrm>
            <a:off x="4384564" y="2327710"/>
            <a:ext cx="992579" cy="646331"/>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White </a:t>
            </a:r>
          </a:p>
          <a:p>
            <a:pPr algn="ctr"/>
            <a:r>
              <a:rPr lang="en-US" b="1" cap="all" dirty="0">
                <a:solidFill>
                  <a:srgbClr val="1278A7"/>
                </a:solidFill>
                <a:latin typeface="Arial" panose="020B0604020202020204" pitchFamily="34" charset="0"/>
              </a:rPr>
              <a:t>Paper</a:t>
            </a:r>
          </a:p>
        </p:txBody>
      </p:sp>
      <p:sp>
        <p:nvSpPr>
          <p:cNvPr id="8" name="TextBox 7">
            <a:extLst>
              <a:ext uri="{FF2B5EF4-FFF2-40B4-BE49-F238E27FC236}">
                <a16:creationId xmlns:a16="http://schemas.microsoft.com/office/drawing/2014/main" id="{F89D5A91-6B75-1C38-E742-E9717171DA20}"/>
              </a:ext>
            </a:extLst>
          </p:cNvPr>
          <p:cNvSpPr txBox="1"/>
          <p:nvPr/>
        </p:nvSpPr>
        <p:spPr>
          <a:xfrm>
            <a:off x="5971947" y="2443906"/>
            <a:ext cx="1351653" cy="369332"/>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preprint</a:t>
            </a:r>
          </a:p>
        </p:txBody>
      </p:sp>
      <p:sp>
        <p:nvSpPr>
          <p:cNvPr id="9" name="TextBox 8">
            <a:extLst>
              <a:ext uri="{FF2B5EF4-FFF2-40B4-BE49-F238E27FC236}">
                <a16:creationId xmlns:a16="http://schemas.microsoft.com/office/drawing/2014/main" id="{823DB437-7931-943C-DD34-6FA776D241A2}"/>
              </a:ext>
            </a:extLst>
          </p:cNvPr>
          <p:cNvSpPr txBox="1"/>
          <p:nvPr/>
        </p:nvSpPr>
        <p:spPr>
          <a:xfrm>
            <a:off x="7977328" y="2327709"/>
            <a:ext cx="1723549" cy="646331"/>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published </a:t>
            </a:r>
          </a:p>
          <a:p>
            <a:pPr algn="ctr"/>
            <a:r>
              <a:rPr lang="en-US" b="1" cap="all" dirty="0">
                <a:solidFill>
                  <a:srgbClr val="1278A7"/>
                </a:solidFill>
                <a:latin typeface="Arial" panose="020B0604020202020204" pitchFamily="34" charset="0"/>
              </a:rPr>
              <a:t>manuscript</a:t>
            </a:r>
          </a:p>
        </p:txBody>
      </p:sp>
      <p:sp>
        <p:nvSpPr>
          <p:cNvPr id="10" name="TextBox 9">
            <a:extLst>
              <a:ext uri="{FF2B5EF4-FFF2-40B4-BE49-F238E27FC236}">
                <a16:creationId xmlns:a16="http://schemas.microsoft.com/office/drawing/2014/main" id="{004D8C6E-F61B-EE12-7CA0-B7C8857A8977}"/>
              </a:ext>
            </a:extLst>
          </p:cNvPr>
          <p:cNvSpPr txBox="1"/>
          <p:nvPr/>
        </p:nvSpPr>
        <p:spPr>
          <a:xfrm>
            <a:off x="10036225" y="2327709"/>
            <a:ext cx="1800493" cy="646331"/>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correction </a:t>
            </a:r>
          </a:p>
          <a:p>
            <a:pPr algn="ctr"/>
            <a:r>
              <a:rPr lang="en-US" b="1" cap="all" dirty="0">
                <a:solidFill>
                  <a:srgbClr val="1278A7"/>
                </a:solidFill>
                <a:latin typeface="Arial" panose="020B0604020202020204" pitchFamily="34" charset="0"/>
              </a:rPr>
              <a:t>issued</a:t>
            </a:r>
          </a:p>
        </p:txBody>
      </p:sp>
      <p:cxnSp>
        <p:nvCxnSpPr>
          <p:cNvPr id="12" name="Straight Arrow Connector 11">
            <a:extLst>
              <a:ext uri="{FF2B5EF4-FFF2-40B4-BE49-F238E27FC236}">
                <a16:creationId xmlns:a16="http://schemas.microsoft.com/office/drawing/2014/main" id="{5E3F854B-A5BA-F1D5-6AA0-753DC763E8B2}"/>
              </a:ext>
            </a:extLst>
          </p:cNvPr>
          <p:cNvCxnSpPr/>
          <p:nvPr/>
        </p:nvCxnSpPr>
        <p:spPr>
          <a:xfrm>
            <a:off x="5335185" y="2628572"/>
            <a:ext cx="537737" cy="0"/>
          </a:xfrm>
          <a:prstGeom prst="straightConnector1">
            <a:avLst/>
          </a:prstGeom>
          <a:ln w="508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B513E87-A446-9E0C-A7EC-E93E0F3AC171}"/>
              </a:ext>
            </a:extLst>
          </p:cNvPr>
          <p:cNvCxnSpPr/>
          <p:nvPr/>
        </p:nvCxnSpPr>
        <p:spPr>
          <a:xfrm>
            <a:off x="7438384" y="2628572"/>
            <a:ext cx="537737" cy="0"/>
          </a:xfrm>
          <a:prstGeom prst="straightConnector1">
            <a:avLst/>
          </a:prstGeom>
          <a:ln w="508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99A08CD-C371-1ED4-51E8-7504E3695127}"/>
              </a:ext>
            </a:extLst>
          </p:cNvPr>
          <p:cNvCxnSpPr/>
          <p:nvPr/>
        </p:nvCxnSpPr>
        <p:spPr>
          <a:xfrm>
            <a:off x="9672413" y="2650874"/>
            <a:ext cx="537737" cy="0"/>
          </a:xfrm>
          <a:prstGeom prst="straightConnector1">
            <a:avLst/>
          </a:prstGeom>
          <a:ln w="508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D299718-6159-4086-4826-CB64FDA5F9C8}"/>
              </a:ext>
            </a:extLst>
          </p:cNvPr>
          <p:cNvSpPr txBox="1"/>
          <p:nvPr/>
        </p:nvSpPr>
        <p:spPr>
          <a:xfrm>
            <a:off x="4631426" y="3028890"/>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V2</a:t>
            </a:r>
          </a:p>
        </p:txBody>
      </p:sp>
      <p:sp>
        <p:nvSpPr>
          <p:cNvPr id="16" name="TextBox 15">
            <a:extLst>
              <a:ext uri="{FF2B5EF4-FFF2-40B4-BE49-F238E27FC236}">
                <a16:creationId xmlns:a16="http://schemas.microsoft.com/office/drawing/2014/main" id="{2AFF4654-A9C0-32F6-3136-18E76A90E17A}"/>
              </a:ext>
            </a:extLst>
          </p:cNvPr>
          <p:cNvSpPr txBox="1"/>
          <p:nvPr/>
        </p:nvSpPr>
        <p:spPr>
          <a:xfrm>
            <a:off x="6398346" y="3028890"/>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V3</a:t>
            </a:r>
          </a:p>
        </p:txBody>
      </p:sp>
      <p:sp>
        <p:nvSpPr>
          <p:cNvPr id="17" name="TextBox 16">
            <a:extLst>
              <a:ext uri="{FF2B5EF4-FFF2-40B4-BE49-F238E27FC236}">
                <a16:creationId xmlns:a16="http://schemas.microsoft.com/office/drawing/2014/main" id="{2624A19D-6106-AF13-C19C-163DBCC596CC}"/>
              </a:ext>
            </a:extLst>
          </p:cNvPr>
          <p:cNvSpPr txBox="1"/>
          <p:nvPr/>
        </p:nvSpPr>
        <p:spPr>
          <a:xfrm>
            <a:off x="8589675" y="3028890"/>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V4</a:t>
            </a:r>
          </a:p>
        </p:txBody>
      </p:sp>
      <p:sp>
        <p:nvSpPr>
          <p:cNvPr id="18" name="TextBox 17">
            <a:extLst>
              <a:ext uri="{FF2B5EF4-FFF2-40B4-BE49-F238E27FC236}">
                <a16:creationId xmlns:a16="http://schemas.microsoft.com/office/drawing/2014/main" id="{ED1A0BE7-302E-5568-3BF8-18470917AC9F}"/>
              </a:ext>
            </a:extLst>
          </p:cNvPr>
          <p:cNvSpPr txBox="1"/>
          <p:nvPr/>
        </p:nvSpPr>
        <p:spPr>
          <a:xfrm>
            <a:off x="10668963" y="3028890"/>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V5</a:t>
            </a:r>
          </a:p>
        </p:txBody>
      </p:sp>
      <p:sp>
        <p:nvSpPr>
          <p:cNvPr id="19" name="TextBox 18">
            <a:extLst>
              <a:ext uri="{FF2B5EF4-FFF2-40B4-BE49-F238E27FC236}">
                <a16:creationId xmlns:a16="http://schemas.microsoft.com/office/drawing/2014/main" id="{5F6076C3-8777-6553-5462-A063A54A92AB}"/>
              </a:ext>
            </a:extLst>
          </p:cNvPr>
          <p:cNvSpPr txBox="1"/>
          <p:nvPr/>
        </p:nvSpPr>
        <p:spPr>
          <a:xfrm>
            <a:off x="1543611" y="1484103"/>
            <a:ext cx="8128802" cy="369332"/>
          </a:xfrm>
          <a:prstGeom prst="rect">
            <a:avLst/>
          </a:prstGeom>
          <a:noFill/>
        </p:spPr>
        <p:txBody>
          <a:bodyPr wrap="square" rtlCol="0">
            <a:spAutoFit/>
          </a:bodyPr>
          <a:lstStyle/>
          <a:p>
            <a:pPr algn="ctr"/>
            <a:r>
              <a:rPr lang="en-US" dirty="0">
                <a:solidFill>
                  <a:schemeClr val="tx1">
                    <a:lumMod val="50000"/>
                    <a:lumOff val="50000"/>
                  </a:schemeClr>
                </a:solidFill>
                <a:latin typeface="+mj-lt"/>
              </a:rPr>
              <a:t>Research has a life-cycle and products takes on different forms at different stages.</a:t>
            </a:r>
          </a:p>
        </p:txBody>
      </p:sp>
      <p:sp>
        <p:nvSpPr>
          <p:cNvPr id="20" name="TextBox 19">
            <a:extLst>
              <a:ext uri="{FF2B5EF4-FFF2-40B4-BE49-F238E27FC236}">
                <a16:creationId xmlns:a16="http://schemas.microsoft.com/office/drawing/2014/main" id="{12F6DBA5-259C-97EE-B9F4-3EC2A6A864FC}"/>
              </a:ext>
            </a:extLst>
          </p:cNvPr>
          <p:cNvSpPr txBox="1"/>
          <p:nvPr/>
        </p:nvSpPr>
        <p:spPr>
          <a:xfrm>
            <a:off x="1944789" y="2327709"/>
            <a:ext cx="1911614" cy="646331"/>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Pre-</a:t>
            </a:r>
            <a:br>
              <a:rPr lang="en-US" b="1" cap="all" dirty="0">
                <a:solidFill>
                  <a:srgbClr val="1278A7"/>
                </a:solidFill>
                <a:latin typeface="Arial" panose="020B0604020202020204" pitchFamily="34" charset="0"/>
              </a:rPr>
            </a:br>
            <a:r>
              <a:rPr lang="en-US" b="1" cap="all" dirty="0">
                <a:solidFill>
                  <a:srgbClr val="1278A7"/>
                </a:solidFill>
                <a:latin typeface="Arial" panose="020B0604020202020204" pitchFamily="34" charset="0"/>
              </a:rPr>
              <a:t>Registration</a:t>
            </a:r>
          </a:p>
        </p:txBody>
      </p:sp>
      <p:cxnSp>
        <p:nvCxnSpPr>
          <p:cNvPr id="21" name="Straight Arrow Connector 20">
            <a:extLst>
              <a:ext uri="{FF2B5EF4-FFF2-40B4-BE49-F238E27FC236}">
                <a16:creationId xmlns:a16="http://schemas.microsoft.com/office/drawing/2014/main" id="{A47A6CA6-199A-2C5D-C406-42DE5348B02A}"/>
              </a:ext>
            </a:extLst>
          </p:cNvPr>
          <p:cNvCxnSpPr/>
          <p:nvPr/>
        </p:nvCxnSpPr>
        <p:spPr>
          <a:xfrm>
            <a:off x="3758087" y="2628572"/>
            <a:ext cx="537737" cy="0"/>
          </a:xfrm>
          <a:prstGeom prst="straightConnector1">
            <a:avLst/>
          </a:prstGeom>
          <a:ln w="508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8BF7642-CE46-E661-C886-0841BE7FC3AC}"/>
              </a:ext>
            </a:extLst>
          </p:cNvPr>
          <p:cNvSpPr txBox="1"/>
          <p:nvPr/>
        </p:nvSpPr>
        <p:spPr>
          <a:xfrm>
            <a:off x="2584262" y="3028890"/>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V1</a:t>
            </a:r>
          </a:p>
        </p:txBody>
      </p:sp>
      <p:sp>
        <p:nvSpPr>
          <p:cNvPr id="26" name="TextBox 25">
            <a:extLst>
              <a:ext uri="{FF2B5EF4-FFF2-40B4-BE49-F238E27FC236}">
                <a16:creationId xmlns:a16="http://schemas.microsoft.com/office/drawing/2014/main" id="{23548B37-1109-88A4-9A5A-F2981A193269}"/>
              </a:ext>
            </a:extLst>
          </p:cNvPr>
          <p:cNvSpPr txBox="1"/>
          <p:nvPr/>
        </p:nvSpPr>
        <p:spPr>
          <a:xfrm>
            <a:off x="912324" y="4417917"/>
            <a:ext cx="5018049" cy="3323987"/>
          </a:xfrm>
          <a:prstGeom prst="rect">
            <a:avLst/>
          </a:prstGeom>
          <a:noFill/>
        </p:spPr>
        <p:txBody>
          <a:bodyPr wrap="square" numCol="2">
            <a:spAutoFit/>
          </a:bodyPr>
          <a:lstStyle/>
          <a:p>
            <a:r>
              <a:rPr lang="en-US" sz="1400" cap="all" dirty="0">
                <a:solidFill>
                  <a:srgbClr val="3A4950"/>
                </a:solidFill>
                <a:latin typeface="Arial" panose="020B0604020202020204" pitchFamily="34" charset="0"/>
              </a:rPr>
              <a:t>DOI databases use Dublin Core attributes to link DOI</a:t>
            </a:r>
            <a:r>
              <a:rPr lang="en-US" sz="1400" dirty="0">
                <a:solidFill>
                  <a:srgbClr val="3A4950"/>
                </a:solidFill>
                <a:latin typeface="Arial" panose="020B0604020202020204" pitchFamily="34" charset="0"/>
              </a:rPr>
              <a:t>s</a:t>
            </a:r>
            <a:br>
              <a:rPr lang="en-US" sz="1400" dirty="0">
                <a:solidFill>
                  <a:schemeClr val="tx1">
                    <a:lumMod val="50000"/>
                    <a:lumOff val="50000"/>
                  </a:schemeClr>
                </a:solidFill>
              </a:rPr>
            </a:br>
            <a:endParaRPr lang="en-US" sz="1400" dirty="0">
              <a:solidFill>
                <a:schemeClr val="tx1">
                  <a:lumMod val="50000"/>
                  <a:lumOff val="50000"/>
                </a:schemeClr>
              </a:solidFill>
            </a:endParaRPr>
          </a:p>
          <a:p>
            <a:pPr marL="285750" indent="-285750">
              <a:buFont typeface="Arial" panose="020B0604020202020204" pitchFamily="34" charset="0"/>
              <a:buChar char="•"/>
            </a:pPr>
            <a:r>
              <a:rPr lang="en-US" sz="1400" dirty="0">
                <a:solidFill>
                  <a:schemeClr val="tx1">
                    <a:lumMod val="50000"/>
                    <a:lumOff val="50000"/>
                  </a:schemeClr>
                </a:solidFill>
              </a:rPr>
              <a:t>Is Version Of</a:t>
            </a:r>
          </a:p>
          <a:p>
            <a:pPr marL="285750" indent="-285750">
              <a:buFont typeface="Arial" panose="020B0604020202020204" pitchFamily="34" charset="0"/>
              <a:buChar char="•"/>
            </a:pPr>
            <a:r>
              <a:rPr lang="en-US" sz="1400" dirty="0">
                <a:solidFill>
                  <a:schemeClr val="tx1">
                    <a:lumMod val="50000"/>
                    <a:lumOff val="50000"/>
                  </a:schemeClr>
                </a:solidFill>
              </a:rPr>
              <a:t>Has Version</a:t>
            </a:r>
          </a:p>
          <a:p>
            <a:pPr marL="285750" indent="-285750">
              <a:buFont typeface="Arial" panose="020B0604020202020204" pitchFamily="34" charset="0"/>
              <a:buChar char="•"/>
            </a:pPr>
            <a:r>
              <a:rPr lang="en-US" sz="1400" dirty="0">
                <a:solidFill>
                  <a:schemeClr val="tx1">
                    <a:lumMod val="50000"/>
                    <a:lumOff val="50000"/>
                  </a:schemeClr>
                </a:solidFill>
              </a:rPr>
              <a:t>Is Replaced By</a:t>
            </a:r>
          </a:p>
          <a:p>
            <a:pPr marL="285750" indent="-285750">
              <a:buFont typeface="Arial" panose="020B0604020202020204" pitchFamily="34" charset="0"/>
              <a:buChar char="•"/>
            </a:pPr>
            <a:r>
              <a:rPr lang="en-US" sz="1400" dirty="0">
                <a:solidFill>
                  <a:schemeClr val="tx1">
                    <a:lumMod val="50000"/>
                    <a:lumOff val="50000"/>
                  </a:schemeClr>
                </a:solidFill>
              </a:rPr>
              <a:t>Replaces</a:t>
            </a:r>
          </a:p>
          <a:p>
            <a:pPr marL="285750" indent="-285750">
              <a:buFont typeface="Arial" panose="020B0604020202020204" pitchFamily="34" charset="0"/>
              <a:buChar char="•"/>
            </a:pPr>
            <a:r>
              <a:rPr lang="en-US" sz="1400" dirty="0">
                <a:solidFill>
                  <a:schemeClr val="tx1">
                    <a:lumMod val="50000"/>
                    <a:lumOff val="50000"/>
                  </a:schemeClr>
                </a:solidFill>
              </a:rPr>
              <a:t>Is Required By</a:t>
            </a:r>
          </a:p>
          <a:p>
            <a:pPr marL="285750" indent="-285750">
              <a:buFont typeface="Arial" panose="020B0604020202020204" pitchFamily="34" charset="0"/>
              <a:buChar char="•"/>
            </a:pPr>
            <a:r>
              <a:rPr lang="en-US" sz="1400" dirty="0">
                <a:solidFill>
                  <a:schemeClr val="tx1">
                    <a:lumMod val="50000"/>
                    <a:lumOff val="50000"/>
                  </a:schemeClr>
                </a:solidFill>
              </a:rPr>
              <a:t>Requires</a:t>
            </a:r>
          </a:p>
          <a:p>
            <a:pPr marL="285750" indent="-285750">
              <a:buFont typeface="Arial" panose="020B0604020202020204" pitchFamily="34" charset="0"/>
              <a:buChar char="•"/>
            </a:pPr>
            <a:endParaRPr lang="en-US" sz="1400" dirty="0">
              <a:solidFill>
                <a:schemeClr val="tx1">
                  <a:lumMod val="50000"/>
                  <a:lumOff val="50000"/>
                </a:schemeClr>
              </a:solidFill>
            </a:endParaRPr>
          </a:p>
          <a:p>
            <a:pPr marL="285750" indent="-285750">
              <a:buFont typeface="Arial" panose="020B0604020202020204" pitchFamily="34" charset="0"/>
              <a:buChar char="•"/>
            </a:pPr>
            <a:endParaRPr lang="en-US" sz="1400" dirty="0">
              <a:solidFill>
                <a:schemeClr val="tx1">
                  <a:lumMod val="50000"/>
                  <a:lumOff val="50000"/>
                </a:schemeClr>
              </a:solidFill>
            </a:endParaRPr>
          </a:p>
          <a:p>
            <a:pPr marL="285750" indent="-285750">
              <a:buFont typeface="Arial" panose="020B0604020202020204" pitchFamily="34" charset="0"/>
              <a:buChar char="•"/>
            </a:pPr>
            <a:endParaRPr lang="en-US" sz="1400" dirty="0">
              <a:solidFill>
                <a:schemeClr val="tx1">
                  <a:lumMod val="50000"/>
                  <a:lumOff val="50000"/>
                </a:schemeClr>
              </a:solidFill>
            </a:endParaRPr>
          </a:p>
          <a:p>
            <a:pPr marL="285750" indent="-285750">
              <a:buFont typeface="Arial" panose="020B0604020202020204" pitchFamily="34" charset="0"/>
              <a:buChar char="•"/>
            </a:pPr>
            <a:endParaRPr lang="en-US" sz="1400" dirty="0">
              <a:solidFill>
                <a:schemeClr val="tx1">
                  <a:lumMod val="50000"/>
                  <a:lumOff val="50000"/>
                </a:schemeClr>
              </a:solidFill>
            </a:endParaRPr>
          </a:p>
          <a:p>
            <a:pPr marL="285750" indent="-285750">
              <a:buFont typeface="Arial" panose="020B0604020202020204" pitchFamily="34" charset="0"/>
              <a:buChar char="•"/>
            </a:pPr>
            <a:endParaRPr lang="en-US" sz="1400" dirty="0">
              <a:solidFill>
                <a:schemeClr val="tx1">
                  <a:lumMod val="50000"/>
                  <a:lumOff val="50000"/>
                </a:schemeClr>
              </a:solidFill>
            </a:endParaRPr>
          </a:p>
          <a:p>
            <a:pPr marL="285750" indent="-285750">
              <a:buFont typeface="Arial" panose="020B0604020202020204" pitchFamily="34" charset="0"/>
              <a:buChar char="•"/>
            </a:pPr>
            <a:endParaRPr lang="en-US" sz="1400" dirty="0">
              <a:solidFill>
                <a:schemeClr val="tx1">
                  <a:lumMod val="50000"/>
                  <a:lumOff val="50000"/>
                </a:schemeClr>
              </a:solidFill>
            </a:endParaRPr>
          </a:p>
          <a:p>
            <a:pPr marL="285750" indent="-285750">
              <a:buFont typeface="Arial" panose="020B0604020202020204" pitchFamily="34" charset="0"/>
              <a:buChar char="•"/>
            </a:pPr>
            <a:endParaRPr lang="en-US" sz="1400" dirty="0">
              <a:solidFill>
                <a:schemeClr val="tx1">
                  <a:lumMod val="50000"/>
                  <a:lumOff val="50000"/>
                </a:schemeClr>
              </a:solidFill>
            </a:endParaRPr>
          </a:p>
          <a:p>
            <a:pPr marL="285750" indent="-285750">
              <a:buFont typeface="Arial" panose="020B0604020202020204" pitchFamily="34" charset="0"/>
              <a:buChar char="•"/>
            </a:pPr>
            <a:endParaRPr lang="en-US" sz="1400" dirty="0">
              <a:solidFill>
                <a:schemeClr val="tx1">
                  <a:lumMod val="50000"/>
                  <a:lumOff val="50000"/>
                </a:schemeClr>
              </a:solidFill>
            </a:endParaRPr>
          </a:p>
          <a:p>
            <a:pPr marL="285750" indent="-285750">
              <a:buFont typeface="Arial" panose="020B0604020202020204" pitchFamily="34" charset="0"/>
              <a:buChar char="•"/>
            </a:pPr>
            <a:r>
              <a:rPr lang="en-US" sz="1400" dirty="0">
                <a:solidFill>
                  <a:schemeClr val="tx1">
                    <a:lumMod val="50000"/>
                    <a:lumOff val="50000"/>
                  </a:schemeClr>
                </a:solidFill>
              </a:rPr>
              <a:t>Is Part Of</a:t>
            </a:r>
          </a:p>
          <a:p>
            <a:pPr marL="285750" indent="-285750">
              <a:buFont typeface="Arial" panose="020B0604020202020204" pitchFamily="34" charset="0"/>
              <a:buChar char="•"/>
            </a:pPr>
            <a:r>
              <a:rPr lang="en-US" sz="1400" dirty="0">
                <a:solidFill>
                  <a:schemeClr val="tx1">
                    <a:lumMod val="50000"/>
                    <a:lumOff val="50000"/>
                  </a:schemeClr>
                </a:solidFill>
              </a:rPr>
              <a:t>Has Part</a:t>
            </a:r>
          </a:p>
          <a:p>
            <a:pPr marL="285750" indent="-285750">
              <a:buFont typeface="Arial" panose="020B0604020202020204" pitchFamily="34" charset="0"/>
              <a:buChar char="•"/>
            </a:pPr>
            <a:r>
              <a:rPr lang="en-US" sz="1400" dirty="0">
                <a:solidFill>
                  <a:schemeClr val="tx1">
                    <a:lumMod val="50000"/>
                    <a:lumOff val="50000"/>
                  </a:schemeClr>
                </a:solidFill>
              </a:rPr>
              <a:t>Is Referenced By</a:t>
            </a:r>
          </a:p>
          <a:p>
            <a:pPr marL="285750" indent="-285750">
              <a:buFont typeface="Arial" panose="020B0604020202020204" pitchFamily="34" charset="0"/>
              <a:buChar char="•"/>
            </a:pPr>
            <a:r>
              <a:rPr lang="en-US" sz="1400" dirty="0">
                <a:solidFill>
                  <a:schemeClr val="tx1">
                    <a:lumMod val="50000"/>
                    <a:lumOff val="50000"/>
                  </a:schemeClr>
                </a:solidFill>
              </a:rPr>
              <a:t>References</a:t>
            </a:r>
          </a:p>
          <a:p>
            <a:pPr marL="285750" indent="-285750">
              <a:buFont typeface="Arial" panose="020B0604020202020204" pitchFamily="34" charset="0"/>
              <a:buChar char="•"/>
            </a:pPr>
            <a:r>
              <a:rPr lang="en-US" sz="1400" dirty="0">
                <a:solidFill>
                  <a:schemeClr val="tx1">
                    <a:lumMod val="50000"/>
                    <a:lumOff val="50000"/>
                  </a:schemeClr>
                </a:solidFill>
              </a:rPr>
              <a:t>Is Format Of</a:t>
            </a:r>
          </a:p>
          <a:p>
            <a:pPr marL="285750" indent="-285750">
              <a:buFont typeface="Arial" panose="020B0604020202020204" pitchFamily="34" charset="0"/>
              <a:buChar char="•"/>
            </a:pPr>
            <a:r>
              <a:rPr lang="en-US" sz="1400" dirty="0">
                <a:solidFill>
                  <a:schemeClr val="tx1">
                    <a:lumMod val="50000"/>
                    <a:lumOff val="50000"/>
                  </a:schemeClr>
                </a:solidFill>
              </a:rPr>
              <a:t>Has Format</a:t>
            </a:r>
          </a:p>
          <a:p>
            <a:pPr marL="285750" indent="-285750">
              <a:buFont typeface="Arial" panose="020B0604020202020204" pitchFamily="34" charset="0"/>
              <a:buChar char="•"/>
            </a:pPr>
            <a:r>
              <a:rPr lang="en-US" sz="1400" dirty="0">
                <a:solidFill>
                  <a:schemeClr val="tx1">
                    <a:lumMod val="50000"/>
                    <a:lumOff val="50000"/>
                  </a:schemeClr>
                </a:solidFill>
              </a:rPr>
              <a:t>Conforms To</a:t>
            </a:r>
          </a:p>
        </p:txBody>
      </p:sp>
      <p:sp>
        <p:nvSpPr>
          <p:cNvPr id="27" name="TextBox 26">
            <a:extLst>
              <a:ext uri="{FF2B5EF4-FFF2-40B4-BE49-F238E27FC236}">
                <a16:creationId xmlns:a16="http://schemas.microsoft.com/office/drawing/2014/main" id="{4E884F41-D207-A3F7-16BD-2EAE0C164E65}"/>
              </a:ext>
            </a:extLst>
          </p:cNvPr>
          <p:cNvSpPr txBox="1"/>
          <p:nvPr/>
        </p:nvSpPr>
        <p:spPr>
          <a:xfrm>
            <a:off x="494692" y="2487189"/>
            <a:ext cx="1005404" cy="369332"/>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Grant</a:t>
            </a:r>
          </a:p>
        </p:txBody>
      </p:sp>
      <p:cxnSp>
        <p:nvCxnSpPr>
          <p:cNvPr id="28" name="Straight Arrow Connector 27">
            <a:extLst>
              <a:ext uri="{FF2B5EF4-FFF2-40B4-BE49-F238E27FC236}">
                <a16:creationId xmlns:a16="http://schemas.microsoft.com/office/drawing/2014/main" id="{ED7F85C8-96F8-96F2-0965-B0DEAE7D0999}"/>
              </a:ext>
            </a:extLst>
          </p:cNvPr>
          <p:cNvCxnSpPr/>
          <p:nvPr/>
        </p:nvCxnSpPr>
        <p:spPr>
          <a:xfrm>
            <a:off x="1405518" y="2650874"/>
            <a:ext cx="537737" cy="0"/>
          </a:xfrm>
          <a:prstGeom prst="straightConnector1">
            <a:avLst/>
          </a:prstGeom>
          <a:ln w="508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F4AEB60-0E0D-1380-319C-4430FE48148B}"/>
              </a:ext>
            </a:extLst>
          </p:cNvPr>
          <p:cNvSpPr txBox="1"/>
          <p:nvPr/>
        </p:nvSpPr>
        <p:spPr>
          <a:xfrm>
            <a:off x="814360" y="3028890"/>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V0</a:t>
            </a:r>
          </a:p>
        </p:txBody>
      </p:sp>
      <p:sp>
        <p:nvSpPr>
          <p:cNvPr id="30" name="TextBox 29">
            <a:extLst>
              <a:ext uri="{FF2B5EF4-FFF2-40B4-BE49-F238E27FC236}">
                <a16:creationId xmlns:a16="http://schemas.microsoft.com/office/drawing/2014/main" id="{95666DF9-2988-FE61-5731-1C0D2A51D72C}"/>
              </a:ext>
            </a:extLst>
          </p:cNvPr>
          <p:cNvSpPr txBox="1"/>
          <p:nvPr/>
        </p:nvSpPr>
        <p:spPr>
          <a:xfrm>
            <a:off x="5989767" y="4897717"/>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V0</a:t>
            </a:r>
          </a:p>
        </p:txBody>
      </p:sp>
      <p:sp>
        <p:nvSpPr>
          <p:cNvPr id="31" name="TextBox 30">
            <a:extLst>
              <a:ext uri="{FF2B5EF4-FFF2-40B4-BE49-F238E27FC236}">
                <a16:creationId xmlns:a16="http://schemas.microsoft.com/office/drawing/2014/main" id="{BCECBC3B-57F8-49A6-EA4A-D7242F44DAF4}"/>
              </a:ext>
            </a:extLst>
          </p:cNvPr>
          <p:cNvSpPr txBox="1"/>
          <p:nvPr/>
        </p:nvSpPr>
        <p:spPr>
          <a:xfrm>
            <a:off x="8179786" y="4620409"/>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V2</a:t>
            </a:r>
          </a:p>
        </p:txBody>
      </p:sp>
      <p:sp>
        <p:nvSpPr>
          <p:cNvPr id="32" name="TextBox 31">
            <a:extLst>
              <a:ext uri="{FF2B5EF4-FFF2-40B4-BE49-F238E27FC236}">
                <a16:creationId xmlns:a16="http://schemas.microsoft.com/office/drawing/2014/main" id="{8BD15C32-AA67-F5A2-3961-99CCEF3DB973}"/>
              </a:ext>
            </a:extLst>
          </p:cNvPr>
          <p:cNvSpPr txBox="1"/>
          <p:nvPr/>
        </p:nvSpPr>
        <p:spPr>
          <a:xfrm>
            <a:off x="8179786" y="5817750"/>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V3</a:t>
            </a:r>
          </a:p>
        </p:txBody>
      </p:sp>
      <p:sp>
        <p:nvSpPr>
          <p:cNvPr id="33" name="TextBox 32">
            <a:extLst>
              <a:ext uri="{FF2B5EF4-FFF2-40B4-BE49-F238E27FC236}">
                <a16:creationId xmlns:a16="http://schemas.microsoft.com/office/drawing/2014/main" id="{9930B607-0B6F-EC78-ADEA-8514EA2E8032}"/>
              </a:ext>
            </a:extLst>
          </p:cNvPr>
          <p:cNvSpPr txBox="1"/>
          <p:nvPr/>
        </p:nvSpPr>
        <p:spPr>
          <a:xfrm>
            <a:off x="10021346" y="5818427"/>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V4</a:t>
            </a:r>
          </a:p>
        </p:txBody>
      </p:sp>
      <p:sp>
        <p:nvSpPr>
          <p:cNvPr id="34" name="TextBox 33">
            <a:extLst>
              <a:ext uri="{FF2B5EF4-FFF2-40B4-BE49-F238E27FC236}">
                <a16:creationId xmlns:a16="http://schemas.microsoft.com/office/drawing/2014/main" id="{2F5D81C4-13DE-DBFB-436B-652DD828DE5A}"/>
              </a:ext>
            </a:extLst>
          </p:cNvPr>
          <p:cNvSpPr txBox="1"/>
          <p:nvPr/>
        </p:nvSpPr>
        <p:spPr>
          <a:xfrm>
            <a:off x="10008294" y="4618939"/>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V5</a:t>
            </a:r>
          </a:p>
        </p:txBody>
      </p:sp>
      <p:sp>
        <p:nvSpPr>
          <p:cNvPr id="35" name="TextBox 34">
            <a:extLst>
              <a:ext uri="{FF2B5EF4-FFF2-40B4-BE49-F238E27FC236}">
                <a16:creationId xmlns:a16="http://schemas.microsoft.com/office/drawing/2014/main" id="{9EBA6EB8-5DEE-DC07-4FD5-3AF1FFB09B62}"/>
              </a:ext>
            </a:extLst>
          </p:cNvPr>
          <p:cNvSpPr txBox="1"/>
          <p:nvPr/>
        </p:nvSpPr>
        <p:spPr>
          <a:xfrm>
            <a:off x="6024060" y="5843581"/>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V1</a:t>
            </a:r>
          </a:p>
        </p:txBody>
      </p:sp>
      <p:cxnSp>
        <p:nvCxnSpPr>
          <p:cNvPr id="36" name="Straight Arrow Connector 35">
            <a:extLst>
              <a:ext uri="{FF2B5EF4-FFF2-40B4-BE49-F238E27FC236}">
                <a16:creationId xmlns:a16="http://schemas.microsoft.com/office/drawing/2014/main" id="{82ED8760-F476-46EF-493E-0B309232D60F}"/>
              </a:ext>
            </a:extLst>
          </p:cNvPr>
          <p:cNvCxnSpPr>
            <a:cxnSpLocks/>
            <a:endCxn id="30" idx="3"/>
          </p:cNvCxnSpPr>
          <p:nvPr/>
        </p:nvCxnSpPr>
        <p:spPr>
          <a:xfrm flipH="1">
            <a:off x="6488622" y="5083702"/>
            <a:ext cx="1053968" cy="14070"/>
          </a:xfrm>
          <a:prstGeom prst="straightConnector1">
            <a:avLst/>
          </a:prstGeom>
          <a:ln w="381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CE04A8D-CC6A-E9C4-1CB0-CD587099D97E}"/>
              </a:ext>
            </a:extLst>
          </p:cNvPr>
          <p:cNvCxnSpPr>
            <a:cxnSpLocks/>
            <a:endCxn id="35" idx="3"/>
          </p:cNvCxnSpPr>
          <p:nvPr/>
        </p:nvCxnSpPr>
        <p:spPr>
          <a:xfrm flipH="1">
            <a:off x="6522915" y="6043636"/>
            <a:ext cx="995999" cy="0"/>
          </a:xfrm>
          <a:prstGeom prst="straightConnector1">
            <a:avLst/>
          </a:prstGeom>
          <a:ln w="381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0476D8A-D7B5-C9B3-6688-F45B23269821}"/>
              </a:ext>
            </a:extLst>
          </p:cNvPr>
          <p:cNvCxnSpPr>
            <a:cxnSpLocks/>
            <a:stCxn id="33" idx="1"/>
            <a:endCxn id="32" idx="3"/>
          </p:cNvCxnSpPr>
          <p:nvPr/>
        </p:nvCxnSpPr>
        <p:spPr>
          <a:xfrm flipH="1" flipV="1">
            <a:off x="8678641" y="6017805"/>
            <a:ext cx="1342705" cy="677"/>
          </a:xfrm>
          <a:prstGeom prst="straightConnector1">
            <a:avLst/>
          </a:prstGeom>
          <a:ln w="381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A5CBFF6-B527-A926-F365-4384EDC0FD38}"/>
              </a:ext>
            </a:extLst>
          </p:cNvPr>
          <p:cNvCxnSpPr>
            <a:cxnSpLocks/>
            <a:stCxn id="34" idx="2"/>
            <a:endCxn id="33" idx="0"/>
          </p:cNvCxnSpPr>
          <p:nvPr/>
        </p:nvCxnSpPr>
        <p:spPr>
          <a:xfrm>
            <a:off x="10257722" y="5019049"/>
            <a:ext cx="13052" cy="799378"/>
          </a:xfrm>
          <a:prstGeom prst="straightConnector1">
            <a:avLst/>
          </a:prstGeom>
          <a:ln w="381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E6C6588-1458-9755-C4FC-CAF96CA71E59}"/>
              </a:ext>
            </a:extLst>
          </p:cNvPr>
          <p:cNvSpPr txBox="1"/>
          <p:nvPr/>
        </p:nvSpPr>
        <p:spPr>
          <a:xfrm>
            <a:off x="6665108" y="5605408"/>
            <a:ext cx="870175" cy="338554"/>
          </a:xfrm>
          <a:prstGeom prst="rect">
            <a:avLst/>
          </a:prstGeom>
          <a:noFill/>
        </p:spPr>
        <p:txBody>
          <a:bodyPr wrap="none" rtlCol="0">
            <a:spAutoFit/>
          </a:bodyPr>
          <a:lstStyle/>
          <a:p>
            <a:r>
              <a:rPr lang="en-US" sz="1600" dirty="0">
                <a:solidFill>
                  <a:srgbClr val="1278A7"/>
                </a:solidFill>
                <a:ea typeface="Roboto Mono" panose="00000009000000000000" pitchFamily="49" charset="0"/>
                <a:cs typeface="Cascadia Mono Light" panose="020B0609020000020004" pitchFamily="49" charset="0"/>
              </a:rPr>
              <a:t>requires</a:t>
            </a:r>
          </a:p>
        </p:txBody>
      </p:sp>
      <p:sp>
        <p:nvSpPr>
          <p:cNvPr id="50" name="TextBox 49">
            <a:extLst>
              <a:ext uri="{FF2B5EF4-FFF2-40B4-BE49-F238E27FC236}">
                <a16:creationId xmlns:a16="http://schemas.microsoft.com/office/drawing/2014/main" id="{CC547559-6DD9-E81E-6856-646CAC37AC3F}"/>
              </a:ext>
            </a:extLst>
          </p:cNvPr>
          <p:cNvSpPr txBox="1"/>
          <p:nvPr/>
        </p:nvSpPr>
        <p:spPr>
          <a:xfrm>
            <a:off x="8918021" y="6167472"/>
            <a:ext cx="1181029" cy="338554"/>
          </a:xfrm>
          <a:prstGeom prst="rect">
            <a:avLst/>
          </a:prstGeom>
          <a:noFill/>
        </p:spPr>
        <p:txBody>
          <a:bodyPr wrap="none" rtlCol="0">
            <a:spAutoFit/>
          </a:bodyPr>
          <a:lstStyle/>
          <a:p>
            <a:r>
              <a:rPr lang="en-US" sz="1600" dirty="0">
                <a:solidFill>
                  <a:srgbClr val="1278A7"/>
                </a:solidFill>
                <a:ea typeface="Roboto Mono" panose="00000009000000000000" pitchFamily="49" charset="0"/>
                <a:cs typeface="Cascadia Mono Light" panose="020B0609020000020004" pitchFamily="49" charset="0"/>
              </a:rPr>
              <a:t>is version of</a:t>
            </a:r>
          </a:p>
        </p:txBody>
      </p:sp>
      <p:cxnSp>
        <p:nvCxnSpPr>
          <p:cNvPr id="54" name="Straight Arrow Connector 53">
            <a:extLst>
              <a:ext uri="{FF2B5EF4-FFF2-40B4-BE49-F238E27FC236}">
                <a16:creationId xmlns:a16="http://schemas.microsoft.com/office/drawing/2014/main" id="{6665B6B3-8229-4F37-25C8-B3062250E99D}"/>
              </a:ext>
            </a:extLst>
          </p:cNvPr>
          <p:cNvCxnSpPr>
            <a:cxnSpLocks/>
            <a:stCxn id="32" idx="0"/>
            <a:endCxn id="31" idx="2"/>
          </p:cNvCxnSpPr>
          <p:nvPr/>
        </p:nvCxnSpPr>
        <p:spPr>
          <a:xfrm flipV="1">
            <a:off x="8429214" y="5020519"/>
            <a:ext cx="0" cy="797231"/>
          </a:xfrm>
          <a:prstGeom prst="straightConnector1">
            <a:avLst/>
          </a:prstGeom>
          <a:ln w="381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CAB077B9-2F27-58C3-2E58-CDF464920E70}"/>
              </a:ext>
            </a:extLst>
          </p:cNvPr>
          <p:cNvSpPr txBox="1"/>
          <p:nvPr/>
        </p:nvSpPr>
        <p:spPr>
          <a:xfrm>
            <a:off x="8552890" y="5234703"/>
            <a:ext cx="1181029" cy="338554"/>
          </a:xfrm>
          <a:prstGeom prst="rect">
            <a:avLst/>
          </a:prstGeom>
          <a:noFill/>
        </p:spPr>
        <p:txBody>
          <a:bodyPr wrap="none" rtlCol="0">
            <a:spAutoFit/>
          </a:bodyPr>
          <a:lstStyle/>
          <a:p>
            <a:pPr algn="ctr"/>
            <a:r>
              <a:rPr lang="en-US" sz="1600" dirty="0">
                <a:solidFill>
                  <a:srgbClr val="1278A7"/>
                </a:solidFill>
                <a:ea typeface="Roboto Mono" panose="00000009000000000000" pitchFamily="49" charset="0"/>
                <a:cs typeface="Cascadia Mono Light" panose="020B0609020000020004" pitchFamily="49" charset="0"/>
              </a:rPr>
              <a:t>is version of</a:t>
            </a:r>
          </a:p>
        </p:txBody>
      </p:sp>
      <p:sp>
        <p:nvSpPr>
          <p:cNvPr id="58" name="TextBox 57">
            <a:extLst>
              <a:ext uri="{FF2B5EF4-FFF2-40B4-BE49-F238E27FC236}">
                <a16:creationId xmlns:a16="http://schemas.microsoft.com/office/drawing/2014/main" id="{BCE2FDE0-7EAA-7AE9-314C-CE0A228C0BA8}"/>
              </a:ext>
            </a:extLst>
          </p:cNvPr>
          <p:cNvSpPr txBox="1"/>
          <p:nvPr/>
        </p:nvSpPr>
        <p:spPr>
          <a:xfrm>
            <a:off x="10321488" y="5226249"/>
            <a:ext cx="877676" cy="338554"/>
          </a:xfrm>
          <a:prstGeom prst="rect">
            <a:avLst/>
          </a:prstGeom>
          <a:noFill/>
        </p:spPr>
        <p:txBody>
          <a:bodyPr wrap="none" rtlCol="0">
            <a:spAutoFit/>
          </a:bodyPr>
          <a:lstStyle/>
          <a:p>
            <a:r>
              <a:rPr lang="en-US" sz="1600" dirty="0">
                <a:solidFill>
                  <a:srgbClr val="1278A7"/>
                </a:solidFill>
                <a:ea typeface="Roboto Mono" panose="00000009000000000000" pitchFamily="49" charset="0"/>
                <a:cs typeface="Cascadia Mono Light" panose="020B0609020000020004" pitchFamily="49" charset="0"/>
              </a:rPr>
              <a:t>replaces</a:t>
            </a:r>
          </a:p>
        </p:txBody>
      </p:sp>
      <p:sp>
        <p:nvSpPr>
          <p:cNvPr id="61" name="Rectangle 60">
            <a:extLst>
              <a:ext uri="{FF2B5EF4-FFF2-40B4-BE49-F238E27FC236}">
                <a16:creationId xmlns:a16="http://schemas.microsoft.com/office/drawing/2014/main" id="{31950986-C6B8-644D-AF62-4FF55B525821}"/>
              </a:ext>
            </a:extLst>
          </p:cNvPr>
          <p:cNvSpPr/>
          <p:nvPr/>
        </p:nvSpPr>
        <p:spPr>
          <a:xfrm>
            <a:off x="7745960" y="4469864"/>
            <a:ext cx="3614879" cy="2108832"/>
          </a:xfrm>
          <a:prstGeom prst="rect">
            <a:avLst/>
          </a:prstGeom>
          <a:noFill/>
          <a:ln>
            <a:solidFill>
              <a:srgbClr val="1278A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C5267958-79E8-9B1F-5FD7-E8BA7F04185F}"/>
              </a:ext>
            </a:extLst>
          </p:cNvPr>
          <p:cNvSpPr txBox="1"/>
          <p:nvPr/>
        </p:nvSpPr>
        <p:spPr>
          <a:xfrm>
            <a:off x="6596867" y="4689969"/>
            <a:ext cx="922047" cy="338554"/>
          </a:xfrm>
          <a:prstGeom prst="rect">
            <a:avLst/>
          </a:prstGeom>
          <a:noFill/>
        </p:spPr>
        <p:txBody>
          <a:bodyPr wrap="none" rtlCol="0">
            <a:spAutoFit/>
          </a:bodyPr>
          <a:lstStyle/>
          <a:p>
            <a:r>
              <a:rPr lang="en-US" sz="1600" dirty="0">
                <a:solidFill>
                  <a:srgbClr val="1278A7"/>
                </a:solidFill>
                <a:ea typeface="Roboto Mono" panose="00000009000000000000" pitchFamily="49" charset="0"/>
                <a:cs typeface="Cascadia Mono Light" panose="020B0609020000020004" pitchFamily="49" charset="0"/>
              </a:rPr>
              <a:t>is part of</a:t>
            </a:r>
          </a:p>
        </p:txBody>
      </p:sp>
      <p:sp>
        <p:nvSpPr>
          <p:cNvPr id="64" name="TextBox 63">
            <a:extLst>
              <a:ext uri="{FF2B5EF4-FFF2-40B4-BE49-F238E27FC236}">
                <a16:creationId xmlns:a16="http://schemas.microsoft.com/office/drawing/2014/main" id="{DD493EDF-8ED4-EDE6-2529-07DC14053147}"/>
              </a:ext>
            </a:extLst>
          </p:cNvPr>
          <p:cNvSpPr txBox="1"/>
          <p:nvPr/>
        </p:nvSpPr>
        <p:spPr>
          <a:xfrm>
            <a:off x="1452575" y="3696150"/>
            <a:ext cx="981359" cy="584775"/>
          </a:xfrm>
          <a:prstGeom prst="rect">
            <a:avLst/>
          </a:prstGeom>
          <a:noFill/>
        </p:spPr>
        <p:txBody>
          <a:bodyPr wrap="none" rtlCol="0">
            <a:spAutoFit/>
          </a:bodyPr>
          <a:lstStyle/>
          <a:p>
            <a:r>
              <a:rPr lang="en-US" sz="1600" b="1" cap="all" dirty="0">
                <a:solidFill>
                  <a:schemeClr val="accent2"/>
                </a:solidFill>
                <a:latin typeface="Arial" panose="020B0604020202020204" pitchFamily="34" charset="0"/>
                <a:ea typeface="Roboto Mono" panose="00000009000000000000" pitchFamily="49" charset="0"/>
                <a:cs typeface="Cascadia Mono Light" panose="020B0609020000020004" pitchFamily="49" charset="0"/>
              </a:rPr>
              <a:t>Unique</a:t>
            </a:r>
          </a:p>
          <a:p>
            <a:pPr algn="ctr"/>
            <a:r>
              <a:rPr lang="en-US" sz="1600" b="1" cap="all" dirty="0">
                <a:solidFill>
                  <a:schemeClr val="accent2"/>
                </a:solidFill>
                <a:latin typeface="Arial" panose="020B0604020202020204" pitchFamily="34" charset="0"/>
                <a:ea typeface="Roboto Mono" panose="00000009000000000000" pitchFamily="49" charset="0"/>
                <a:cs typeface="Cascadia Mono Light" panose="020B0609020000020004" pitchFamily="49" charset="0"/>
              </a:rPr>
              <a:t> DOI</a:t>
            </a:r>
            <a:r>
              <a:rPr lang="en-US" sz="1600" b="1" dirty="0">
                <a:solidFill>
                  <a:schemeClr val="accent2"/>
                </a:solidFill>
                <a:latin typeface="Arial" panose="020B0604020202020204" pitchFamily="34" charset="0"/>
                <a:ea typeface="Roboto Mono" panose="00000009000000000000" pitchFamily="49" charset="0"/>
                <a:cs typeface="Cascadia Mono Light" panose="020B0609020000020004" pitchFamily="49" charset="0"/>
              </a:rPr>
              <a:t>s</a:t>
            </a:r>
          </a:p>
        </p:txBody>
      </p:sp>
      <p:cxnSp>
        <p:nvCxnSpPr>
          <p:cNvPr id="65" name="Straight Arrow Connector 64">
            <a:extLst>
              <a:ext uri="{FF2B5EF4-FFF2-40B4-BE49-F238E27FC236}">
                <a16:creationId xmlns:a16="http://schemas.microsoft.com/office/drawing/2014/main" id="{DAF9F9F6-A22D-262C-B77E-0A2E6FBB4385}"/>
              </a:ext>
            </a:extLst>
          </p:cNvPr>
          <p:cNvCxnSpPr>
            <a:cxnSpLocks/>
          </p:cNvCxnSpPr>
          <p:nvPr/>
        </p:nvCxnSpPr>
        <p:spPr>
          <a:xfrm flipV="1">
            <a:off x="2375035" y="3360114"/>
            <a:ext cx="249302" cy="249523"/>
          </a:xfrm>
          <a:prstGeom prst="straightConnector1">
            <a:avLst/>
          </a:prstGeom>
          <a:ln w="22225">
            <a:solidFill>
              <a:schemeClr val="accent2"/>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3DF11BA3-BB26-0E79-9C7F-12E6FC9E5469}"/>
              </a:ext>
            </a:extLst>
          </p:cNvPr>
          <p:cNvCxnSpPr>
            <a:cxnSpLocks/>
          </p:cNvCxnSpPr>
          <p:nvPr/>
        </p:nvCxnSpPr>
        <p:spPr>
          <a:xfrm flipH="1" flipV="1">
            <a:off x="1293978" y="3360114"/>
            <a:ext cx="249302" cy="241255"/>
          </a:xfrm>
          <a:prstGeom prst="straightConnector1">
            <a:avLst/>
          </a:prstGeom>
          <a:ln w="22225">
            <a:solidFill>
              <a:schemeClr val="accent2"/>
            </a:solidFill>
            <a:tailEnd type="triangle" w="med" len="med"/>
          </a:ln>
        </p:spPr>
        <p:style>
          <a:lnRef idx="1">
            <a:schemeClr val="accent1"/>
          </a:lnRef>
          <a:fillRef idx="0">
            <a:schemeClr val="accent1"/>
          </a:fillRef>
          <a:effectRef idx="0">
            <a:schemeClr val="accent1"/>
          </a:effectRef>
          <a:fontRef idx="minor">
            <a:schemeClr val="tx1"/>
          </a:fontRef>
        </p:style>
      </p:cxnSp>
      <p:sp>
        <p:nvSpPr>
          <p:cNvPr id="83" name="Title 1">
            <a:extLst>
              <a:ext uri="{FF2B5EF4-FFF2-40B4-BE49-F238E27FC236}">
                <a16:creationId xmlns:a16="http://schemas.microsoft.com/office/drawing/2014/main" id="{751315C3-B89D-8DD7-3C3A-0E64F63A0114}"/>
              </a:ext>
            </a:extLst>
          </p:cNvPr>
          <p:cNvSpPr txBox="1">
            <a:spLocks/>
          </p:cNvSpPr>
          <p:nvPr/>
        </p:nvSpPr>
        <p:spPr>
          <a:xfrm>
            <a:off x="6482839" y="3456780"/>
            <a:ext cx="519208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cap="all" baseline="0">
                <a:solidFill>
                  <a:schemeClr val="accent1">
                    <a:lumMod val="50000"/>
                  </a:schemeClr>
                </a:solidFill>
                <a:latin typeface="Euphemia" panose="020B0503040102020104" pitchFamily="34" charset="0"/>
                <a:ea typeface="+mj-ea"/>
                <a:cs typeface="+mj-cs"/>
              </a:defRPr>
            </a:lvl1pPr>
          </a:lstStyle>
          <a:p>
            <a:r>
              <a:rPr lang="en-US" sz="2000" b="1" dirty="0">
                <a:solidFill>
                  <a:srgbClr val="3A4950"/>
                </a:solidFill>
                <a:latin typeface="Arial" panose="020B0604020202020204" pitchFamily="34" charset="0"/>
              </a:rPr>
              <a:t>ONE paper, many citations</a:t>
            </a:r>
            <a:endParaRPr lang="en-US" sz="2000" b="1" cap="none" dirty="0">
              <a:solidFill>
                <a:srgbClr val="3A4950"/>
              </a:solidFill>
              <a:latin typeface="Arial" panose="020B0604020202020204" pitchFamily="34" charset="0"/>
            </a:endParaRPr>
          </a:p>
        </p:txBody>
      </p:sp>
    </p:spTree>
    <p:extLst>
      <p:ext uri="{BB962C8B-B14F-4D97-AF65-F5344CB8AC3E}">
        <p14:creationId xmlns:p14="http://schemas.microsoft.com/office/powerpoint/2010/main" val="2093661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D9989-1C78-093B-9990-CC58F0DBB42B}"/>
              </a:ext>
            </a:extLst>
          </p:cNvPr>
          <p:cNvSpPr>
            <a:spLocks noGrp="1"/>
          </p:cNvSpPr>
          <p:nvPr>
            <p:ph type="title"/>
          </p:nvPr>
        </p:nvSpPr>
        <p:spPr>
          <a:xfrm>
            <a:off x="838200" y="98493"/>
            <a:ext cx="10515600" cy="1325563"/>
          </a:xfrm>
        </p:spPr>
        <p:txBody>
          <a:bodyPr>
            <a:normAutofit/>
          </a:bodyPr>
          <a:lstStyle/>
          <a:p>
            <a:r>
              <a:rPr lang="en-US" sz="3200" b="1" dirty="0">
                <a:solidFill>
                  <a:srgbClr val="3A4950"/>
                </a:solidFill>
                <a:latin typeface="Arial" panose="020B0604020202020204" pitchFamily="34" charset="0"/>
              </a:rPr>
              <a:t>DATA PROVENANCE (history of the dataset)</a:t>
            </a:r>
            <a:endParaRPr lang="en-US" sz="3200" b="1" cap="none" dirty="0">
              <a:solidFill>
                <a:srgbClr val="3A4950"/>
              </a:solidFill>
              <a:latin typeface="Arial" panose="020B0604020202020204" pitchFamily="34" charset="0"/>
            </a:endParaRPr>
          </a:p>
        </p:txBody>
      </p:sp>
      <p:sp>
        <p:nvSpPr>
          <p:cNvPr id="8" name="TextBox 7">
            <a:extLst>
              <a:ext uri="{FF2B5EF4-FFF2-40B4-BE49-F238E27FC236}">
                <a16:creationId xmlns:a16="http://schemas.microsoft.com/office/drawing/2014/main" id="{F89D5A91-6B75-1C38-E742-E9717171DA20}"/>
              </a:ext>
            </a:extLst>
          </p:cNvPr>
          <p:cNvSpPr txBox="1"/>
          <p:nvPr/>
        </p:nvSpPr>
        <p:spPr>
          <a:xfrm>
            <a:off x="8039501" y="2052822"/>
            <a:ext cx="1287533" cy="646331"/>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add NEW</a:t>
            </a:r>
          </a:p>
          <a:p>
            <a:pPr algn="ctr"/>
            <a:r>
              <a:rPr lang="en-US" b="1" cap="all" dirty="0">
                <a:solidFill>
                  <a:srgbClr val="1278A7"/>
                </a:solidFill>
                <a:latin typeface="Arial" panose="020B0604020202020204" pitchFamily="34" charset="0"/>
              </a:rPr>
              <a:t>wave</a:t>
            </a:r>
          </a:p>
        </p:txBody>
      </p:sp>
      <p:sp>
        <p:nvSpPr>
          <p:cNvPr id="9" name="TextBox 8">
            <a:extLst>
              <a:ext uri="{FF2B5EF4-FFF2-40B4-BE49-F238E27FC236}">
                <a16:creationId xmlns:a16="http://schemas.microsoft.com/office/drawing/2014/main" id="{823DB437-7931-943C-DD34-6FA776D241A2}"/>
              </a:ext>
            </a:extLst>
          </p:cNvPr>
          <p:cNvSpPr txBox="1"/>
          <p:nvPr/>
        </p:nvSpPr>
        <p:spPr>
          <a:xfrm>
            <a:off x="6437145" y="2052822"/>
            <a:ext cx="1018227" cy="646331"/>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fix </a:t>
            </a:r>
            <a:r>
              <a:rPr lang="en-US" b="1" cap="all" dirty="0" err="1">
                <a:solidFill>
                  <a:srgbClr val="1278A7"/>
                </a:solidFill>
                <a:latin typeface="Arial" panose="020B0604020202020204" pitchFamily="34" charset="0"/>
              </a:rPr>
              <a:t>aN</a:t>
            </a:r>
            <a:endParaRPr lang="en-US" b="1" cap="all" dirty="0">
              <a:solidFill>
                <a:srgbClr val="1278A7"/>
              </a:solidFill>
              <a:latin typeface="Arial" panose="020B0604020202020204" pitchFamily="34" charset="0"/>
            </a:endParaRPr>
          </a:p>
          <a:p>
            <a:pPr algn="ctr"/>
            <a:r>
              <a:rPr lang="en-US" b="1" cap="all" dirty="0">
                <a:solidFill>
                  <a:srgbClr val="1278A7"/>
                </a:solidFill>
                <a:latin typeface="Arial" panose="020B0604020202020204" pitchFamily="34" charset="0"/>
              </a:rPr>
              <a:t>ERROR</a:t>
            </a:r>
          </a:p>
        </p:txBody>
      </p:sp>
      <p:sp>
        <p:nvSpPr>
          <p:cNvPr id="10" name="TextBox 9">
            <a:extLst>
              <a:ext uri="{FF2B5EF4-FFF2-40B4-BE49-F238E27FC236}">
                <a16:creationId xmlns:a16="http://schemas.microsoft.com/office/drawing/2014/main" id="{004D8C6E-F61B-EE12-7CA0-B7C8857A8977}"/>
              </a:ext>
            </a:extLst>
          </p:cNvPr>
          <p:cNvSpPr txBox="1"/>
          <p:nvPr/>
        </p:nvSpPr>
        <p:spPr>
          <a:xfrm>
            <a:off x="4166638" y="2052822"/>
            <a:ext cx="1663661" cy="646331"/>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LINK WITH</a:t>
            </a:r>
            <a:br>
              <a:rPr lang="en-US" b="1" cap="all" dirty="0">
                <a:solidFill>
                  <a:srgbClr val="1278A7"/>
                </a:solidFill>
                <a:latin typeface="Arial" panose="020B0604020202020204" pitchFamily="34" charset="0"/>
              </a:rPr>
            </a:br>
            <a:r>
              <a:rPr lang="en-US" b="1" cap="all" dirty="0">
                <a:solidFill>
                  <a:srgbClr val="1278A7"/>
                </a:solidFill>
                <a:latin typeface="Arial" panose="020B0604020202020204" pitchFamily="34" charset="0"/>
              </a:rPr>
              <a:t>OTHER DATA</a:t>
            </a:r>
          </a:p>
        </p:txBody>
      </p:sp>
      <p:cxnSp>
        <p:nvCxnSpPr>
          <p:cNvPr id="12" name="Straight Arrow Connector 11">
            <a:extLst>
              <a:ext uri="{FF2B5EF4-FFF2-40B4-BE49-F238E27FC236}">
                <a16:creationId xmlns:a16="http://schemas.microsoft.com/office/drawing/2014/main" id="{5E3F854B-A5BA-F1D5-6AA0-753DC763E8B2}"/>
              </a:ext>
            </a:extLst>
          </p:cNvPr>
          <p:cNvCxnSpPr>
            <a:cxnSpLocks/>
          </p:cNvCxnSpPr>
          <p:nvPr/>
        </p:nvCxnSpPr>
        <p:spPr>
          <a:xfrm>
            <a:off x="5770321" y="2375987"/>
            <a:ext cx="537737" cy="0"/>
          </a:xfrm>
          <a:prstGeom prst="straightConnector1">
            <a:avLst/>
          </a:prstGeom>
          <a:ln w="508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B513E87-A446-9E0C-A7EC-E93E0F3AC171}"/>
              </a:ext>
            </a:extLst>
          </p:cNvPr>
          <p:cNvCxnSpPr>
            <a:cxnSpLocks/>
          </p:cNvCxnSpPr>
          <p:nvPr/>
        </p:nvCxnSpPr>
        <p:spPr>
          <a:xfrm>
            <a:off x="7528820" y="2375987"/>
            <a:ext cx="537737" cy="0"/>
          </a:xfrm>
          <a:prstGeom prst="straightConnector1">
            <a:avLst/>
          </a:prstGeom>
          <a:ln w="508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99A08CD-C371-1ED4-51E8-7504E3695127}"/>
              </a:ext>
            </a:extLst>
          </p:cNvPr>
          <p:cNvCxnSpPr>
            <a:cxnSpLocks/>
          </p:cNvCxnSpPr>
          <p:nvPr/>
        </p:nvCxnSpPr>
        <p:spPr>
          <a:xfrm>
            <a:off x="9366358" y="2375987"/>
            <a:ext cx="537737" cy="0"/>
          </a:xfrm>
          <a:prstGeom prst="straightConnector1">
            <a:avLst/>
          </a:prstGeom>
          <a:ln w="508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D299718-6159-4086-4826-CB64FDA5F9C8}"/>
              </a:ext>
            </a:extLst>
          </p:cNvPr>
          <p:cNvSpPr txBox="1"/>
          <p:nvPr/>
        </p:nvSpPr>
        <p:spPr>
          <a:xfrm>
            <a:off x="4820951" y="2730596"/>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V2</a:t>
            </a:r>
          </a:p>
        </p:txBody>
      </p:sp>
      <p:sp>
        <p:nvSpPr>
          <p:cNvPr id="16" name="TextBox 15">
            <a:extLst>
              <a:ext uri="{FF2B5EF4-FFF2-40B4-BE49-F238E27FC236}">
                <a16:creationId xmlns:a16="http://schemas.microsoft.com/office/drawing/2014/main" id="{2AFF4654-A9C0-32F6-3136-18E76A90E17A}"/>
              </a:ext>
            </a:extLst>
          </p:cNvPr>
          <p:cNvSpPr txBox="1"/>
          <p:nvPr/>
        </p:nvSpPr>
        <p:spPr>
          <a:xfrm>
            <a:off x="6728437" y="2730596"/>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V3</a:t>
            </a:r>
          </a:p>
        </p:txBody>
      </p:sp>
      <p:sp>
        <p:nvSpPr>
          <p:cNvPr id="17" name="TextBox 16">
            <a:extLst>
              <a:ext uri="{FF2B5EF4-FFF2-40B4-BE49-F238E27FC236}">
                <a16:creationId xmlns:a16="http://schemas.microsoft.com/office/drawing/2014/main" id="{2624A19D-6106-AF13-C19C-163DBCC596CC}"/>
              </a:ext>
            </a:extLst>
          </p:cNvPr>
          <p:cNvSpPr txBox="1"/>
          <p:nvPr/>
        </p:nvSpPr>
        <p:spPr>
          <a:xfrm>
            <a:off x="8490671" y="2730596"/>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V4</a:t>
            </a:r>
          </a:p>
        </p:txBody>
      </p:sp>
      <p:sp>
        <p:nvSpPr>
          <p:cNvPr id="18" name="TextBox 17">
            <a:extLst>
              <a:ext uri="{FF2B5EF4-FFF2-40B4-BE49-F238E27FC236}">
                <a16:creationId xmlns:a16="http://schemas.microsoft.com/office/drawing/2014/main" id="{ED1A0BE7-302E-5568-3BF8-18470917AC9F}"/>
              </a:ext>
            </a:extLst>
          </p:cNvPr>
          <p:cNvSpPr txBox="1"/>
          <p:nvPr/>
        </p:nvSpPr>
        <p:spPr>
          <a:xfrm>
            <a:off x="10667013" y="2730596"/>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V5</a:t>
            </a:r>
          </a:p>
        </p:txBody>
      </p:sp>
      <p:sp>
        <p:nvSpPr>
          <p:cNvPr id="19" name="TextBox 18">
            <a:extLst>
              <a:ext uri="{FF2B5EF4-FFF2-40B4-BE49-F238E27FC236}">
                <a16:creationId xmlns:a16="http://schemas.microsoft.com/office/drawing/2014/main" id="{5F6076C3-8777-6553-5462-A063A54A92AB}"/>
              </a:ext>
            </a:extLst>
          </p:cNvPr>
          <p:cNvSpPr txBox="1"/>
          <p:nvPr/>
        </p:nvSpPr>
        <p:spPr>
          <a:xfrm>
            <a:off x="2609198" y="1117100"/>
            <a:ext cx="5241146" cy="707886"/>
          </a:xfrm>
          <a:prstGeom prst="rect">
            <a:avLst/>
          </a:prstGeom>
          <a:noFill/>
        </p:spPr>
        <p:txBody>
          <a:bodyPr wrap="square" rtlCol="0">
            <a:spAutoFit/>
          </a:bodyPr>
          <a:lstStyle/>
          <a:p>
            <a:pPr algn="ctr"/>
            <a:r>
              <a:rPr lang="en-US" sz="2000" dirty="0">
                <a:solidFill>
                  <a:schemeClr val="tx1">
                    <a:lumMod val="50000"/>
                    <a:lumOff val="50000"/>
                  </a:schemeClr>
                </a:solidFill>
              </a:rPr>
              <a:t>Similarly, data has a life-cycle and takes on different forms at different stages.</a:t>
            </a:r>
          </a:p>
        </p:txBody>
      </p:sp>
      <p:sp>
        <p:nvSpPr>
          <p:cNvPr id="20" name="TextBox 19">
            <a:extLst>
              <a:ext uri="{FF2B5EF4-FFF2-40B4-BE49-F238E27FC236}">
                <a16:creationId xmlns:a16="http://schemas.microsoft.com/office/drawing/2014/main" id="{12F6DBA5-259C-97EE-B9F4-3EC2A6A864FC}"/>
              </a:ext>
            </a:extLst>
          </p:cNvPr>
          <p:cNvSpPr txBox="1"/>
          <p:nvPr/>
        </p:nvSpPr>
        <p:spPr>
          <a:xfrm>
            <a:off x="2017913" y="2052822"/>
            <a:ext cx="1659430" cy="646331"/>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TRANSFORM</a:t>
            </a:r>
          </a:p>
          <a:p>
            <a:pPr algn="ctr"/>
            <a:r>
              <a:rPr lang="en-US" b="1" cap="all" dirty="0">
                <a:solidFill>
                  <a:srgbClr val="1278A7"/>
                </a:solidFill>
                <a:latin typeface="Arial" panose="020B0604020202020204" pitchFamily="34" charset="0"/>
              </a:rPr>
              <a:t>&amp; CLEAN</a:t>
            </a:r>
          </a:p>
        </p:txBody>
      </p:sp>
      <p:cxnSp>
        <p:nvCxnSpPr>
          <p:cNvPr id="21" name="Straight Arrow Connector 20">
            <a:extLst>
              <a:ext uri="{FF2B5EF4-FFF2-40B4-BE49-F238E27FC236}">
                <a16:creationId xmlns:a16="http://schemas.microsoft.com/office/drawing/2014/main" id="{A47A6CA6-199A-2C5D-C406-42DE5348B02A}"/>
              </a:ext>
            </a:extLst>
          </p:cNvPr>
          <p:cNvCxnSpPr>
            <a:cxnSpLocks/>
          </p:cNvCxnSpPr>
          <p:nvPr/>
        </p:nvCxnSpPr>
        <p:spPr>
          <a:xfrm>
            <a:off x="3592694" y="2375987"/>
            <a:ext cx="537737" cy="0"/>
          </a:xfrm>
          <a:prstGeom prst="straightConnector1">
            <a:avLst/>
          </a:prstGeom>
          <a:ln w="508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8BF7642-CE46-E661-C886-0841BE7FC3AC}"/>
              </a:ext>
            </a:extLst>
          </p:cNvPr>
          <p:cNvSpPr txBox="1"/>
          <p:nvPr/>
        </p:nvSpPr>
        <p:spPr>
          <a:xfrm>
            <a:off x="2584262" y="2730596"/>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V1</a:t>
            </a:r>
          </a:p>
        </p:txBody>
      </p:sp>
      <p:sp>
        <p:nvSpPr>
          <p:cNvPr id="27" name="TextBox 26">
            <a:extLst>
              <a:ext uri="{FF2B5EF4-FFF2-40B4-BE49-F238E27FC236}">
                <a16:creationId xmlns:a16="http://schemas.microsoft.com/office/drawing/2014/main" id="{4E884F41-D207-A3F7-16BD-2EAE0C164E65}"/>
              </a:ext>
            </a:extLst>
          </p:cNvPr>
          <p:cNvSpPr txBox="1"/>
          <p:nvPr/>
        </p:nvSpPr>
        <p:spPr>
          <a:xfrm>
            <a:off x="649810" y="2052822"/>
            <a:ext cx="791628" cy="646331"/>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raw</a:t>
            </a:r>
          </a:p>
          <a:p>
            <a:pPr algn="ctr"/>
            <a:r>
              <a:rPr lang="en-US" b="1" cap="all" dirty="0">
                <a:solidFill>
                  <a:srgbClr val="1278A7"/>
                </a:solidFill>
                <a:latin typeface="Arial" panose="020B0604020202020204" pitchFamily="34" charset="0"/>
              </a:rPr>
              <a:t>data</a:t>
            </a:r>
          </a:p>
        </p:txBody>
      </p:sp>
      <p:cxnSp>
        <p:nvCxnSpPr>
          <p:cNvPr id="28" name="Straight Arrow Connector 27">
            <a:extLst>
              <a:ext uri="{FF2B5EF4-FFF2-40B4-BE49-F238E27FC236}">
                <a16:creationId xmlns:a16="http://schemas.microsoft.com/office/drawing/2014/main" id="{ED7F85C8-96F8-96F2-0965-B0DEAE7D0999}"/>
              </a:ext>
            </a:extLst>
          </p:cNvPr>
          <p:cNvCxnSpPr>
            <a:cxnSpLocks/>
          </p:cNvCxnSpPr>
          <p:nvPr/>
        </p:nvCxnSpPr>
        <p:spPr>
          <a:xfrm>
            <a:off x="1494726" y="2375987"/>
            <a:ext cx="537737" cy="0"/>
          </a:xfrm>
          <a:prstGeom prst="straightConnector1">
            <a:avLst/>
          </a:prstGeom>
          <a:ln w="50800">
            <a:solidFill>
              <a:srgbClr val="1278A7"/>
            </a:solidFill>
            <a:tailEnd type="triangle" w="lg"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F4AEB60-0E0D-1380-319C-4430FE48148B}"/>
              </a:ext>
            </a:extLst>
          </p:cNvPr>
          <p:cNvSpPr txBox="1"/>
          <p:nvPr/>
        </p:nvSpPr>
        <p:spPr>
          <a:xfrm>
            <a:off x="814360" y="2730596"/>
            <a:ext cx="498855" cy="400110"/>
          </a:xfrm>
          <a:prstGeom prst="rect">
            <a:avLst/>
          </a:prstGeom>
          <a:noFill/>
        </p:spPr>
        <p:txBody>
          <a:bodyPr wrap="none" rtlCol="0">
            <a:spAutoFit/>
          </a:bodyPr>
          <a:lstStyle/>
          <a:p>
            <a:pPr algn="ctr"/>
            <a:r>
              <a:rPr lang="en-US" sz="2000" b="1" cap="all" dirty="0">
                <a:solidFill>
                  <a:srgbClr val="1F4E79"/>
                </a:solidFill>
                <a:latin typeface="Arial" panose="020B0604020202020204" pitchFamily="34" charset="0"/>
              </a:rPr>
              <a:t>V0</a:t>
            </a:r>
          </a:p>
        </p:txBody>
      </p:sp>
      <p:sp>
        <p:nvSpPr>
          <p:cNvPr id="83" name="Title 1">
            <a:extLst>
              <a:ext uri="{FF2B5EF4-FFF2-40B4-BE49-F238E27FC236}">
                <a16:creationId xmlns:a16="http://schemas.microsoft.com/office/drawing/2014/main" id="{751315C3-B89D-8DD7-3C3A-0E64F63A0114}"/>
              </a:ext>
            </a:extLst>
          </p:cNvPr>
          <p:cNvSpPr txBox="1">
            <a:spLocks/>
          </p:cNvSpPr>
          <p:nvPr/>
        </p:nvSpPr>
        <p:spPr>
          <a:xfrm>
            <a:off x="948206" y="5684871"/>
            <a:ext cx="863069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cap="all" baseline="0">
                <a:solidFill>
                  <a:schemeClr val="accent1">
                    <a:lumMod val="50000"/>
                  </a:schemeClr>
                </a:solidFill>
                <a:latin typeface="Euphemia" panose="020B0503040102020104" pitchFamily="34" charset="0"/>
                <a:ea typeface="+mj-ea"/>
                <a:cs typeface="+mj-cs"/>
              </a:defRPr>
            </a:lvl1pPr>
          </a:lstStyle>
          <a:p>
            <a:r>
              <a:rPr lang="en-US" sz="2000" b="1" dirty="0">
                <a:solidFill>
                  <a:srgbClr val="3A4950"/>
                </a:solidFill>
                <a:latin typeface="Arial" panose="020B0604020202020204" pitchFamily="34" charset="0"/>
              </a:rPr>
              <a:t>data provenance means not treating all VERSIONS as THE SAME dataset </a:t>
            </a:r>
            <a:endParaRPr lang="en-US" sz="2000" b="1" cap="none" dirty="0">
              <a:solidFill>
                <a:srgbClr val="3A4950"/>
              </a:solidFill>
              <a:latin typeface="Arial" panose="020B0604020202020204" pitchFamily="34" charset="0"/>
            </a:endParaRPr>
          </a:p>
        </p:txBody>
      </p:sp>
      <p:sp>
        <p:nvSpPr>
          <p:cNvPr id="3" name="TextBox 2">
            <a:extLst>
              <a:ext uri="{FF2B5EF4-FFF2-40B4-BE49-F238E27FC236}">
                <a16:creationId xmlns:a16="http://schemas.microsoft.com/office/drawing/2014/main" id="{879FB152-8BED-9364-D5DC-61DB3202C2E9}"/>
              </a:ext>
            </a:extLst>
          </p:cNvPr>
          <p:cNvSpPr txBox="1"/>
          <p:nvPr/>
        </p:nvSpPr>
        <p:spPr>
          <a:xfrm>
            <a:off x="9990893" y="2052822"/>
            <a:ext cx="1749197" cy="646331"/>
          </a:xfrm>
          <a:prstGeom prst="rect">
            <a:avLst/>
          </a:prstGeom>
          <a:noFill/>
        </p:spPr>
        <p:txBody>
          <a:bodyPr wrap="none" rtlCol="0">
            <a:spAutoFit/>
          </a:bodyPr>
          <a:lstStyle/>
          <a:p>
            <a:pPr algn="ctr"/>
            <a:r>
              <a:rPr lang="en-US" b="1" cap="all" dirty="0">
                <a:solidFill>
                  <a:srgbClr val="1278A7"/>
                </a:solidFill>
                <a:latin typeface="Arial" panose="020B0604020202020204" pitchFamily="34" charset="0"/>
              </a:rPr>
              <a:t>synthetic</a:t>
            </a:r>
          </a:p>
          <a:p>
            <a:pPr algn="ctr"/>
            <a:r>
              <a:rPr lang="en-US" b="1" cap="all" dirty="0">
                <a:solidFill>
                  <a:srgbClr val="1278A7"/>
                </a:solidFill>
                <a:latin typeface="Arial" panose="020B0604020202020204" pitchFamily="34" charset="0"/>
              </a:rPr>
              <a:t>PUF version</a:t>
            </a:r>
          </a:p>
        </p:txBody>
      </p:sp>
      <p:sp>
        <p:nvSpPr>
          <p:cNvPr id="4" name="TextBox 3">
            <a:extLst>
              <a:ext uri="{FF2B5EF4-FFF2-40B4-BE49-F238E27FC236}">
                <a16:creationId xmlns:a16="http://schemas.microsoft.com/office/drawing/2014/main" id="{2960EB2B-B6A9-A231-61C9-EB25B8592D5C}"/>
              </a:ext>
            </a:extLst>
          </p:cNvPr>
          <p:cNvSpPr txBox="1"/>
          <p:nvPr/>
        </p:nvSpPr>
        <p:spPr>
          <a:xfrm>
            <a:off x="2335663" y="4017352"/>
            <a:ext cx="8807762" cy="2031325"/>
          </a:xfrm>
          <a:prstGeom prst="rect">
            <a:avLst/>
          </a:prstGeom>
          <a:noFill/>
        </p:spPr>
        <p:txBody>
          <a:bodyPr wrap="square" rtlCol="0">
            <a:spAutoFit/>
          </a:bodyPr>
          <a:lstStyle/>
          <a:p>
            <a:r>
              <a:rPr lang="en-US" b="1" dirty="0">
                <a:solidFill>
                  <a:srgbClr val="1F4E79"/>
                </a:solidFill>
                <a:latin typeface="Cascadia Mono Light" panose="020B0609020000020004" pitchFamily="49" charset="0"/>
                <a:ea typeface="Cascadia Mono Light" panose="020B0609020000020004" pitchFamily="49" charset="0"/>
                <a:cs typeface="Cascadia Mono Light" panose="020B0609020000020004" pitchFamily="49" charset="0"/>
              </a:rPr>
              <a:t>V0:   </a:t>
            </a:r>
            <a:r>
              <a:rPr lang="en-US" dirty="0" err="1">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dirty="0">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/xxx/ v0.0.0      archive of public dataset </a:t>
            </a:r>
          </a:p>
          <a:p>
            <a:r>
              <a:rPr lang="en-US" b="1" dirty="0">
                <a:solidFill>
                  <a:srgbClr val="1F4E79"/>
                </a:solidFill>
                <a:latin typeface="Cascadia Mono Light" panose="020B0609020000020004" pitchFamily="49" charset="0"/>
                <a:ea typeface="Cascadia Mono Light" panose="020B0609020000020004" pitchFamily="49" charset="0"/>
                <a:cs typeface="Cascadia Mono Light" panose="020B0609020000020004" pitchFamily="49" charset="0"/>
              </a:rPr>
              <a:t>V1:   </a:t>
            </a:r>
            <a:r>
              <a:rPr lang="en-US" dirty="0" err="1">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dirty="0">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/xxx/ v1.0.0      transformation into new dataset</a:t>
            </a:r>
          </a:p>
          <a:p>
            <a:r>
              <a:rPr lang="en-US" b="1" dirty="0">
                <a:solidFill>
                  <a:srgbClr val="1F4E79"/>
                </a:solidFill>
                <a:latin typeface="Cascadia Mono Light" panose="020B0609020000020004" pitchFamily="49" charset="0"/>
                <a:ea typeface="Cascadia Mono Light" panose="020B0609020000020004" pitchFamily="49" charset="0"/>
                <a:cs typeface="Cascadia Mono Light" panose="020B0609020000020004" pitchFamily="49" charset="0"/>
              </a:rPr>
              <a:t>V2:   </a:t>
            </a:r>
            <a:r>
              <a:rPr lang="en-US" dirty="0" err="1">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dirty="0">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/xxx/ v1.1.0      improvement (link with other data)</a:t>
            </a:r>
          </a:p>
          <a:p>
            <a:r>
              <a:rPr lang="en-US" b="1" dirty="0">
                <a:solidFill>
                  <a:srgbClr val="1F4E79"/>
                </a:solidFill>
                <a:latin typeface="Cascadia Mono Light" panose="020B0609020000020004" pitchFamily="49" charset="0"/>
                <a:ea typeface="Cascadia Mono Light" panose="020B0609020000020004" pitchFamily="49" charset="0"/>
                <a:cs typeface="Cascadia Mono Light" panose="020B0609020000020004" pitchFamily="49" charset="0"/>
              </a:rPr>
              <a:t>V3:   </a:t>
            </a:r>
            <a:r>
              <a:rPr lang="en-US" dirty="0" err="1">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dirty="0">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/xxx/ v1.1.1      fix and error </a:t>
            </a:r>
          </a:p>
          <a:p>
            <a:r>
              <a:rPr lang="en-US" b="1" dirty="0">
                <a:solidFill>
                  <a:srgbClr val="1F4E79"/>
                </a:solidFill>
                <a:latin typeface="Cascadia Mono Light" panose="020B0609020000020004" pitchFamily="49" charset="0"/>
                <a:ea typeface="Cascadia Mono Light" panose="020B0609020000020004" pitchFamily="49" charset="0"/>
                <a:cs typeface="Cascadia Mono Light" panose="020B0609020000020004" pitchFamily="49" charset="0"/>
              </a:rPr>
              <a:t>V4:   </a:t>
            </a:r>
            <a:r>
              <a:rPr lang="en-US" dirty="0" err="1">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dirty="0">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/xxx/ v1.2.1      improvement (add new wave)</a:t>
            </a:r>
          </a:p>
          <a:p>
            <a:r>
              <a:rPr lang="en-US" b="1" dirty="0">
                <a:solidFill>
                  <a:srgbClr val="1F4E79"/>
                </a:solidFill>
                <a:latin typeface="Cascadia Mono Light" panose="020B0609020000020004" pitchFamily="49" charset="0"/>
                <a:ea typeface="Cascadia Mono Light" panose="020B0609020000020004" pitchFamily="49" charset="0"/>
                <a:cs typeface="Cascadia Mono Light" panose="020B0609020000020004" pitchFamily="49" charset="0"/>
              </a:rPr>
              <a:t>V5:   </a:t>
            </a:r>
            <a:r>
              <a:rPr lang="en-US" dirty="0" err="1">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doi</a:t>
            </a:r>
            <a:r>
              <a:rPr lang="en-US" dirty="0">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/xxx/ v1.2.1/</a:t>
            </a:r>
            <a:r>
              <a:rPr lang="en-US" dirty="0" err="1">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puf</a:t>
            </a:r>
            <a:r>
              <a:rPr lang="en-US" dirty="0">
                <a:solidFill>
                  <a:srgbClr val="1278A7"/>
                </a:solidFill>
                <a:latin typeface="Cascadia Mono Light" panose="020B0609020000020004" pitchFamily="49" charset="0"/>
                <a:ea typeface="Cascadia Mono Light" panose="020B0609020000020004" pitchFamily="49" charset="0"/>
                <a:cs typeface="Cascadia Mono Light" panose="020B0609020000020004" pitchFamily="49" charset="0"/>
              </a:rPr>
              <a:t>  public use version of restricted file </a:t>
            </a:r>
          </a:p>
          <a:p>
            <a:pPr marL="285750" indent="-285750">
              <a:buFont typeface="Arial" panose="020B0604020202020204" pitchFamily="34" charset="0"/>
              <a:buChar char="•"/>
            </a:pPr>
            <a:endParaRPr lang="en-US" b="1" dirty="0">
              <a:solidFill>
                <a:srgbClr val="1278A7"/>
              </a:solidFill>
              <a:latin typeface="Arial" panose="020B0604020202020204" pitchFamily="34" charset="0"/>
            </a:endParaRPr>
          </a:p>
        </p:txBody>
      </p:sp>
      <p:sp>
        <p:nvSpPr>
          <p:cNvPr id="6" name="TextBox 5">
            <a:extLst>
              <a:ext uri="{FF2B5EF4-FFF2-40B4-BE49-F238E27FC236}">
                <a16:creationId xmlns:a16="http://schemas.microsoft.com/office/drawing/2014/main" id="{FD3931B8-749B-7E12-F8D2-A3167FF44D13}"/>
              </a:ext>
            </a:extLst>
          </p:cNvPr>
          <p:cNvSpPr txBox="1"/>
          <p:nvPr/>
        </p:nvSpPr>
        <p:spPr>
          <a:xfrm>
            <a:off x="2319026" y="3505549"/>
            <a:ext cx="5442223" cy="369332"/>
          </a:xfrm>
          <a:prstGeom prst="rect">
            <a:avLst/>
          </a:prstGeom>
          <a:noFill/>
        </p:spPr>
        <p:txBody>
          <a:bodyPr wrap="square">
            <a:spAutoFit/>
          </a:bodyPr>
          <a:lstStyle/>
          <a:p>
            <a:r>
              <a:rPr lang="en-US" b="1" dirty="0">
                <a:solidFill>
                  <a:srgbClr val="3A4950"/>
                </a:solidFill>
                <a:latin typeface="Arial" panose="020B0604020202020204" pitchFamily="34" charset="0"/>
              </a:rPr>
              <a:t>Unique DOIs through versioning (ideal case)</a:t>
            </a:r>
            <a:endParaRPr lang="en-US" b="1" dirty="0">
              <a:solidFill>
                <a:srgbClr val="3A4950"/>
              </a:solidFill>
            </a:endParaRPr>
          </a:p>
        </p:txBody>
      </p:sp>
      <p:sp>
        <p:nvSpPr>
          <p:cNvPr id="11" name="TextBox 10">
            <a:extLst>
              <a:ext uri="{FF2B5EF4-FFF2-40B4-BE49-F238E27FC236}">
                <a16:creationId xmlns:a16="http://schemas.microsoft.com/office/drawing/2014/main" id="{5CD47666-3740-5847-D4FC-1A6E6772BCA2}"/>
              </a:ext>
            </a:extLst>
          </p:cNvPr>
          <p:cNvSpPr txBox="1"/>
          <p:nvPr/>
        </p:nvSpPr>
        <p:spPr>
          <a:xfrm>
            <a:off x="496526" y="4103048"/>
            <a:ext cx="1183337" cy="707886"/>
          </a:xfrm>
          <a:prstGeom prst="rect">
            <a:avLst/>
          </a:prstGeom>
          <a:noFill/>
        </p:spPr>
        <p:txBody>
          <a:bodyPr wrap="none" rtlCol="0">
            <a:spAutoFit/>
          </a:bodyPr>
          <a:lstStyle/>
          <a:p>
            <a:r>
              <a:rPr lang="en-US" sz="2000" b="1" cap="all" dirty="0">
                <a:solidFill>
                  <a:srgbClr val="1278A7"/>
                </a:solidFill>
                <a:latin typeface="Arial" panose="020B0604020202020204" pitchFamily="34" charset="0"/>
                <a:ea typeface="Roboto Mono" panose="00000009000000000000" pitchFamily="49" charset="0"/>
                <a:cs typeface="Cascadia Mono Light" panose="020B0609020000020004" pitchFamily="49" charset="0"/>
              </a:rPr>
              <a:t>Unique</a:t>
            </a:r>
          </a:p>
          <a:p>
            <a:pPr algn="ctr"/>
            <a:r>
              <a:rPr lang="en-US" sz="2000" b="1" cap="all" dirty="0">
                <a:solidFill>
                  <a:srgbClr val="1278A7"/>
                </a:solidFill>
                <a:latin typeface="Arial" panose="020B0604020202020204" pitchFamily="34" charset="0"/>
                <a:ea typeface="Roboto Mono" panose="00000009000000000000" pitchFamily="49" charset="0"/>
                <a:cs typeface="Cascadia Mono Light" panose="020B0609020000020004" pitchFamily="49" charset="0"/>
              </a:rPr>
              <a:t> DOI</a:t>
            </a:r>
            <a:r>
              <a:rPr lang="en-US" sz="2000" b="1" dirty="0">
                <a:solidFill>
                  <a:srgbClr val="1278A7"/>
                </a:solidFill>
                <a:latin typeface="Arial" panose="020B0604020202020204" pitchFamily="34" charset="0"/>
                <a:ea typeface="Roboto Mono" panose="00000009000000000000" pitchFamily="49" charset="0"/>
                <a:cs typeface="Cascadia Mono Light" panose="020B0609020000020004" pitchFamily="49" charset="0"/>
              </a:rPr>
              <a:t>s</a:t>
            </a:r>
          </a:p>
        </p:txBody>
      </p:sp>
      <p:cxnSp>
        <p:nvCxnSpPr>
          <p:cNvPr id="23" name="Straight Arrow Connector 22">
            <a:extLst>
              <a:ext uri="{FF2B5EF4-FFF2-40B4-BE49-F238E27FC236}">
                <a16:creationId xmlns:a16="http://schemas.microsoft.com/office/drawing/2014/main" id="{CDD2C140-1CD6-E0D1-14F0-AC3C0DD2364D}"/>
              </a:ext>
            </a:extLst>
          </p:cNvPr>
          <p:cNvCxnSpPr>
            <a:cxnSpLocks/>
          </p:cNvCxnSpPr>
          <p:nvPr/>
        </p:nvCxnSpPr>
        <p:spPr>
          <a:xfrm>
            <a:off x="1624915" y="4215381"/>
            <a:ext cx="555702" cy="0"/>
          </a:xfrm>
          <a:prstGeom prst="straightConnector1">
            <a:avLst/>
          </a:prstGeom>
          <a:ln w="22225">
            <a:solidFill>
              <a:srgbClr val="3A495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868C57C-4C7B-9EFA-5330-9736C4738E99}"/>
              </a:ext>
            </a:extLst>
          </p:cNvPr>
          <p:cNvCxnSpPr>
            <a:cxnSpLocks/>
          </p:cNvCxnSpPr>
          <p:nvPr/>
        </p:nvCxnSpPr>
        <p:spPr>
          <a:xfrm>
            <a:off x="1624915" y="4456991"/>
            <a:ext cx="555702" cy="0"/>
          </a:xfrm>
          <a:prstGeom prst="straightConnector1">
            <a:avLst/>
          </a:prstGeom>
          <a:ln w="22225">
            <a:solidFill>
              <a:srgbClr val="3A495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F939EFC-BA2F-743D-0080-DDE3A30A932B}"/>
              </a:ext>
            </a:extLst>
          </p:cNvPr>
          <p:cNvCxnSpPr>
            <a:cxnSpLocks/>
          </p:cNvCxnSpPr>
          <p:nvPr/>
        </p:nvCxnSpPr>
        <p:spPr>
          <a:xfrm>
            <a:off x="1624915" y="4735771"/>
            <a:ext cx="555702" cy="0"/>
          </a:xfrm>
          <a:prstGeom prst="straightConnector1">
            <a:avLst/>
          </a:prstGeom>
          <a:ln w="22225">
            <a:solidFill>
              <a:srgbClr val="3A4950"/>
            </a:solidFill>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0830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4" name="TextBox 3"/>
          <p:cNvSpPr txBox="1"/>
          <p:nvPr/>
        </p:nvSpPr>
        <p:spPr>
          <a:xfrm>
            <a:off x="2971511" y="1380115"/>
            <a:ext cx="6547755" cy="378565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t>emerging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t>citation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t>standards</a:t>
            </a:r>
          </a:p>
        </p:txBody>
      </p:sp>
    </p:spTree>
    <p:extLst>
      <p:ext uri="{BB962C8B-B14F-4D97-AF65-F5344CB8AC3E}">
        <p14:creationId xmlns:p14="http://schemas.microsoft.com/office/powerpoint/2010/main" val="3678577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56FF64-7A0A-CBD7-D872-C0D17299516D}"/>
              </a:ext>
            </a:extLst>
          </p:cNvPr>
          <p:cNvSpPr txBox="1"/>
          <p:nvPr/>
        </p:nvSpPr>
        <p:spPr>
          <a:xfrm>
            <a:off x="459058" y="274290"/>
            <a:ext cx="11273883" cy="6432530"/>
          </a:xfrm>
          <a:prstGeom prst="rect">
            <a:avLst/>
          </a:prstGeom>
          <a:noFill/>
        </p:spPr>
        <p:txBody>
          <a:bodyPr wrap="square">
            <a:spAutoFit/>
          </a:bodyPr>
          <a:lstStyle/>
          <a:p>
            <a:r>
              <a:rPr lang="en-US" sz="3200" b="1" cap="all" dirty="0">
                <a:solidFill>
                  <a:srgbClr val="1F4E79"/>
                </a:solidFill>
                <a:latin typeface="Arial" panose="020B0604020202020204" pitchFamily="34" charset="0"/>
              </a:rPr>
              <a:t>Joint Declaration of data citation principle</a:t>
            </a:r>
          </a:p>
          <a:p>
            <a:endParaRPr lang="en-US" sz="1200" b="1" cap="all" dirty="0">
              <a:latin typeface="Arial" panose="020B0604020202020204" pitchFamily="34" charset="0"/>
            </a:endParaRPr>
          </a:p>
          <a:p>
            <a:r>
              <a:rPr lang="en-US" sz="1200" b="1" cap="all" dirty="0">
                <a:latin typeface="Arial" panose="020B0604020202020204" pitchFamily="34" charset="0"/>
              </a:rPr>
              <a:t>1. Importance</a:t>
            </a:r>
          </a:p>
          <a:p>
            <a:r>
              <a:rPr lang="en-US" sz="1200" dirty="0"/>
              <a:t>Data should be considered legitimate, citable products of research. Data citations should be accorded the same importance in the scholarly record as citations of other research objects, such as publications[1].</a:t>
            </a:r>
          </a:p>
          <a:p>
            <a:endParaRPr lang="en-US" sz="1200" dirty="0"/>
          </a:p>
          <a:p>
            <a:r>
              <a:rPr lang="en-US" sz="1200" b="1" cap="all" dirty="0">
                <a:latin typeface="Arial" panose="020B0604020202020204" pitchFamily="34" charset="0"/>
              </a:rPr>
              <a:t>2. Credit and Attribution</a:t>
            </a:r>
          </a:p>
          <a:p>
            <a:r>
              <a:rPr lang="en-US" sz="1200" dirty="0"/>
              <a:t>Data citations should facilitate giving scholarly credit and normative and legal attribution to all contributors to the data, recognizing that a single style or mechanism of attribution may not be applicable to all data[2].</a:t>
            </a:r>
          </a:p>
          <a:p>
            <a:endParaRPr lang="en-US" sz="1200" dirty="0"/>
          </a:p>
          <a:p>
            <a:r>
              <a:rPr lang="en-US" sz="1200" b="1" cap="all" dirty="0">
                <a:latin typeface="Arial" panose="020B0604020202020204" pitchFamily="34" charset="0"/>
              </a:rPr>
              <a:t>3. Evidence</a:t>
            </a:r>
          </a:p>
          <a:p>
            <a:r>
              <a:rPr lang="en-US" sz="1200" dirty="0"/>
              <a:t>In scholarly literature, whenever and wherever a claim relies upon data, the corresponding data should be cited[3].</a:t>
            </a:r>
          </a:p>
          <a:p>
            <a:endParaRPr lang="en-US" sz="1200" dirty="0"/>
          </a:p>
          <a:p>
            <a:r>
              <a:rPr lang="en-US" sz="1200" b="1" cap="all" dirty="0">
                <a:latin typeface="Arial" panose="020B0604020202020204" pitchFamily="34" charset="0"/>
              </a:rPr>
              <a:t>4. Unique Identification</a:t>
            </a:r>
          </a:p>
          <a:p>
            <a:r>
              <a:rPr lang="en-US" sz="1200" dirty="0"/>
              <a:t>A data citation should include a persistent method for identification that is machine actionable, globally unique, and widely used by a community[4].</a:t>
            </a:r>
          </a:p>
          <a:p>
            <a:endParaRPr lang="en-US" sz="1200" dirty="0"/>
          </a:p>
          <a:p>
            <a:r>
              <a:rPr lang="en-US" sz="1200" b="1" cap="all" dirty="0">
                <a:latin typeface="Arial" panose="020B0604020202020204" pitchFamily="34" charset="0"/>
              </a:rPr>
              <a:t>5. Access</a:t>
            </a:r>
          </a:p>
          <a:p>
            <a:r>
              <a:rPr lang="en-US" sz="1200" dirty="0"/>
              <a:t>Data citations should facilitate access to the data themselves and to such associated metadata, documentation, code, and other materials, as are necessary for both humans and machines to make informed use of the referenced data[5].</a:t>
            </a:r>
          </a:p>
          <a:p>
            <a:endParaRPr lang="en-US" sz="1200" dirty="0"/>
          </a:p>
          <a:p>
            <a:r>
              <a:rPr lang="en-US" sz="1200" b="1" cap="all" dirty="0">
                <a:latin typeface="Arial" panose="020B0604020202020204" pitchFamily="34" charset="0"/>
              </a:rPr>
              <a:t>6. Persistence</a:t>
            </a:r>
          </a:p>
          <a:p>
            <a:r>
              <a:rPr lang="en-US" sz="1200" dirty="0"/>
              <a:t>Unique identifiers, and metadata describing the data, and its disposition, should persist — even beyond the lifespan of the data they describe[6].</a:t>
            </a:r>
          </a:p>
          <a:p>
            <a:endParaRPr lang="en-US" sz="1200" dirty="0"/>
          </a:p>
          <a:p>
            <a:r>
              <a:rPr lang="en-US" sz="1200" b="1" cap="all" dirty="0">
                <a:latin typeface="Arial" panose="020B0604020202020204" pitchFamily="34" charset="0"/>
              </a:rPr>
              <a:t>7. Specificity and Verifiability</a:t>
            </a:r>
          </a:p>
          <a:p>
            <a:r>
              <a:rPr lang="en-US" sz="1200" dirty="0"/>
              <a:t>Data citations should facilitate identification of, access to, and verification of the specific data that support a claim. Citations or citation metadata should include information about provenance and fixity sufficient to facilitate verifying that the specific </a:t>
            </a:r>
            <a:r>
              <a:rPr lang="en-US" sz="1200" dirty="0" err="1"/>
              <a:t>timeslice</a:t>
            </a:r>
            <a:r>
              <a:rPr lang="en-US" sz="1200" dirty="0"/>
              <a:t>, version and/or granular portion of data retrieved subsequently is the same as was originally cited[7].</a:t>
            </a:r>
          </a:p>
          <a:p>
            <a:endParaRPr lang="en-US" sz="1200" dirty="0"/>
          </a:p>
          <a:p>
            <a:r>
              <a:rPr lang="en-US" sz="1200" b="1" cap="all" dirty="0">
                <a:latin typeface="Arial" panose="020B0604020202020204" pitchFamily="34" charset="0"/>
              </a:rPr>
              <a:t>8. Interoperability and Flexibility</a:t>
            </a:r>
          </a:p>
          <a:p>
            <a:r>
              <a:rPr lang="en-US" sz="1200" dirty="0"/>
              <a:t>Data citation methods should be sufficiently flexible to accommodate the variant practices among communities, but should not differ so much that they compromise interoperability of data citation practices across communities[8].</a:t>
            </a:r>
          </a:p>
          <a:p>
            <a:endParaRPr lang="en-US" sz="1200" i="1" dirty="0"/>
          </a:p>
          <a:p>
            <a:r>
              <a:rPr lang="en-US" sz="1200" i="1" dirty="0"/>
              <a:t>Data Citation Synthesis Group: Joint Declaration of Data Citation Principles. Martone M. (ed.) San Diego CA: FORCE11; 2014 https://doi.org/10.25490/a97f-egyk</a:t>
            </a:r>
          </a:p>
        </p:txBody>
      </p:sp>
    </p:spTree>
    <p:extLst>
      <p:ext uri="{BB962C8B-B14F-4D97-AF65-F5344CB8AC3E}">
        <p14:creationId xmlns:p14="http://schemas.microsoft.com/office/powerpoint/2010/main" val="3723280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1DA4E2-24A0-BBC4-F1EF-367A0E58A2EF}"/>
              </a:ext>
            </a:extLst>
          </p:cNvPr>
          <p:cNvPicPr>
            <a:picLocks noChangeAspect="1"/>
          </p:cNvPicPr>
          <p:nvPr/>
        </p:nvPicPr>
        <p:blipFill>
          <a:blip r:embed="rId2"/>
          <a:stretch>
            <a:fillRect/>
          </a:stretch>
        </p:blipFill>
        <p:spPr>
          <a:xfrm>
            <a:off x="1147072" y="332943"/>
            <a:ext cx="9897856" cy="6192114"/>
          </a:xfrm>
          <a:prstGeom prst="rect">
            <a:avLst/>
          </a:prstGeom>
        </p:spPr>
      </p:pic>
    </p:spTree>
    <p:extLst>
      <p:ext uri="{BB962C8B-B14F-4D97-AF65-F5344CB8AC3E}">
        <p14:creationId xmlns:p14="http://schemas.microsoft.com/office/powerpoint/2010/main" val="2651554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alternate text">
            <a:extLst>
              <a:ext uri="{FF2B5EF4-FFF2-40B4-BE49-F238E27FC236}">
                <a16:creationId xmlns:a16="http://schemas.microsoft.com/office/drawing/2014/main" id="{5EBEA87D-51A0-7A55-A939-250CBAAC25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1041" y="249608"/>
            <a:ext cx="6080202" cy="38075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F48166B-79EC-C019-5828-5B479BEDD65D}"/>
              </a:ext>
            </a:extLst>
          </p:cNvPr>
          <p:cNvSpPr txBox="1"/>
          <p:nvPr/>
        </p:nvSpPr>
        <p:spPr>
          <a:xfrm>
            <a:off x="3839736" y="4255534"/>
            <a:ext cx="7848600" cy="369332"/>
          </a:xfrm>
          <a:prstGeom prst="rect">
            <a:avLst/>
          </a:prstGeom>
          <a:noFill/>
        </p:spPr>
        <p:txBody>
          <a:bodyPr wrap="square">
            <a:spAutoFit/>
          </a:bodyPr>
          <a:lstStyle/>
          <a:p>
            <a:r>
              <a:rPr lang="en-US" dirty="0"/>
              <a:t>https://guides.dataverse.org/en/latest/developers/unf/index.html</a:t>
            </a:r>
          </a:p>
        </p:txBody>
      </p:sp>
      <p:sp>
        <p:nvSpPr>
          <p:cNvPr id="5" name="TextBox 4">
            <a:extLst>
              <a:ext uri="{FF2B5EF4-FFF2-40B4-BE49-F238E27FC236}">
                <a16:creationId xmlns:a16="http://schemas.microsoft.com/office/drawing/2014/main" id="{21E12F6A-0965-46C7-D2E3-AABD4AEF2758}"/>
              </a:ext>
            </a:extLst>
          </p:cNvPr>
          <p:cNvSpPr txBox="1"/>
          <p:nvPr/>
        </p:nvSpPr>
        <p:spPr>
          <a:xfrm>
            <a:off x="503663" y="4823288"/>
            <a:ext cx="11184673" cy="1785104"/>
          </a:xfrm>
          <a:prstGeom prst="rect">
            <a:avLst/>
          </a:prstGeom>
          <a:noFill/>
        </p:spPr>
        <p:txBody>
          <a:bodyPr wrap="square">
            <a:spAutoFit/>
          </a:bodyPr>
          <a:lstStyle/>
          <a:p>
            <a:pPr algn="l"/>
            <a:r>
              <a:rPr lang="en-US" sz="1100" b="0" i="0" dirty="0">
                <a:solidFill>
                  <a:srgbClr val="333333"/>
                </a:solidFill>
                <a:effectLst/>
                <a:highlight>
                  <a:srgbClr val="FFFFFF"/>
                </a:highlight>
                <a:latin typeface="Helvetica Neue"/>
              </a:rPr>
              <a:t>Universal Numerical Fingerprint (UNF) is a unique signature of the </a:t>
            </a:r>
            <a:r>
              <a:rPr lang="en-US" sz="1100" b="1" i="0" dirty="0">
                <a:solidFill>
                  <a:srgbClr val="333333"/>
                </a:solidFill>
                <a:effectLst/>
                <a:highlight>
                  <a:srgbClr val="FFFFFF"/>
                </a:highlight>
                <a:latin typeface="Helvetica Neue"/>
              </a:rPr>
              <a:t>semantic content</a:t>
            </a:r>
            <a:r>
              <a:rPr lang="en-US" sz="1100" b="0" i="0" dirty="0">
                <a:solidFill>
                  <a:srgbClr val="333333"/>
                </a:solidFill>
                <a:effectLst/>
                <a:highlight>
                  <a:srgbClr val="FFFFFF"/>
                </a:highlight>
                <a:latin typeface="Helvetica Neue"/>
              </a:rPr>
              <a:t> of a digital object. It is </a:t>
            </a:r>
            <a:r>
              <a:rPr lang="en-US" sz="1100" b="1" i="0" dirty="0">
                <a:solidFill>
                  <a:srgbClr val="333333"/>
                </a:solidFill>
                <a:effectLst/>
                <a:highlight>
                  <a:srgbClr val="FFFFFF"/>
                </a:highlight>
                <a:latin typeface="Helvetica Neue"/>
              </a:rPr>
              <a:t>not</a:t>
            </a:r>
            <a:r>
              <a:rPr lang="en-US" sz="1100" b="0" i="0" dirty="0">
                <a:solidFill>
                  <a:srgbClr val="333333"/>
                </a:solidFill>
                <a:effectLst/>
                <a:highlight>
                  <a:srgbClr val="FFFFFF"/>
                </a:highlight>
                <a:latin typeface="Helvetica Neue"/>
              </a:rPr>
              <a:t> simply a checksum of a binary data file. Instead, the UNF algorithm approximates and normalizes the data stored within. A cryptographic hash of that normalized (or canonicalized) representation is then computed. The signature is thus independent of the storage format. E.g., the same data object stored in, say, SPSS and Stata, will have the same UNF.</a:t>
            </a:r>
          </a:p>
          <a:p>
            <a:pPr algn="l"/>
            <a:endParaRPr lang="en-US" sz="1100" b="0" i="0" dirty="0">
              <a:solidFill>
                <a:srgbClr val="333333"/>
              </a:solidFill>
              <a:effectLst/>
              <a:highlight>
                <a:srgbClr val="FFFFFF"/>
              </a:highlight>
              <a:latin typeface="Helvetica Neue"/>
            </a:endParaRPr>
          </a:p>
          <a:p>
            <a:pPr algn="l"/>
            <a:r>
              <a:rPr lang="en-US" sz="1100" b="0" i="0" dirty="0">
                <a:solidFill>
                  <a:srgbClr val="333333"/>
                </a:solidFill>
                <a:effectLst/>
                <a:highlight>
                  <a:srgbClr val="FFFFFF"/>
                </a:highlight>
                <a:latin typeface="Helvetica Neue"/>
              </a:rPr>
              <a:t>Early versions of the Dataverse Software were using the first released implementation of the UNF algorithm (v.3, implemented in R). Starting with Dataverse Software 2.0 and throughout the 3.* lifecycle, UNF v.5 (implemented in Java) was used. Dataverse Software 4.0 uses the latest release, UNF v.6. Two parallel implementation, in R and Java, will be available, for cross-validation.</a:t>
            </a:r>
          </a:p>
          <a:p>
            <a:pPr algn="l"/>
            <a:endParaRPr lang="en-US" sz="1100" b="0" i="0" dirty="0">
              <a:solidFill>
                <a:srgbClr val="333333"/>
              </a:solidFill>
              <a:effectLst/>
              <a:highlight>
                <a:srgbClr val="FFFFFF"/>
              </a:highlight>
              <a:latin typeface="Helvetica Neue"/>
            </a:endParaRPr>
          </a:p>
          <a:p>
            <a:pPr algn="l"/>
            <a:r>
              <a:rPr lang="en-US" sz="1100" b="0" i="0" dirty="0">
                <a:solidFill>
                  <a:srgbClr val="333333"/>
                </a:solidFill>
                <a:effectLst/>
                <a:highlight>
                  <a:srgbClr val="FFFFFF"/>
                </a:highlight>
                <a:latin typeface="Helvetica Neue"/>
              </a:rPr>
              <a:t>Learn more: Micah Altman and Gary King. 2007. “A Proposed Standard for the Scholarly Citation of Quantitative Data.” D-Lib Magazine, 13. Publisher’s Version Copy at </a:t>
            </a:r>
            <a:r>
              <a:rPr lang="en-US" sz="1100" b="0" i="0" u="none" strike="noStrike" dirty="0">
                <a:solidFill>
                  <a:srgbClr val="337AB7"/>
                </a:solidFill>
                <a:effectLst/>
                <a:highlight>
                  <a:srgbClr val="FFFFFF"/>
                </a:highlight>
                <a:latin typeface="Helvetica Neue"/>
                <a:hlinkClick r:id="rId3"/>
              </a:rPr>
              <a:t>https://j.mp/2ovSzoT</a:t>
            </a:r>
            <a:endParaRPr lang="en-US" sz="1100" b="0" i="0" dirty="0">
              <a:solidFill>
                <a:srgbClr val="333333"/>
              </a:solidFill>
              <a:effectLst/>
              <a:highlight>
                <a:srgbClr val="FFFFFF"/>
              </a:highlight>
              <a:latin typeface="Helvetica Neue"/>
            </a:endParaRPr>
          </a:p>
        </p:txBody>
      </p:sp>
      <p:sp>
        <p:nvSpPr>
          <p:cNvPr id="7" name="TextBox 6">
            <a:extLst>
              <a:ext uri="{FF2B5EF4-FFF2-40B4-BE49-F238E27FC236}">
                <a16:creationId xmlns:a16="http://schemas.microsoft.com/office/drawing/2014/main" id="{07205F47-5529-367C-677F-F6776BFADEE4}"/>
              </a:ext>
            </a:extLst>
          </p:cNvPr>
          <p:cNvSpPr txBox="1"/>
          <p:nvPr/>
        </p:nvSpPr>
        <p:spPr>
          <a:xfrm>
            <a:off x="872583" y="975785"/>
            <a:ext cx="3766324" cy="830997"/>
          </a:xfrm>
          <a:prstGeom prst="rect">
            <a:avLst/>
          </a:prstGeom>
          <a:noFill/>
        </p:spPr>
        <p:txBody>
          <a:bodyPr wrap="square">
            <a:spAutoFit/>
          </a:bodyPr>
          <a:lstStyle/>
          <a:p>
            <a:r>
              <a:rPr lang="en-US" sz="2400" b="1" dirty="0">
                <a:solidFill>
                  <a:srgbClr val="1F4E79"/>
                </a:solidFill>
                <a:latin typeface="Arial" panose="020B0604020202020204" pitchFamily="34" charset="0"/>
              </a:rPr>
              <a:t>Universal Numeric</a:t>
            </a:r>
          </a:p>
          <a:p>
            <a:r>
              <a:rPr lang="en-US" sz="2400" b="1" dirty="0">
                <a:solidFill>
                  <a:srgbClr val="1F4E79"/>
                </a:solidFill>
                <a:latin typeface="Arial" panose="020B0604020202020204" pitchFamily="34" charset="0"/>
              </a:rPr>
              <a:t> Fingerprint (UNF)</a:t>
            </a:r>
          </a:p>
        </p:txBody>
      </p:sp>
    </p:spTree>
    <p:extLst>
      <p:ext uri="{BB962C8B-B14F-4D97-AF65-F5344CB8AC3E}">
        <p14:creationId xmlns:p14="http://schemas.microsoft.com/office/powerpoint/2010/main" val="3869928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7C13E6-9AD7-69D4-CEC1-64DCB261CD35}"/>
              </a:ext>
            </a:extLst>
          </p:cNvPr>
          <p:cNvSpPr>
            <a:spLocks noChangeArrowheads="1"/>
          </p:cNvSpPr>
          <p:nvPr/>
        </p:nvSpPr>
        <p:spPr bwMode="auto">
          <a:xfrm>
            <a:off x="1033346" y="4625072"/>
            <a:ext cx="10459844" cy="14773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E1E1E"/>
                </a:solidFill>
                <a:effectLst/>
                <a:latin typeface="+mn-lt"/>
                <a:cs typeface="Miriam Fixed" panose="020F0502020204030204" pitchFamily="49" charset="-79"/>
              </a:rPr>
              <a:t>Illustrated in the figure below, is an example of how the data citation is formulated in a Dataverse repository, using the </a:t>
            </a:r>
            <a:r>
              <a:rPr kumimoji="0" lang="en-US" altLang="en-US" sz="2400" b="0" i="0" u="sng" strike="noStrike" cap="none" normalizeH="0" baseline="0" dirty="0">
                <a:ln>
                  <a:noFill/>
                </a:ln>
                <a:solidFill>
                  <a:srgbClr val="215990"/>
                </a:solidFill>
                <a:effectLst/>
                <a:latin typeface="+mn-lt"/>
                <a:cs typeface="Miriam Fixed" panose="020F0502020204030204" pitchFamily="49" charset="-79"/>
                <a:hlinkClick r:id="rId2"/>
              </a:rPr>
              <a:t>Joint Declaration of Data Citation Principles (2014)</a:t>
            </a:r>
            <a:r>
              <a:rPr kumimoji="0" lang="en-US" altLang="en-US" sz="2400" b="0" i="0" u="none" strike="noStrike" cap="none" normalizeH="0" baseline="0" dirty="0">
                <a:ln>
                  <a:noFill/>
                </a:ln>
                <a:solidFill>
                  <a:srgbClr val="1E1E1E"/>
                </a:solidFill>
                <a:effectLst/>
                <a:latin typeface="+mn-lt"/>
                <a:cs typeface="Miriam Fixed" panose="020F0502020204030204" pitchFamily="49" charset="-79"/>
              </a:rPr>
              <a:t> : a synthesis of all previously existing principles and initiatives on data citation. </a:t>
            </a:r>
            <a:endParaRPr kumimoji="0" lang="en-US" altLang="en-US" sz="4800" b="0" i="0" u="none" strike="noStrike" cap="none" normalizeH="0" baseline="0" dirty="0">
              <a:ln>
                <a:noFill/>
              </a:ln>
              <a:solidFill>
                <a:schemeClr val="tx1"/>
              </a:solidFill>
              <a:effectLst/>
              <a:latin typeface="+mn-lt"/>
              <a:cs typeface="Miriam Fixed" panose="020F0502020204030204" pitchFamily="49" charset="-79"/>
            </a:endParaRPr>
          </a:p>
        </p:txBody>
      </p:sp>
      <p:pic>
        <p:nvPicPr>
          <p:cNvPr id="3074" name="Picture 2" descr="citation chart">
            <a:extLst>
              <a:ext uri="{FF2B5EF4-FFF2-40B4-BE49-F238E27FC236}">
                <a16:creationId xmlns:a16="http://schemas.microsoft.com/office/drawing/2014/main" id="{C6C1F610-22D3-2F5F-BDC1-046E469845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651882"/>
            <a:ext cx="7620000" cy="3295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7589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4" name="TextBox 3"/>
          <p:cNvSpPr txBox="1"/>
          <p:nvPr/>
        </p:nvSpPr>
        <p:spPr>
          <a:xfrm>
            <a:off x="4010222" y="1569686"/>
            <a:ext cx="4604146" cy="31393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t>semantic</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6600" b="1" cap="all" dirty="0">
                <a:solidFill>
                  <a:prstClr val="white"/>
                </a:solidFill>
                <a:latin typeface="Arial" panose="020B0604020202020204" pitchFamily="34" charset="0"/>
              </a:rPr>
              <a:t>version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t>control</a:t>
            </a:r>
          </a:p>
        </p:txBody>
      </p:sp>
    </p:spTree>
    <p:extLst>
      <p:ext uri="{BB962C8B-B14F-4D97-AF65-F5344CB8AC3E}">
        <p14:creationId xmlns:p14="http://schemas.microsoft.com/office/powerpoint/2010/main" val="1092652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68205A-1470-94DB-EC35-9A37A7745899}"/>
              </a:ext>
            </a:extLst>
          </p:cNvPr>
          <p:cNvSpPr txBox="1"/>
          <p:nvPr/>
        </p:nvSpPr>
        <p:spPr>
          <a:xfrm>
            <a:off x="1262876" y="349899"/>
            <a:ext cx="7479680" cy="6401753"/>
          </a:xfrm>
          <a:prstGeom prst="rect">
            <a:avLst/>
          </a:prstGeom>
          <a:noFill/>
        </p:spPr>
        <p:txBody>
          <a:bodyPr wrap="square">
            <a:spAutoFit/>
          </a:bodyPr>
          <a:lstStyle/>
          <a:p>
            <a:r>
              <a:rPr lang="en-US" sz="2400" b="1" dirty="0">
                <a:solidFill>
                  <a:srgbClr val="1F4E79"/>
                </a:solidFill>
                <a:latin typeface="Arial" panose="020B0604020202020204" pitchFamily="34" charset="0"/>
              </a:rPr>
              <a:t>Semantic Versioning Convention</a:t>
            </a:r>
          </a:p>
          <a:p>
            <a:endParaRPr lang="en-US" dirty="0"/>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V1.0.0  </a:t>
            </a: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V1.0.1  (small update, typically bug fix in software)  </a:t>
            </a: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V1.1.0  (larger update, often a new feature)  </a:t>
            </a: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V2.0.0  (major update)  </a:t>
            </a:r>
          </a:p>
          <a:p>
            <a:endParaRPr lang="en-US" dirty="0"/>
          </a:p>
          <a:p>
            <a:r>
              <a:rPr lang="en-US" dirty="0"/>
              <a:t>Note, if error is corrected the version changes as follows:</a:t>
            </a:r>
          </a:p>
          <a:p>
            <a:endParaRPr lang="en-US" dirty="0"/>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periods are categories, not decimals </a:t>
            </a:r>
            <a:b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br>
            <a:endParaRPr lang="en-US" sz="1600" dirty="0"/>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CORRECT:    V1.0.12  --&gt;  V1.1.12</a:t>
            </a: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INCORRECT:  V1.0.12  --&gt;  V1.1.00</a:t>
            </a:r>
          </a:p>
          <a:p>
            <a:endParaRPr lang="en-US" dirty="0"/>
          </a:p>
          <a:p>
            <a:r>
              <a:rPr lang="en-US" dirty="0"/>
              <a:t>IN THEORY, categories can be defined for a specific context (data contexts versus software categories):</a:t>
            </a:r>
          </a:p>
          <a:p>
            <a:endParaRPr lang="en-US" dirty="0"/>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major version | new wave in panel | data improvement</a:t>
            </a:r>
          </a:p>
          <a:p>
            <a:pPr lvl="1"/>
            <a:endParaRPr lang="en-US" sz="160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BMF/v1.03.01</a:t>
            </a: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BMF/v2.00.00  # harmonized</a:t>
            </a: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BMF/v2.00.01  # NTEE improved, new field added </a:t>
            </a: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BMF/v2.01.01  # new month of data integrated </a:t>
            </a:r>
          </a:p>
          <a:p>
            <a:endParaRPr lang="en-US" dirty="0"/>
          </a:p>
        </p:txBody>
      </p:sp>
    </p:spTree>
    <p:extLst>
      <p:ext uri="{BB962C8B-B14F-4D97-AF65-F5344CB8AC3E}">
        <p14:creationId xmlns:p14="http://schemas.microsoft.com/office/powerpoint/2010/main" val="4163870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27708-6B7C-DB52-5AB0-2C61FA666061}"/>
              </a:ext>
            </a:extLst>
          </p:cNvPr>
          <p:cNvSpPr>
            <a:spLocks noGrp="1"/>
          </p:cNvSpPr>
          <p:nvPr>
            <p:ph type="title"/>
          </p:nvPr>
        </p:nvSpPr>
        <p:spPr>
          <a:xfrm>
            <a:off x="838200" y="0"/>
            <a:ext cx="10515600" cy="1325563"/>
          </a:xfrm>
        </p:spPr>
        <p:txBody>
          <a:bodyPr/>
          <a:lstStyle/>
          <a:p>
            <a:r>
              <a:rPr lang="en-US" sz="2400" b="1" dirty="0">
                <a:solidFill>
                  <a:srgbClr val="1F4E79"/>
                </a:solidFill>
                <a:latin typeface="Arial" panose="020B0604020202020204" pitchFamily="34" charset="0"/>
                <a:ea typeface="+mn-ea"/>
                <a:cs typeface="+mn-cs"/>
              </a:rPr>
              <a:t>Generating custom DOIs via Crossref:</a:t>
            </a:r>
          </a:p>
        </p:txBody>
      </p:sp>
      <p:sp>
        <p:nvSpPr>
          <p:cNvPr id="3" name="Content Placeholder 2">
            <a:extLst>
              <a:ext uri="{FF2B5EF4-FFF2-40B4-BE49-F238E27FC236}">
                <a16:creationId xmlns:a16="http://schemas.microsoft.com/office/drawing/2014/main" id="{EC2A419B-CB9A-54C2-F6F8-3C1EA2C64655}"/>
              </a:ext>
            </a:extLst>
          </p:cNvPr>
          <p:cNvSpPr>
            <a:spLocks noGrp="1"/>
          </p:cNvSpPr>
          <p:nvPr>
            <p:ph idx="1"/>
          </p:nvPr>
        </p:nvSpPr>
        <p:spPr>
          <a:xfrm>
            <a:off x="838200" y="1156552"/>
            <a:ext cx="10515600" cy="4351338"/>
          </a:xfrm>
        </p:spPr>
        <p:txBody>
          <a:bodyPr>
            <a:normAutofit/>
          </a:bodyPr>
          <a:lstStyle/>
          <a:p>
            <a:r>
              <a:rPr lang="en-US" sz="1800" dirty="0"/>
              <a:t>In practice, it is currently hard to customize DOIs through Crossref because they don’t yet have a form for depositing new datasets – the XML has to be generated manually, including dataset metadata.</a:t>
            </a:r>
          </a:p>
          <a:p>
            <a:r>
              <a:rPr lang="en-US" sz="1800" dirty="0"/>
              <a:t>https://www.crossref.org/documentation/schema-library/markup-guide-record-types/datasets/</a:t>
            </a:r>
          </a:p>
        </p:txBody>
      </p:sp>
      <p:pic>
        <p:nvPicPr>
          <p:cNvPr id="5" name="Picture 4">
            <a:extLst>
              <a:ext uri="{FF2B5EF4-FFF2-40B4-BE49-F238E27FC236}">
                <a16:creationId xmlns:a16="http://schemas.microsoft.com/office/drawing/2014/main" id="{57C71A46-EB05-D3EC-C258-3AF02C663380}"/>
              </a:ext>
            </a:extLst>
          </p:cNvPr>
          <p:cNvPicPr>
            <a:picLocks noChangeAspect="1"/>
          </p:cNvPicPr>
          <p:nvPr/>
        </p:nvPicPr>
        <p:blipFill>
          <a:blip r:embed="rId2"/>
          <a:stretch>
            <a:fillRect/>
          </a:stretch>
        </p:blipFill>
        <p:spPr>
          <a:xfrm>
            <a:off x="1071658" y="2169688"/>
            <a:ext cx="5697132" cy="4494754"/>
          </a:xfrm>
          <a:prstGeom prst="rect">
            <a:avLst/>
          </a:prstGeom>
        </p:spPr>
      </p:pic>
      <p:sp>
        <p:nvSpPr>
          <p:cNvPr id="7" name="TextBox 6">
            <a:extLst>
              <a:ext uri="{FF2B5EF4-FFF2-40B4-BE49-F238E27FC236}">
                <a16:creationId xmlns:a16="http://schemas.microsoft.com/office/drawing/2014/main" id="{9460786F-2AE7-847E-657C-CF8B28A3E335}"/>
              </a:ext>
            </a:extLst>
          </p:cNvPr>
          <p:cNvSpPr txBox="1"/>
          <p:nvPr/>
        </p:nvSpPr>
        <p:spPr>
          <a:xfrm>
            <a:off x="7730583" y="3783833"/>
            <a:ext cx="4346188" cy="923330"/>
          </a:xfrm>
          <a:prstGeom prst="rect">
            <a:avLst/>
          </a:prstGeom>
          <a:noFill/>
        </p:spPr>
        <p:txBody>
          <a:bodyPr wrap="square">
            <a:spAutoFit/>
          </a:bodyPr>
          <a:lstStyle/>
          <a:p>
            <a:r>
              <a:rPr lang="en-US" dirty="0"/>
              <a:t>https://gitlab.com/crossref/schema/-/blob/master/best-practice-examples/dataset.5.3.0.xml</a:t>
            </a:r>
          </a:p>
        </p:txBody>
      </p:sp>
    </p:spTree>
    <p:extLst>
      <p:ext uri="{BB962C8B-B14F-4D97-AF65-F5344CB8AC3E}">
        <p14:creationId xmlns:p14="http://schemas.microsoft.com/office/powerpoint/2010/main" val="4080650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4" name="TextBox 3"/>
          <p:cNvSpPr txBox="1"/>
          <p:nvPr/>
        </p:nvSpPr>
        <p:spPr>
          <a:xfrm>
            <a:off x="2984095" y="1792710"/>
            <a:ext cx="6580648" cy="255454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t>combining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0" b="1" cap="all" dirty="0">
                <a:solidFill>
                  <a:prstClr val="white"/>
                </a:solidFill>
                <a:latin typeface="Arial" panose="020B0604020202020204" pitchFamily="34" charset="0"/>
              </a:rPr>
              <a:t>all three</a:t>
            </a:r>
            <a:endParaRPr kumimoji="0" lang="en-US" sz="8000" b="1" i="0" u="none" strike="noStrike" kern="1200" cap="all"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226156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807D0C-F386-9D97-1655-B30EE7E257C7}"/>
              </a:ext>
            </a:extLst>
          </p:cNvPr>
          <p:cNvSpPr txBox="1"/>
          <p:nvPr/>
        </p:nvSpPr>
        <p:spPr>
          <a:xfrm>
            <a:off x="802887" y="513605"/>
            <a:ext cx="10069551" cy="6124754"/>
          </a:xfrm>
          <a:prstGeom prst="rect">
            <a:avLst/>
          </a:prstGeom>
          <a:noFill/>
        </p:spPr>
        <p:txBody>
          <a:bodyPr wrap="square">
            <a:spAutoFit/>
          </a:bodyPr>
          <a:lstStyle/>
          <a:p>
            <a:r>
              <a:rPr lang="en-US" sz="2400" b="1" dirty="0">
                <a:solidFill>
                  <a:srgbClr val="1F4E79"/>
                </a:solidFill>
                <a:latin typeface="Arial" panose="020B0604020202020204" pitchFamily="34" charset="0"/>
              </a:rPr>
              <a:t>Versions can be incorporated into DOIs</a:t>
            </a:r>
          </a:p>
          <a:p>
            <a:endParaRPr lang="en-US" dirty="0"/>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Gary King, Benjamin </a:t>
            </a:r>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Schneer</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&amp; Ariel White. (2017). Replication Data for: How the News Media Activates Public Expression and Influences National Agendas. Harvard Dataverse. https://doi.org/10.7910/DVN/1EMHTK, </a:t>
            </a:r>
            <a:b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br>
            <a:r>
              <a:rPr lang="en-US" sz="1600" b="1" dirty="0">
                <a:solidFill>
                  <a:srgbClr val="1696D2"/>
                </a:solidFill>
                <a:latin typeface="Arial" panose="020B0604020202020204" pitchFamily="34" charset="0"/>
                <a:ea typeface="Cascadia Mono Light" panose="020B0609020000020004" pitchFamily="49" charset="0"/>
                <a:cs typeface="Cascadia Mono Light" panose="020B0609020000020004" pitchFamily="49" charset="0"/>
              </a:rPr>
              <a:t>version:sha256:0f81072b859159923abd0c47 </a:t>
            </a:r>
            <a:r>
              <a:rPr lang="en-US" sz="1600" dirty="0">
                <a:solidFill>
                  <a:srgbClr val="1696D2"/>
                </a:solidFill>
                <a:latin typeface="Cascadia Mono Light" panose="020B0609020000020004" pitchFamily="49" charset="0"/>
                <a:ea typeface="Cascadia Mono Light" panose="020B0609020000020004" pitchFamily="49" charset="0"/>
                <a:cs typeface="Cascadia Mono Light" panose="020B0609020000020004" pitchFamily="49" charset="0"/>
              </a:rPr>
              <a:t>(</a:t>
            </a:r>
            <a:r>
              <a:rPr lang="en-US" sz="1600" b="1" dirty="0">
                <a:solidFill>
                  <a:srgbClr val="1696D2"/>
                </a:solidFill>
                <a:latin typeface="Arial" panose="020B0604020202020204" pitchFamily="34" charset="0"/>
                <a:ea typeface="Cascadia Mono Light" panose="020B0609020000020004" pitchFamily="49" charset="0"/>
                <a:cs typeface="Cascadia Mono Light" panose="020B0609020000020004" pitchFamily="49" charset="0"/>
              </a:rPr>
              <a:t>“fingerprint” convention using unique data hash</a:t>
            </a:r>
            <a:r>
              <a:rPr lang="en-US" sz="1600" dirty="0">
                <a:solidFill>
                  <a:srgbClr val="1696D2"/>
                </a:solidFill>
                <a:latin typeface="Cascadia Mono Light" panose="020B0609020000020004" pitchFamily="49" charset="0"/>
                <a:ea typeface="Cascadia Mono Light" panose="020B0609020000020004" pitchFamily="49" charset="0"/>
                <a:cs typeface="Cascadia Mono Light" panose="020B0609020000020004" pitchFamily="49" charset="0"/>
              </a:rPr>
              <a:t>)</a:t>
            </a:r>
          </a:p>
          <a:p>
            <a:pPr lvl="1"/>
            <a:endParaRPr lang="en-US" sz="160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Gary King, Benjamin </a:t>
            </a:r>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Schneer</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&amp; Ariel White. (2017). Replication Data for: How the News Media Activates Public Expression and Influences National Agendas. Harvard Dataverse. </a:t>
            </a:r>
          </a:p>
          <a:p>
            <a:pPr lvl="1"/>
            <a:r>
              <a:rPr lang="en-US" sz="1600" dirty="0">
                <a:solidFill>
                  <a:srgbClr val="467886"/>
                </a:solidFill>
                <a:latin typeface="Cascadia Mono Light" panose="020B0609020000020004" pitchFamily="49" charset="0"/>
                <a:ea typeface="Cascadia Mono Light" panose="020B0609020000020004" pitchFamily="49" charset="0"/>
                <a:cs typeface="Cascadia Mono Light" panose="020B0609020000020004" pitchFamily="49" charset="0"/>
                <a:hlinkClick r:id="rId2">
                  <a:extLst>
                    <a:ext uri="{A12FA001-AC4F-418D-AE19-62706E023703}">
                      <ahyp:hlinkClr xmlns:ahyp="http://schemas.microsoft.com/office/drawing/2018/hyperlinkcolor" val="tx"/>
                    </a:ext>
                  </a:extLst>
                </a:hlinkClick>
              </a:rPr>
              <a:t>https://doi.org/10.7910/DVN/1EMHTK/</a:t>
            </a:r>
            <a:r>
              <a:rPr lang="en-US" b="1" dirty="0">
                <a:solidFill>
                  <a:srgbClr val="1696D2"/>
                </a:solidFill>
                <a:latin typeface="Arial" panose="020B0604020202020204" pitchFamily="34" charset="0"/>
                <a:ea typeface="Cascadia Mono Light" panose="020B0609020000020004" pitchFamily="49" charset="0"/>
                <a:cs typeface="Cascadia Mono Light" panose="020B0609020000020004" pitchFamily="49" charset="0"/>
                <a:hlinkClick r:id="rId2">
                  <a:extLst>
                    <a:ext uri="{A12FA001-AC4F-418D-AE19-62706E023703}">
                      <ahyp:hlinkClr xmlns:ahyp="http://schemas.microsoft.com/office/drawing/2018/hyperlinkcolor" val="tx"/>
                    </a:ext>
                  </a:extLst>
                </a:hlinkClick>
              </a:rPr>
              <a:t>v2.15</a:t>
            </a:r>
            <a:r>
              <a:rPr lang="en-US" sz="1600" b="1" dirty="0">
                <a:solidFill>
                  <a:srgbClr val="1696D2"/>
                </a:solidFill>
                <a:latin typeface="Cascadia Mono Light" panose="020B0609020000020004" pitchFamily="49" charset="0"/>
                <a:ea typeface="Cascadia Mono Light" panose="020B0609020000020004" pitchFamily="49" charset="0"/>
                <a:cs typeface="Cascadia Mono Light" panose="020B0609020000020004" pitchFamily="49" charset="0"/>
              </a:rPr>
              <a:t> (</a:t>
            </a:r>
            <a:r>
              <a:rPr lang="en-US" sz="1600" b="1" dirty="0">
                <a:solidFill>
                  <a:srgbClr val="1696D2"/>
                </a:solidFill>
                <a:latin typeface="Arial" panose="020B0604020202020204" pitchFamily="34" charset="0"/>
                <a:ea typeface="Cascadia Mono Light" panose="020B0609020000020004" pitchFamily="49" charset="0"/>
                <a:cs typeface="Cascadia Mono Light" panose="020B0609020000020004" pitchFamily="49" charset="0"/>
              </a:rPr>
              <a:t>versioning convention</a:t>
            </a:r>
            <a:r>
              <a:rPr lang="en-US" sz="1600" b="1" dirty="0">
                <a:solidFill>
                  <a:srgbClr val="1696D2"/>
                </a:solidFill>
                <a:latin typeface="Cascadia Mono Light" panose="020B0609020000020004" pitchFamily="49" charset="0"/>
                <a:ea typeface="Cascadia Mono Light" panose="020B0609020000020004" pitchFamily="49" charset="0"/>
                <a:cs typeface="Cascadia Mono Light" panose="020B0609020000020004" pitchFamily="49" charset="0"/>
              </a:rPr>
              <a:t>)</a:t>
            </a:r>
          </a:p>
          <a:p>
            <a:pPr lvl="1"/>
            <a:endParaRPr lang="en-US" sz="1600" b="1" dirty="0">
              <a:solidFill>
                <a:srgbClr val="1696D2"/>
              </a:solidFill>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a:t>
            </a:r>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Zenodo</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generates a completely unique DOI for each new version)</a:t>
            </a:r>
          </a:p>
          <a:p>
            <a:endParaRPr lang="en-US" sz="1600" dirty="0"/>
          </a:p>
          <a:p>
            <a:endParaRPr lang="en-US" sz="1600" dirty="0"/>
          </a:p>
          <a:p>
            <a:endParaRPr lang="en-US" sz="1600" dirty="0"/>
          </a:p>
          <a:p>
            <a:r>
              <a:rPr lang="en-US" sz="2400" b="1" dirty="0">
                <a:solidFill>
                  <a:srgbClr val="1F4E79"/>
                </a:solidFill>
                <a:latin typeface="Arial" panose="020B0604020202020204" pitchFamily="34" charset="0"/>
              </a:rPr>
              <a:t>DOI databases contain metadata elements that link versions:</a:t>
            </a:r>
          </a:p>
          <a:p>
            <a:endParaRPr lang="en-US" sz="1600" dirty="0"/>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&lt;!--    From Dublin core  --&gt;</a:t>
            </a:r>
          </a:p>
          <a:p>
            <a:pPr lvl="1"/>
            <a:endParaRPr lang="en-US" sz="160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2000" dirty="0">
                <a:solidFill>
                  <a:srgbClr val="1F4E79"/>
                </a:solidFill>
                <a:latin typeface="Arial" panose="020B0604020202020204" pitchFamily="34" charset="0"/>
                <a:ea typeface="Cascadia Mono Light" panose="020B0609020000020004" pitchFamily="49" charset="0"/>
                <a:cs typeface="Cascadia Mono Light" panose="020B0609020000020004" pitchFamily="49" charset="0"/>
              </a:rPr>
              <a:t>&lt;</a:t>
            </a:r>
            <a:r>
              <a:rPr lang="en-US" sz="2000" dirty="0">
                <a:latin typeface="Arial" panose="020B0604020202020204" pitchFamily="34" charset="0"/>
                <a:ea typeface="Cascadia Mono Light" panose="020B0609020000020004" pitchFamily="49" charset="0"/>
                <a:cs typeface="Cascadia Mono Light" panose="020B0609020000020004" pitchFamily="49" charset="0"/>
              </a:rPr>
              <a:t> </a:t>
            </a:r>
            <a:r>
              <a:rPr lang="en-US" sz="2000" dirty="0" err="1">
                <a:solidFill>
                  <a:srgbClr val="1F4E79"/>
                </a:solidFill>
                <a:latin typeface="Arial" panose="020B0604020202020204" pitchFamily="34" charset="0"/>
                <a:ea typeface="Cascadia Mono Light" panose="020B0609020000020004" pitchFamily="49" charset="0"/>
                <a:cs typeface="Cascadia Mono Light" panose="020B0609020000020004" pitchFamily="49" charset="0"/>
              </a:rPr>
              <a:t>xsd:enumeration</a:t>
            </a:r>
            <a:r>
              <a:rPr lang="en-US" sz="2000" dirty="0">
                <a:solidFill>
                  <a:srgbClr val="1F4E79"/>
                </a:solidFill>
                <a:latin typeface="Arial" panose="020B0604020202020204" pitchFamily="34" charset="0"/>
                <a:ea typeface="Cascadia Mono Light" panose="020B0609020000020004" pitchFamily="49" charset="0"/>
                <a:cs typeface="Cascadia Mono Light" panose="020B0609020000020004" pitchFamily="49" charset="0"/>
              </a:rPr>
              <a:t> value="</a:t>
            </a:r>
            <a:r>
              <a:rPr lang="en-US" sz="2000" dirty="0" err="1">
                <a:solidFill>
                  <a:srgbClr val="1696D2"/>
                </a:solidFill>
                <a:latin typeface="Arial" panose="020B0604020202020204" pitchFamily="34" charset="0"/>
                <a:ea typeface="Cascadia Mono Light" panose="020B0609020000020004" pitchFamily="49" charset="0"/>
                <a:cs typeface="Cascadia Mono Light" panose="020B0609020000020004" pitchFamily="49" charset="0"/>
              </a:rPr>
              <a:t>isVersionOf</a:t>
            </a:r>
            <a:r>
              <a:rPr lang="en-US" sz="2000" dirty="0">
                <a:solidFill>
                  <a:srgbClr val="1F4E79"/>
                </a:solidFill>
                <a:latin typeface="Arial" panose="020B0604020202020204" pitchFamily="34" charset="0"/>
                <a:ea typeface="Cascadia Mono Light" panose="020B0609020000020004" pitchFamily="49" charset="0"/>
                <a:cs typeface="Cascadia Mono Light" panose="020B0609020000020004" pitchFamily="49" charset="0"/>
              </a:rPr>
              <a:t>“ /&gt;</a:t>
            </a:r>
          </a:p>
          <a:p>
            <a:pPr lvl="1"/>
            <a:endParaRPr lang="en-US" sz="1600" b="1" dirty="0">
              <a:solidFill>
                <a:srgbClr val="1696D2"/>
              </a:solidFill>
              <a:latin typeface="Cascadia Mono Light" panose="020B0609020000020004" pitchFamily="49" charset="0"/>
              <a:ea typeface="Cascadia Mono Light" panose="020B0609020000020004" pitchFamily="49" charset="0"/>
              <a:cs typeface="Cascadia Mono Light" panose="020B0609020000020004" pitchFamily="49" charset="0"/>
            </a:endParaRPr>
          </a:p>
          <a:p>
            <a:endParaRPr lang="en-US" sz="1800" dirty="0"/>
          </a:p>
        </p:txBody>
      </p:sp>
    </p:spTree>
    <p:extLst>
      <p:ext uri="{BB962C8B-B14F-4D97-AF65-F5344CB8AC3E}">
        <p14:creationId xmlns:p14="http://schemas.microsoft.com/office/powerpoint/2010/main" val="3725008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807D0C-F386-9D97-1655-B30EE7E257C7}"/>
              </a:ext>
            </a:extLst>
          </p:cNvPr>
          <p:cNvSpPr txBox="1"/>
          <p:nvPr/>
        </p:nvSpPr>
        <p:spPr>
          <a:xfrm>
            <a:off x="1234068" y="680873"/>
            <a:ext cx="7839308" cy="2062103"/>
          </a:xfrm>
          <a:prstGeom prst="rect">
            <a:avLst/>
          </a:prstGeom>
          <a:noFill/>
        </p:spPr>
        <p:txBody>
          <a:bodyPr wrap="square">
            <a:spAutoFit/>
          </a:bodyPr>
          <a:lstStyle/>
          <a:p>
            <a:r>
              <a:rPr lang="en-US" sz="2400" b="1" dirty="0">
                <a:solidFill>
                  <a:srgbClr val="1F4E79"/>
                </a:solidFill>
                <a:latin typeface="Arial" panose="020B0604020202020204" pitchFamily="34" charset="0"/>
              </a:rPr>
              <a:t>Versions represent a project or group</a:t>
            </a:r>
          </a:p>
          <a:p>
            <a:endParaRPr lang="en-US" dirty="0"/>
          </a:p>
          <a:p>
            <a:endParaRPr lang="en-US" sz="1600" dirty="0"/>
          </a:p>
          <a:p>
            <a:r>
              <a:rPr lang="en-US" dirty="0"/>
              <a:t>Since there is only one DOI created for each dataset and each DOI points to a single URL, a DOI with or without the version number would point to a dataset landing page or changelog that lists all available versions.</a:t>
            </a:r>
          </a:p>
          <a:p>
            <a:endParaRPr lang="en-US" sz="1600" dirty="0"/>
          </a:p>
        </p:txBody>
      </p:sp>
      <p:sp>
        <p:nvSpPr>
          <p:cNvPr id="2" name="TextBox 1">
            <a:extLst>
              <a:ext uri="{FF2B5EF4-FFF2-40B4-BE49-F238E27FC236}">
                <a16:creationId xmlns:a16="http://schemas.microsoft.com/office/drawing/2014/main" id="{5B489017-6AE1-1438-2F6A-B841CAC004C3}"/>
              </a:ext>
            </a:extLst>
          </p:cNvPr>
          <p:cNvSpPr txBox="1"/>
          <p:nvPr/>
        </p:nvSpPr>
        <p:spPr>
          <a:xfrm>
            <a:off x="1234068" y="2552730"/>
            <a:ext cx="10069551" cy="1354217"/>
          </a:xfrm>
          <a:prstGeom prst="rect">
            <a:avLst/>
          </a:prstGeom>
          <a:noFill/>
        </p:spPr>
        <p:txBody>
          <a:bodyPr wrap="square">
            <a:spAutoFit/>
          </a:bodyPr>
          <a:lstStyle/>
          <a:p>
            <a:endParaRPr lang="en-US" sz="1600" dirty="0"/>
          </a:p>
          <a:p>
            <a:endParaRPr lang="en-US" sz="1800" dirty="0"/>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https://doi.org/10.7910/DVN/1EMHTK/v2.15  --&gt;  v2.15 </a:t>
            </a:r>
            <a:b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br>
            <a:endParaRPr lang="en-US" sz="160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https://doi.org/10.7910/DVN/1EMHTK/       --&gt;  landing page with all versions</a:t>
            </a:r>
          </a:p>
        </p:txBody>
      </p:sp>
    </p:spTree>
    <p:extLst>
      <p:ext uri="{BB962C8B-B14F-4D97-AF65-F5344CB8AC3E}">
        <p14:creationId xmlns:p14="http://schemas.microsoft.com/office/powerpoint/2010/main" val="1594056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68205A-1470-94DB-EC35-9A37A7745899}"/>
              </a:ext>
            </a:extLst>
          </p:cNvPr>
          <p:cNvSpPr txBox="1"/>
          <p:nvPr/>
        </p:nvSpPr>
        <p:spPr>
          <a:xfrm>
            <a:off x="1262875" y="349899"/>
            <a:ext cx="8728617" cy="54476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4E79"/>
                </a:solidFill>
                <a:effectLst/>
                <a:uLnTx/>
                <a:uFillTx/>
                <a:latin typeface="Arial" panose="020B0604020202020204" pitchFamily="34" charset="0"/>
                <a:ea typeface="+mn-ea"/>
                <a:cs typeface="+mn-cs"/>
              </a:rPr>
              <a:t>Semantic Versioning Convention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Currently supported on Dataverse: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major revision / minor revision</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BMF/v1.12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Would be better to define custom semantics, but would require </a:t>
            </a:r>
            <a:r>
              <a:rPr kumimoji="0" lang="en-US" sz="1800" b="0" i="0" u="none" strike="noStrike" kern="1200" cap="none" spc="0" normalizeH="0" baseline="0" noProof="0" dirty="0" err="1">
                <a:ln>
                  <a:noFill/>
                </a:ln>
                <a:solidFill>
                  <a:prstClr val="black"/>
                </a:solidFill>
                <a:effectLst/>
                <a:uLnTx/>
                <a:uFillTx/>
                <a:latin typeface="Aptos" panose="02110004020202020204"/>
                <a:ea typeface="+mn-ea"/>
                <a:cs typeface="+mn-cs"/>
              </a:rPr>
              <a:t>Datacite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membership: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major version / new wave in panel / data improvement</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BMF/v1.03.01</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BMF/v2.00.00   # harmonized</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BMF/v2.00.01   # NTEE improved, new field added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BMF/v2.01.01   # new month of data integrated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92189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4" name="TextBox 3"/>
          <p:cNvSpPr txBox="1"/>
          <p:nvPr/>
        </p:nvSpPr>
        <p:spPr>
          <a:xfrm>
            <a:off x="3132825" y="1792710"/>
            <a:ext cx="6283195" cy="255454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all" spc="0" normalizeH="0" baseline="0" noProof="0" dirty="0">
                <a:ln>
                  <a:noFill/>
                </a:ln>
                <a:solidFill>
                  <a:prstClr val="white"/>
                </a:solidFill>
                <a:effectLst/>
                <a:uLnTx/>
                <a:uFillTx/>
                <a:latin typeface="Arial" panose="020B0604020202020204" pitchFamily="34" charset="0"/>
                <a:ea typeface="+mn-ea"/>
                <a:cs typeface="+mn-cs"/>
              </a:rPr>
              <a:t>Harvard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0" b="1" cap="all" dirty="0" err="1">
                <a:solidFill>
                  <a:prstClr val="white"/>
                </a:solidFill>
                <a:latin typeface="Arial" panose="020B0604020202020204" pitchFamily="34" charset="0"/>
              </a:rPr>
              <a:t>dataverse</a:t>
            </a:r>
            <a:endParaRPr kumimoji="0" lang="en-US" sz="8000" b="1" i="0" u="none" strike="noStrike" kern="1200" cap="all" spc="0" normalizeH="0" baseline="0" noProof="0" dirty="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02627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68205A-1470-94DB-EC35-9A37A7745899}"/>
              </a:ext>
            </a:extLst>
          </p:cNvPr>
          <p:cNvSpPr txBox="1"/>
          <p:nvPr/>
        </p:nvSpPr>
        <p:spPr>
          <a:xfrm>
            <a:off x="1262875" y="517803"/>
            <a:ext cx="8728617" cy="63401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F4E79"/>
                </a:solidFill>
                <a:effectLst/>
                <a:uLnTx/>
                <a:uFillTx/>
                <a:latin typeface="Arial" panose="020B0604020202020204" pitchFamily="34" charset="0"/>
                <a:ea typeface="+mn-ea"/>
                <a:cs typeface="+mn-cs"/>
              </a:rPr>
              <a:t>Harvard Dataverse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Open </a:t>
            </a:r>
            <a:r>
              <a:rPr kumimoji="0" lang="en-US" sz="1800" b="0" i="0" u="none" strike="noStrike" kern="1200" cap="none" spc="0" normalizeH="0" baseline="0" noProof="0" dirty="0" err="1">
                <a:ln>
                  <a:noFill/>
                </a:ln>
                <a:solidFill>
                  <a:prstClr val="black"/>
                </a:solidFill>
                <a:effectLst/>
                <a:uLnTx/>
                <a:uFillTx/>
                <a:latin typeface="Aptos" panose="02110004020202020204"/>
                <a:ea typeface="+mn-ea"/>
                <a:cs typeface="+mn-cs"/>
              </a:rPr>
              <a:t>Scienc</a:t>
            </a:r>
            <a:r>
              <a:rPr lang="en-US" dirty="0">
                <a:solidFill>
                  <a:prstClr val="black"/>
                </a:solidFill>
                <a:latin typeface="Aptos" panose="02110004020202020204"/>
              </a:rPr>
              <a:t>e repository for storing data, data workflows, and replication files.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Free for all researchers to use.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Limits: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prstClr val="black"/>
              </a:solidFill>
              <a:latin typeface="Aptos" panose="02110004020202020204"/>
            </a:endParaRPr>
          </a:p>
          <a:p>
            <a:pPr lvl="1">
              <a:defRPr/>
            </a:pPr>
            <a:r>
              <a:rPr kumimoji="0" lang="en-US" b="0" i="0" u="none" strike="noStrike" kern="1200" cap="none" spc="0" normalizeH="0" baseline="0" noProof="0" dirty="0">
                <a:ln>
                  <a:noFill/>
                </a:ln>
                <a:solidFill>
                  <a:prstClr val="black"/>
                </a:solidFill>
                <a:effectLst/>
                <a:uLnTx/>
                <a:uFillTx/>
                <a:latin typeface="Aptos" panose="02110004020202020204"/>
                <a:ea typeface="+mn-ea"/>
                <a:cs typeface="+mn-cs"/>
              </a:rPr>
              <a:t>2GB per file </a:t>
            </a:r>
          </a:p>
          <a:p>
            <a:pPr lvl="1">
              <a:defRPr/>
            </a:pPr>
            <a:r>
              <a:rPr lang="en-US" dirty="0">
                <a:solidFill>
                  <a:prstClr val="black"/>
                </a:solidFill>
                <a:latin typeface="Aptos" panose="02110004020202020204"/>
              </a:rPr>
              <a:t>1 TB per </a:t>
            </a:r>
            <a:r>
              <a:rPr lang="en-US" dirty="0" err="1">
                <a:solidFill>
                  <a:prstClr val="black"/>
                </a:solidFill>
                <a:latin typeface="Aptos" panose="02110004020202020204"/>
              </a:rPr>
              <a:t>dataverse</a:t>
            </a:r>
            <a:r>
              <a:rPr lang="en-US" dirty="0">
                <a:solidFill>
                  <a:prstClr val="black"/>
                </a:solidFill>
                <a:latin typeface="Aptos" panose="02110004020202020204"/>
              </a:rPr>
              <a:t> (organization or scholar)</a:t>
            </a:r>
          </a:p>
          <a:p>
            <a:pPr lvl="1">
              <a:defRPr/>
            </a:pPr>
            <a:r>
              <a:rPr kumimoji="0" lang="en-US" b="0" i="0" u="none" strike="noStrike" kern="1200" cap="none" spc="0" normalizeH="0" baseline="0" noProof="0" dirty="0">
                <a:ln>
                  <a:noFill/>
                </a:ln>
                <a:solidFill>
                  <a:prstClr val="black"/>
                </a:solidFill>
                <a:effectLst/>
                <a:uLnTx/>
                <a:uFillTx/>
                <a:latin typeface="Aptos" panose="02110004020202020204"/>
                <a:ea typeface="+mn-ea"/>
                <a:cs typeface="+mn-cs"/>
              </a:rPr>
              <a:t>(some limits are negotiable) </a:t>
            </a:r>
          </a:p>
          <a:p>
            <a:pPr lvl="1">
              <a:defRPr/>
            </a:pPr>
            <a:endParaRPr lang="en-US" dirty="0">
              <a:solidFill>
                <a:prstClr val="black"/>
              </a:solidFill>
              <a:latin typeface="Aptos" panose="02110004020202020204"/>
            </a:endParaRPr>
          </a:p>
          <a:p>
            <a:pPr>
              <a:defRPr/>
            </a:pPr>
            <a:r>
              <a:rPr kumimoji="0" lang="en-US" b="0" i="0" u="none" strike="noStrike" kern="1200" cap="none" spc="0" normalizeH="0" baseline="0" noProof="0" dirty="0">
                <a:ln>
                  <a:noFill/>
                </a:ln>
                <a:solidFill>
                  <a:prstClr val="black"/>
                </a:solidFill>
                <a:effectLst/>
                <a:uLnTx/>
                <a:uFillTx/>
                <a:latin typeface="Aptos" panose="02110004020202020204"/>
                <a:ea typeface="+mn-ea"/>
                <a:cs typeface="+mn-cs"/>
              </a:rPr>
              <a:t>Advantages: </a:t>
            </a:r>
          </a:p>
          <a:p>
            <a:pPr>
              <a:defRPr/>
            </a:pPr>
            <a:endParaRPr lang="en-US" dirty="0">
              <a:solidFill>
                <a:prstClr val="black"/>
              </a:solidFill>
              <a:latin typeface="Aptos" panose="02110004020202020204"/>
            </a:endParaRPr>
          </a:p>
          <a:p>
            <a:pPr lvl="1">
              <a:defRPr/>
            </a:pPr>
            <a:r>
              <a:rPr kumimoji="0" lang="en-US" b="0" i="0" u="none" strike="noStrike" kern="1200" cap="none" spc="0" normalizeH="0" baseline="0" noProof="0" dirty="0">
                <a:ln>
                  <a:noFill/>
                </a:ln>
                <a:solidFill>
                  <a:prstClr val="black"/>
                </a:solidFill>
                <a:effectLst/>
                <a:uLnTx/>
                <a:uFillTx/>
                <a:latin typeface="Aptos" panose="02110004020202020204"/>
                <a:ea typeface="+mn-ea"/>
                <a:cs typeface="+mn-cs"/>
              </a:rPr>
              <a:t>R and Python packages make depositing easy </a:t>
            </a:r>
          </a:p>
          <a:p>
            <a:pPr lvl="1">
              <a:defRPr/>
            </a:pPr>
            <a:r>
              <a:rPr lang="en-US" dirty="0">
                <a:solidFill>
                  <a:prstClr val="black"/>
                </a:solidFill>
                <a:latin typeface="Aptos" panose="02110004020202020204"/>
              </a:rPr>
              <a:t>Supports public and private projects (can use API to access private data) </a:t>
            </a:r>
            <a:endParaRPr kumimoji="0" lang="en-US" b="0" i="0" u="none" strike="noStrike" kern="1200" cap="none" spc="0" normalizeH="0" baseline="0" noProof="0" dirty="0">
              <a:ln>
                <a:noFill/>
              </a:ln>
              <a:solidFill>
                <a:prstClr val="black"/>
              </a:solidFill>
              <a:effectLst/>
              <a:uLnTx/>
              <a:uFillTx/>
              <a:latin typeface="Aptos" panose="02110004020202020204"/>
              <a:ea typeface="+mn-ea"/>
              <a:cs typeface="+mn-cs"/>
            </a:endParaRPr>
          </a:p>
          <a:p>
            <a:pPr lvl="1">
              <a:defRPr/>
            </a:pPr>
            <a:r>
              <a:rPr kumimoji="0" lang="en-US" b="0" i="0" u="none" strike="noStrike" kern="1200" cap="none" spc="0" normalizeH="0" baseline="0" noProof="0" dirty="0">
                <a:ln>
                  <a:noFill/>
                </a:ln>
                <a:solidFill>
                  <a:prstClr val="black"/>
                </a:solidFill>
                <a:effectLst/>
                <a:uLnTx/>
                <a:uFillTx/>
                <a:latin typeface="Aptos" panose="02110004020202020204"/>
                <a:ea typeface="+mn-ea"/>
                <a:cs typeface="+mn-cs"/>
              </a:rPr>
              <a:t>Supports versioning</a:t>
            </a:r>
          </a:p>
          <a:p>
            <a:pPr lvl="1">
              <a:defRPr/>
            </a:pPr>
            <a:r>
              <a:rPr lang="en-US" dirty="0">
                <a:solidFill>
                  <a:prstClr val="black"/>
                </a:solidFill>
                <a:latin typeface="Aptos" panose="02110004020202020204"/>
              </a:rPr>
              <a:t>Has an API for accessing data </a:t>
            </a:r>
            <a:endParaRPr kumimoji="0" lang="en-US"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8251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68205A-1470-94DB-EC35-9A37A7745899}"/>
              </a:ext>
            </a:extLst>
          </p:cNvPr>
          <p:cNvSpPr txBox="1"/>
          <p:nvPr/>
        </p:nvSpPr>
        <p:spPr>
          <a:xfrm>
            <a:off x="1262875" y="349899"/>
            <a:ext cx="5171379" cy="66171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F4E79"/>
                </a:solidFill>
                <a:effectLst/>
                <a:uLnTx/>
                <a:uFillTx/>
                <a:latin typeface="Arial" panose="020B0604020202020204" pitchFamily="34" charset="0"/>
                <a:ea typeface="+mn-ea"/>
                <a:cs typeface="+mn-cs"/>
              </a:rPr>
              <a:t>Vocabulary: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Dataverse – collection of datasets owned by a person or organization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prstClr val="black"/>
              </a:solidFill>
              <a:latin typeface="Aptos" panose="0211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ptos" panose="02110004020202020204"/>
                <a:ea typeface="+mn-ea"/>
                <a:cs typeface="+mn-cs"/>
              </a:rPr>
              <a:t>Dataset – a collection of files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prstClr val="black"/>
              </a:solidFill>
              <a:latin typeface="Aptos" panose="02110004020202020204"/>
            </a:endParaRPr>
          </a:p>
          <a:p>
            <a:pPr lvl="1">
              <a:defRPr/>
            </a:pPr>
            <a:r>
              <a:rPr lang="en-US" dirty="0">
                <a:solidFill>
                  <a:prstClr val="black"/>
                </a:solidFill>
                <a:latin typeface="Aptos" panose="02110004020202020204"/>
              </a:rPr>
              <a:t>tabular data</a:t>
            </a:r>
          </a:p>
          <a:p>
            <a:pPr lvl="1">
              <a:defRPr/>
            </a:pPr>
            <a:r>
              <a:rPr kumimoji="0" lang="en-US" b="0" i="0" u="none" strike="noStrike" kern="1200" cap="none" spc="0" normalizeH="0" baseline="0" noProof="0" dirty="0">
                <a:ln>
                  <a:noFill/>
                </a:ln>
                <a:solidFill>
                  <a:prstClr val="black"/>
                </a:solidFill>
                <a:effectLst/>
                <a:uLnTx/>
                <a:uFillTx/>
                <a:latin typeface="Aptos" panose="02110004020202020204"/>
                <a:ea typeface="+mn-ea"/>
                <a:cs typeface="+mn-cs"/>
              </a:rPr>
              <a:t>documentation </a:t>
            </a:r>
          </a:p>
          <a:p>
            <a:pPr lvl="1">
              <a:defRPr/>
            </a:pPr>
            <a:r>
              <a:rPr lang="en-US" dirty="0">
                <a:solidFill>
                  <a:prstClr val="black"/>
                </a:solidFill>
                <a:latin typeface="Aptos" panose="02110004020202020204"/>
              </a:rPr>
              <a:t>code</a:t>
            </a:r>
            <a:endParaRPr kumimoji="0" lang="en-US"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prstClr val="black"/>
              </a:solidFill>
              <a:latin typeface="Aptos" panose="0211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Metadata – many standards supported</a:t>
            </a:r>
            <a:br>
              <a:rPr lang="en-US" dirty="0">
                <a:solidFill>
                  <a:prstClr val="black"/>
                </a:solidFill>
                <a:latin typeface="Aptos" panose="02110004020202020204"/>
              </a:rPr>
            </a:br>
            <a:endParaRPr lang="en-US" dirty="0">
              <a:solidFill>
                <a:prstClr val="black"/>
              </a:solidFill>
              <a:latin typeface="Aptos" panose="02110004020202020204"/>
            </a:endParaRPr>
          </a:p>
          <a:p>
            <a:pPr lvl="1">
              <a:defRPr/>
            </a:pPr>
            <a:r>
              <a:rPr lang="en-US" dirty="0">
                <a:solidFill>
                  <a:prstClr val="black"/>
                </a:solidFill>
                <a:latin typeface="Aptos" panose="02110004020202020204"/>
                <a:hlinkClick r:id="rId2"/>
              </a:rPr>
              <a:t>https://guides.dataverse.org/en/4.6/user/appendix.html#metadata-references</a:t>
            </a:r>
            <a:r>
              <a:rPr lang="en-US" dirty="0">
                <a:solidFill>
                  <a:prstClr val="black"/>
                </a:solidFill>
                <a:latin typeface="Aptos" panose="02110004020202020204"/>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prstClr val="black"/>
              </a:solidFill>
              <a:latin typeface="Aptos" panose="0211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Aptos" panose="02110004020202020204"/>
              </a:rPr>
              <a:t>File upload limits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prstClr val="black"/>
              </a:solidFill>
              <a:effectLst/>
              <a:uLnTx/>
              <a:uFillTx/>
              <a:latin typeface="Aptos" panose="02110004020202020204"/>
              <a:ea typeface="+mn-ea"/>
              <a:cs typeface="+mn-cs"/>
            </a:endParaRPr>
          </a:p>
          <a:p>
            <a:pPr lvl="1">
              <a:defRPr/>
            </a:pPr>
            <a:r>
              <a:rPr kumimoji="0" lang="en-US" b="0" i="0" u="none" strike="noStrike" kern="1200" cap="none" spc="0" normalizeH="0" baseline="0" noProof="0" dirty="0">
                <a:ln>
                  <a:noFill/>
                </a:ln>
                <a:solidFill>
                  <a:prstClr val="black"/>
                </a:solidFill>
                <a:effectLst/>
                <a:uLnTx/>
                <a:uFillTx/>
                <a:latin typeface="Aptos" panose="02110004020202020204"/>
                <a:ea typeface="+mn-ea"/>
                <a:cs typeface="+mn-cs"/>
              </a:rPr>
              <a:t>Maximum of 1,000 files per upload. </a:t>
            </a:r>
          </a:p>
          <a:p>
            <a:pPr lvl="1">
              <a:defRPr/>
            </a:pPr>
            <a:r>
              <a:rPr kumimoji="0" lang="en-US" b="0" i="0" u="none" strike="noStrike" kern="1200" cap="none" spc="0" normalizeH="0" baseline="0" noProof="0" dirty="0">
                <a:ln>
                  <a:noFill/>
                </a:ln>
                <a:solidFill>
                  <a:prstClr val="black"/>
                </a:solidFill>
                <a:effectLst/>
                <a:uLnTx/>
                <a:uFillTx/>
                <a:latin typeface="Aptos" panose="02110004020202020204"/>
                <a:ea typeface="+mn-ea"/>
                <a:cs typeface="+mn-cs"/>
              </a:rPr>
              <a:t>File upload limit is 2.5 GB per file. </a:t>
            </a:r>
          </a:p>
          <a:p>
            <a:pPr lvl="1">
              <a:defRPr/>
            </a:pPr>
            <a:r>
              <a:rPr kumimoji="0" lang="en-US" b="0" i="0" u="none" strike="noStrike" kern="1200" cap="none" spc="0" normalizeH="0" baseline="0" noProof="0" dirty="0">
                <a:ln>
                  <a:noFill/>
                </a:ln>
                <a:solidFill>
                  <a:prstClr val="black"/>
                </a:solidFill>
                <a:effectLst/>
                <a:uLnTx/>
                <a:uFillTx/>
                <a:latin typeface="Aptos" panose="02110004020202020204"/>
                <a:ea typeface="+mn-ea"/>
                <a:cs typeface="+mn-cs"/>
              </a:rPr>
              <a:t>Tabular file ingest is limited to 143.1 MB.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9218" name="Picture 2" descr="image1">
            <a:extLst>
              <a:ext uri="{FF2B5EF4-FFF2-40B4-BE49-F238E27FC236}">
                <a16:creationId xmlns:a16="http://schemas.microsoft.com/office/drawing/2014/main" id="{FA52FED8-CD03-BA22-4BC2-ADB1E7A342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5123" y="1058901"/>
            <a:ext cx="4686300" cy="38481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77768D2-4DC5-9CC9-59F6-08DFFD256124}"/>
              </a:ext>
            </a:extLst>
          </p:cNvPr>
          <p:cNvSpPr txBox="1"/>
          <p:nvPr/>
        </p:nvSpPr>
        <p:spPr>
          <a:xfrm>
            <a:off x="7015975" y="5531470"/>
            <a:ext cx="4984595" cy="954107"/>
          </a:xfrm>
          <a:prstGeom prst="rect">
            <a:avLst/>
          </a:prstGeom>
          <a:noFill/>
        </p:spPr>
        <p:txBody>
          <a:bodyPr wrap="square">
            <a:spAutoFit/>
          </a:bodyPr>
          <a:lstStyle/>
          <a:p>
            <a:r>
              <a:rPr lang="en-US" sz="1400" dirty="0"/>
              <a:t>See also Data Documentation Initiative (DDI) standards for dataset metadata, and the associated R package: </a:t>
            </a:r>
            <a:br>
              <a:rPr lang="en-US" sz="1400" dirty="0"/>
            </a:br>
            <a:endParaRPr lang="en-US" sz="1400" dirty="0"/>
          </a:p>
          <a:p>
            <a:r>
              <a:rPr lang="en-US" sz="1400" dirty="0"/>
              <a:t>https://cran.r-project.org/web/packages/DDIwR/index.html</a:t>
            </a:r>
          </a:p>
        </p:txBody>
      </p:sp>
    </p:spTree>
    <p:extLst>
      <p:ext uri="{BB962C8B-B14F-4D97-AF65-F5344CB8AC3E}">
        <p14:creationId xmlns:p14="http://schemas.microsoft.com/office/powerpoint/2010/main" val="656240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68205A-1470-94DB-EC35-9A37A7745899}"/>
              </a:ext>
            </a:extLst>
          </p:cNvPr>
          <p:cNvSpPr txBox="1"/>
          <p:nvPr/>
        </p:nvSpPr>
        <p:spPr>
          <a:xfrm>
            <a:off x="1262876" y="349899"/>
            <a:ext cx="7479680" cy="39703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4E79"/>
                </a:solidFill>
                <a:effectLst/>
                <a:uLnTx/>
                <a:uFillTx/>
                <a:latin typeface="Arial" panose="020B0604020202020204" pitchFamily="34" charset="0"/>
                <a:ea typeface="+mn-ea"/>
                <a:cs typeface="+mn-cs"/>
              </a:rPr>
              <a:t>Semantic Versioning Convention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Currently supported on Dataverse: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major revision / minor revision</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scadia Mono Light" panose="020B0609020000020004" pitchFamily="49" charset="0"/>
                <a:ea typeface="Cascadia Mono Light" panose="020B0609020000020004" pitchFamily="49" charset="0"/>
                <a:cs typeface="Cascadia Mono Light" panose="020B0609020000020004" pitchFamily="49" charset="0"/>
              </a:rPr>
              <a:t>BMF/v1.12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prstClr val="black"/>
              </a:solidFill>
              <a:latin typeface="Aptos" panose="02110004020202020204"/>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7170" name="Picture 2" descr="image3">
            <a:extLst>
              <a:ext uri="{FF2B5EF4-FFF2-40B4-BE49-F238E27FC236}">
                <a16:creationId xmlns:a16="http://schemas.microsoft.com/office/drawing/2014/main" id="{88C282FA-77D7-CE2E-BDB3-5CAAFE878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5976" y="2460069"/>
            <a:ext cx="6146880" cy="3720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0929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A03E5B-BFDC-8BDC-7462-2245B5DDA49A}"/>
              </a:ext>
            </a:extLst>
          </p:cNvPr>
          <p:cNvSpPr txBox="1"/>
          <p:nvPr/>
        </p:nvSpPr>
        <p:spPr>
          <a:xfrm>
            <a:off x="1407841" y="1716156"/>
            <a:ext cx="9866042" cy="3877985"/>
          </a:xfrm>
          <a:prstGeom prst="rect">
            <a:avLst/>
          </a:prstGeom>
          <a:solidFill>
            <a:schemeClr val="tx2">
              <a:lumMod val="10000"/>
              <a:lumOff val="90000"/>
            </a:schemeClr>
          </a:solidFill>
        </p:spPr>
        <p:txBody>
          <a:bodyPr wrap="square">
            <a:spAutoFit/>
          </a:bodyPr>
          <a:lstStyle/>
          <a:p>
            <a:endParaRPr lang="en-US" sz="160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create the dataset. e/g/ </a:t>
            </a: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ds &lt;- </a:t>
            </a:r>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create_dataset</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a:t>
            </a:r>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mydataverse</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 pick a name of dataset</a:t>
            </a:r>
          </a:p>
          <a:p>
            <a:pPr lvl="1"/>
            <a:endParaRPr lang="en-US" sz="160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add files</a:t>
            </a:r>
          </a:p>
          <a:p>
            <a:pPr lvl="1"/>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tmp</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&lt;- </a:t>
            </a:r>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tempfile</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 In this example, we write to a temporary destination</a:t>
            </a: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write.csv(iris, file = </a:t>
            </a:r>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tmp</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a:t>
            </a:r>
          </a:p>
          <a:p>
            <a:pPr lvl="1"/>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add_dataset_file</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(file = </a:t>
            </a:r>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tmp</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dataset = ds)</a:t>
            </a:r>
          </a:p>
          <a:p>
            <a:pPr lvl="1"/>
            <a:endParaRPr lang="en-US" sz="160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publish dataset</a:t>
            </a:r>
          </a:p>
          <a:p>
            <a:pPr lvl="1"/>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publish_dataset</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(ds)</a:t>
            </a:r>
          </a:p>
          <a:p>
            <a:pPr lvl="1"/>
            <a:endParaRPr lang="en-US" sz="1600"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 dataset will now be published</a:t>
            </a:r>
          </a:p>
          <a:p>
            <a:pPr lvl="1"/>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get_dataverse</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a:t>
            </a:r>
            <a:r>
              <a:rPr lang="en-US" sz="1600" dirty="0" err="1">
                <a:latin typeface="Cascadia Mono Light" panose="020B0609020000020004" pitchFamily="49" charset="0"/>
                <a:ea typeface="Cascadia Mono Light" panose="020B0609020000020004" pitchFamily="49" charset="0"/>
                <a:cs typeface="Cascadia Mono Light" panose="020B0609020000020004" pitchFamily="49" charset="0"/>
              </a:rPr>
              <a:t>mydataverse</a:t>
            </a:r>
            <a:r>
              <a:rPr lang="en-US" sz="1600" dirty="0">
                <a:latin typeface="Cascadia Mono Light" panose="020B0609020000020004" pitchFamily="49" charset="0"/>
                <a:ea typeface="Cascadia Mono Light" panose="020B0609020000020004" pitchFamily="49" charset="0"/>
                <a:cs typeface="Cascadia Mono Light" panose="020B0609020000020004" pitchFamily="49" charset="0"/>
              </a:rPr>
              <a:t>")</a:t>
            </a:r>
          </a:p>
          <a:p>
            <a:endParaRPr lang="en-US" sz="1600" dirty="0">
              <a:latin typeface="Cascadia Mono Light" panose="020B0609020000020004" pitchFamily="49" charset="0"/>
              <a:ea typeface="Cascadia Mono Light" panose="020B0609020000020004" pitchFamily="49" charset="0"/>
              <a:cs typeface="Cascadia Mono Light" panose="020B0609020000020004" pitchFamily="49" charset="0"/>
            </a:endParaRPr>
          </a:p>
        </p:txBody>
      </p:sp>
      <p:sp>
        <p:nvSpPr>
          <p:cNvPr id="6" name="TextBox 5">
            <a:extLst>
              <a:ext uri="{FF2B5EF4-FFF2-40B4-BE49-F238E27FC236}">
                <a16:creationId xmlns:a16="http://schemas.microsoft.com/office/drawing/2014/main" id="{503974A9-BB44-7301-8E67-C777FAB065E1}"/>
              </a:ext>
            </a:extLst>
          </p:cNvPr>
          <p:cNvSpPr txBox="1"/>
          <p:nvPr/>
        </p:nvSpPr>
        <p:spPr>
          <a:xfrm>
            <a:off x="1407841" y="601495"/>
            <a:ext cx="8003788"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F4E79"/>
                </a:solidFill>
                <a:effectLst/>
                <a:uLnTx/>
                <a:uFillTx/>
                <a:latin typeface="Arial" panose="020B0604020202020204" pitchFamily="34" charset="0"/>
                <a:ea typeface="+mn-ea"/>
                <a:cs typeface="+mn-cs"/>
              </a:rPr>
              <a:t>R Package for Dataverse – depositing a dataset: </a:t>
            </a:r>
          </a:p>
        </p:txBody>
      </p:sp>
    </p:spTree>
    <p:extLst>
      <p:ext uri="{BB962C8B-B14F-4D97-AF65-F5344CB8AC3E}">
        <p14:creationId xmlns:p14="http://schemas.microsoft.com/office/powerpoint/2010/main" val="39311223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959BC6-13F1-1850-6CB1-4FD5EEA5A9D3}"/>
              </a:ext>
            </a:extLst>
          </p:cNvPr>
          <p:cNvSpPr txBox="1"/>
          <p:nvPr/>
        </p:nvSpPr>
        <p:spPr>
          <a:xfrm>
            <a:off x="446049" y="1242460"/>
            <a:ext cx="11500624" cy="3783793"/>
          </a:xfrm>
          <a:prstGeom prst="rect">
            <a:avLst/>
          </a:prstGeom>
          <a:solidFill>
            <a:schemeClr val="tx2">
              <a:lumMod val="10000"/>
              <a:lumOff val="90000"/>
            </a:schemeClr>
          </a:solidFill>
        </p:spPr>
        <p:txBody>
          <a:bodyPr wrap="square">
            <a:spAutoFit/>
          </a:bodyPr>
          <a:lstStyle/>
          <a:p>
            <a:pPr lvl="1">
              <a:lnSpc>
                <a:spcPct val="150000"/>
              </a:lnSpc>
            </a:pPr>
            <a:endParaRPr lang="en-US" dirty="0">
              <a:latin typeface="Cascadia Mono Light" panose="020B0609020000020004" pitchFamily="49" charset="0"/>
              <a:ea typeface="Cascadia Mono Light" panose="020B0609020000020004" pitchFamily="49" charset="0"/>
              <a:cs typeface="Cascadia Mono Light" panose="020B0609020000020004" pitchFamily="49" charset="0"/>
            </a:endParaRPr>
          </a:p>
          <a:p>
            <a:pPr lvl="1">
              <a:lnSpc>
                <a:spcPct val="150000"/>
              </a:lnSpc>
            </a:pPr>
            <a:r>
              <a:rPr lang="en-US" dirty="0">
                <a:latin typeface="Cascadia Mono Light" panose="020B0609020000020004" pitchFamily="49" charset="0"/>
                <a:ea typeface="Cascadia Mono Light" panose="020B0609020000020004" pitchFamily="49" charset="0"/>
                <a:cs typeface="Cascadia Mono Light" panose="020B0609020000020004" pitchFamily="49" charset="0"/>
              </a:rPr>
              <a:t>library("</a:t>
            </a:r>
            <a:r>
              <a:rPr lang="en-US" dirty="0" err="1">
                <a:latin typeface="Cascadia Mono Light" panose="020B0609020000020004" pitchFamily="49" charset="0"/>
                <a:ea typeface="Cascadia Mono Light" panose="020B0609020000020004" pitchFamily="49" charset="0"/>
                <a:cs typeface="Cascadia Mono Light" panose="020B0609020000020004" pitchFamily="49" charset="0"/>
              </a:rPr>
              <a:t>dataverse</a:t>
            </a:r>
            <a:r>
              <a:rPr lang="en-US" dirty="0">
                <a:latin typeface="Cascadia Mono Light" panose="020B0609020000020004" pitchFamily="49" charset="0"/>
                <a:ea typeface="Cascadia Mono Light" panose="020B0609020000020004" pitchFamily="49" charset="0"/>
                <a:cs typeface="Cascadia Mono Light" panose="020B0609020000020004" pitchFamily="49" charset="0"/>
              </a:rPr>
              <a:t>")</a:t>
            </a:r>
          </a:p>
          <a:p>
            <a:pPr lvl="1">
              <a:lnSpc>
                <a:spcPct val="150000"/>
              </a:lnSpc>
            </a:pPr>
            <a:r>
              <a:rPr lang="en-US" dirty="0" err="1">
                <a:latin typeface="Cascadia Mono Light" panose="020B0609020000020004" pitchFamily="49" charset="0"/>
                <a:ea typeface="Cascadia Mono Light" panose="020B0609020000020004" pitchFamily="49" charset="0"/>
                <a:cs typeface="Cascadia Mono Light" panose="020B0609020000020004" pitchFamily="49" charset="0"/>
              </a:rPr>
              <a:t>Sys.setenv</a:t>
            </a:r>
            <a:r>
              <a:rPr lang="en-US" dirty="0">
                <a:latin typeface="Cascadia Mono Light" panose="020B0609020000020004" pitchFamily="49" charset="0"/>
                <a:ea typeface="Cascadia Mono Light" panose="020B0609020000020004" pitchFamily="49" charset="0"/>
                <a:cs typeface="Cascadia Mono Light" panose="020B0609020000020004" pitchFamily="49" charset="0"/>
              </a:rPr>
              <a:t>("DATAVERSE_SERVER" = "dataverse.harvard.edu")</a:t>
            </a:r>
          </a:p>
          <a:p>
            <a:pPr lvl="1">
              <a:lnSpc>
                <a:spcPct val="150000"/>
              </a:lnSpc>
            </a:pPr>
            <a:r>
              <a:rPr lang="en-US" dirty="0" err="1">
                <a:latin typeface="Cascadia Mono Light" panose="020B0609020000020004" pitchFamily="49" charset="0"/>
                <a:ea typeface="Cascadia Mono Light" panose="020B0609020000020004" pitchFamily="49" charset="0"/>
                <a:cs typeface="Cascadia Mono Light" panose="020B0609020000020004" pitchFamily="49" charset="0"/>
              </a:rPr>
              <a:t>Sys.setenv</a:t>
            </a:r>
            <a:r>
              <a:rPr lang="en-US" dirty="0">
                <a:latin typeface="Cascadia Mono Light" panose="020B0609020000020004" pitchFamily="49" charset="0"/>
                <a:ea typeface="Cascadia Mono Light" panose="020B0609020000020004" pitchFamily="49" charset="0"/>
                <a:cs typeface="Cascadia Mono Light" panose="020B0609020000020004" pitchFamily="49" charset="0"/>
              </a:rPr>
              <a:t>("DATAVERSE_KEY" = "examplekey12345“)</a:t>
            </a:r>
          </a:p>
          <a:p>
            <a:pPr lvl="1">
              <a:lnSpc>
                <a:spcPct val="150000"/>
              </a:lnSpc>
            </a:pPr>
            <a:r>
              <a:rPr lang="en-US" dirty="0" err="1">
                <a:latin typeface="Cascadia Mono Light" panose="020B0609020000020004" pitchFamily="49" charset="0"/>
                <a:ea typeface="Cascadia Mono Light" panose="020B0609020000020004" pitchFamily="49" charset="0"/>
                <a:cs typeface="Cascadia Mono Light" panose="020B0609020000020004" pitchFamily="49" charset="0"/>
              </a:rPr>
              <a:t>create_dataset</a:t>
            </a:r>
            <a:r>
              <a:rPr lang="en-US" dirty="0">
                <a:latin typeface="Cascadia Mono Light" panose="020B0609020000020004" pitchFamily="49" charset="0"/>
                <a:ea typeface="Cascadia Mono Light" panose="020B0609020000020004" pitchFamily="49" charset="0"/>
                <a:cs typeface="Cascadia Mono Light" panose="020B0609020000020004" pitchFamily="49" charset="0"/>
              </a:rPr>
              <a:t>()   # dataset can be multiple tables </a:t>
            </a:r>
          </a:p>
          <a:p>
            <a:pPr lvl="1">
              <a:lnSpc>
                <a:spcPct val="150000"/>
              </a:lnSpc>
            </a:pPr>
            <a:r>
              <a:rPr lang="en-US" dirty="0" err="1">
                <a:latin typeface="Cascadia Mono Light" panose="020B0609020000020004" pitchFamily="49" charset="0"/>
                <a:ea typeface="Cascadia Mono Light" panose="020B0609020000020004" pitchFamily="49" charset="0"/>
                <a:cs typeface="Cascadia Mono Light" panose="020B0609020000020004" pitchFamily="49" charset="0"/>
              </a:rPr>
              <a:t>add_dataset_file</a:t>
            </a:r>
            <a:r>
              <a:rPr lang="en-US" dirty="0">
                <a:latin typeface="Cascadia Mono Light" panose="020B0609020000020004" pitchFamily="49" charset="0"/>
                <a:ea typeface="Cascadia Mono Light" panose="020B0609020000020004" pitchFamily="49" charset="0"/>
                <a:cs typeface="Cascadia Mono Light" panose="020B0609020000020004" pitchFamily="49" charset="0"/>
              </a:rPr>
              <a:t>() # add new table, dictionary, crosswalk, code </a:t>
            </a:r>
          </a:p>
          <a:p>
            <a:pPr lvl="1">
              <a:lnSpc>
                <a:spcPct val="150000"/>
              </a:lnSpc>
            </a:pPr>
            <a:r>
              <a:rPr lang="en-US" dirty="0" err="1">
                <a:latin typeface="Cascadia Mono Light" panose="020B0609020000020004" pitchFamily="49" charset="0"/>
                <a:ea typeface="Cascadia Mono Light" panose="020B0609020000020004" pitchFamily="49" charset="0"/>
                <a:cs typeface="Cascadia Mono Light" panose="020B0609020000020004" pitchFamily="49" charset="0"/>
              </a:rPr>
              <a:t>update_dataset</a:t>
            </a:r>
            <a:r>
              <a:rPr lang="en-US" dirty="0">
                <a:latin typeface="Cascadia Mono Light" panose="020B0609020000020004" pitchFamily="49" charset="0"/>
                <a:ea typeface="Cascadia Mono Light" panose="020B0609020000020004" pitchFamily="49" charset="0"/>
                <a:cs typeface="Cascadia Mono Light" panose="020B0609020000020004" pitchFamily="49" charset="0"/>
              </a:rPr>
              <a:t>()   # update description, documentation </a:t>
            </a:r>
          </a:p>
          <a:p>
            <a:pPr lvl="1">
              <a:lnSpc>
                <a:spcPct val="150000"/>
              </a:lnSpc>
            </a:pPr>
            <a:r>
              <a:rPr lang="en-US" dirty="0" err="1">
                <a:latin typeface="Cascadia Mono Light" panose="020B0609020000020004" pitchFamily="49" charset="0"/>
                <a:ea typeface="Cascadia Mono Light" panose="020B0609020000020004" pitchFamily="49" charset="0"/>
                <a:cs typeface="Cascadia Mono Light" panose="020B0609020000020004" pitchFamily="49" charset="0"/>
              </a:rPr>
              <a:t>publish_dataset</a:t>
            </a:r>
            <a:r>
              <a:rPr lang="en-US" dirty="0">
                <a:latin typeface="Cascadia Mono Light" panose="020B0609020000020004" pitchFamily="49" charset="0"/>
                <a:ea typeface="Cascadia Mono Light" panose="020B0609020000020004" pitchFamily="49" charset="0"/>
                <a:cs typeface="Cascadia Mono Light" panose="020B0609020000020004" pitchFamily="49" charset="0"/>
              </a:rPr>
              <a:t>()  # can chose MINOR or MAJOR revision</a:t>
            </a:r>
          </a:p>
          <a:p>
            <a:pPr lvl="1">
              <a:lnSpc>
                <a:spcPct val="150000"/>
              </a:lnSpc>
            </a:pPr>
            <a:endParaRPr lang="en-US" dirty="0">
              <a:latin typeface="Cascadia Mono Light" panose="020B0609020000020004" pitchFamily="49" charset="0"/>
              <a:ea typeface="Cascadia Mono Light" panose="020B0609020000020004" pitchFamily="49" charset="0"/>
              <a:cs typeface="Cascadia Mono Light" panose="020B0609020000020004" pitchFamily="49" charset="0"/>
            </a:endParaRPr>
          </a:p>
        </p:txBody>
      </p:sp>
    </p:spTree>
    <p:extLst>
      <p:ext uri="{BB962C8B-B14F-4D97-AF65-F5344CB8AC3E}">
        <p14:creationId xmlns:p14="http://schemas.microsoft.com/office/powerpoint/2010/main" val="1134034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30F379-55E8-D63B-B873-3149231D72E7}"/>
              </a:ext>
            </a:extLst>
          </p:cNvPr>
          <p:cNvPicPr>
            <a:picLocks noChangeAspect="1"/>
          </p:cNvPicPr>
          <p:nvPr/>
        </p:nvPicPr>
        <p:blipFill>
          <a:blip r:embed="rId2"/>
          <a:stretch>
            <a:fillRect/>
          </a:stretch>
        </p:blipFill>
        <p:spPr>
          <a:xfrm>
            <a:off x="332570" y="1476102"/>
            <a:ext cx="11526859" cy="3905795"/>
          </a:xfrm>
          <a:prstGeom prst="rect">
            <a:avLst/>
          </a:prstGeom>
        </p:spPr>
      </p:pic>
      <p:sp>
        <p:nvSpPr>
          <p:cNvPr id="4" name="TextBox 3">
            <a:extLst>
              <a:ext uri="{FF2B5EF4-FFF2-40B4-BE49-F238E27FC236}">
                <a16:creationId xmlns:a16="http://schemas.microsoft.com/office/drawing/2014/main" id="{A5D21595-72CE-618F-6D81-B3119404CE1D}"/>
              </a:ext>
            </a:extLst>
          </p:cNvPr>
          <p:cNvSpPr txBox="1"/>
          <p:nvPr/>
        </p:nvSpPr>
        <p:spPr>
          <a:xfrm>
            <a:off x="1407840" y="601495"/>
            <a:ext cx="906315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F4E79"/>
                </a:solidFill>
                <a:effectLst/>
                <a:uLnTx/>
                <a:uFillTx/>
                <a:latin typeface="Arial" panose="020B0604020202020204" pitchFamily="34" charset="0"/>
                <a:ea typeface="+mn-ea"/>
                <a:cs typeface="+mn-cs"/>
              </a:rPr>
              <a:t>Planned Support for Data Provenance (workflows): </a:t>
            </a:r>
          </a:p>
        </p:txBody>
      </p:sp>
    </p:spTree>
    <p:extLst>
      <p:ext uri="{BB962C8B-B14F-4D97-AF65-F5344CB8AC3E}">
        <p14:creationId xmlns:p14="http://schemas.microsoft.com/office/powerpoint/2010/main" val="1534055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EA2110-2465-00E0-DE55-8808B045E860}"/>
              </a:ext>
            </a:extLst>
          </p:cNvPr>
          <p:cNvPicPr>
            <a:picLocks noChangeAspect="1"/>
          </p:cNvPicPr>
          <p:nvPr/>
        </p:nvPicPr>
        <p:blipFill>
          <a:blip r:embed="rId2"/>
          <a:stretch>
            <a:fillRect/>
          </a:stretch>
        </p:blipFill>
        <p:spPr>
          <a:xfrm>
            <a:off x="1785864" y="0"/>
            <a:ext cx="8620272" cy="6858000"/>
          </a:xfrm>
          <a:prstGeom prst="rect">
            <a:avLst/>
          </a:prstGeom>
        </p:spPr>
      </p:pic>
    </p:spTree>
    <p:extLst>
      <p:ext uri="{BB962C8B-B14F-4D97-AF65-F5344CB8AC3E}">
        <p14:creationId xmlns:p14="http://schemas.microsoft.com/office/powerpoint/2010/main" val="2843322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36798B-9A42-2225-FBFA-68382366ED46}"/>
              </a:ext>
            </a:extLst>
          </p:cNvPr>
          <p:cNvPicPr>
            <a:picLocks noChangeAspect="1"/>
          </p:cNvPicPr>
          <p:nvPr/>
        </p:nvPicPr>
        <p:blipFill>
          <a:blip r:embed="rId2"/>
          <a:stretch>
            <a:fillRect/>
          </a:stretch>
        </p:blipFill>
        <p:spPr>
          <a:xfrm>
            <a:off x="-49126" y="0"/>
            <a:ext cx="9190337" cy="6858000"/>
          </a:xfrm>
          <a:prstGeom prst="rect">
            <a:avLst/>
          </a:prstGeom>
        </p:spPr>
      </p:pic>
      <p:sp>
        <p:nvSpPr>
          <p:cNvPr id="5" name="TextBox 4">
            <a:extLst>
              <a:ext uri="{FF2B5EF4-FFF2-40B4-BE49-F238E27FC236}">
                <a16:creationId xmlns:a16="http://schemas.microsoft.com/office/drawing/2014/main" id="{5644F139-E7BD-ED52-9ECB-15B9AB376FFD}"/>
              </a:ext>
            </a:extLst>
          </p:cNvPr>
          <p:cNvSpPr txBox="1"/>
          <p:nvPr/>
        </p:nvSpPr>
        <p:spPr>
          <a:xfrm>
            <a:off x="9771256" y="2469995"/>
            <a:ext cx="2115944" cy="1477328"/>
          </a:xfrm>
          <a:prstGeom prst="rect">
            <a:avLst/>
          </a:prstGeom>
          <a:noFill/>
        </p:spPr>
        <p:txBody>
          <a:bodyPr wrap="square">
            <a:spAutoFit/>
          </a:bodyPr>
          <a:lstStyle/>
          <a:p>
            <a:r>
              <a:rPr lang="en-US" dirty="0"/>
              <a:t>https://dataverse.org/files/dataverseorg/files/metadataprovenance-mercecrosas.pdf</a:t>
            </a:r>
          </a:p>
        </p:txBody>
      </p:sp>
    </p:spTree>
    <p:extLst>
      <p:ext uri="{BB962C8B-B14F-4D97-AF65-F5344CB8AC3E}">
        <p14:creationId xmlns:p14="http://schemas.microsoft.com/office/powerpoint/2010/main" val="3276267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1897</TotalTime>
  <Words>2461</Words>
  <Application>Microsoft Office PowerPoint</Application>
  <PresentationFormat>Widescreen</PresentationFormat>
  <Paragraphs>398</Paragraphs>
  <Slides>34</Slides>
  <Notes>3</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34</vt:i4>
      </vt:variant>
    </vt:vector>
  </HeadingPairs>
  <TitlesOfParts>
    <vt:vector size="50" baseType="lpstr">
      <vt:lpstr>-apple-system</vt:lpstr>
      <vt:lpstr>Aptos</vt:lpstr>
      <vt:lpstr>Aptos Display</vt:lpstr>
      <vt:lpstr>Arial</vt:lpstr>
      <vt:lpstr>Calibri</vt:lpstr>
      <vt:lpstr>Calibri Light</vt:lpstr>
      <vt:lpstr>Cascadia Mono Light</vt:lpstr>
      <vt:lpstr>Century Gothic</vt:lpstr>
      <vt:lpstr>Euphemia</vt:lpstr>
      <vt:lpstr>Helvetica Neue</vt:lpstr>
      <vt:lpstr>Lato</vt:lpstr>
      <vt:lpstr>Roboto Mono</vt:lpstr>
      <vt:lpstr>Office Theme</vt:lpstr>
      <vt:lpstr>Simple Light</vt:lpstr>
      <vt:lpstr>2_Office Theme</vt:lpstr>
      <vt:lpstr>5_Office Theme</vt:lpstr>
      <vt:lpstr>Emerging Data  Citation Standards  Jesse Lecy </vt:lpstr>
      <vt:lpstr>Value of PROPER citation</vt:lpstr>
      <vt:lpstr>CHALLENGES of  Data citation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LIFE-CYCLE of a research paper through DOIs</vt:lpstr>
      <vt:lpstr>DATA PROVENANCE (history of the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Generating custom DOIs via Crossref: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Jesse Lecy</dc:creator>
  <cp:lastModifiedBy>Jesse Lecy</cp:lastModifiedBy>
  <cp:revision>16</cp:revision>
  <cp:lastPrinted>2024-08-14T22:21:27Z</cp:lastPrinted>
  <dcterms:created xsi:type="dcterms:W3CDTF">2024-06-14T17:07:55Z</dcterms:created>
  <dcterms:modified xsi:type="dcterms:W3CDTF">2026-09-30T01:42:28Z</dcterms:modified>
</cp:coreProperties>
</file>