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1" r:id="rId2"/>
  </p:sldMasterIdLst>
  <p:notesMasterIdLst>
    <p:notesMasterId r:id="rId77"/>
  </p:notesMasterIdLst>
  <p:handoutMasterIdLst>
    <p:handoutMasterId r:id="rId78"/>
  </p:handoutMasterIdLst>
  <p:sldIdLst>
    <p:sldId id="256" r:id="rId3"/>
    <p:sldId id="323" r:id="rId4"/>
    <p:sldId id="324" r:id="rId5"/>
    <p:sldId id="325" r:id="rId6"/>
    <p:sldId id="326" r:id="rId7"/>
    <p:sldId id="327" r:id="rId8"/>
    <p:sldId id="329" r:id="rId9"/>
    <p:sldId id="330" r:id="rId10"/>
    <p:sldId id="353" r:id="rId11"/>
    <p:sldId id="352" r:id="rId12"/>
    <p:sldId id="359" r:id="rId13"/>
    <p:sldId id="357" r:id="rId14"/>
    <p:sldId id="360" r:id="rId15"/>
    <p:sldId id="358" r:id="rId16"/>
    <p:sldId id="361" r:id="rId17"/>
    <p:sldId id="354" r:id="rId18"/>
    <p:sldId id="331" r:id="rId19"/>
    <p:sldId id="332" r:id="rId20"/>
    <p:sldId id="333" r:id="rId21"/>
    <p:sldId id="334" r:id="rId22"/>
    <p:sldId id="335" r:id="rId23"/>
    <p:sldId id="336" r:id="rId24"/>
    <p:sldId id="337" r:id="rId25"/>
    <p:sldId id="338" r:id="rId26"/>
    <p:sldId id="339" r:id="rId27"/>
    <p:sldId id="340" r:id="rId28"/>
    <p:sldId id="355" r:id="rId29"/>
    <p:sldId id="344" r:id="rId30"/>
    <p:sldId id="341" r:id="rId31"/>
    <p:sldId id="345" r:id="rId32"/>
    <p:sldId id="346" r:id="rId33"/>
    <p:sldId id="347" r:id="rId34"/>
    <p:sldId id="348" r:id="rId35"/>
    <p:sldId id="349" r:id="rId36"/>
    <p:sldId id="350" r:id="rId37"/>
    <p:sldId id="351" r:id="rId38"/>
    <p:sldId id="356" r:id="rId39"/>
    <p:sldId id="289" r:id="rId40"/>
    <p:sldId id="292" r:id="rId41"/>
    <p:sldId id="290" r:id="rId42"/>
    <p:sldId id="297" r:id="rId43"/>
    <p:sldId id="296" r:id="rId44"/>
    <p:sldId id="293" r:id="rId45"/>
    <p:sldId id="294" r:id="rId46"/>
    <p:sldId id="295" r:id="rId47"/>
    <p:sldId id="291" r:id="rId48"/>
    <p:sldId id="257" r:id="rId49"/>
    <p:sldId id="258" r:id="rId50"/>
    <p:sldId id="259" r:id="rId51"/>
    <p:sldId id="260" r:id="rId52"/>
    <p:sldId id="270" r:id="rId53"/>
    <p:sldId id="261" r:id="rId54"/>
    <p:sldId id="262" r:id="rId55"/>
    <p:sldId id="271" r:id="rId56"/>
    <p:sldId id="272" r:id="rId57"/>
    <p:sldId id="273" r:id="rId58"/>
    <p:sldId id="274" r:id="rId59"/>
    <p:sldId id="264" r:id="rId60"/>
    <p:sldId id="275" r:id="rId61"/>
    <p:sldId id="265" r:id="rId62"/>
    <p:sldId id="276" r:id="rId63"/>
    <p:sldId id="277" r:id="rId64"/>
    <p:sldId id="284" r:id="rId65"/>
    <p:sldId id="280" r:id="rId66"/>
    <p:sldId id="281" r:id="rId67"/>
    <p:sldId id="282" r:id="rId68"/>
    <p:sldId id="283" r:id="rId69"/>
    <p:sldId id="279" r:id="rId70"/>
    <p:sldId id="288" r:id="rId71"/>
    <p:sldId id="266" r:id="rId72"/>
    <p:sldId id="267" r:id="rId73"/>
    <p:sldId id="268" r:id="rId74"/>
    <p:sldId id="287" r:id="rId75"/>
    <p:sldId id="269" r:id="rId76"/>
  </p:sldIdLst>
  <p:sldSz cx="7772400" cy="10058400"/>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5D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2982" y="78"/>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5.wmf"/><Relationship Id="rId1" Type="http://schemas.openxmlformats.org/officeDocument/2006/relationships/image" Target="../media/image4.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5.wmf"/><Relationship Id="rId1" Type="http://schemas.openxmlformats.org/officeDocument/2006/relationships/image" Target="../media/image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5265809" y="0"/>
            <a:ext cx="4028440" cy="350520"/>
          </a:xfrm>
          <a:prstGeom prst="rect">
            <a:avLst/>
          </a:prstGeom>
        </p:spPr>
        <p:txBody>
          <a:bodyPr vert="horz" lIns="93177" tIns="46589" rIns="93177" bIns="46589" rtlCol="0"/>
          <a:lstStyle>
            <a:lvl1pPr algn="r">
              <a:defRPr sz="1200"/>
            </a:lvl1pPr>
          </a:lstStyle>
          <a:p>
            <a:fld id="{A33972A0-D2DC-4C5E-947C-999AC4BCA557}" type="datetimeFigureOut">
              <a:rPr lang="en-US" smtClean="0"/>
              <a:t>4/10/2020</a:t>
            </a:fld>
            <a:endParaRPr lang="en-US"/>
          </a:p>
        </p:txBody>
      </p:sp>
      <p:sp>
        <p:nvSpPr>
          <p:cNvPr id="4" name="Footer Placeholder 3"/>
          <p:cNvSpPr>
            <a:spLocks noGrp="1"/>
          </p:cNvSpPr>
          <p:nvPr>
            <p:ph type="ftr" sz="quarter" idx="2"/>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5265809" y="6658664"/>
            <a:ext cx="4028440" cy="350520"/>
          </a:xfrm>
          <a:prstGeom prst="rect">
            <a:avLst/>
          </a:prstGeom>
        </p:spPr>
        <p:txBody>
          <a:bodyPr vert="horz" lIns="93177" tIns="46589" rIns="93177" bIns="46589" rtlCol="0" anchor="b"/>
          <a:lstStyle>
            <a:lvl1pPr algn="r">
              <a:defRPr sz="1200"/>
            </a:lvl1pPr>
          </a:lstStyle>
          <a:p>
            <a:fld id="{02E29E85-09B7-42F6-B98D-20AE5D04210E}" type="slidenum">
              <a:rPr lang="en-US" smtClean="0"/>
              <a:t>‹#›</a:t>
            </a:fld>
            <a:endParaRPr lang="en-US"/>
          </a:p>
        </p:txBody>
      </p:sp>
    </p:spTree>
    <p:extLst>
      <p:ext uri="{BB962C8B-B14F-4D97-AF65-F5344CB8AC3E}">
        <p14:creationId xmlns:p14="http://schemas.microsoft.com/office/powerpoint/2010/main" val="19121045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440" cy="3505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5809" y="0"/>
            <a:ext cx="4028440" cy="350520"/>
          </a:xfrm>
          <a:prstGeom prst="rect">
            <a:avLst/>
          </a:prstGeom>
        </p:spPr>
        <p:txBody>
          <a:bodyPr vert="horz" lIns="93177" tIns="46589" rIns="93177" bIns="46589" rtlCol="0"/>
          <a:lstStyle>
            <a:lvl1pPr algn="r">
              <a:defRPr sz="1200"/>
            </a:lvl1pPr>
          </a:lstStyle>
          <a:p>
            <a:fld id="{FF03C39A-337C-43B7-983D-83172343289F}" type="datetimeFigureOut">
              <a:rPr lang="en-US" smtClean="0"/>
              <a:t>4/10/2020</a:t>
            </a:fld>
            <a:endParaRPr lang="en-US"/>
          </a:p>
        </p:txBody>
      </p:sp>
      <p:sp>
        <p:nvSpPr>
          <p:cNvPr id="4" name="Slide Image Placeholder 3"/>
          <p:cNvSpPr>
            <a:spLocks noGrp="1" noRot="1" noChangeAspect="1"/>
          </p:cNvSpPr>
          <p:nvPr>
            <p:ph type="sldImg" idx="2"/>
          </p:nvPr>
        </p:nvSpPr>
        <p:spPr>
          <a:xfrm>
            <a:off x="3633788" y="525463"/>
            <a:ext cx="2028825" cy="2628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29940"/>
            <a:ext cx="7437120" cy="31546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05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5809" y="6658664"/>
            <a:ext cx="4028440" cy="350520"/>
          </a:xfrm>
          <a:prstGeom prst="rect">
            <a:avLst/>
          </a:prstGeom>
        </p:spPr>
        <p:txBody>
          <a:bodyPr vert="horz" lIns="93177" tIns="46589" rIns="93177" bIns="46589" rtlCol="0" anchor="b"/>
          <a:lstStyle>
            <a:lvl1pPr algn="r">
              <a:defRPr sz="1200"/>
            </a:lvl1pPr>
          </a:lstStyle>
          <a:p>
            <a:fld id="{4FCEDEAD-CCBF-4162-8267-E117557F738D}" type="slidenum">
              <a:rPr lang="en-US" smtClean="0"/>
              <a:t>‹#›</a:t>
            </a:fld>
            <a:endParaRPr lang="en-US"/>
          </a:p>
        </p:txBody>
      </p:sp>
    </p:spTree>
    <p:extLst>
      <p:ext uri="{BB962C8B-B14F-4D97-AF65-F5344CB8AC3E}">
        <p14:creationId xmlns:p14="http://schemas.microsoft.com/office/powerpoint/2010/main" val="1589471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04E7A7-2784-4B95-8065-71E1282243B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24012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3124624"/>
            <a:ext cx="6606540" cy="2156037"/>
          </a:xfrm>
        </p:spPr>
        <p:txBody>
          <a:bodyPr/>
          <a:lstStyle/>
          <a:p>
            <a:r>
              <a:rPr lang="en-US"/>
              <a:t>Click to edit Master title style</a:t>
            </a:r>
          </a:p>
        </p:txBody>
      </p:sp>
      <p:sp>
        <p:nvSpPr>
          <p:cNvPr id="3" name="Subtitle 2"/>
          <p:cNvSpPr>
            <a:spLocks noGrp="1"/>
          </p:cNvSpPr>
          <p:nvPr>
            <p:ph type="subTitle" idx="1"/>
          </p:nvPr>
        </p:nvSpPr>
        <p:spPr>
          <a:xfrm>
            <a:off x="1165860" y="5699760"/>
            <a:ext cx="5440680" cy="257048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788286-6892-4692-AC52-70E73709BF5D}" type="datetime1">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830284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DDB279-9B8C-424B-9A9B-DF72EEDBF50F}" type="datetime1">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dirty="0"/>
          </a:p>
        </p:txBody>
      </p:sp>
      <p:sp>
        <p:nvSpPr>
          <p:cNvPr id="7" name="TextBox 6"/>
          <p:cNvSpPr txBox="1"/>
          <p:nvPr userDrawn="1"/>
        </p:nvSpPr>
        <p:spPr>
          <a:xfrm>
            <a:off x="2819400" y="159199"/>
            <a:ext cx="3621504" cy="461665"/>
          </a:xfrm>
          <a:prstGeom prst="rect">
            <a:avLst/>
          </a:prstGeom>
          <a:noFill/>
        </p:spPr>
        <p:txBody>
          <a:bodyPr wrap="none" rtlCol="0">
            <a:spAutoFit/>
          </a:bodyPr>
          <a:lstStyle/>
          <a:p>
            <a:r>
              <a:rPr lang="en-US" sz="2400" cap="small" dirty="0">
                <a:solidFill>
                  <a:schemeClr val="bg1">
                    <a:lumMod val="65000"/>
                  </a:schemeClr>
                </a:solidFill>
                <a:latin typeface="Arial" panose="020B0604020202020204" pitchFamily="34" charset="0"/>
                <a:cs typeface="Arial" panose="020B0604020202020204" pitchFamily="34" charset="0"/>
              </a:rPr>
              <a:t>Partitioned Regression</a:t>
            </a:r>
          </a:p>
        </p:txBody>
      </p:sp>
    </p:spTree>
    <p:extLst>
      <p:ext uri="{BB962C8B-B14F-4D97-AF65-F5344CB8AC3E}">
        <p14:creationId xmlns:p14="http://schemas.microsoft.com/office/powerpoint/2010/main" val="2487189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3966" y="6463454"/>
            <a:ext cx="6606540" cy="199771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613966" y="4263180"/>
            <a:ext cx="6606540" cy="2200274"/>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79BC3A-619E-4F42-8FA5-87D3B7D7E962}" type="datetime1">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
        <p:nvSpPr>
          <p:cNvPr id="8" name="TextBox 7"/>
          <p:cNvSpPr txBox="1"/>
          <p:nvPr userDrawn="1"/>
        </p:nvSpPr>
        <p:spPr>
          <a:xfrm>
            <a:off x="2819400" y="159199"/>
            <a:ext cx="3621504" cy="461665"/>
          </a:xfrm>
          <a:prstGeom prst="rect">
            <a:avLst/>
          </a:prstGeom>
          <a:noFill/>
        </p:spPr>
        <p:txBody>
          <a:bodyPr wrap="none" rtlCol="0">
            <a:spAutoFit/>
          </a:bodyPr>
          <a:lstStyle/>
          <a:p>
            <a:r>
              <a:rPr lang="en-US" sz="2400" cap="small" dirty="0">
                <a:solidFill>
                  <a:schemeClr val="bg1">
                    <a:lumMod val="65000"/>
                  </a:schemeClr>
                </a:solidFill>
                <a:latin typeface="Arial" panose="020B0604020202020204" pitchFamily="34" charset="0"/>
                <a:cs typeface="Arial" panose="020B0604020202020204" pitchFamily="34" charset="0"/>
              </a:rPr>
              <a:t>Partitioned Regression</a:t>
            </a:r>
          </a:p>
        </p:txBody>
      </p:sp>
    </p:spTree>
    <p:extLst>
      <p:ext uri="{BB962C8B-B14F-4D97-AF65-F5344CB8AC3E}">
        <p14:creationId xmlns:p14="http://schemas.microsoft.com/office/powerpoint/2010/main" val="3092676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8620" y="2346961"/>
            <a:ext cx="3432810" cy="663807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950970" y="2346961"/>
            <a:ext cx="3432810" cy="663807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02FC73B-49CE-4542-9309-879B990B72A7}" type="datetime1">
              <a:rPr lang="en-US" smtClean="0"/>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2A4A19-B384-42F8-8C0D-94C30AAB39F2}" type="slidenum">
              <a:rPr lang="en-US" smtClean="0"/>
              <a:t>‹#›</a:t>
            </a:fld>
            <a:endParaRPr lang="en-US"/>
          </a:p>
        </p:txBody>
      </p:sp>
      <p:sp>
        <p:nvSpPr>
          <p:cNvPr id="9" name="TextBox 8"/>
          <p:cNvSpPr txBox="1"/>
          <p:nvPr userDrawn="1"/>
        </p:nvSpPr>
        <p:spPr>
          <a:xfrm>
            <a:off x="2819400" y="159199"/>
            <a:ext cx="3621504" cy="461665"/>
          </a:xfrm>
          <a:prstGeom prst="rect">
            <a:avLst/>
          </a:prstGeom>
          <a:noFill/>
        </p:spPr>
        <p:txBody>
          <a:bodyPr wrap="none" rtlCol="0">
            <a:spAutoFit/>
          </a:bodyPr>
          <a:lstStyle/>
          <a:p>
            <a:r>
              <a:rPr lang="en-US" sz="2400" cap="small" dirty="0">
                <a:solidFill>
                  <a:schemeClr val="bg1">
                    <a:lumMod val="65000"/>
                  </a:schemeClr>
                </a:solidFill>
                <a:latin typeface="Arial" panose="020B0604020202020204" pitchFamily="34" charset="0"/>
                <a:cs typeface="Arial" panose="020B0604020202020204" pitchFamily="34" charset="0"/>
              </a:rPr>
              <a:t>Partitioned Regression</a:t>
            </a:r>
          </a:p>
        </p:txBody>
      </p:sp>
    </p:spTree>
    <p:extLst>
      <p:ext uri="{BB962C8B-B14F-4D97-AF65-F5344CB8AC3E}">
        <p14:creationId xmlns:p14="http://schemas.microsoft.com/office/powerpoint/2010/main" val="10251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88620" y="2251499"/>
            <a:ext cx="3434160" cy="93831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8620" y="3189817"/>
            <a:ext cx="3434160" cy="579522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948272" y="2251499"/>
            <a:ext cx="3435509" cy="93831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948272" y="3189817"/>
            <a:ext cx="3435509" cy="579522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2D0F45-D212-4754-9F51-3F736FAC4615}" type="datetime1">
              <a:rPr lang="en-US" smtClean="0"/>
              <a:t>4/10/2020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2A4A19-B384-42F8-8C0D-94C30AAB39F2}" type="slidenum">
              <a:rPr lang="en-US" smtClean="0"/>
              <a:t>‹#›</a:t>
            </a:fld>
            <a:endParaRPr lang="en-US"/>
          </a:p>
        </p:txBody>
      </p:sp>
      <p:sp>
        <p:nvSpPr>
          <p:cNvPr id="11" name="TextBox 10"/>
          <p:cNvSpPr txBox="1"/>
          <p:nvPr userDrawn="1"/>
        </p:nvSpPr>
        <p:spPr>
          <a:xfrm>
            <a:off x="2819400" y="159199"/>
            <a:ext cx="3621504" cy="461665"/>
          </a:xfrm>
          <a:prstGeom prst="rect">
            <a:avLst/>
          </a:prstGeom>
          <a:noFill/>
        </p:spPr>
        <p:txBody>
          <a:bodyPr wrap="none" rtlCol="0">
            <a:spAutoFit/>
          </a:bodyPr>
          <a:lstStyle/>
          <a:p>
            <a:r>
              <a:rPr lang="en-US" sz="2400" cap="small" dirty="0">
                <a:solidFill>
                  <a:schemeClr val="bg1">
                    <a:lumMod val="65000"/>
                  </a:schemeClr>
                </a:solidFill>
                <a:latin typeface="Arial" panose="020B0604020202020204" pitchFamily="34" charset="0"/>
                <a:cs typeface="Arial" panose="020B0604020202020204" pitchFamily="34" charset="0"/>
              </a:rPr>
              <a:t>Partitioned Regression</a:t>
            </a:r>
          </a:p>
        </p:txBody>
      </p:sp>
    </p:spTree>
    <p:extLst>
      <p:ext uri="{BB962C8B-B14F-4D97-AF65-F5344CB8AC3E}">
        <p14:creationId xmlns:p14="http://schemas.microsoft.com/office/powerpoint/2010/main" val="2599159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C13EA23-5213-40B9-BB1C-33A7FE682BFF}" type="datetime1">
              <a:rPr lang="en-US" smtClean="0"/>
              <a:t>4/10/2020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3144963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9CA689-3F5A-4B85-9093-A601E22777B8}" type="datetime1">
              <a:rPr lang="en-US" smtClean="0"/>
              <a:t>4/10/2020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6641123" y="76200"/>
            <a:ext cx="685800" cy="535517"/>
          </a:xfrm>
        </p:spPr>
        <p:txBody>
          <a:bodyPr/>
          <a:lstStyle>
            <a:lvl1pPr algn="ctr">
              <a:defRPr>
                <a:latin typeface="Arial Black" panose="020B0A04020102020204" pitchFamily="34" charset="0"/>
              </a:defRPr>
            </a:lvl1pPr>
          </a:lstStyle>
          <a:p>
            <a:fld id="{8A2A4A19-B384-42F8-8C0D-94C30AAB39F2}" type="slidenum">
              <a:rPr lang="en-US" smtClean="0"/>
              <a:pPr/>
              <a:t>‹#›</a:t>
            </a:fld>
            <a:endParaRPr lang="en-US"/>
          </a:p>
        </p:txBody>
      </p:sp>
      <p:sp>
        <p:nvSpPr>
          <p:cNvPr id="6" name="TextBox 5"/>
          <p:cNvSpPr txBox="1"/>
          <p:nvPr userDrawn="1"/>
        </p:nvSpPr>
        <p:spPr>
          <a:xfrm>
            <a:off x="2819400" y="159199"/>
            <a:ext cx="3621504" cy="461665"/>
          </a:xfrm>
          <a:prstGeom prst="rect">
            <a:avLst/>
          </a:prstGeom>
          <a:noFill/>
        </p:spPr>
        <p:txBody>
          <a:bodyPr wrap="none" rtlCol="0">
            <a:spAutoFit/>
          </a:bodyPr>
          <a:lstStyle/>
          <a:p>
            <a:r>
              <a:rPr lang="en-US" sz="2400" cap="small" dirty="0">
                <a:solidFill>
                  <a:schemeClr val="bg1">
                    <a:lumMod val="65000"/>
                  </a:schemeClr>
                </a:solidFill>
                <a:latin typeface="Arial" panose="020B0604020202020204" pitchFamily="34" charset="0"/>
                <a:cs typeface="Arial" panose="020B0604020202020204" pitchFamily="34" charset="0"/>
              </a:rPr>
              <a:t>Partitioned Regression</a:t>
            </a:r>
          </a:p>
        </p:txBody>
      </p:sp>
    </p:spTree>
    <p:extLst>
      <p:ext uri="{BB962C8B-B14F-4D97-AF65-F5344CB8AC3E}">
        <p14:creationId xmlns:p14="http://schemas.microsoft.com/office/powerpoint/2010/main" val="3366813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8620" y="400473"/>
            <a:ext cx="2557066" cy="170434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038792" y="400474"/>
            <a:ext cx="4344988" cy="85845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8620" y="2104814"/>
            <a:ext cx="2557066" cy="688022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787089-1A57-4FAF-BA34-70B97E20CEE5}" type="datetime1">
              <a:rPr lang="en-US" smtClean="0"/>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720829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3445" y="7040880"/>
            <a:ext cx="4663440" cy="831216"/>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523445" y="898737"/>
            <a:ext cx="4663440" cy="603504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523445" y="7872096"/>
            <a:ext cx="4663440" cy="118046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1E90C7-F1FE-4D5F-AAA3-C2349B32AFE3}" type="datetime1">
              <a:rPr lang="en-US" smtClean="0"/>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2A4A19-B384-42F8-8C0D-94C30AAB39F2}" type="slidenum">
              <a:rPr lang="en-US" smtClean="0"/>
              <a:t>‹#›</a:t>
            </a:fld>
            <a:endParaRPr lang="en-US"/>
          </a:p>
        </p:txBody>
      </p:sp>
      <p:sp>
        <p:nvSpPr>
          <p:cNvPr id="9" name="TextBox 8"/>
          <p:cNvSpPr txBox="1"/>
          <p:nvPr userDrawn="1"/>
        </p:nvSpPr>
        <p:spPr>
          <a:xfrm>
            <a:off x="2819400" y="159199"/>
            <a:ext cx="3621504" cy="461665"/>
          </a:xfrm>
          <a:prstGeom prst="rect">
            <a:avLst/>
          </a:prstGeom>
          <a:noFill/>
        </p:spPr>
        <p:txBody>
          <a:bodyPr wrap="none" rtlCol="0">
            <a:spAutoFit/>
          </a:bodyPr>
          <a:lstStyle/>
          <a:p>
            <a:r>
              <a:rPr lang="en-US" sz="2400" cap="small" dirty="0">
                <a:solidFill>
                  <a:schemeClr val="bg1">
                    <a:lumMod val="65000"/>
                  </a:schemeClr>
                </a:solidFill>
                <a:latin typeface="Arial" panose="020B0604020202020204" pitchFamily="34" charset="0"/>
                <a:cs typeface="Arial" panose="020B0604020202020204" pitchFamily="34" charset="0"/>
              </a:rPr>
              <a:t>Partitioned Regression</a:t>
            </a:r>
          </a:p>
        </p:txBody>
      </p:sp>
    </p:spTree>
    <p:extLst>
      <p:ext uri="{BB962C8B-B14F-4D97-AF65-F5344CB8AC3E}">
        <p14:creationId xmlns:p14="http://schemas.microsoft.com/office/powerpoint/2010/main" val="4186400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52C86E-824C-4B9C-BF87-D06EFC64ABDD}" type="datetime1">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
        <p:nvSpPr>
          <p:cNvPr id="8" name="TextBox 7"/>
          <p:cNvSpPr txBox="1"/>
          <p:nvPr userDrawn="1"/>
        </p:nvSpPr>
        <p:spPr>
          <a:xfrm>
            <a:off x="2819400" y="159199"/>
            <a:ext cx="3621504" cy="461665"/>
          </a:xfrm>
          <a:prstGeom prst="rect">
            <a:avLst/>
          </a:prstGeom>
          <a:noFill/>
        </p:spPr>
        <p:txBody>
          <a:bodyPr wrap="none" rtlCol="0">
            <a:spAutoFit/>
          </a:bodyPr>
          <a:lstStyle/>
          <a:p>
            <a:r>
              <a:rPr lang="en-US" sz="2400" cap="small" dirty="0">
                <a:solidFill>
                  <a:schemeClr val="bg1">
                    <a:lumMod val="65000"/>
                  </a:schemeClr>
                </a:solidFill>
                <a:latin typeface="Arial" panose="020B0604020202020204" pitchFamily="34" charset="0"/>
                <a:cs typeface="Arial" panose="020B0604020202020204" pitchFamily="34" charset="0"/>
              </a:rPr>
              <a:t>Partitioned Regression</a:t>
            </a:r>
          </a:p>
        </p:txBody>
      </p:sp>
    </p:spTree>
    <p:extLst>
      <p:ext uri="{BB962C8B-B14F-4D97-AF65-F5344CB8AC3E}">
        <p14:creationId xmlns:p14="http://schemas.microsoft.com/office/powerpoint/2010/main" val="455669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634990" y="402803"/>
            <a:ext cx="1748790" cy="85822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8620" y="402803"/>
            <a:ext cx="5116830" cy="85822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59BCAA-A0B3-47C5-ABF8-0E47BD28C2CA}" type="datetime1">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3305492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38F263-8F67-4EB6-A377-0FB965046360}" type="datetime1">
              <a:rPr lang="en-US" smtClean="0"/>
              <a:t>4/10/2020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53BAF0-9579-42B3-B979-30EFD986705E}" type="slidenum">
              <a:rPr lang="en-US" smtClean="0"/>
              <a:t>‹#›</a:t>
            </a:fld>
            <a:endParaRPr lang="en-US"/>
          </a:p>
        </p:txBody>
      </p:sp>
    </p:spTree>
    <p:extLst>
      <p:ext uri="{BB962C8B-B14F-4D97-AF65-F5344CB8AC3E}">
        <p14:creationId xmlns:p14="http://schemas.microsoft.com/office/powerpoint/2010/main" val="3928426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3124624"/>
            <a:ext cx="6606540" cy="2156037"/>
          </a:xfrm>
        </p:spPr>
        <p:txBody>
          <a:bodyPr/>
          <a:lstStyle/>
          <a:p>
            <a:r>
              <a:rPr lang="en-US"/>
              <a:t>Click to edit Master title style</a:t>
            </a:r>
          </a:p>
        </p:txBody>
      </p:sp>
      <p:sp>
        <p:nvSpPr>
          <p:cNvPr id="3" name="Subtitle 2"/>
          <p:cNvSpPr>
            <a:spLocks noGrp="1"/>
          </p:cNvSpPr>
          <p:nvPr>
            <p:ph type="subTitle" idx="1"/>
          </p:nvPr>
        </p:nvSpPr>
        <p:spPr>
          <a:xfrm>
            <a:off x="1165860" y="5699760"/>
            <a:ext cx="5440680" cy="257048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788286-6892-4692-AC52-70E73709BF5D}" type="datetime1">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456896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DDB279-9B8C-424B-9A9B-DF72EEDBF50F}" type="datetime1">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dirty="0"/>
          </a:p>
        </p:txBody>
      </p:sp>
    </p:spTree>
    <p:extLst>
      <p:ext uri="{BB962C8B-B14F-4D97-AF65-F5344CB8AC3E}">
        <p14:creationId xmlns:p14="http://schemas.microsoft.com/office/powerpoint/2010/main" val="3714368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3966" y="6463454"/>
            <a:ext cx="6606540" cy="199771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613966" y="4263180"/>
            <a:ext cx="6606540" cy="2200274"/>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79BC3A-619E-4F42-8FA5-87D3B7D7E962}" type="datetime1">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2810578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8620" y="2346961"/>
            <a:ext cx="3432810" cy="663807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950970" y="2346961"/>
            <a:ext cx="3432810" cy="6638079"/>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02FC73B-49CE-4542-9309-879B990B72A7}" type="datetime1">
              <a:rPr lang="en-US" smtClean="0"/>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36019036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88620" y="2251499"/>
            <a:ext cx="3434160" cy="93831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8620" y="3189817"/>
            <a:ext cx="3434160" cy="579522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948272" y="2251499"/>
            <a:ext cx="3435509" cy="93831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948272" y="3189817"/>
            <a:ext cx="3435509" cy="579522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2D0F45-D212-4754-9F51-3F736FAC4615}" type="datetime1">
              <a:rPr lang="en-US" smtClean="0"/>
              <a:t>4/10/2020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41757984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C13EA23-5213-40B9-BB1C-33A7FE682BFF}" type="datetime1">
              <a:rPr lang="en-US" smtClean="0"/>
              <a:t>4/10/2020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6986850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9CA689-3F5A-4B85-9093-A601E22777B8}" type="datetime1">
              <a:rPr lang="en-US" smtClean="0"/>
              <a:t>4/10/2020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6641123" y="76200"/>
            <a:ext cx="685800" cy="535517"/>
          </a:xfrm>
        </p:spPr>
        <p:txBody>
          <a:bodyPr/>
          <a:lstStyle>
            <a:lvl1pPr algn="ctr">
              <a:defRPr>
                <a:latin typeface="Arial Black" panose="020B0A04020102020204" pitchFamily="34" charset="0"/>
              </a:defRPr>
            </a:lvl1pPr>
          </a:lstStyle>
          <a:p>
            <a:fld id="{8A2A4A19-B384-42F8-8C0D-94C30AAB39F2}" type="slidenum">
              <a:rPr lang="en-US" smtClean="0"/>
              <a:pPr/>
              <a:t>‹#›</a:t>
            </a:fld>
            <a:endParaRPr lang="en-US"/>
          </a:p>
        </p:txBody>
      </p:sp>
    </p:spTree>
    <p:extLst>
      <p:ext uri="{BB962C8B-B14F-4D97-AF65-F5344CB8AC3E}">
        <p14:creationId xmlns:p14="http://schemas.microsoft.com/office/powerpoint/2010/main" val="12443106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8620" y="400473"/>
            <a:ext cx="2557066" cy="170434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038792" y="400474"/>
            <a:ext cx="4344988" cy="858456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8620" y="2104814"/>
            <a:ext cx="2557066" cy="688022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787089-1A57-4FAF-BA34-70B97E20CEE5}" type="datetime1">
              <a:rPr lang="en-US" smtClean="0"/>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19721873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3445" y="7040880"/>
            <a:ext cx="4663440" cy="831216"/>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523445" y="898737"/>
            <a:ext cx="4663440" cy="603504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523445" y="7872096"/>
            <a:ext cx="4663440" cy="118046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1E90C7-F1FE-4D5F-AAA3-C2349B32AFE3}" type="datetime1">
              <a:rPr lang="en-US" smtClean="0"/>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37352341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52C86E-824C-4B9C-BF87-D06EFC64ABDD}" type="datetime1">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31763224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634990" y="402803"/>
            <a:ext cx="1748790" cy="85822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8620" y="402803"/>
            <a:ext cx="5116830" cy="85822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59BCAA-A0B3-47C5-ABF8-0E47BD28C2CA}" type="datetime1">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2A4A19-B384-42F8-8C0D-94C30AAB39F2}" type="slidenum">
              <a:rPr lang="en-US" smtClean="0"/>
              <a:t>‹#›</a:t>
            </a:fld>
            <a:endParaRPr lang="en-US"/>
          </a:p>
        </p:txBody>
      </p:sp>
    </p:spTree>
    <p:extLst>
      <p:ext uri="{BB962C8B-B14F-4D97-AF65-F5344CB8AC3E}">
        <p14:creationId xmlns:p14="http://schemas.microsoft.com/office/powerpoint/2010/main" val="38457497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sp>
        <p:nvSpPr>
          <p:cNvPr id="6" name="Text Placeholder 14"/>
          <p:cNvSpPr>
            <a:spLocks noGrp="1"/>
          </p:cNvSpPr>
          <p:nvPr>
            <p:ph type="body" sz="quarter" idx="13" hasCustomPrompt="1"/>
          </p:nvPr>
        </p:nvSpPr>
        <p:spPr>
          <a:xfrm>
            <a:off x="1878330" y="268224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1" name="Text Placeholder 14"/>
          <p:cNvSpPr>
            <a:spLocks noGrp="1"/>
          </p:cNvSpPr>
          <p:nvPr>
            <p:ph type="body" sz="quarter" idx="14" hasCustomPrompt="1"/>
          </p:nvPr>
        </p:nvSpPr>
        <p:spPr>
          <a:xfrm>
            <a:off x="1878330" y="614680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2" name="Text Placeholder 14"/>
          <p:cNvSpPr>
            <a:spLocks noGrp="1"/>
          </p:cNvSpPr>
          <p:nvPr>
            <p:ph type="body" sz="quarter" idx="15" hasCustomPrompt="1"/>
          </p:nvPr>
        </p:nvSpPr>
        <p:spPr>
          <a:xfrm>
            <a:off x="4660849" y="614680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3" name="Text Placeholder 14"/>
          <p:cNvSpPr>
            <a:spLocks noGrp="1"/>
          </p:cNvSpPr>
          <p:nvPr>
            <p:ph type="body" sz="quarter" idx="16" hasCustomPrompt="1"/>
          </p:nvPr>
        </p:nvSpPr>
        <p:spPr>
          <a:xfrm>
            <a:off x="4663440" y="268224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8" name="Text Placeholder 17"/>
          <p:cNvSpPr>
            <a:spLocks noGrp="1"/>
          </p:cNvSpPr>
          <p:nvPr>
            <p:ph type="body" sz="quarter" idx="17"/>
          </p:nvPr>
        </p:nvSpPr>
        <p:spPr>
          <a:xfrm>
            <a:off x="453390" y="782320"/>
            <a:ext cx="6593467" cy="1452880"/>
          </a:xfrm>
        </p:spPr>
        <p:txBody>
          <a:bodyPr anchor="b">
            <a:normAutofit/>
          </a:bodyPr>
          <a:lstStyle>
            <a:lvl1pPr marL="0" indent="0">
              <a:buNone/>
              <a:defRPr sz="2380" b="1">
                <a:latin typeface="Times New Roman" panose="02020603050405020304" pitchFamily="18" charset="0"/>
                <a:ea typeface="Segoe UI Symbol" pitchFamily="34"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2044677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sp>
        <p:nvSpPr>
          <p:cNvPr id="6" name="Text Placeholder 14"/>
          <p:cNvSpPr>
            <a:spLocks noGrp="1"/>
          </p:cNvSpPr>
          <p:nvPr>
            <p:ph type="body" sz="quarter" idx="13" hasCustomPrompt="1"/>
          </p:nvPr>
        </p:nvSpPr>
        <p:spPr>
          <a:xfrm>
            <a:off x="1878330" y="268224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1" name="Text Placeholder 14"/>
          <p:cNvSpPr>
            <a:spLocks noGrp="1"/>
          </p:cNvSpPr>
          <p:nvPr>
            <p:ph type="body" sz="quarter" idx="14" hasCustomPrompt="1"/>
          </p:nvPr>
        </p:nvSpPr>
        <p:spPr>
          <a:xfrm>
            <a:off x="1878330" y="614680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2" name="Text Placeholder 14"/>
          <p:cNvSpPr>
            <a:spLocks noGrp="1"/>
          </p:cNvSpPr>
          <p:nvPr>
            <p:ph type="body" sz="quarter" idx="15" hasCustomPrompt="1"/>
          </p:nvPr>
        </p:nvSpPr>
        <p:spPr>
          <a:xfrm>
            <a:off x="4660849" y="614680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3" name="Text Placeholder 14"/>
          <p:cNvSpPr>
            <a:spLocks noGrp="1"/>
          </p:cNvSpPr>
          <p:nvPr>
            <p:ph type="body" sz="quarter" idx="16" hasCustomPrompt="1"/>
          </p:nvPr>
        </p:nvSpPr>
        <p:spPr>
          <a:xfrm>
            <a:off x="4663440" y="268224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8" name="Text Placeholder 17"/>
          <p:cNvSpPr>
            <a:spLocks noGrp="1"/>
          </p:cNvSpPr>
          <p:nvPr>
            <p:ph type="body" sz="quarter" idx="17"/>
          </p:nvPr>
        </p:nvSpPr>
        <p:spPr>
          <a:xfrm>
            <a:off x="453390" y="782320"/>
            <a:ext cx="6593467" cy="1452880"/>
          </a:xfrm>
        </p:spPr>
        <p:txBody>
          <a:bodyPr anchor="b">
            <a:normAutofit/>
          </a:bodyPr>
          <a:lstStyle>
            <a:lvl1pPr marL="0" indent="0">
              <a:buNone/>
              <a:defRPr sz="2380" b="1">
                <a:latin typeface="Times New Roman" panose="02020603050405020304" pitchFamily="18" charset="0"/>
                <a:ea typeface="Segoe UI Symbol" pitchFamily="34"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5994457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8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sp>
        <p:nvSpPr>
          <p:cNvPr id="6" name="Text Placeholder 14"/>
          <p:cNvSpPr>
            <a:spLocks noGrp="1"/>
          </p:cNvSpPr>
          <p:nvPr>
            <p:ph type="body" sz="quarter" idx="13" hasCustomPrompt="1"/>
          </p:nvPr>
        </p:nvSpPr>
        <p:spPr>
          <a:xfrm>
            <a:off x="1878330" y="268224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1" name="Text Placeholder 14"/>
          <p:cNvSpPr>
            <a:spLocks noGrp="1"/>
          </p:cNvSpPr>
          <p:nvPr>
            <p:ph type="body" sz="quarter" idx="14" hasCustomPrompt="1"/>
          </p:nvPr>
        </p:nvSpPr>
        <p:spPr>
          <a:xfrm>
            <a:off x="1878330" y="614680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2" name="Text Placeholder 14"/>
          <p:cNvSpPr>
            <a:spLocks noGrp="1"/>
          </p:cNvSpPr>
          <p:nvPr>
            <p:ph type="body" sz="quarter" idx="15" hasCustomPrompt="1"/>
          </p:nvPr>
        </p:nvSpPr>
        <p:spPr>
          <a:xfrm>
            <a:off x="4660849" y="614680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3" name="Text Placeholder 14"/>
          <p:cNvSpPr>
            <a:spLocks noGrp="1"/>
          </p:cNvSpPr>
          <p:nvPr>
            <p:ph type="body" sz="quarter" idx="16" hasCustomPrompt="1"/>
          </p:nvPr>
        </p:nvSpPr>
        <p:spPr>
          <a:xfrm>
            <a:off x="4663440" y="268224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8" name="Text Placeholder 17"/>
          <p:cNvSpPr>
            <a:spLocks noGrp="1"/>
          </p:cNvSpPr>
          <p:nvPr>
            <p:ph type="body" sz="quarter" idx="17"/>
          </p:nvPr>
        </p:nvSpPr>
        <p:spPr>
          <a:xfrm>
            <a:off x="453390" y="782320"/>
            <a:ext cx="6593467" cy="1452880"/>
          </a:xfrm>
        </p:spPr>
        <p:txBody>
          <a:bodyPr anchor="b">
            <a:normAutofit/>
          </a:bodyPr>
          <a:lstStyle>
            <a:lvl1pPr marL="0" indent="0">
              <a:buNone/>
              <a:defRPr sz="2380" b="1">
                <a:latin typeface="Times New Roman" panose="02020603050405020304" pitchFamily="18" charset="0"/>
                <a:ea typeface="Segoe UI Symbol" pitchFamily="34"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5342167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9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sp>
        <p:nvSpPr>
          <p:cNvPr id="6" name="Text Placeholder 14"/>
          <p:cNvSpPr>
            <a:spLocks noGrp="1"/>
          </p:cNvSpPr>
          <p:nvPr>
            <p:ph type="body" sz="quarter" idx="13" hasCustomPrompt="1"/>
          </p:nvPr>
        </p:nvSpPr>
        <p:spPr>
          <a:xfrm>
            <a:off x="1878330" y="268224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1" name="Text Placeholder 14"/>
          <p:cNvSpPr>
            <a:spLocks noGrp="1"/>
          </p:cNvSpPr>
          <p:nvPr>
            <p:ph type="body" sz="quarter" idx="14" hasCustomPrompt="1"/>
          </p:nvPr>
        </p:nvSpPr>
        <p:spPr>
          <a:xfrm>
            <a:off x="1878330" y="614680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2" name="Text Placeholder 14"/>
          <p:cNvSpPr>
            <a:spLocks noGrp="1"/>
          </p:cNvSpPr>
          <p:nvPr>
            <p:ph type="body" sz="quarter" idx="15" hasCustomPrompt="1"/>
          </p:nvPr>
        </p:nvSpPr>
        <p:spPr>
          <a:xfrm>
            <a:off x="4660849" y="614680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3" name="Text Placeholder 14"/>
          <p:cNvSpPr>
            <a:spLocks noGrp="1"/>
          </p:cNvSpPr>
          <p:nvPr>
            <p:ph type="body" sz="quarter" idx="16" hasCustomPrompt="1"/>
          </p:nvPr>
        </p:nvSpPr>
        <p:spPr>
          <a:xfrm>
            <a:off x="4663440" y="2682240"/>
            <a:ext cx="2658161" cy="3245510"/>
          </a:xfrm>
        </p:spPr>
        <p:txBody>
          <a:bodyPr anchor="ctr">
            <a:normAutofit/>
          </a:bodyPr>
          <a:lstStyle>
            <a:lvl1pPr marL="0" indent="0">
              <a:buNone/>
              <a:defRPr sz="1020" baseline="0">
                <a:latin typeface="Batang" pitchFamily="18" charset="-127"/>
                <a:ea typeface="Batang" pitchFamily="18" charset="-127"/>
              </a:defRPr>
            </a:lvl1pPr>
          </a:lstStyle>
          <a:p>
            <a:pPr lvl="0"/>
            <a:r>
              <a:rPr lang="en-US" sz="1020" dirty="0">
                <a:latin typeface="Batang" pitchFamily="18" charset="-127"/>
                <a:ea typeface="Batang" pitchFamily="18" charset="-127"/>
              </a:rPr>
              <a:t>Text style</a:t>
            </a:r>
            <a:endParaRPr lang="en-US" dirty="0"/>
          </a:p>
        </p:txBody>
      </p:sp>
      <p:sp>
        <p:nvSpPr>
          <p:cNvPr id="18" name="Text Placeholder 17"/>
          <p:cNvSpPr>
            <a:spLocks noGrp="1"/>
          </p:cNvSpPr>
          <p:nvPr>
            <p:ph type="body" sz="quarter" idx="17"/>
          </p:nvPr>
        </p:nvSpPr>
        <p:spPr>
          <a:xfrm>
            <a:off x="453390" y="782320"/>
            <a:ext cx="6593467" cy="1452880"/>
          </a:xfrm>
        </p:spPr>
        <p:txBody>
          <a:bodyPr anchor="b">
            <a:normAutofit/>
          </a:bodyPr>
          <a:lstStyle>
            <a:lvl1pPr marL="0" indent="0">
              <a:buNone/>
              <a:defRPr sz="2380" b="1">
                <a:latin typeface="Times New Roman" panose="02020603050405020304" pitchFamily="18" charset="0"/>
                <a:ea typeface="Segoe UI Symbol" pitchFamily="34"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854477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7764" y="1157985"/>
            <a:ext cx="6995160" cy="16764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88620" y="3429000"/>
            <a:ext cx="6995160" cy="55560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88620" y="9322647"/>
            <a:ext cx="1813560" cy="535517"/>
          </a:xfrm>
          <a:prstGeom prst="rect">
            <a:avLst/>
          </a:prstGeom>
        </p:spPr>
        <p:txBody>
          <a:bodyPr vert="horz" lIns="91440" tIns="45720" rIns="91440" bIns="45720" rtlCol="0" anchor="ctr"/>
          <a:lstStyle>
            <a:lvl1pPr algn="l">
              <a:defRPr sz="1200">
                <a:solidFill>
                  <a:schemeClr val="tx1">
                    <a:tint val="75000"/>
                  </a:schemeClr>
                </a:solidFill>
              </a:defRPr>
            </a:lvl1pPr>
          </a:lstStyle>
          <a:p>
            <a:fld id="{DB6D3295-5BF5-4E09-87B3-EEF71ECAF0D0}" type="datetime1">
              <a:rPr lang="en-US" smtClean="0"/>
              <a:t>4/10/2020</a:t>
            </a:fld>
            <a:endParaRPr lang="en-US"/>
          </a:p>
        </p:txBody>
      </p:sp>
      <p:sp>
        <p:nvSpPr>
          <p:cNvPr id="5" name="Footer Placeholder 4"/>
          <p:cNvSpPr>
            <a:spLocks noGrp="1"/>
          </p:cNvSpPr>
          <p:nvPr>
            <p:ph type="ftr" sz="quarter" idx="3"/>
          </p:nvPr>
        </p:nvSpPr>
        <p:spPr>
          <a:xfrm>
            <a:off x="2655570" y="9322647"/>
            <a:ext cx="2461260" cy="53551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7" name="Pentagon 6"/>
          <p:cNvSpPr/>
          <p:nvPr userDrawn="1"/>
        </p:nvSpPr>
        <p:spPr>
          <a:xfrm rot="5400000">
            <a:off x="6553200" y="228600"/>
            <a:ext cx="838200" cy="381000"/>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p:cNvSpPr>
            <a:spLocks noGrp="1"/>
          </p:cNvSpPr>
          <p:nvPr>
            <p:ph type="sldNum" sz="quarter" idx="4"/>
          </p:nvPr>
        </p:nvSpPr>
        <p:spPr>
          <a:xfrm>
            <a:off x="6664569" y="104449"/>
            <a:ext cx="609600" cy="535517"/>
          </a:xfrm>
          <a:prstGeom prst="rect">
            <a:avLst/>
          </a:prstGeom>
        </p:spPr>
        <p:txBody>
          <a:bodyPr vert="horz" lIns="91440" tIns="45720" rIns="91440" bIns="45720" rtlCol="0" anchor="ctr"/>
          <a:lstStyle>
            <a:lvl1pPr algn="ctr">
              <a:defRPr sz="1400" b="1">
                <a:solidFill>
                  <a:schemeClr val="bg1"/>
                </a:solidFill>
              </a:defRPr>
            </a:lvl1pPr>
          </a:lstStyle>
          <a:p>
            <a:fld id="{8A2A4A19-B384-42F8-8C0D-94C30AAB39F2}" type="slidenum">
              <a:rPr lang="en-US" smtClean="0"/>
              <a:pPr/>
              <a:t>‹#›</a:t>
            </a:fld>
            <a:endParaRPr lang="en-US" dirty="0"/>
          </a:p>
        </p:txBody>
      </p:sp>
    </p:spTree>
    <p:extLst>
      <p:ext uri="{BB962C8B-B14F-4D97-AF65-F5344CB8AC3E}">
        <p14:creationId xmlns:p14="http://schemas.microsoft.com/office/powerpoint/2010/main" val="1144396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7764" y="1157985"/>
            <a:ext cx="6995160" cy="16764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88620" y="3429000"/>
            <a:ext cx="6995160" cy="55560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88620" y="9322647"/>
            <a:ext cx="1813560" cy="535517"/>
          </a:xfrm>
          <a:prstGeom prst="rect">
            <a:avLst/>
          </a:prstGeom>
        </p:spPr>
        <p:txBody>
          <a:bodyPr vert="horz" lIns="91440" tIns="45720" rIns="91440" bIns="45720" rtlCol="0" anchor="ctr"/>
          <a:lstStyle>
            <a:lvl1pPr algn="l">
              <a:defRPr sz="1200">
                <a:solidFill>
                  <a:schemeClr val="tx1">
                    <a:tint val="75000"/>
                  </a:schemeClr>
                </a:solidFill>
              </a:defRPr>
            </a:lvl1pPr>
          </a:lstStyle>
          <a:p>
            <a:fld id="{DB6D3295-5BF5-4E09-87B3-EEF71ECAF0D0}" type="datetime1">
              <a:rPr lang="en-US" smtClean="0"/>
              <a:t>4/10/2020</a:t>
            </a:fld>
            <a:endParaRPr lang="en-US"/>
          </a:p>
        </p:txBody>
      </p:sp>
      <p:sp>
        <p:nvSpPr>
          <p:cNvPr id="5" name="Footer Placeholder 4"/>
          <p:cNvSpPr>
            <a:spLocks noGrp="1"/>
          </p:cNvSpPr>
          <p:nvPr>
            <p:ph type="ftr" sz="quarter" idx="3"/>
          </p:nvPr>
        </p:nvSpPr>
        <p:spPr>
          <a:xfrm>
            <a:off x="2655570" y="9322647"/>
            <a:ext cx="2461260" cy="53551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7" name="Pentagon 6"/>
          <p:cNvSpPr/>
          <p:nvPr userDrawn="1"/>
        </p:nvSpPr>
        <p:spPr>
          <a:xfrm rot="5400000">
            <a:off x="6553200" y="228600"/>
            <a:ext cx="838200" cy="381000"/>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lide Number Placeholder 5"/>
          <p:cNvSpPr>
            <a:spLocks noGrp="1"/>
          </p:cNvSpPr>
          <p:nvPr>
            <p:ph type="sldNum" sz="quarter" idx="4"/>
          </p:nvPr>
        </p:nvSpPr>
        <p:spPr>
          <a:xfrm>
            <a:off x="6664569" y="104449"/>
            <a:ext cx="609600" cy="535517"/>
          </a:xfrm>
          <a:prstGeom prst="rect">
            <a:avLst/>
          </a:prstGeom>
        </p:spPr>
        <p:txBody>
          <a:bodyPr vert="horz" lIns="91440" tIns="45720" rIns="91440" bIns="45720" rtlCol="0" anchor="ctr"/>
          <a:lstStyle>
            <a:lvl1pPr algn="ctr">
              <a:defRPr sz="1400" b="1">
                <a:solidFill>
                  <a:schemeClr val="bg1"/>
                </a:solidFill>
              </a:defRPr>
            </a:lvl1pPr>
          </a:lstStyle>
          <a:p>
            <a:fld id="{8A2A4A19-B384-42F8-8C0D-94C30AAB39F2}" type="slidenum">
              <a:rPr lang="en-US" smtClean="0"/>
              <a:pPr/>
              <a:t>‹#›</a:t>
            </a:fld>
            <a:endParaRPr lang="en-US" dirty="0"/>
          </a:p>
        </p:txBody>
      </p:sp>
      <p:sp>
        <p:nvSpPr>
          <p:cNvPr id="8" name="TextBox 7"/>
          <p:cNvSpPr txBox="1"/>
          <p:nvPr userDrawn="1"/>
        </p:nvSpPr>
        <p:spPr>
          <a:xfrm>
            <a:off x="3078885" y="141374"/>
            <a:ext cx="3555204" cy="461665"/>
          </a:xfrm>
          <a:prstGeom prst="rect">
            <a:avLst/>
          </a:prstGeom>
          <a:noFill/>
        </p:spPr>
        <p:txBody>
          <a:bodyPr wrap="none" rtlCol="0">
            <a:spAutoFit/>
          </a:bodyPr>
          <a:lstStyle/>
          <a:p>
            <a:r>
              <a:rPr lang="en-US" sz="2400" cap="small" dirty="0">
                <a:solidFill>
                  <a:schemeClr val="bg1">
                    <a:lumMod val="65000"/>
                  </a:schemeClr>
                </a:solidFill>
                <a:latin typeface="Arial" panose="020B0604020202020204" pitchFamily="34" charset="0"/>
                <a:cs typeface="Arial" panose="020B0604020202020204" pitchFamily="34" charset="0"/>
              </a:rPr>
              <a:t>Instrumental Variables</a:t>
            </a:r>
          </a:p>
        </p:txBody>
      </p:sp>
    </p:spTree>
    <p:extLst>
      <p:ext uri="{BB962C8B-B14F-4D97-AF65-F5344CB8AC3E}">
        <p14:creationId xmlns:p14="http://schemas.microsoft.com/office/powerpoint/2010/main" val="296104375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Lst>
  <p:hf hdr="0" ftr="0" dt="0"/>
  <p:txStyles>
    <p:title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7.emf"/><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wmf"/><Relationship Id="rId4" Type="http://schemas.openxmlformats.org/officeDocument/2006/relationships/oleObject" Target="../embeddings/oleObject1.bin"/><Relationship Id="rId9" Type="http://schemas.openxmlformats.org/officeDocument/2006/relationships/image" Target="../media/image6.w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10.wmf"/><Relationship Id="rId3" Type="http://schemas.openxmlformats.org/officeDocument/2006/relationships/image" Target="../media/image7.emf"/><Relationship Id="rId7" Type="http://schemas.openxmlformats.org/officeDocument/2006/relationships/image" Target="../media/image5.wmf"/><Relationship Id="rId12"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9.wmf"/><Relationship Id="rId5" Type="http://schemas.openxmlformats.org/officeDocument/2006/relationships/image" Target="../media/image4.wmf"/><Relationship Id="rId15" Type="http://schemas.openxmlformats.org/officeDocument/2006/relationships/image" Target="../media/image11.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8.wmf"/><Relationship Id="rId14" Type="http://schemas.openxmlformats.org/officeDocument/2006/relationships/oleObject" Target="../embeddings/oleObject9.bin"/></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4.wmf"/><Relationship Id="rId5" Type="http://schemas.openxmlformats.org/officeDocument/2006/relationships/oleObject" Target="../embeddings/oleObject11.bin"/><Relationship Id="rId4" Type="http://schemas.openxmlformats.org/officeDocument/2006/relationships/image" Target="../media/image23.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25.wmf"/></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28.wmf"/><Relationship Id="rId5" Type="http://schemas.openxmlformats.org/officeDocument/2006/relationships/oleObject" Target="../embeddings/oleObject14.bin"/><Relationship Id="rId4" Type="http://schemas.openxmlformats.org/officeDocument/2006/relationships/image" Target="../media/image27.wmf"/></Relationships>
</file>

<file path=ppt/slides/_rels/slide21.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1.emf"/><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32.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image" Target="../media/image7.emf"/><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7.bin"/><Relationship Id="rId5" Type="http://schemas.openxmlformats.org/officeDocument/2006/relationships/image" Target="../media/image4.wmf"/><Relationship Id="rId4" Type="http://schemas.openxmlformats.org/officeDocument/2006/relationships/oleObject" Target="../embeddings/oleObject16.bin"/><Relationship Id="rId9" Type="http://schemas.openxmlformats.org/officeDocument/2006/relationships/image" Target="../media/image8.wmf"/></Relationships>
</file>

<file path=ppt/slides/_rels/slide3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6.wmf"/><Relationship Id="rId5" Type="http://schemas.openxmlformats.org/officeDocument/2006/relationships/oleObject" Target="../embeddings/oleObject20.bin"/><Relationship Id="rId4" Type="http://schemas.openxmlformats.org/officeDocument/2006/relationships/image" Target="../media/image35.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8.wmf"/><Relationship Id="rId5" Type="http://schemas.openxmlformats.org/officeDocument/2006/relationships/oleObject" Target="../embeddings/oleObject22.bin"/><Relationship Id="rId4" Type="http://schemas.openxmlformats.org/officeDocument/2006/relationships/image" Target="../media/image37.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8.xml"/><Relationship Id="rId1" Type="http://schemas.openxmlformats.org/officeDocument/2006/relationships/vmlDrawing" Target="../drawings/vmlDrawing10.vml"/><Relationship Id="rId4" Type="http://schemas.openxmlformats.org/officeDocument/2006/relationships/image" Target="../media/image42.w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dirty="0">
                <a:solidFill>
                  <a:schemeClr val="tx1">
                    <a:lumMod val="50000"/>
                    <a:lumOff val="50000"/>
                  </a:schemeClr>
                </a:solidFill>
                <a:cs typeface="Arial" panose="020B0604020202020204" pitchFamily="34" charset="0"/>
              </a:rPr>
              <a:t>partitioned</a:t>
            </a:r>
            <a:br>
              <a:rPr lang="en-US" dirty="0">
                <a:solidFill>
                  <a:schemeClr val="tx1">
                    <a:lumMod val="50000"/>
                    <a:lumOff val="50000"/>
                  </a:schemeClr>
                </a:solidFill>
                <a:cs typeface="Arial" panose="020B0604020202020204" pitchFamily="34" charset="0"/>
              </a:rPr>
            </a:br>
            <a:r>
              <a:rPr lang="en-US" dirty="0">
                <a:solidFill>
                  <a:schemeClr val="accent6">
                    <a:lumMod val="75000"/>
                  </a:schemeClr>
                </a:solidFill>
                <a:cs typeface="Arial" panose="020B0604020202020204" pitchFamily="34" charset="0"/>
              </a:rPr>
              <a:t>regression</a:t>
            </a:r>
            <a:br>
              <a:rPr lang="en-US" dirty="0">
                <a:solidFill>
                  <a:schemeClr val="tx1">
                    <a:lumMod val="50000"/>
                    <a:lumOff val="50000"/>
                  </a:schemeClr>
                </a:solidFill>
                <a:cs typeface="Arial" panose="020B0604020202020204" pitchFamily="34" charset="0"/>
              </a:rPr>
            </a:br>
            <a:br>
              <a:rPr lang="en-US" dirty="0">
                <a:solidFill>
                  <a:schemeClr val="tx1">
                    <a:lumMod val="50000"/>
                    <a:lumOff val="50000"/>
                  </a:schemeClr>
                </a:solidFill>
                <a:cs typeface="Arial" panose="020B0604020202020204" pitchFamily="34" charset="0"/>
              </a:rPr>
            </a:br>
            <a:endParaRPr lang="en-US" dirty="0"/>
          </a:p>
        </p:txBody>
      </p:sp>
      <p:sp>
        <p:nvSpPr>
          <p:cNvPr id="3" name="Subtitle 2"/>
          <p:cNvSpPr>
            <a:spLocks noGrp="1"/>
          </p:cNvSpPr>
          <p:nvPr>
            <p:ph type="subTitle" idx="1"/>
          </p:nvPr>
        </p:nvSpPr>
        <p:spPr>
          <a:xfrm>
            <a:off x="1165860" y="6497320"/>
            <a:ext cx="5440680" cy="2570480"/>
          </a:xfrm>
        </p:spPr>
        <p:txBody>
          <a:bodyPr/>
          <a:lstStyle/>
          <a:p>
            <a:r>
              <a:rPr lang="en-US" sz="2000" dirty="0">
                <a:solidFill>
                  <a:schemeClr val="tx1">
                    <a:lumMod val="50000"/>
                    <a:lumOff val="50000"/>
                  </a:schemeClr>
                </a:solidFill>
                <a:latin typeface="Arial" panose="020B0604020202020204" pitchFamily="34" charset="0"/>
                <a:cs typeface="Arial" panose="020B0604020202020204" pitchFamily="34" charset="0"/>
              </a:rPr>
              <a:t>Fundamentals of</a:t>
            </a:r>
            <a:endParaRPr lang="en-US" sz="2400" b="1" dirty="0">
              <a:solidFill>
                <a:schemeClr val="accent6">
                  <a:lumMod val="75000"/>
                </a:schemeClr>
              </a:solidFill>
              <a:latin typeface="Arial" panose="020B0604020202020204" pitchFamily="34" charset="0"/>
              <a:cs typeface="Arial" panose="020B0604020202020204" pitchFamily="34" charset="0"/>
            </a:endParaRPr>
          </a:p>
          <a:p>
            <a:r>
              <a:rPr lang="en-US" sz="2400" b="1" dirty="0">
                <a:solidFill>
                  <a:schemeClr val="accent6">
                    <a:lumMod val="75000"/>
                  </a:schemeClr>
                </a:solidFill>
                <a:cs typeface="Arial" panose="020B0604020202020204" pitchFamily="34" charset="0"/>
              </a:rPr>
              <a:t>PROGRAM</a:t>
            </a:r>
            <a:r>
              <a:rPr lang="en-US" sz="2000" dirty="0">
                <a:solidFill>
                  <a:schemeClr val="accent6">
                    <a:lumMod val="75000"/>
                  </a:schemeClr>
                </a:solidFill>
                <a:cs typeface="Arial" panose="020B0604020202020204" pitchFamily="34" charset="0"/>
              </a:rPr>
              <a:t> </a:t>
            </a:r>
            <a:r>
              <a:rPr lang="en-US" sz="2000" dirty="0">
                <a:solidFill>
                  <a:schemeClr val="tx1">
                    <a:lumMod val="50000"/>
                    <a:lumOff val="50000"/>
                  </a:schemeClr>
                </a:solidFill>
                <a:latin typeface="Stencil" panose="040409050D0802020404" pitchFamily="82" charset="0"/>
                <a:cs typeface="Arial" panose="020B0604020202020204" pitchFamily="34" charset="0"/>
              </a:rPr>
              <a:t>EVALUATION</a:t>
            </a:r>
          </a:p>
          <a:p>
            <a:endParaRPr lang="en-US" sz="2800" dirty="0">
              <a:solidFill>
                <a:schemeClr val="tx1">
                  <a:lumMod val="50000"/>
                  <a:lumOff val="50000"/>
                </a:schemeClr>
              </a:solidFill>
              <a:latin typeface="Stencil" panose="040409050D0802020404" pitchFamily="82" charset="0"/>
              <a:cs typeface="Arial" panose="020B0604020202020204" pitchFamily="34" charset="0"/>
            </a:endParaRPr>
          </a:p>
          <a:p>
            <a:r>
              <a:rPr lang="en-US" sz="2000" dirty="0">
                <a:solidFill>
                  <a:schemeClr val="tx1">
                    <a:lumMod val="50000"/>
                    <a:lumOff val="50000"/>
                  </a:schemeClr>
                </a:solidFill>
                <a:latin typeface="Berlin Sans FB" panose="020E0602020502020306" pitchFamily="34" charset="0"/>
                <a:cs typeface="Arial" panose="020B0604020202020204" pitchFamily="34" charset="0"/>
              </a:rPr>
              <a:t>JESSE LECY</a:t>
            </a:r>
          </a:p>
          <a:p>
            <a:endParaRPr lang="en-US" sz="2800" dirty="0">
              <a:solidFill>
                <a:schemeClr val="tx1">
                  <a:lumMod val="50000"/>
                  <a:lumOff val="50000"/>
                </a:schemeClr>
              </a:solidFill>
              <a:latin typeface="Stencil" panose="040409050D0802020404" pitchFamily="82" charset="0"/>
              <a:cs typeface="Arial" panose="020B0604020202020204" pitchFamily="34" charset="0"/>
            </a:endParaRPr>
          </a:p>
        </p:txBody>
      </p:sp>
    </p:spTree>
    <p:extLst>
      <p:ext uri="{BB962C8B-B14F-4D97-AF65-F5344CB8AC3E}">
        <p14:creationId xmlns:p14="http://schemas.microsoft.com/office/powerpoint/2010/main" val="4078274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A953BAF0-9579-42B3-B979-30EFD986705E}" type="slidenum">
              <a:rPr lang="en-US" smtClean="0"/>
              <a:t>2</a:t>
            </a:fld>
            <a:endParaRPr lang="en-US"/>
          </a:p>
        </p:txBody>
      </p:sp>
      <p:sp>
        <p:nvSpPr>
          <p:cNvPr id="2" name="Title 1"/>
          <p:cNvSpPr>
            <a:spLocks noGrp="1"/>
          </p:cNvSpPr>
          <p:nvPr>
            <p:ph type="title" idx="4294967295"/>
          </p:nvPr>
        </p:nvSpPr>
        <p:spPr>
          <a:xfrm>
            <a:off x="777875" y="1157288"/>
            <a:ext cx="6994525" cy="1676400"/>
          </a:xfrm>
        </p:spPr>
        <p:txBody>
          <a:bodyPr/>
          <a:lstStyle/>
          <a:p>
            <a:r>
              <a:rPr lang="en-US" dirty="0"/>
              <a:t>Example:  Classroom Size</a:t>
            </a:r>
          </a:p>
        </p:txBody>
      </p:sp>
      <p:pic>
        <p:nvPicPr>
          <p:cNvPr id="19" name="Picture 18"/>
          <p:cNvPicPr/>
          <p:nvPr/>
        </p:nvPicPr>
        <p:blipFill>
          <a:blip r:embed="rId2" cstate="print"/>
          <a:srcRect/>
          <a:stretch>
            <a:fillRect/>
          </a:stretch>
        </p:blipFill>
        <p:spPr bwMode="auto">
          <a:xfrm>
            <a:off x="1424940" y="3418400"/>
            <a:ext cx="5052060" cy="1473518"/>
          </a:xfrm>
          <a:prstGeom prst="rect">
            <a:avLst/>
          </a:prstGeom>
          <a:noFill/>
          <a:ln w="9525">
            <a:noFill/>
            <a:miter lim="800000"/>
            <a:headEnd/>
            <a:tailEnd/>
          </a:ln>
        </p:spPr>
      </p:pic>
      <p:sp>
        <p:nvSpPr>
          <p:cNvPr id="20" name="Rectangle 19"/>
          <p:cNvSpPr/>
          <p:nvPr/>
        </p:nvSpPr>
        <p:spPr>
          <a:xfrm>
            <a:off x="3562350" y="3418400"/>
            <a:ext cx="1424940" cy="147351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1" name="Oval 20"/>
          <p:cNvSpPr/>
          <p:nvPr/>
        </p:nvSpPr>
        <p:spPr>
          <a:xfrm>
            <a:off x="2655570" y="3847899"/>
            <a:ext cx="1036320" cy="32385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2" name="Rectangle 21"/>
          <p:cNvSpPr/>
          <p:nvPr/>
        </p:nvSpPr>
        <p:spPr>
          <a:xfrm>
            <a:off x="5652007" y="3396626"/>
            <a:ext cx="993953" cy="147351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3" name="Oval 22"/>
          <p:cNvSpPr/>
          <p:nvPr/>
        </p:nvSpPr>
        <p:spPr>
          <a:xfrm>
            <a:off x="4792980" y="3866763"/>
            <a:ext cx="1036320" cy="304985"/>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 name="TextBox 3"/>
          <p:cNvSpPr txBox="1"/>
          <p:nvPr/>
        </p:nvSpPr>
        <p:spPr>
          <a:xfrm>
            <a:off x="2188019" y="5304169"/>
            <a:ext cx="3774688" cy="563231"/>
          </a:xfrm>
          <a:prstGeom prst="rect">
            <a:avLst/>
          </a:prstGeom>
          <a:noFill/>
        </p:spPr>
        <p:txBody>
          <a:bodyPr wrap="none" rtlCol="0">
            <a:spAutoFit/>
          </a:bodyPr>
          <a:lstStyle/>
          <a:p>
            <a:pPr algn="ctr"/>
            <a:r>
              <a:rPr lang="en-US" sz="1530" dirty="0">
                <a:solidFill>
                  <a:schemeClr val="accent6">
                    <a:lumMod val="75000"/>
                  </a:schemeClr>
                </a:solidFill>
              </a:rPr>
              <a:t>Why are slopes and standard errors changing</a:t>
            </a:r>
            <a:br>
              <a:rPr lang="en-US" sz="1530" dirty="0">
                <a:solidFill>
                  <a:schemeClr val="accent6">
                    <a:lumMod val="75000"/>
                  </a:schemeClr>
                </a:solidFill>
              </a:rPr>
            </a:br>
            <a:r>
              <a:rPr lang="en-US" sz="1530" dirty="0">
                <a:solidFill>
                  <a:schemeClr val="accent6">
                    <a:lumMod val="75000"/>
                  </a:schemeClr>
                </a:solidFill>
              </a:rPr>
              <a:t>when we add “control” variables?</a:t>
            </a:r>
          </a:p>
        </p:txBody>
      </p:sp>
      <p:pic>
        <p:nvPicPr>
          <p:cNvPr id="5" name="Picture 4"/>
          <p:cNvPicPr>
            <a:picLocks noChangeAspect="1"/>
          </p:cNvPicPr>
          <p:nvPr/>
        </p:nvPicPr>
        <p:blipFill>
          <a:blip r:embed="rId3">
            <a:grayscl/>
          </a:blip>
          <a:stretch>
            <a:fillRect/>
          </a:stretch>
        </p:blipFill>
        <p:spPr>
          <a:xfrm>
            <a:off x="2253323" y="6400800"/>
            <a:ext cx="3714750" cy="3181350"/>
          </a:xfrm>
          <a:prstGeom prst="rect">
            <a:avLst/>
          </a:prstGeom>
        </p:spPr>
      </p:pic>
    </p:spTree>
    <p:extLst>
      <p:ext uri="{BB962C8B-B14F-4D97-AF65-F5344CB8AC3E}">
        <p14:creationId xmlns:p14="http://schemas.microsoft.com/office/powerpoint/2010/main" val="333670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A953BAF0-9579-42B3-B979-30EFD986705E}" type="slidenum">
              <a:rPr lang="en-US" smtClean="0"/>
              <a:t>3</a:t>
            </a:fld>
            <a:endParaRPr lang="en-US"/>
          </a:p>
        </p:txBody>
      </p:sp>
      <p:sp>
        <p:nvSpPr>
          <p:cNvPr id="2" name="Title 1"/>
          <p:cNvSpPr>
            <a:spLocks noGrp="1"/>
          </p:cNvSpPr>
          <p:nvPr>
            <p:ph type="title" idx="4294967295"/>
          </p:nvPr>
        </p:nvSpPr>
        <p:spPr>
          <a:xfrm>
            <a:off x="777875" y="1157288"/>
            <a:ext cx="6994525" cy="1676400"/>
          </a:xfrm>
        </p:spPr>
        <p:txBody>
          <a:bodyPr/>
          <a:lstStyle/>
          <a:p>
            <a:r>
              <a:rPr lang="en-US" dirty="0"/>
              <a:t>Example:  Classroom Size</a:t>
            </a:r>
          </a:p>
        </p:txBody>
      </p:sp>
      <p:sp>
        <p:nvSpPr>
          <p:cNvPr id="5" name="Oval 4"/>
          <p:cNvSpPr/>
          <p:nvPr/>
        </p:nvSpPr>
        <p:spPr>
          <a:xfrm>
            <a:off x="4198809" y="5539770"/>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Oval 5"/>
          <p:cNvSpPr/>
          <p:nvPr/>
        </p:nvSpPr>
        <p:spPr>
          <a:xfrm>
            <a:off x="4663440" y="5539770"/>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Oval 6"/>
          <p:cNvSpPr/>
          <p:nvPr/>
        </p:nvSpPr>
        <p:spPr>
          <a:xfrm>
            <a:off x="4134039" y="4373910"/>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TextBox 7"/>
          <p:cNvSpPr txBox="1"/>
          <p:nvPr/>
        </p:nvSpPr>
        <p:spPr>
          <a:xfrm>
            <a:off x="4533900" y="5093926"/>
            <a:ext cx="1079334" cy="327782"/>
          </a:xfrm>
          <a:prstGeom prst="rect">
            <a:avLst/>
          </a:prstGeom>
          <a:noFill/>
        </p:spPr>
        <p:txBody>
          <a:bodyPr wrap="none" rtlCol="0">
            <a:spAutoFit/>
          </a:bodyPr>
          <a:lstStyle/>
          <a:p>
            <a:r>
              <a:rPr lang="en-US" sz="1530" b="1" dirty="0"/>
              <a:t>Test Scores</a:t>
            </a:r>
          </a:p>
        </p:txBody>
      </p:sp>
      <p:sp>
        <p:nvSpPr>
          <p:cNvPr id="14" name="Oval 13"/>
          <p:cNvSpPr/>
          <p:nvPr/>
        </p:nvSpPr>
        <p:spPr>
          <a:xfrm>
            <a:off x="4535235" y="3863296"/>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5" name="TextBox 14"/>
          <p:cNvSpPr txBox="1"/>
          <p:nvPr/>
        </p:nvSpPr>
        <p:spPr>
          <a:xfrm>
            <a:off x="4063682" y="6770400"/>
            <a:ext cx="1030282" cy="563231"/>
          </a:xfrm>
          <a:prstGeom prst="rect">
            <a:avLst/>
          </a:prstGeom>
          <a:noFill/>
        </p:spPr>
        <p:txBody>
          <a:bodyPr wrap="none" rtlCol="0">
            <a:spAutoFit/>
          </a:bodyPr>
          <a:lstStyle/>
          <a:p>
            <a:pPr algn="ctr"/>
            <a:r>
              <a:rPr lang="en-US" sz="1530" b="1" dirty="0"/>
              <a:t>Classroom</a:t>
            </a:r>
            <a:br>
              <a:rPr lang="en-US" sz="1530" b="1" dirty="0"/>
            </a:br>
            <a:r>
              <a:rPr lang="en-US" sz="1530" b="1" dirty="0"/>
              <a:t>Size</a:t>
            </a:r>
          </a:p>
        </p:txBody>
      </p:sp>
      <p:sp>
        <p:nvSpPr>
          <p:cNvPr id="16" name="TextBox 15"/>
          <p:cNvSpPr txBox="1"/>
          <p:nvPr/>
        </p:nvSpPr>
        <p:spPr>
          <a:xfrm>
            <a:off x="5998534" y="5985525"/>
            <a:ext cx="966803" cy="798680"/>
          </a:xfrm>
          <a:prstGeom prst="rect">
            <a:avLst/>
          </a:prstGeom>
          <a:noFill/>
        </p:spPr>
        <p:txBody>
          <a:bodyPr wrap="none" rtlCol="0">
            <a:spAutoFit/>
          </a:bodyPr>
          <a:lstStyle/>
          <a:p>
            <a:r>
              <a:rPr lang="en-US" sz="1530" b="1" dirty="0"/>
              <a:t>Socio-</a:t>
            </a:r>
            <a:br>
              <a:rPr lang="en-US" sz="1530" b="1" dirty="0"/>
            </a:br>
            <a:r>
              <a:rPr lang="en-US" sz="1530" b="1" dirty="0"/>
              <a:t>Economic</a:t>
            </a:r>
            <a:br>
              <a:rPr lang="en-US" sz="1530" b="1" dirty="0"/>
            </a:br>
            <a:r>
              <a:rPr lang="en-US" sz="1530" b="1" dirty="0"/>
              <a:t>Status</a:t>
            </a:r>
          </a:p>
        </p:txBody>
      </p:sp>
      <p:sp>
        <p:nvSpPr>
          <p:cNvPr id="17" name="TextBox 16"/>
          <p:cNvSpPr txBox="1"/>
          <p:nvPr/>
        </p:nvSpPr>
        <p:spPr>
          <a:xfrm>
            <a:off x="5748977" y="3826195"/>
            <a:ext cx="818557" cy="563231"/>
          </a:xfrm>
          <a:prstGeom prst="rect">
            <a:avLst/>
          </a:prstGeom>
          <a:noFill/>
        </p:spPr>
        <p:txBody>
          <a:bodyPr wrap="none" rtlCol="0">
            <a:spAutoFit/>
          </a:bodyPr>
          <a:lstStyle/>
          <a:p>
            <a:r>
              <a:rPr lang="en-US" sz="1530" b="1" dirty="0"/>
              <a:t>Teacher</a:t>
            </a:r>
            <a:br>
              <a:rPr lang="en-US" sz="1530" b="1" dirty="0"/>
            </a:br>
            <a:r>
              <a:rPr lang="en-US" sz="1530" b="1" dirty="0"/>
              <a:t>Quality</a:t>
            </a:r>
          </a:p>
        </p:txBody>
      </p:sp>
      <p:pic>
        <p:nvPicPr>
          <p:cNvPr id="13" name="Picture 12"/>
          <p:cNvPicPr/>
          <p:nvPr/>
        </p:nvPicPr>
        <p:blipFill>
          <a:blip r:embed="rId2" cstate="print"/>
          <a:srcRect/>
          <a:stretch>
            <a:fillRect/>
          </a:stretch>
        </p:blipFill>
        <p:spPr bwMode="auto">
          <a:xfrm>
            <a:off x="323850" y="3709173"/>
            <a:ext cx="3335655" cy="3330258"/>
          </a:xfrm>
          <a:prstGeom prst="rect">
            <a:avLst/>
          </a:prstGeom>
          <a:noFill/>
          <a:ln w="9525">
            <a:noFill/>
            <a:miter lim="800000"/>
            <a:headEnd/>
            <a:tailEnd/>
          </a:ln>
        </p:spPr>
      </p:pic>
    </p:spTree>
    <p:extLst>
      <p:ext uri="{BB962C8B-B14F-4D97-AF65-F5344CB8AC3E}">
        <p14:creationId xmlns:p14="http://schemas.microsoft.com/office/powerpoint/2010/main" val="3626952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Partitioning the Variance of Y</a:t>
            </a:r>
          </a:p>
        </p:txBody>
      </p:sp>
      <p:pic>
        <p:nvPicPr>
          <p:cNvPr id="7" name="Picture 2"/>
          <p:cNvPicPr>
            <a:picLocks noChangeAspect="1" noChangeArrowheads="1"/>
          </p:cNvPicPr>
          <p:nvPr/>
        </p:nvPicPr>
        <p:blipFill>
          <a:blip r:embed="rId3" cstate="print"/>
          <a:srcRect/>
          <a:stretch>
            <a:fillRect/>
          </a:stretch>
        </p:blipFill>
        <p:spPr bwMode="auto">
          <a:xfrm>
            <a:off x="2526030" y="3345180"/>
            <a:ext cx="3756660" cy="3751070"/>
          </a:xfrm>
          <a:prstGeom prst="rect">
            <a:avLst/>
          </a:prstGeom>
          <a:noFill/>
          <a:ln w="9525">
            <a:noFill/>
            <a:miter lim="800000"/>
            <a:headEnd/>
            <a:tailEnd/>
          </a:ln>
          <a:effectLst/>
        </p:spPr>
      </p:pic>
      <p:cxnSp>
        <p:nvCxnSpPr>
          <p:cNvPr id="9" name="Straight Connector 8"/>
          <p:cNvCxnSpPr/>
          <p:nvPr/>
        </p:nvCxnSpPr>
        <p:spPr>
          <a:xfrm>
            <a:off x="2979420" y="5162552"/>
            <a:ext cx="330327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 name="Right Brace 11"/>
          <p:cNvSpPr/>
          <p:nvPr/>
        </p:nvSpPr>
        <p:spPr>
          <a:xfrm>
            <a:off x="5505450" y="4720591"/>
            <a:ext cx="129540" cy="388620"/>
          </a:xfrm>
          <a:prstGeom prst="righ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cxnSp>
        <p:nvCxnSpPr>
          <p:cNvPr id="14" name="Straight Connector 13"/>
          <p:cNvCxnSpPr/>
          <p:nvPr/>
        </p:nvCxnSpPr>
        <p:spPr>
          <a:xfrm rot="5400000">
            <a:off x="4922520" y="4705350"/>
            <a:ext cx="90678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5311140" y="412242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6" name="Right Brace 15"/>
          <p:cNvSpPr/>
          <p:nvPr/>
        </p:nvSpPr>
        <p:spPr>
          <a:xfrm>
            <a:off x="5505450" y="4251960"/>
            <a:ext cx="129540" cy="388620"/>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graphicFrame>
        <p:nvGraphicFramePr>
          <p:cNvPr id="17" name="Object 16"/>
          <p:cNvGraphicFramePr>
            <a:graphicFrameLocks noChangeAspect="1"/>
          </p:cNvGraphicFramePr>
          <p:nvPr/>
        </p:nvGraphicFramePr>
        <p:xfrm>
          <a:off x="6212523" y="4813300"/>
          <a:ext cx="334645" cy="215900"/>
        </p:xfrm>
        <a:graphic>
          <a:graphicData uri="http://schemas.openxmlformats.org/presentationml/2006/ole">
            <mc:AlternateContent xmlns:mc="http://schemas.openxmlformats.org/markup-compatibility/2006">
              <mc:Choice xmlns:v="urn:schemas-microsoft-com:vml" Requires="v">
                <p:oleObj spid="_x0000_s55316" name="Equation" r:id="rId4" imgW="393480" imgH="253800" progId="Equation.3">
                  <p:embed/>
                </p:oleObj>
              </mc:Choice>
              <mc:Fallback>
                <p:oleObj name="Equation" r:id="rId4" imgW="393480" imgH="253800" progId="Equation.3">
                  <p:embed/>
                  <p:pic>
                    <p:nvPicPr>
                      <p:cNvPr id="17"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2523" y="4813300"/>
                        <a:ext cx="334645"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4" name="Object 8"/>
          <p:cNvGraphicFramePr>
            <a:graphicFrameLocks noChangeAspect="1"/>
          </p:cNvGraphicFramePr>
          <p:nvPr/>
        </p:nvGraphicFramePr>
        <p:xfrm>
          <a:off x="6207204" y="4295140"/>
          <a:ext cx="570785" cy="222647"/>
        </p:xfrm>
        <a:graphic>
          <a:graphicData uri="http://schemas.openxmlformats.org/presentationml/2006/ole">
            <mc:AlternateContent xmlns:mc="http://schemas.openxmlformats.org/markup-compatibility/2006">
              <mc:Choice xmlns:v="urn:schemas-microsoft-com:vml" Requires="v">
                <p:oleObj spid="_x0000_s55317" name="Equation" r:id="rId6" imgW="647640" imgH="253800" progId="Equation.3">
                  <p:embed/>
                </p:oleObj>
              </mc:Choice>
              <mc:Fallback>
                <p:oleObj name="Equation" r:id="rId6" imgW="647640" imgH="253800" progId="Equation.3">
                  <p:embed/>
                  <p:pic>
                    <p:nvPicPr>
                      <p:cNvPr id="4506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07204" y="4295140"/>
                        <a:ext cx="570785" cy="2226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Oval 24"/>
          <p:cNvSpPr/>
          <p:nvPr/>
        </p:nvSpPr>
        <p:spPr>
          <a:xfrm>
            <a:off x="782729" y="4720591"/>
            <a:ext cx="594097" cy="57136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solidFill>
                <a:schemeClr val="accent6">
                  <a:lumMod val="75000"/>
                </a:schemeClr>
              </a:solidFill>
            </a:endParaRPr>
          </a:p>
        </p:txBody>
      </p:sp>
      <p:sp>
        <p:nvSpPr>
          <p:cNvPr id="26" name="Oval 25"/>
          <p:cNvSpPr/>
          <p:nvPr/>
        </p:nvSpPr>
        <p:spPr>
          <a:xfrm>
            <a:off x="588419" y="4267201"/>
            <a:ext cx="906780" cy="8420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7" name="TextBox 26"/>
          <p:cNvSpPr txBox="1"/>
          <p:nvPr/>
        </p:nvSpPr>
        <p:spPr>
          <a:xfrm>
            <a:off x="1106579" y="5238750"/>
            <a:ext cx="582930" cy="327782"/>
          </a:xfrm>
          <a:prstGeom prst="rect">
            <a:avLst/>
          </a:prstGeom>
          <a:noFill/>
        </p:spPr>
        <p:txBody>
          <a:bodyPr wrap="square" rtlCol="0">
            <a:spAutoFit/>
          </a:bodyPr>
          <a:lstStyle/>
          <a:p>
            <a:r>
              <a:rPr lang="en-US" sz="1530" b="1" dirty="0"/>
              <a:t>X</a:t>
            </a:r>
          </a:p>
        </p:txBody>
      </p:sp>
      <p:sp>
        <p:nvSpPr>
          <p:cNvPr id="28" name="TextBox 27"/>
          <p:cNvSpPr txBox="1"/>
          <p:nvPr/>
        </p:nvSpPr>
        <p:spPr>
          <a:xfrm>
            <a:off x="1255168" y="4046222"/>
            <a:ext cx="259080" cy="327782"/>
          </a:xfrm>
          <a:prstGeom prst="rect">
            <a:avLst/>
          </a:prstGeom>
          <a:noFill/>
        </p:spPr>
        <p:txBody>
          <a:bodyPr wrap="square" rtlCol="0">
            <a:spAutoFit/>
          </a:bodyPr>
          <a:lstStyle/>
          <a:p>
            <a:r>
              <a:rPr lang="en-US" sz="1530" b="1" dirty="0"/>
              <a:t>Y</a:t>
            </a:r>
          </a:p>
        </p:txBody>
      </p:sp>
      <p:sp>
        <p:nvSpPr>
          <p:cNvPr id="30" name="TextBox 29"/>
          <p:cNvSpPr txBox="1"/>
          <p:nvPr/>
        </p:nvSpPr>
        <p:spPr>
          <a:xfrm>
            <a:off x="804316" y="4778166"/>
            <a:ext cx="553357" cy="301621"/>
          </a:xfrm>
          <a:prstGeom prst="rect">
            <a:avLst/>
          </a:prstGeom>
          <a:noFill/>
        </p:spPr>
        <p:txBody>
          <a:bodyPr wrap="none" rtlCol="0">
            <a:spAutoFit/>
          </a:bodyPr>
          <a:lstStyle/>
          <a:p>
            <a:r>
              <a:rPr lang="en-US" sz="1360" dirty="0">
                <a:solidFill>
                  <a:schemeClr val="accent6">
                    <a:lumMod val="75000"/>
                  </a:schemeClr>
                </a:solidFill>
              </a:rPr>
              <a:t>Y-hat</a:t>
            </a:r>
          </a:p>
        </p:txBody>
      </p:sp>
      <p:sp>
        <p:nvSpPr>
          <p:cNvPr id="3" name="TextBox 2"/>
          <p:cNvSpPr txBox="1"/>
          <p:nvPr/>
        </p:nvSpPr>
        <p:spPr>
          <a:xfrm>
            <a:off x="910790" y="4360154"/>
            <a:ext cx="282450" cy="327782"/>
          </a:xfrm>
          <a:prstGeom prst="rect">
            <a:avLst/>
          </a:prstGeom>
          <a:noFill/>
        </p:spPr>
        <p:txBody>
          <a:bodyPr wrap="none" rtlCol="0">
            <a:spAutoFit/>
          </a:bodyPr>
          <a:lstStyle/>
          <a:p>
            <a:r>
              <a:rPr lang="en-US" sz="1530" dirty="0">
                <a:solidFill>
                  <a:schemeClr val="tx2"/>
                </a:solidFill>
              </a:rPr>
              <a:t>e</a:t>
            </a:r>
          </a:p>
        </p:txBody>
      </p:sp>
      <p:sp>
        <p:nvSpPr>
          <p:cNvPr id="22" name="TextBox 21"/>
          <p:cNvSpPr txBox="1"/>
          <p:nvPr/>
        </p:nvSpPr>
        <p:spPr>
          <a:xfrm>
            <a:off x="6865620" y="4251960"/>
            <a:ext cx="662361" cy="327782"/>
          </a:xfrm>
          <a:prstGeom prst="rect">
            <a:avLst/>
          </a:prstGeom>
          <a:noFill/>
        </p:spPr>
        <p:txBody>
          <a:bodyPr wrap="none" rtlCol="0">
            <a:spAutoFit/>
          </a:bodyPr>
          <a:lstStyle/>
          <a:p>
            <a:r>
              <a:rPr lang="en-US" sz="1530" dirty="0">
                <a:solidFill>
                  <a:schemeClr val="tx2"/>
                </a:solidFill>
              </a:rPr>
              <a:t>-&gt; SSE</a:t>
            </a:r>
          </a:p>
        </p:txBody>
      </p:sp>
      <p:sp>
        <p:nvSpPr>
          <p:cNvPr id="31" name="TextBox 30"/>
          <p:cNvSpPr txBox="1"/>
          <p:nvPr/>
        </p:nvSpPr>
        <p:spPr>
          <a:xfrm>
            <a:off x="6671310" y="4744053"/>
            <a:ext cx="669414" cy="327782"/>
          </a:xfrm>
          <a:prstGeom prst="rect">
            <a:avLst/>
          </a:prstGeom>
          <a:noFill/>
        </p:spPr>
        <p:txBody>
          <a:bodyPr wrap="none" rtlCol="0">
            <a:spAutoFit/>
          </a:bodyPr>
          <a:lstStyle/>
          <a:p>
            <a:r>
              <a:rPr lang="en-US" sz="1530" dirty="0">
                <a:solidFill>
                  <a:schemeClr val="accent6">
                    <a:lumMod val="75000"/>
                  </a:schemeClr>
                </a:solidFill>
              </a:rPr>
              <a:t>-&gt; RSS</a:t>
            </a:r>
          </a:p>
        </p:txBody>
      </p:sp>
      <p:graphicFrame>
        <p:nvGraphicFramePr>
          <p:cNvPr id="4" name="Object 3"/>
          <p:cNvGraphicFramePr>
            <a:graphicFrameLocks noChangeAspect="1"/>
          </p:cNvGraphicFramePr>
          <p:nvPr/>
        </p:nvGraphicFramePr>
        <p:xfrm>
          <a:off x="3044190" y="4947286"/>
          <a:ext cx="129540" cy="161925"/>
        </p:xfrm>
        <a:graphic>
          <a:graphicData uri="http://schemas.openxmlformats.org/presentationml/2006/ole">
            <mc:AlternateContent xmlns:mc="http://schemas.openxmlformats.org/markup-compatibility/2006">
              <mc:Choice xmlns:v="urn:schemas-microsoft-com:vml" Requires="v">
                <p:oleObj spid="_x0000_s55318" name="Equation" r:id="rId8" imgW="152280" imgH="190440" progId="Equation.3">
                  <p:embed/>
                </p:oleObj>
              </mc:Choice>
              <mc:Fallback>
                <p:oleObj name="Equation" r:id="rId8" imgW="152280" imgH="190440" progId="Equation.3">
                  <p:embed/>
                  <p:pic>
                    <p:nvPicPr>
                      <p:cNvPr id="4" name="Object 3"/>
                      <p:cNvPicPr>
                        <a:picLocks noChangeAspect="1" noChangeArrowheads="1"/>
                      </p:cNvPicPr>
                      <p:nvPr/>
                    </p:nvPicPr>
                    <p:blipFill>
                      <a:blip r:embed="rId9"/>
                      <a:srcRect/>
                      <a:stretch>
                        <a:fillRect/>
                      </a:stretch>
                    </p:blipFill>
                    <p:spPr bwMode="auto">
                      <a:xfrm>
                        <a:off x="3044190" y="4947286"/>
                        <a:ext cx="12954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688350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Error in Regression</a:t>
            </a:r>
          </a:p>
        </p:txBody>
      </p:sp>
      <p:pic>
        <p:nvPicPr>
          <p:cNvPr id="7" name="Picture 2"/>
          <p:cNvPicPr>
            <a:picLocks noChangeAspect="1" noChangeArrowheads="1"/>
          </p:cNvPicPr>
          <p:nvPr/>
        </p:nvPicPr>
        <p:blipFill>
          <a:blip r:embed="rId3" cstate="print"/>
          <a:srcRect/>
          <a:stretch>
            <a:fillRect/>
          </a:stretch>
        </p:blipFill>
        <p:spPr bwMode="auto">
          <a:xfrm>
            <a:off x="518160" y="3345180"/>
            <a:ext cx="3756660" cy="3751070"/>
          </a:xfrm>
          <a:prstGeom prst="rect">
            <a:avLst/>
          </a:prstGeom>
          <a:noFill/>
          <a:ln w="9525">
            <a:noFill/>
            <a:miter lim="800000"/>
            <a:headEnd/>
            <a:tailEnd/>
          </a:ln>
          <a:effectLst/>
        </p:spPr>
      </p:pic>
      <p:cxnSp>
        <p:nvCxnSpPr>
          <p:cNvPr id="9" name="Straight Connector 8"/>
          <p:cNvCxnSpPr/>
          <p:nvPr/>
        </p:nvCxnSpPr>
        <p:spPr>
          <a:xfrm>
            <a:off x="971550" y="5162552"/>
            <a:ext cx="330327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 name="Right Brace 11"/>
          <p:cNvSpPr/>
          <p:nvPr/>
        </p:nvSpPr>
        <p:spPr>
          <a:xfrm>
            <a:off x="3497580" y="4720591"/>
            <a:ext cx="129540" cy="388620"/>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cxnSp>
        <p:nvCxnSpPr>
          <p:cNvPr id="14" name="Straight Connector 13"/>
          <p:cNvCxnSpPr/>
          <p:nvPr/>
        </p:nvCxnSpPr>
        <p:spPr>
          <a:xfrm rot="5400000">
            <a:off x="2914650" y="4705350"/>
            <a:ext cx="90678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3303270" y="412242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6" name="Right Brace 15"/>
          <p:cNvSpPr/>
          <p:nvPr/>
        </p:nvSpPr>
        <p:spPr>
          <a:xfrm>
            <a:off x="3497580" y="4251960"/>
            <a:ext cx="129540" cy="388620"/>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graphicFrame>
        <p:nvGraphicFramePr>
          <p:cNvPr id="17" name="Object 16"/>
          <p:cNvGraphicFramePr>
            <a:graphicFrameLocks noChangeAspect="1"/>
          </p:cNvGraphicFramePr>
          <p:nvPr/>
        </p:nvGraphicFramePr>
        <p:xfrm>
          <a:off x="4204653" y="4813300"/>
          <a:ext cx="334645" cy="215900"/>
        </p:xfrm>
        <a:graphic>
          <a:graphicData uri="http://schemas.openxmlformats.org/presentationml/2006/ole">
            <mc:AlternateContent xmlns:mc="http://schemas.openxmlformats.org/markup-compatibility/2006">
              <mc:Choice xmlns:v="urn:schemas-microsoft-com:vml" Requires="v">
                <p:oleObj spid="_x0000_s56358" name="Equation" r:id="rId4" imgW="393529" imgH="253890" progId="Equation.3">
                  <p:embed/>
                </p:oleObj>
              </mc:Choice>
              <mc:Fallback>
                <p:oleObj name="Equation" r:id="rId4" imgW="393529" imgH="253890" progId="Equation.3">
                  <p:embed/>
                  <p:pic>
                    <p:nvPicPr>
                      <p:cNvPr id="17"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04653" y="4813300"/>
                        <a:ext cx="334645"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4" name="Object 8"/>
          <p:cNvGraphicFramePr>
            <a:graphicFrameLocks noChangeAspect="1"/>
          </p:cNvGraphicFramePr>
          <p:nvPr/>
        </p:nvGraphicFramePr>
        <p:xfrm>
          <a:off x="4199334" y="4295140"/>
          <a:ext cx="570785" cy="222647"/>
        </p:xfrm>
        <a:graphic>
          <a:graphicData uri="http://schemas.openxmlformats.org/presentationml/2006/ole">
            <mc:AlternateContent xmlns:mc="http://schemas.openxmlformats.org/markup-compatibility/2006">
              <mc:Choice xmlns:v="urn:schemas-microsoft-com:vml" Requires="v">
                <p:oleObj spid="_x0000_s56359" name="Equation" r:id="rId6" imgW="647419" imgH="253890" progId="Equation.3">
                  <p:embed/>
                </p:oleObj>
              </mc:Choice>
              <mc:Fallback>
                <p:oleObj name="Equation" r:id="rId6" imgW="647419" imgH="253890" progId="Equation.3">
                  <p:embed/>
                  <p:pic>
                    <p:nvPicPr>
                      <p:cNvPr id="4506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9334" y="4295140"/>
                        <a:ext cx="570785" cy="2226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5" name="Object 9"/>
          <p:cNvGraphicFramePr>
            <a:graphicFrameLocks noChangeAspect="1"/>
          </p:cNvGraphicFramePr>
          <p:nvPr/>
        </p:nvGraphicFramePr>
        <p:xfrm flipH="1">
          <a:off x="1230630" y="4834890"/>
          <a:ext cx="161925" cy="283369"/>
        </p:xfrm>
        <a:graphic>
          <a:graphicData uri="http://schemas.openxmlformats.org/presentationml/2006/ole">
            <mc:AlternateContent xmlns:mc="http://schemas.openxmlformats.org/markup-compatibility/2006">
              <mc:Choice xmlns:v="urn:schemas-microsoft-com:vml" Requires="v">
                <p:oleObj spid="_x0000_s56360" name="Equation" r:id="rId8" imgW="152334" imgH="190417" progId="Equation.3">
                  <p:embed/>
                </p:oleObj>
              </mc:Choice>
              <mc:Fallback>
                <p:oleObj name="Equation" r:id="rId8" imgW="152334" imgH="190417" progId="Equation.3">
                  <p:embed/>
                  <p:pic>
                    <p:nvPicPr>
                      <p:cNvPr id="45065"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1230630" y="4834890"/>
                        <a:ext cx="161925" cy="2833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TextBox 33"/>
          <p:cNvSpPr txBox="1"/>
          <p:nvPr/>
        </p:nvSpPr>
        <p:spPr>
          <a:xfrm>
            <a:off x="5440680" y="5480060"/>
            <a:ext cx="1657826" cy="275460"/>
          </a:xfrm>
          <a:prstGeom prst="rect">
            <a:avLst/>
          </a:prstGeom>
          <a:noFill/>
        </p:spPr>
        <p:txBody>
          <a:bodyPr wrap="none" rtlCol="0">
            <a:spAutoFit/>
          </a:bodyPr>
          <a:lstStyle/>
          <a:p>
            <a:r>
              <a:rPr lang="en-US" sz="1190" dirty="0">
                <a:solidFill>
                  <a:schemeClr val="accent6">
                    <a:lumMod val="75000"/>
                  </a:schemeClr>
                </a:solidFill>
              </a:rPr>
              <a:t>Variance of the residual</a:t>
            </a:r>
          </a:p>
        </p:txBody>
      </p:sp>
      <p:sp>
        <p:nvSpPr>
          <p:cNvPr id="35" name="TextBox 34"/>
          <p:cNvSpPr txBox="1"/>
          <p:nvPr/>
        </p:nvSpPr>
        <p:spPr>
          <a:xfrm>
            <a:off x="5375911" y="6775460"/>
            <a:ext cx="1866217" cy="275460"/>
          </a:xfrm>
          <a:prstGeom prst="rect">
            <a:avLst/>
          </a:prstGeom>
          <a:noFill/>
        </p:spPr>
        <p:txBody>
          <a:bodyPr wrap="none" rtlCol="0">
            <a:spAutoFit/>
          </a:bodyPr>
          <a:lstStyle/>
          <a:p>
            <a:r>
              <a:rPr lang="en-US" sz="1190" dirty="0">
                <a:solidFill>
                  <a:schemeClr val="accent6">
                    <a:lumMod val="75000"/>
                  </a:schemeClr>
                </a:solidFill>
              </a:rPr>
              <a:t>Standard error of the slope</a:t>
            </a:r>
          </a:p>
        </p:txBody>
      </p:sp>
      <p:cxnSp>
        <p:nvCxnSpPr>
          <p:cNvPr id="37" name="Straight Arrow Connector 36"/>
          <p:cNvCxnSpPr/>
          <p:nvPr/>
        </p:nvCxnSpPr>
        <p:spPr>
          <a:xfrm flipV="1">
            <a:off x="4857750" y="4122420"/>
            <a:ext cx="777240" cy="259080"/>
          </a:xfrm>
          <a:prstGeom prst="straightConnector1">
            <a:avLst/>
          </a:prstGeom>
          <a:ln>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5440680" y="4316730"/>
            <a:ext cx="1933543" cy="275460"/>
          </a:xfrm>
          <a:prstGeom prst="rect">
            <a:avLst/>
          </a:prstGeom>
          <a:noFill/>
        </p:spPr>
        <p:txBody>
          <a:bodyPr wrap="none" rtlCol="0">
            <a:spAutoFit/>
          </a:bodyPr>
          <a:lstStyle/>
          <a:p>
            <a:r>
              <a:rPr lang="en-US" sz="1190" dirty="0">
                <a:solidFill>
                  <a:schemeClr val="accent6">
                    <a:lumMod val="75000"/>
                  </a:schemeClr>
                </a:solidFill>
              </a:rPr>
              <a:t>Sum of Squared Error Terms</a:t>
            </a:r>
          </a:p>
        </p:txBody>
      </p:sp>
      <p:graphicFrame>
        <p:nvGraphicFramePr>
          <p:cNvPr id="45067" name="Object 11"/>
          <p:cNvGraphicFramePr>
            <a:graphicFrameLocks noChangeAspect="1"/>
          </p:cNvGraphicFramePr>
          <p:nvPr/>
        </p:nvGraphicFramePr>
        <p:xfrm>
          <a:off x="5525691" y="6188314"/>
          <a:ext cx="1504553" cy="612616"/>
        </p:xfrm>
        <a:graphic>
          <a:graphicData uri="http://schemas.openxmlformats.org/presentationml/2006/ole">
            <mc:AlternateContent xmlns:mc="http://schemas.openxmlformats.org/markup-compatibility/2006">
              <mc:Choice xmlns:v="urn:schemas-microsoft-com:vml" Requires="v">
                <p:oleObj spid="_x0000_s56361" name="Equation" r:id="rId10" imgW="1282700" imgH="520700" progId="Equation.3">
                  <p:embed/>
                </p:oleObj>
              </mc:Choice>
              <mc:Fallback>
                <p:oleObj name="Equation" r:id="rId10" imgW="1282700" imgH="520700" progId="Equation.3">
                  <p:embed/>
                  <p:pic>
                    <p:nvPicPr>
                      <p:cNvPr id="45067"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25691" y="6188314"/>
                        <a:ext cx="1504553" cy="6126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8" name="Object 12"/>
          <p:cNvGraphicFramePr>
            <a:graphicFrameLocks noChangeAspect="1"/>
          </p:cNvGraphicFramePr>
          <p:nvPr/>
        </p:nvGraphicFramePr>
        <p:xfrm>
          <a:off x="5829300" y="5029200"/>
          <a:ext cx="804228" cy="462835"/>
        </p:xfrm>
        <a:graphic>
          <a:graphicData uri="http://schemas.openxmlformats.org/presentationml/2006/ole">
            <mc:AlternateContent xmlns:mc="http://schemas.openxmlformats.org/markup-compatibility/2006">
              <mc:Choice xmlns:v="urn:schemas-microsoft-com:vml" Requires="v">
                <p:oleObj spid="_x0000_s56362" name="Equation" r:id="rId12" imgW="685800" imgH="393700" progId="Equation.3">
                  <p:embed/>
                </p:oleObj>
              </mc:Choice>
              <mc:Fallback>
                <p:oleObj name="Equation" r:id="rId12" imgW="685800" imgH="393700" progId="Equation.3">
                  <p:embed/>
                  <p:pic>
                    <p:nvPicPr>
                      <p:cNvPr id="45068"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29300" y="5029200"/>
                        <a:ext cx="804228" cy="4628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9" name="Object 13"/>
          <p:cNvGraphicFramePr>
            <a:graphicFrameLocks noChangeAspect="1"/>
          </p:cNvGraphicFramePr>
          <p:nvPr/>
        </p:nvGraphicFramePr>
        <p:xfrm>
          <a:off x="5894070" y="3928111"/>
          <a:ext cx="908130" cy="298211"/>
        </p:xfrm>
        <a:graphic>
          <a:graphicData uri="http://schemas.openxmlformats.org/presentationml/2006/ole">
            <mc:AlternateContent xmlns:mc="http://schemas.openxmlformats.org/markup-compatibility/2006">
              <mc:Choice xmlns:v="urn:schemas-microsoft-com:vml" Requires="v">
                <p:oleObj spid="_x0000_s56363" name="Equation" r:id="rId14" imgW="774364" imgH="253890" progId="Equation.3">
                  <p:embed/>
                </p:oleObj>
              </mc:Choice>
              <mc:Fallback>
                <p:oleObj name="Equation" r:id="rId14" imgW="774364" imgH="253890" progId="Equation.3">
                  <p:embed/>
                  <p:pic>
                    <p:nvPicPr>
                      <p:cNvPr id="45069"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894070" y="3928111"/>
                        <a:ext cx="908130" cy="298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69075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953BAF0-9579-42B3-B979-30EFD986705E}" type="slidenum">
              <a:rPr lang="en-US" smtClean="0"/>
              <a:t>6</a:t>
            </a:fld>
            <a:endParaRPr lang="en-US"/>
          </a:p>
        </p:txBody>
      </p:sp>
      <p:pic>
        <p:nvPicPr>
          <p:cNvPr id="3" name="Picture 2"/>
          <p:cNvPicPr/>
          <p:nvPr/>
        </p:nvPicPr>
        <p:blipFill>
          <a:blip r:embed="rId2" cstate="print">
            <a:grayscl/>
          </a:blip>
          <a:srcRect/>
          <a:stretch>
            <a:fillRect/>
          </a:stretch>
        </p:blipFill>
        <p:spPr bwMode="auto">
          <a:xfrm>
            <a:off x="2526030" y="2507218"/>
            <a:ext cx="5052060" cy="5043964"/>
          </a:xfrm>
          <a:prstGeom prst="rect">
            <a:avLst/>
          </a:prstGeom>
          <a:noFill/>
          <a:ln w="9525">
            <a:noFill/>
            <a:miter lim="800000"/>
            <a:headEnd/>
            <a:tailEnd/>
          </a:ln>
        </p:spPr>
      </p:pic>
      <p:sp>
        <p:nvSpPr>
          <p:cNvPr id="4" name="Oval 3"/>
          <p:cNvSpPr/>
          <p:nvPr/>
        </p:nvSpPr>
        <p:spPr>
          <a:xfrm>
            <a:off x="670101" y="3352639"/>
            <a:ext cx="594097" cy="57136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 name="Oval 4"/>
          <p:cNvSpPr/>
          <p:nvPr/>
        </p:nvSpPr>
        <p:spPr>
          <a:xfrm>
            <a:off x="754842" y="2802146"/>
            <a:ext cx="906780" cy="8420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TextBox 5"/>
          <p:cNvSpPr txBox="1"/>
          <p:nvPr/>
        </p:nvSpPr>
        <p:spPr>
          <a:xfrm>
            <a:off x="389164" y="3671340"/>
            <a:ext cx="582930" cy="327782"/>
          </a:xfrm>
          <a:prstGeom prst="rect">
            <a:avLst/>
          </a:prstGeom>
          <a:noFill/>
        </p:spPr>
        <p:txBody>
          <a:bodyPr wrap="square" rtlCol="0">
            <a:spAutoFit/>
          </a:bodyPr>
          <a:lstStyle/>
          <a:p>
            <a:r>
              <a:rPr lang="en-US" sz="1530" dirty="0"/>
              <a:t>CS</a:t>
            </a:r>
          </a:p>
        </p:txBody>
      </p:sp>
      <p:sp>
        <p:nvSpPr>
          <p:cNvPr id="7" name="TextBox 6"/>
          <p:cNvSpPr txBox="1"/>
          <p:nvPr/>
        </p:nvSpPr>
        <p:spPr>
          <a:xfrm>
            <a:off x="129540" y="2697481"/>
            <a:ext cx="756439" cy="563231"/>
          </a:xfrm>
          <a:prstGeom prst="rect">
            <a:avLst/>
          </a:prstGeom>
          <a:noFill/>
        </p:spPr>
        <p:txBody>
          <a:bodyPr wrap="square" rtlCol="0">
            <a:spAutoFit/>
          </a:bodyPr>
          <a:lstStyle/>
          <a:p>
            <a:r>
              <a:rPr lang="en-US" sz="1530" dirty="0"/>
              <a:t>Test</a:t>
            </a:r>
            <a:br>
              <a:rPr lang="en-US" sz="1530" dirty="0"/>
            </a:br>
            <a:r>
              <a:rPr lang="en-US" sz="1530" dirty="0"/>
              <a:t>Score</a:t>
            </a:r>
          </a:p>
        </p:txBody>
      </p:sp>
      <p:sp>
        <p:nvSpPr>
          <p:cNvPr id="9" name="Oval 8"/>
          <p:cNvSpPr/>
          <p:nvPr/>
        </p:nvSpPr>
        <p:spPr>
          <a:xfrm>
            <a:off x="1210659" y="5364616"/>
            <a:ext cx="594097" cy="57136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0" name="Oval 9"/>
          <p:cNvSpPr/>
          <p:nvPr/>
        </p:nvSpPr>
        <p:spPr>
          <a:xfrm>
            <a:off x="1295400" y="4814124"/>
            <a:ext cx="906780" cy="8420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1" name="TextBox 10"/>
          <p:cNvSpPr txBox="1"/>
          <p:nvPr/>
        </p:nvSpPr>
        <p:spPr>
          <a:xfrm>
            <a:off x="863467" y="5650297"/>
            <a:ext cx="582930" cy="327782"/>
          </a:xfrm>
          <a:prstGeom prst="rect">
            <a:avLst/>
          </a:prstGeom>
          <a:noFill/>
        </p:spPr>
        <p:txBody>
          <a:bodyPr wrap="square" rtlCol="0">
            <a:spAutoFit/>
          </a:bodyPr>
          <a:lstStyle/>
          <a:p>
            <a:r>
              <a:rPr lang="en-US" sz="1530" dirty="0"/>
              <a:t>CS</a:t>
            </a:r>
          </a:p>
        </p:txBody>
      </p:sp>
      <p:sp>
        <p:nvSpPr>
          <p:cNvPr id="12" name="TextBox 11"/>
          <p:cNvSpPr txBox="1"/>
          <p:nvPr/>
        </p:nvSpPr>
        <p:spPr>
          <a:xfrm>
            <a:off x="673168" y="4679648"/>
            <a:ext cx="622232" cy="563231"/>
          </a:xfrm>
          <a:prstGeom prst="rect">
            <a:avLst/>
          </a:prstGeom>
          <a:noFill/>
        </p:spPr>
        <p:txBody>
          <a:bodyPr wrap="square" rtlCol="0">
            <a:spAutoFit/>
          </a:bodyPr>
          <a:lstStyle/>
          <a:p>
            <a:r>
              <a:rPr lang="en-US" sz="1530" dirty="0"/>
              <a:t>Test </a:t>
            </a:r>
            <a:br>
              <a:rPr lang="en-US" sz="1530" dirty="0"/>
            </a:br>
            <a:r>
              <a:rPr lang="en-US" sz="1530" dirty="0"/>
              <a:t>Score</a:t>
            </a:r>
          </a:p>
        </p:txBody>
      </p:sp>
      <p:sp>
        <p:nvSpPr>
          <p:cNvPr id="14" name="Oval 13"/>
          <p:cNvSpPr/>
          <p:nvPr/>
        </p:nvSpPr>
        <p:spPr>
          <a:xfrm>
            <a:off x="1755708" y="4795001"/>
            <a:ext cx="786043" cy="744789"/>
          </a:xfrm>
          <a:prstGeom prst="ellipse">
            <a:avLst/>
          </a:prstGeom>
          <a:solidFill>
            <a:schemeClr val="tx1">
              <a:lumMod val="50000"/>
              <a:lumOff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5" name="TextBox 14"/>
          <p:cNvSpPr txBox="1"/>
          <p:nvPr/>
        </p:nvSpPr>
        <p:spPr>
          <a:xfrm>
            <a:off x="2461260" y="4769890"/>
            <a:ext cx="582930" cy="327782"/>
          </a:xfrm>
          <a:prstGeom prst="rect">
            <a:avLst/>
          </a:prstGeom>
          <a:noFill/>
        </p:spPr>
        <p:txBody>
          <a:bodyPr wrap="square" rtlCol="0">
            <a:spAutoFit/>
          </a:bodyPr>
          <a:lstStyle/>
          <a:p>
            <a:r>
              <a:rPr lang="en-US" sz="1530" dirty="0"/>
              <a:t>TQ</a:t>
            </a:r>
          </a:p>
        </p:txBody>
      </p:sp>
      <p:sp>
        <p:nvSpPr>
          <p:cNvPr id="16" name="TextBox 15"/>
          <p:cNvSpPr txBox="1"/>
          <p:nvPr/>
        </p:nvSpPr>
        <p:spPr>
          <a:xfrm>
            <a:off x="1373476" y="4251960"/>
            <a:ext cx="859531" cy="327782"/>
          </a:xfrm>
          <a:prstGeom prst="rect">
            <a:avLst/>
          </a:prstGeom>
          <a:noFill/>
        </p:spPr>
        <p:txBody>
          <a:bodyPr wrap="none" rtlCol="0">
            <a:spAutoFit/>
          </a:bodyPr>
          <a:lstStyle/>
          <a:p>
            <a:r>
              <a:rPr lang="en-US" sz="1530" b="1" dirty="0"/>
              <a:t>Model 2</a:t>
            </a:r>
          </a:p>
        </p:txBody>
      </p:sp>
      <p:sp>
        <p:nvSpPr>
          <p:cNvPr id="17" name="TextBox 16"/>
          <p:cNvSpPr txBox="1"/>
          <p:nvPr/>
        </p:nvSpPr>
        <p:spPr>
          <a:xfrm>
            <a:off x="534799" y="2244090"/>
            <a:ext cx="859531" cy="327782"/>
          </a:xfrm>
          <a:prstGeom prst="rect">
            <a:avLst/>
          </a:prstGeom>
          <a:noFill/>
        </p:spPr>
        <p:txBody>
          <a:bodyPr wrap="none" rtlCol="0">
            <a:spAutoFit/>
          </a:bodyPr>
          <a:lstStyle/>
          <a:p>
            <a:r>
              <a:rPr lang="en-US" sz="1530" b="1" dirty="0"/>
              <a:t>Model 1</a:t>
            </a:r>
          </a:p>
        </p:txBody>
      </p:sp>
      <p:sp>
        <p:nvSpPr>
          <p:cNvPr id="18" name="Oval 17"/>
          <p:cNvSpPr/>
          <p:nvPr/>
        </p:nvSpPr>
        <p:spPr>
          <a:xfrm>
            <a:off x="960383" y="7178176"/>
            <a:ext cx="594097" cy="57136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9" name="Oval 18"/>
          <p:cNvSpPr/>
          <p:nvPr/>
        </p:nvSpPr>
        <p:spPr>
          <a:xfrm>
            <a:off x="881312" y="6692454"/>
            <a:ext cx="906780" cy="8420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0" name="TextBox 19"/>
          <p:cNvSpPr txBox="1"/>
          <p:nvPr/>
        </p:nvSpPr>
        <p:spPr>
          <a:xfrm>
            <a:off x="449379" y="7435608"/>
            <a:ext cx="582930" cy="327782"/>
          </a:xfrm>
          <a:prstGeom prst="rect">
            <a:avLst/>
          </a:prstGeom>
          <a:noFill/>
        </p:spPr>
        <p:txBody>
          <a:bodyPr wrap="square" rtlCol="0">
            <a:spAutoFit/>
          </a:bodyPr>
          <a:lstStyle/>
          <a:p>
            <a:r>
              <a:rPr lang="en-US" sz="1530" dirty="0"/>
              <a:t>CS</a:t>
            </a:r>
          </a:p>
        </p:txBody>
      </p:sp>
      <p:sp>
        <p:nvSpPr>
          <p:cNvPr id="21" name="TextBox 20"/>
          <p:cNvSpPr txBox="1"/>
          <p:nvPr/>
        </p:nvSpPr>
        <p:spPr>
          <a:xfrm>
            <a:off x="259080" y="6557978"/>
            <a:ext cx="622232" cy="563231"/>
          </a:xfrm>
          <a:prstGeom prst="rect">
            <a:avLst/>
          </a:prstGeom>
          <a:noFill/>
        </p:spPr>
        <p:txBody>
          <a:bodyPr wrap="square" rtlCol="0">
            <a:spAutoFit/>
          </a:bodyPr>
          <a:lstStyle/>
          <a:p>
            <a:r>
              <a:rPr lang="en-US" sz="1530" dirty="0"/>
              <a:t>Test </a:t>
            </a:r>
            <a:br>
              <a:rPr lang="en-US" sz="1530" dirty="0"/>
            </a:br>
            <a:r>
              <a:rPr lang="en-US" sz="1530" dirty="0"/>
              <a:t>Score</a:t>
            </a:r>
          </a:p>
        </p:txBody>
      </p:sp>
      <p:sp>
        <p:nvSpPr>
          <p:cNvPr id="24" name="TextBox 23"/>
          <p:cNvSpPr txBox="1"/>
          <p:nvPr/>
        </p:nvSpPr>
        <p:spPr>
          <a:xfrm>
            <a:off x="1779024" y="7377497"/>
            <a:ext cx="582930" cy="327782"/>
          </a:xfrm>
          <a:prstGeom prst="rect">
            <a:avLst/>
          </a:prstGeom>
          <a:noFill/>
        </p:spPr>
        <p:txBody>
          <a:bodyPr wrap="square" rtlCol="0">
            <a:spAutoFit/>
          </a:bodyPr>
          <a:lstStyle/>
          <a:p>
            <a:r>
              <a:rPr lang="en-US" sz="1530" dirty="0"/>
              <a:t>SES</a:t>
            </a:r>
          </a:p>
        </p:txBody>
      </p:sp>
      <p:sp>
        <p:nvSpPr>
          <p:cNvPr id="25" name="TextBox 24"/>
          <p:cNvSpPr txBox="1"/>
          <p:nvPr/>
        </p:nvSpPr>
        <p:spPr>
          <a:xfrm>
            <a:off x="1656136" y="6378521"/>
            <a:ext cx="859531" cy="327782"/>
          </a:xfrm>
          <a:prstGeom prst="rect">
            <a:avLst/>
          </a:prstGeom>
          <a:noFill/>
        </p:spPr>
        <p:txBody>
          <a:bodyPr wrap="none" rtlCol="0">
            <a:spAutoFit/>
          </a:bodyPr>
          <a:lstStyle/>
          <a:p>
            <a:r>
              <a:rPr lang="en-US" sz="1530" b="1" dirty="0"/>
              <a:t>Model 4</a:t>
            </a:r>
          </a:p>
        </p:txBody>
      </p:sp>
      <p:sp>
        <p:nvSpPr>
          <p:cNvPr id="26" name="Oval 25"/>
          <p:cNvSpPr/>
          <p:nvPr/>
        </p:nvSpPr>
        <p:spPr>
          <a:xfrm>
            <a:off x="1101090" y="7166610"/>
            <a:ext cx="594097" cy="571364"/>
          </a:xfrm>
          <a:prstGeom prst="ellipse">
            <a:avLst/>
          </a:prstGeom>
          <a:solidFill>
            <a:schemeClr val="tx1">
              <a:lumMod val="50000"/>
              <a:lumOff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Tree>
    <p:extLst>
      <p:ext uri="{BB962C8B-B14F-4D97-AF65-F5344CB8AC3E}">
        <p14:creationId xmlns:p14="http://schemas.microsoft.com/office/powerpoint/2010/main" val="1176049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Partitioned regression</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A953BAF0-9579-42B3-B979-30EFD986705E}" type="slidenum">
              <a:rPr lang="en-US" smtClean="0"/>
              <a:t>7</a:t>
            </a:fld>
            <a:endParaRPr lang="en-US"/>
          </a:p>
        </p:txBody>
      </p:sp>
    </p:spTree>
    <p:extLst>
      <p:ext uri="{BB962C8B-B14F-4D97-AF65-F5344CB8AC3E}">
        <p14:creationId xmlns:p14="http://schemas.microsoft.com/office/powerpoint/2010/main" val="3370298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p:cNvSpPr/>
          <p:nvPr/>
        </p:nvSpPr>
        <p:spPr>
          <a:xfrm>
            <a:off x="3429000" y="6400800"/>
            <a:ext cx="1230630" cy="1230630"/>
          </a:xfrm>
          <a:prstGeom prst="ellips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9" name="TextBox 8"/>
          <p:cNvSpPr txBox="1"/>
          <p:nvPr/>
        </p:nvSpPr>
        <p:spPr>
          <a:xfrm>
            <a:off x="4653269" y="7402776"/>
            <a:ext cx="428322" cy="369332"/>
          </a:xfrm>
          <a:prstGeom prst="rect">
            <a:avLst/>
          </a:prstGeom>
          <a:noFill/>
        </p:spPr>
        <p:txBody>
          <a:bodyPr wrap="none" rtlCol="0">
            <a:spAutoFit/>
          </a:bodyPr>
          <a:lstStyle/>
          <a:p>
            <a:r>
              <a:rPr lang="en-US" b="1" dirty="0">
                <a:solidFill>
                  <a:schemeClr val="tx1">
                    <a:lumMod val="50000"/>
                    <a:lumOff val="50000"/>
                  </a:schemeClr>
                </a:solidFill>
              </a:rPr>
              <a:t>X2</a:t>
            </a:r>
          </a:p>
        </p:txBody>
      </p:sp>
      <p:sp>
        <p:nvSpPr>
          <p:cNvPr id="10" name="TextBox 9"/>
          <p:cNvSpPr txBox="1"/>
          <p:nvPr/>
        </p:nvSpPr>
        <p:spPr>
          <a:xfrm>
            <a:off x="2449611" y="7245810"/>
            <a:ext cx="428322" cy="369332"/>
          </a:xfrm>
          <a:prstGeom prst="rect">
            <a:avLst/>
          </a:prstGeom>
          <a:noFill/>
        </p:spPr>
        <p:txBody>
          <a:bodyPr wrap="none" rtlCol="0">
            <a:spAutoFit/>
          </a:bodyPr>
          <a:lstStyle/>
          <a:p>
            <a:r>
              <a:rPr lang="en-US" b="1" dirty="0">
                <a:solidFill>
                  <a:schemeClr val="accent6">
                    <a:lumMod val="75000"/>
                  </a:schemeClr>
                </a:solidFill>
              </a:rPr>
              <a:t>X1</a:t>
            </a:r>
          </a:p>
        </p:txBody>
      </p:sp>
      <p:sp>
        <p:nvSpPr>
          <p:cNvPr id="11" name="TextBox 10"/>
          <p:cNvSpPr txBox="1"/>
          <p:nvPr/>
        </p:nvSpPr>
        <p:spPr>
          <a:xfrm>
            <a:off x="3071150" y="4970356"/>
            <a:ext cx="344966" cy="461665"/>
          </a:xfrm>
          <a:prstGeom prst="rect">
            <a:avLst/>
          </a:prstGeom>
          <a:noFill/>
        </p:spPr>
        <p:txBody>
          <a:bodyPr wrap="none" rtlCol="0">
            <a:spAutoFit/>
          </a:bodyPr>
          <a:lstStyle/>
          <a:p>
            <a:r>
              <a:rPr lang="en-US" sz="2400" b="1" dirty="0">
                <a:solidFill>
                  <a:srgbClr val="385D8A"/>
                </a:solidFill>
              </a:rPr>
              <a:t>Y</a:t>
            </a:r>
          </a:p>
        </p:txBody>
      </p:sp>
      <p:sp>
        <p:nvSpPr>
          <p:cNvPr id="6" name="Oval 5"/>
          <p:cNvSpPr/>
          <p:nvPr/>
        </p:nvSpPr>
        <p:spPr>
          <a:xfrm>
            <a:off x="2813685" y="6211449"/>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 name="Oval 4"/>
          <p:cNvSpPr/>
          <p:nvPr/>
        </p:nvSpPr>
        <p:spPr>
          <a:xfrm>
            <a:off x="2956976" y="5259729"/>
            <a:ext cx="1878330" cy="1813560"/>
          </a:xfrm>
          <a:prstGeom prst="ellipse">
            <a:avLst/>
          </a:prstGeom>
          <a:noFill/>
          <a:ln>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2" name="TextBox 21"/>
          <p:cNvSpPr txBox="1"/>
          <p:nvPr/>
        </p:nvSpPr>
        <p:spPr>
          <a:xfrm>
            <a:off x="3280904" y="6307721"/>
            <a:ext cx="333746" cy="400110"/>
          </a:xfrm>
          <a:prstGeom prst="rect">
            <a:avLst/>
          </a:prstGeom>
          <a:noFill/>
        </p:spPr>
        <p:txBody>
          <a:bodyPr wrap="none" rtlCol="0">
            <a:spAutoFit/>
          </a:bodyPr>
          <a:lstStyle/>
          <a:p>
            <a:r>
              <a:rPr lang="en-US" sz="2000" dirty="0">
                <a:solidFill>
                  <a:schemeClr val="bg1">
                    <a:lumMod val="50000"/>
                  </a:schemeClr>
                </a:solidFill>
              </a:rPr>
              <a:t>A</a:t>
            </a:r>
          </a:p>
        </p:txBody>
      </p:sp>
      <p:sp>
        <p:nvSpPr>
          <p:cNvPr id="25" name="TextBox 24"/>
          <p:cNvSpPr txBox="1"/>
          <p:nvPr/>
        </p:nvSpPr>
        <p:spPr>
          <a:xfrm>
            <a:off x="3774342" y="5661493"/>
            <a:ext cx="320922" cy="400110"/>
          </a:xfrm>
          <a:prstGeom prst="rect">
            <a:avLst/>
          </a:prstGeom>
          <a:noFill/>
        </p:spPr>
        <p:txBody>
          <a:bodyPr wrap="none" rtlCol="0">
            <a:spAutoFit/>
          </a:bodyPr>
          <a:lstStyle/>
          <a:p>
            <a:r>
              <a:rPr lang="en-US" sz="2000" dirty="0">
                <a:solidFill>
                  <a:schemeClr val="bg1">
                    <a:lumMod val="50000"/>
                  </a:schemeClr>
                </a:solidFill>
              </a:rPr>
              <a:t>C</a:t>
            </a:r>
          </a:p>
        </p:txBody>
      </p:sp>
      <p:sp>
        <p:nvSpPr>
          <p:cNvPr id="26" name="TextBox 25"/>
          <p:cNvSpPr txBox="1"/>
          <p:nvPr/>
        </p:nvSpPr>
        <p:spPr>
          <a:xfrm>
            <a:off x="2951565" y="6751193"/>
            <a:ext cx="324128" cy="400110"/>
          </a:xfrm>
          <a:prstGeom prst="rect">
            <a:avLst/>
          </a:prstGeom>
          <a:noFill/>
        </p:spPr>
        <p:txBody>
          <a:bodyPr wrap="none" rtlCol="0">
            <a:spAutoFit/>
          </a:bodyPr>
          <a:lstStyle/>
          <a:p>
            <a:r>
              <a:rPr lang="en-US" sz="2000" dirty="0">
                <a:solidFill>
                  <a:schemeClr val="bg1">
                    <a:lumMod val="50000"/>
                  </a:schemeClr>
                </a:solidFill>
              </a:rPr>
              <a:t>B</a:t>
            </a:r>
          </a:p>
        </p:txBody>
      </p:sp>
      <p:sp>
        <p:nvSpPr>
          <p:cNvPr id="2" name="TextBox 1"/>
          <p:cNvSpPr txBox="1"/>
          <p:nvPr/>
        </p:nvSpPr>
        <p:spPr>
          <a:xfrm>
            <a:off x="2318818" y="3430324"/>
            <a:ext cx="1288623" cy="646331"/>
          </a:xfrm>
          <a:prstGeom prst="rect">
            <a:avLst/>
          </a:prstGeom>
          <a:noFill/>
        </p:spPr>
        <p:txBody>
          <a:bodyPr wrap="none" rtlCol="0">
            <a:spAutoFit/>
          </a:bodyPr>
          <a:lstStyle/>
          <a:p>
            <a:pPr algn="ctr"/>
            <a:r>
              <a:rPr lang="en-US" dirty="0">
                <a:solidFill>
                  <a:schemeClr val="tx1">
                    <a:lumMod val="50000"/>
                    <a:lumOff val="50000"/>
                  </a:schemeClr>
                </a:solidFill>
              </a:rPr>
              <a:t>Dependent </a:t>
            </a:r>
          </a:p>
          <a:p>
            <a:pPr algn="ctr"/>
            <a:r>
              <a:rPr lang="en-US" dirty="0">
                <a:solidFill>
                  <a:schemeClr val="tx1">
                    <a:lumMod val="50000"/>
                    <a:lumOff val="50000"/>
                  </a:schemeClr>
                </a:solidFill>
              </a:rPr>
              <a:t>Variable</a:t>
            </a:r>
          </a:p>
        </p:txBody>
      </p:sp>
      <p:sp>
        <p:nvSpPr>
          <p:cNvPr id="12" name="TextBox 11"/>
          <p:cNvSpPr txBox="1"/>
          <p:nvPr/>
        </p:nvSpPr>
        <p:spPr>
          <a:xfrm>
            <a:off x="1032298" y="8687658"/>
            <a:ext cx="947696" cy="646331"/>
          </a:xfrm>
          <a:prstGeom prst="rect">
            <a:avLst/>
          </a:prstGeom>
          <a:noFill/>
        </p:spPr>
        <p:txBody>
          <a:bodyPr wrap="none" rtlCol="0">
            <a:spAutoFit/>
          </a:bodyPr>
          <a:lstStyle/>
          <a:p>
            <a:pPr algn="ctr"/>
            <a:r>
              <a:rPr lang="en-US" dirty="0">
                <a:solidFill>
                  <a:schemeClr val="tx1">
                    <a:lumMod val="50000"/>
                    <a:lumOff val="50000"/>
                  </a:schemeClr>
                </a:solidFill>
              </a:rPr>
              <a:t>Policy </a:t>
            </a:r>
          </a:p>
          <a:p>
            <a:pPr algn="ctr"/>
            <a:r>
              <a:rPr lang="en-US" dirty="0">
                <a:solidFill>
                  <a:schemeClr val="tx1">
                    <a:lumMod val="50000"/>
                    <a:lumOff val="50000"/>
                  </a:schemeClr>
                </a:solidFill>
              </a:rPr>
              <a:t>Variable</a:t>
            </a:r>
          </a:p>
        </p:txBody>
      </p:sp>
      <p:sp>
        <p:nvSpPr>
          <p:cNvPr id="13" name="TextBox 12"/>
          <p:cNvSpPr txBox="1"/>
          <p:nvPr/>
        </p:nvSpPr>
        <p:spPr>
          <a:xfrm>
            <a:off x="5985298" y="8687657"/>
            <a:ext cx="947695" cy="646331"/>
          </a:xfrm>
          <a:prstGeom prst="rect">
            <a:avLst/>
          </a:prstGeom>
          <a:noFill/>
        </p:spPr>
        <p:txBody>
          <a:bodyPr wrap="none" rtlCol="0">
            <a:spAutoFit/>
          </a:bodyPr>
          <a:lstStyle/>
          <a:p>
            <a:pPr algn="ctr"/>
            <a:r>
              <a:rPr lang="en-US" dirty="0">
                <a:solidFill>
                  <a:schemeClr val="tx1">
                    <a:lumMod val="50000"/>
                    <a:lumOff val="50000"/>
                  </a:schemeClr>
                </a:solidFill>
              </a:rPr>
              <a:t>Control </a:t>
            </a:r>
          </a:p>
          <a:p>
            <a:pPr algn="ctr"/>
            <a:r>
              <a:rPr lang="en-US" dirty="0">
                <a:solidFill>
                  <a:schemeClr val="tx1">
                    <a:lumMod val="50000"/>
                    <a:lumOff val="50000"/>
                  </a:schemeClr>
                </a:solidFill>
              </a:rPr>
              <a:t>Variable</a:t>
            </a:r>
          </a:p>
        </p:txBody>
      </p:sp>
      <p:cxnSp>
        <p:nvCxnSpPr>
          <p:cNvPr id="4" name="Straight Arrow Connector 3"/>
          <p:cNvCxnSpPr/>
          <p:nvPr/>
        </p:nvCxnSpPr>
        <p:spPr>
          <a:xfrm>
            <a:off x="2937298" y="4130010"/>
            <a:ext cx="172483" cy="630108"/>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1659928" y="7762449"/>
            <a:ext cx="640132" cy="646312"/>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5081591" y="7849458"/>
            <a:ext cx="1042379" cy="84368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itle 17"/>
          <p:cNvSpPr>
            <a:spLocks noGrp="1"/>
          </p:cNvSpPr>
          <p:nvPr>
            <p:ph type="title"/>
          </p:nvPr>
        </p:nvSpPr>
        <p:spPr/>
        <p:txBody>
          <a:bodyPr/>
          <a:lstStyle/>
          <a:p>
            <a:r>
              <a:rPr lang="en-US" dirty="0" err="1"/>
              <a:t>Ballentine</a:t>
            </a:r>
            <a:r>
              <a:rPr lang="en-US" dirty="0"/>
              <a:t> </a:t>
            </a:r>
            <a:r>
              <a:rPr lang="en-US" dirty="0" err="1"/>
              <a:t>venn</a:t>
            </a:r>
            <a:r>
              <a:rPr lang="en-US" dirty="0"/>
              <a:t> diagram</a:t>
            </a:r>
          </a:p>
        </p:txBody>
      </p:sp>
    </p:spTree>
    <p:extLst>
      <p:ext uri="{BB962C8B-B14F-4D97-AF65-F5344CB8AC3E}">
        <p14:creationId xmlns:p14="http://schemas.microsoft.com/office/powerpoint/2010/main" val="3089666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449611" y="7245810"/>
            <a:ext cx="428322" cy="369332"/>
          </a:xfrm>
          <a:prstGeom prst="rect">
            <a:avLst/>
          </a:prstGeom>
          <a:noFill/>
        </p:spPr>
        <p:txBody>
          <a:bodyPr wrap="none" rtlCol="0">
            <a:spAutoFit/>
          </a:bodyPr>
          <a:lstStyle/>
          <a:p>
            <a:r>
              <a:rPr lang="en-US" b="1" dirty="0">
                <a:solidFill>
                  <a:schemeClr val="accent6">
                    <a:lumMod val="75000"/>
                  </a:schemeClr>
                </a:solidFill>
              </a:rPr>
              <a:t>X1</a:t>
            </a:r>
          </a:p>
        </p:txBody>
      </p:sp>
      <p:sp>
        <p:nvSpPr>
          <p:cNvPr id="6" name="Oval 5"/>
          <p:cNvSpPr/>
          <p:nvPr/>
        </p:nvSpPr>
        <p:spPr>
          <a:xfrm>
            <a:off x="2813685" y="6211449"/>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 name="Oval 4"/>
          <p:cNvSpPr/>
          <p:nvPr/>
        </p:nvSpPr>
        <p:spPr>
          <a:xfrm>
            <a:off x="2956976" y="5259729"/>
            <a:ext cx="1878330" cy="1813560"/>
          </a:xfrm>
          <a:prstGeom prst="ellipse">
            <a:avLst/>
          </a:prstGeom>
          <a:noFill/>
          <a:ln>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 name="TextBox 1"/>
          <p:cNvSpPr txBox="1"/>
          <p:nvPr/>
        </p:nvSpPr>
        <p:spPr>
          <a:xfrm>
            <a:off x="2871435" y="3967716"/>
            <a:ext cx="1805815" cy="461665"/>
          </a:xfrm>
          <a:prstGeom prst="rect">
            <a:avLst/>
          </a:prstGeom>
          <a:noFill/>
        </p:spPr>
        <p:txBody>
          <a:bodyPr wrap="none" rtlCol="0">
            <a:spAutoFit/>
          </a:bodyPr>
          <a:lstStyle/>
          <a:p>
            <a:pPr algn="ctr"/>
            <a:r>
              <a:rPr lang="en-US" sz="2400" dirty="0">
                <a:solidFill>
                  <a:srgbClr val="385D8A"/>
                </a:solidFill>
              </a:rPr>
              <a:t>Variance of Y</a:t>
            </a:r>
          </a:p>
        </p:txBody>
      </p:sp>
      <p:sp>
        <p:nvSpPr>
          <p:cNvPr id="13" name="TextBox 12"/>
          <p:cNvSpPr txBox="1"/>
          <p:nvPr/>
        </p:nvSpPr>
        <p:spPr>
          <a:xfrm>
            <a:off x="4657029" y="7659910"/>
            <a:ext cx="1240019" cy="369332"/>
          </a:xfrm>
          <a:prstGeom prst="rect">
            <a:avLst/>
          </a:prstGeom>
          <a:noFill/>
        </p:spPr>
        <p:txBody>
          <a:bodyPr wrap="none" rtlCol="0">
            <a:spAutoFit/>
          </a:bodyPr>
          <a:lstStyle/>
          <a:p>
            <a:pPr algn="ctr"/>
            <a:r>
              <a:rPr lang="en-US" dirty="0" err="1">
                <a:solidFill>
                  <a:schemeClr val="tx1">
                    <a:lumMod val="50000"/>
                    <a:lumOff val="50000"/>
                  </a:schemeClr>
                </a:solidFill>
              </a:rPr>
              <a:t>Cov</a:t>
            </a:r>
            <a:r>
              <a:rPr lang="en-US" dirty="0">
                <a:solidFill>
                  <a:schemeClr val="tx1">
                    <a:lumMod val="50000"/>
                    <a:lumOff val="50000"/>
                  </a:schemeClr>
                </a:solidFill>
              </a:rPr>
              <a:t>( X1, Y )</a:t>
            </a:r>
          </a:p>
        </p:txBody>
      </p:sp>
      <p:cxnSp>
        <p:nvCxnSpPr>
          <p:cNvPr id="19" name="Straight Arrow Connector 18"/>
          <p:cNvCxnSpPr/>
          <p:nvPr/>
        </p:nvCxnSpPr>
        <p:spPr>
          <a:xfrm flipH="1" flipV="1">
            <a:off x="3614650" y="6690454"/>
            <a:ext cx="1042379" cy="843684"/>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itle 17"/>
          <p:cNvSpPr>
            <a:spLocks noGrp="1"/>
          </p:cNvSpPr>
          <p:nvPr>
            <p:ph type="title"/>
          </p:nvPr>
        </p:nvSpPr>
        <p:spPr/>
        <p:txBody>
          <a:bodyPr/>
          <a:lstStyle/>
          <a:p>
            <a:r>
              <a:rPr lang="en-US" dirty="0" err="1"/>
              <a:t>Ballentine</a:t>
            </a:r>
            <a:r>
              <a:rPr lang="en-US" dirty="0"/>
              <a:t> </a:t>
            </a:r>
            <a:r>
              <a:rPr lang="en-US" dirty="0" err="1"/>
              <a:t>venn</a:t>
            </a:r>
            <a:r>
              <a:rPr lang="en-US" dirty="0"/>
              <a:t> diagram</a:t>
            </a:r>
          </a:p>
        </p:txBody>
      </p:sp>
      <p:sp>
        <p:nvSpPr>
          <p:cNvPr id="20" name="Right Brace 19"/>
          <p:cNvSpPr/>
          <p:nvPr/>
        </p:nvSpPr>
        <p:spPr>
          <a:xfrm rot="16200000">
            <a:off x="3625292" y="3790734"/>
            <a:ext cx="440055" cy="2115073"/>
          </a:xfrm>
          <a:prstGeom prst="rightBrace">
            <a:avLst/>
          </a:prstGeom>
          <a:ln>
            <a:solidFill>
              <a:srgbClr val="385D8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402663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p:cNvSpPr/>
          <p:nvPr/>
        </p:nvSpPr>
        <p:spPr>
          <a:xfrm>
            <a:off x="3429000" y="6400800"/>
            <a:ext cx="1230630" cy="1230630"/>
          </a:xfrm>
          <a:prstGeom prst="ellips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Oval 5"/>
          <p:cNvSpPr/>
          <p:nvPr/>
        </p:nvSpPr>
        <p:spPr>
          <a:xfrm>
            <a:off x="2813685" y="6211449"/>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2" name="TextBox 11"/>
          <p:cNvSpPr txBox="1"/>
          <p:nvPr/>
        </p:nvSpPr>
        <p:spPr>
          <a:xfrm>
            <a:off x="2416919" y="8714905"/>
            <a:ext cx="1365054" cy="369332"/>
          </a:xfrm>
          <a:prstGeom prst="rect">
            <a:avLst/>
          </a:prstGeom>
          <a:noFill/>
        </p:spPr>
        <p:txBody>
          <a:bodyPr wrap="none" rtlCol="0">
            <a:spAutoFit/>
          </a:bodyPr>
          <a:lstStyle/>
          <a:p>
            <a:pPr algn="ctr"/>
            <a:r>
              <a:rPr lang="en-US" dirty="0" err="1">
                <a:solidFill>
                  <a:schemeClr val="tx1">
                    <a:lumMod val="50000"/>
                    <a:lumOff val="50000"/>
                  </a:schemeClr>
                </a:solidFill>
              </a:rPr>
              <a:t>Cov</a:t>
            </a:r>
            <a:r>
              <a:rPr lang="en-US" dirty="0">
                <a:solidFill>
                  <a:schemeClr val="tx1">
                    <a:lumMod val="50000"/>
                    <a:lumOff val="50000"/>
                  </a:schemeClr>
                </a:solidFill>
              </a:rPr>
              <a:t>( X1, X2 )</a:t>
            </a:r>
          </a:p>
        </p:txBody>
      </p:sp>
      <p:sp>
        <p:nvSpPr>
          <p:cNvPr id="13" name="TextBox 12"/>
          <p:cNvSpPr txBox="1"/>
          <p:nvPr/>
        </p:nvSpPr>
        <p:spPr>
          <a:xfrm>
            <a:off x="5981954" y="6826764"/>
            <a:ext cx="1045478" cy="646331"/>
          </a:xfrm>
          <a:prstGeom prst="rect">
            <a:avLst/>
          </a:prstGeom>
          <a:noFill/>
        </p:spPr>
        <p:txBody>
          <a:bodyPr wrap="none" rtlCol="0">
            <a:spAutoFit/>
          </a:bodyPr>
          <a:lstStyle/>
          <a:p>
            <a:pPr algn="ctr"/>
            <a:r>
              <a:rPr lang="en-US" dirty="0">
                <a:solidFill>
                  <a:schemeClr val="tx1">
                    <a:lumMod val="50000"/>
                    <a:lumOff val="50000"/>
                  </a:schemeClr>
                </a:solidFill>
              </a:rPr>
              <a:t>Variance </a:t>
            </a:r>
          </a:p>
          <a:p>
            <a:pPr algn="ctr"/>
            <a:r>
              <a:rPr lang="en-US" dirty="0">
                <a:solidFill>
                  <a:schemeClr val="tx1">
                    <a:lumMod val="50000"/>
                    <a:lumOff val="50000"/>
                  </a:schemeClr>
                </a:solidFill>
              </a:rPr>
              <a:t>of X2</a:t>
            </a:r>
          </a:p>
        </p:txBody>
      </p:sp>
      <p:cxnSp>
        <p:nvCxnSpPr>
          <p:cNvPr id="17" name="Straight Arrow Connector 16"/>
          <p:cNvCxnSpPr>
            <a:stCxn id="12" idx="0"/>
          </p:cNvCxnSpPr>
          <p:nvPr/>
        </p:nvCxnSpPr>
        <p:spPr>
          <a:xfrm flipV="1">
            <a:off x="3099446" y="7016115"/>
            <a:ext cx="682527" cy="16987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itle 17"/>
          <p:cNvSpPr>
            <a:spLocks noGrp="1"/>
          </p:cNvSpPr>
          <p:nvPr>
            <p:ph type="title"/>
          </p:nvPr>
        </p:nvSpPr>
        <p:spPr/>
        <p:txBody>
          <a:bodyPr/>
          <a:lstStyle/>
          <a:p>
            <a:r>
              <a:rPr lang="en-US" dirty="0" err="1"/>
              <a:t>Ballentine</a:t>
            </a:r>
            <a:r>
              <a:rPr lang="en-US" dirty="0"/>
              <a:t> </a:t>
            </a:r>
            <a:r>
              <a:rPr lang="en-US" dirty="0" err="1"/>
              <a:t>venn</a:t>
            </a:r>
            <a:r>
              <a:rPr lang="en-US" dirty="0"/>
              <a:t> diagram</a:t>
            </a:r>
          </a:p>
        </p:txBody>
      </p:sp>
      <p:sp>
        <p:nvSpPr>
          <p:cNvPr id="15" name="Right Brace 14"/>
          <p:cNvSpPr/>
          <p:nvPr/>
        </p:nvSpPr>
        <p:spPr>
          <a:xfrm>
            <a:off x="5093252" y="6490728"/>
            <a:ext cx="440055" cy="1140702"/>
          </a:xfrm>
          <a:prstGeom prst="rightBrac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937811" y="6490728"/>
            <a:ext cx="1045478" cy="646331"/>
          </a:xfrm>
          <a:prstGeom prst="rect">
            <a:avLst/>
          </a:prstGeom>
          <a:noFill/>
        </p:spPr>
        <p:txBody>
          <a:bodyPr wrap="none" rtlCol="0">
            <a:spAutoFit/>
          </a:bodyPr>
          <a:lstStyle/>
          <a:p>
            <a:pPr algn="ctr"/>
            <a:r>
              <a:rPr lang="en-US" dirty="0">
                <a:solidFill>
                  <a:schemeClr val="tx1">
                    <a:lumMod val="50000"/>
                    <a:lumOff val="50000"/>
                  </a:schemeClr>
                </a:solidFill>
              </a:rPr>
              <a:t>Variance </a:t>
            </a:r>
          </a:p>
          <a:p>
            <a:pPr algn="ctr"/>
            <a:r>
              <a:rPr lang="en-US" dirty="0">
                <a:solidFill>
                  <a:schemeClr val="tx1">
                    <a:lumMod val="50000"/>
                    <a:lumOff val="50000"/>
                  </a:schemeClr>
                </a:solidFill>
              </a:rPr>
              <a:t>of X1</a:t>
            </a:r>
          </a:p>
        </p:txBody>
      </p:sp>
      <p:sp>
        <p:nvSpPr>
          <p:cNvPr id="24" name="Right Brace 23"/>
          <p:cNvSpPr/>
          <p:nvPr/>
        </p:nvSpPr>
        <p:spPr>
          <a:xfrm rot="10800000">
            <a:off x="2048691" y="6243253"/>
            <a:ext cx="440055" cy="1219200"/>
          </a:xfrm>
          <a:prstGeom prst="rightBrac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559325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dirty="0">
                <a:solidFill>
                  <a:schemeClr val="tx1">
                    <a:lumMod val="50000"/>
                    <a:lumOff val="50000"/>
                  </a:schemeClr>
                </a:solidFill>
                <a:cs typeface="Arial" panose="020B0604020202020204" pitchFamily="34" charset="0"/>
              </a:rPr>
              <a:t>partitioned</a:t>
            </a:r>
            <a:br>
              <a:rPr lang="en-US" dirty="0">
                <a:solidFill>
                  <a:schemeClr val="tx1">
                    <a:lumMod val="50000"/>
                    <a:lumOff val="50000"/>
                  </a:schemeClr>
                </a:solidFill>
                <a:cs typeface="Arial" panose="020B0604020202020204" pitchFamily="34" charset="0"/>
              </a:rPr>
            </a:br>
            <a:r>
              <a:rPr lang="en-US" dirty="0">
                <a:solidFill>
                  <a:schemeClr val="accent6">
                    <a:lumMod val="75000"/>
                  </a:schemeClr>
                </a:solidFill>
                <a:cs typeface="Arial" panose="020B0604020202020204" pitchFamily="34" charset="0"/>
              </a:rPr>
              <a:t>regression</a:t>
            </a:r>
            <a:br>
              <a:rPr lang="en-US" dirty="0">
                <a:solidFill>
                  <a:schemeClr val="tx1">
                    <a:lumMod val="50000"/>
                    <a:lumOff val="50000"/>
                  </a:schemeClr>
                </a:solidFill>
                <a:cs typeface="Arial" panose="020B0604020202020204" pitchFamily="34" charset="0"/>
              </a:rPr>
            </a:br>
            <a:br>
              <a:rPr lang="en-US" dirty="0">
                <a:solidFill>
                  <a:schemeClr val="tx1">
                    <a:lumMod val="50000"/>
                    <a:lumOff val="50000"/>
                  </a:schemeClr>
                </a:solidFill>
                <a:cs typeface="Arial" panose="020B0604020202020204" pitchFamily="34" charset="0"/>
              </a:rPr>
            </a:br>
            <a:endParaRPr lang="en-US" dirty="0"/>
          </a:p>
        </p:txBody>
      </p:sp>
      <p:sp>
        <p:nvSpPr>
          <p:cNvPr id="3" name="Subtitle 2"/>
          <p:cNvSpPr>
            <a:spLocks noGrp="1"/>
          </p:cNvSpPr>
          <p:nvPr>
            <p:ph type="subTitle" idx="1"/>
          </p:nvPr>
        </p:nvSpPr>
        <p:spPr>
          <a:xfrm>
            <a:off x="1165860" y="6497320"/>
            <a:ext cx="5440680" cy="2570480"/>
          </a:xfrm>
        </p:spPr>
        <p:txBody>
          <a:bodyPr/>
          <a:lstStyle/>
          <a:p>
            <a:r>
              <a:rPr lang="en-US" sz="2000" dirty="0">
                <a:solidFill>
                  <a:schemeClr val="tx1">
                    <a:lumMod val="50000"/>
                    <a:lumOff val="50000"/>
                  </a:schemeClr>
                </a:solidFill>
                <a:latin typeface="Arial" panose="020B0604020202020204" pitchFamily="34" charset="0"/>
                <a:cs typeface="Arial" panose="020B0604020202020204" pitchFamily="34" charset="0"/>
              </a:rPr>
              <a:t>Fundamentals of</a:t>
            </a:r>
            <a:endParaRPr lang="en-US" sz="2400" b="1" dirty="0">
              <a:solidFill>
                <a:schemeClr val="accent6">
                  <a:lumMod val="75000"/>
                </a:schemeClr>
              </a:solidFill>
              <a:latin typeface="Arial" panose="020B0604020202020204" pitchFamily="34" charset="0"/>
              <a:cs typeface="Arial" panose="020B0604020202020204" pitchFamily="34" charset="0"/>
            </a:endParaRPr>
          </a:p>
          <a:p>
            <a:r>
              <a:rPr lang="en-US" sz="2400" b="1" dirty="0">
                <a:solidFill>
                  <a:schemeClr val="accent6">
                    <a:lumMod val="75000"/>
                  </a:schemeClr>
                </a:solidFill>
                <a:cs typeface="Arial" panose="020B0604020202020204" pitchFamily="34" charset="0"/>
              </a:rPr>
              <a:t>PROGRAM</a:t>
            </a:r>
            <a:r>
              <a:rPr lang="en-US" sz="2000" dirty="0">
                <a:solidFill>
                  <a:schemeClr val="accent6">
                    <a:lumMod val="75000"/>
                  </a:schemeClr>
                </a:solidFill>
                <a:cs typeface="Arial" panose="020B0604020202020204" pitchFamily="34" charset="0"/>
              </a:rPr>
              <a:t> </a:t>
            </a:r>
            <a:r>
              <a:rPr lang="en-US" sz="2000" dirty="0">
                <a:solidFill>
                  <a:schemeClr val="tx1">
                    <a:lumMod val="50000"/>
                    <a:lumOff val="50000"/>
                  </a:schemeClr>
                </a:solidFill>
                <a:latin typeface="Stencil" panose="040409050D0802020404" pitchFamily="82" charset="0"/>
                <a:cs typeface="Arial" panose="020B0604020202020204" pitchFamily="34" charset="0"/>
              </a:rPr>
              <a:t>EVALUATION</a:t>
            </a:r>
          </a:p>
          <a:p>
            <a:endParaRPr lang="en-US" sz="2800" dirty="0">
              <a:solidFill>
                <a:schemeClr val="tx1">
                  <a:lumMod val="50000"/>
                  <a:lumOff val="50000"/>
                </a:schemeClr>
              </a:solidFill>
              <a:latin typeface="Stencil" panose="040409050D0802020404" pitchFamily="82" charset="0"/>
              <a:cs typeface="Arial" panose="020B0604020202020204" pitchFamily="34" charset="0"/>
            </a:endParaRPr>
          </a:p>
          <a:p>
            <a:r>
              <a:rPr lang="en-US" sz="2000" dirty="0">
                <a:solidFill>
                  <a:schemeClr val="tx1">
                    <a:lumMod val="50000"/>
                    <a:lumOff val="50000"/>
                  </a:schemeClr>
                </a:solidFill>
                <a:latin typeface="Berlin Sans FB" panose="020E0602020502020306" pitchFamily="34" charset="0"/>
                <a:cs typeface="Arial" panose="020B0604020202020204" pitchFamily="34" charset="0"/>
              </a:rPr>
              <a:t>JESSE LECY</a:t>
            </a:r>
          </a:p>
          <a:p>
            <a:endParaRPr lang="en-US" sz="2800" dirty="0">
              <a:solidFill>
                <a:schemeClr val="tx1">
                  <a:lumMod val="50000"/>
                  <a:lumOff val="50000"/>
                </a:schemeClr>
              </a:solidFill>
              <a:latin typeface="Stencil" panose="040409050D0802020404" pitchFamily="82" charset="0"/>
              <a:cs typeface="Arial" panose="020B0604020202020204" pitchFamily="34" charset="0"/>
            </a:endParaRPr>
          </a:p>
        </p:txBody>
      </p:sp>
    </p:spTree>
    <p:extLst>
      <p:ext uri="{BB962C8B-B14F-4D97-AF65-F5344CB8AC3E}">
        <p14:creationId xmlns:p14="http://schemas.microsoft.com/office/powerpoint/2010/main" val="593241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51FFFB-8237-48B6-8CAF-976D164706F8}"/>
              </a:ext>
            </a:extLst>
          </p:cNvPr>
          <p:cNvSpPr>
            <a:spLocks noGrp="1"/>
          </p:cNvSpPr>
          <p:nvPr>
            <p:ph type="sldNum" sz="quarter" idx="12"/>
          </p:nvPr>
        </p:nvSpPr>
        <p:spPr/>
        <p:txBody>
          <a:bodyPr/>
          <a:lstStyle/>
          <a:p>
            <a:fld id="{8A2A4A19-B384-42F8-8C0D-94C30AAB39F2}" type="slidenum">
              <a:rPr lang="en-US" smtClean="0"/>
              <a:pPr/>
              <a:t>12</a:t>
            </a:fld>
            <a:endParaRPr lang="en-US"/>
          </a:p>
        </p:txBody>
      </p:sp>
      <p:pic>
        <p:nvPicPr>
          <p:cNvPr id="64514" name="Picture 2">
            <a:extLst>
              <a:ext uri="{FF2B5EF4-FFF2-40B4-BE49-F238E27FC236}">
                <a16:creationId xmlns:a16="http://schemas.microsoft.com/office/drawing/2014/main" id="{87481DB6-33D0-4E94-99A2-6534759C52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642735"/>
            <a:ext cx="7772400" cy="4318000"/>
          </a:xfrm>
          <a:prstGeom prst="rect">
            <a:avLst/>
          </a:prstGeom>
          <a:noFill/>
          <a:extLst>
            <a:ext uri="{909E8E84-426E-40DD-AFC4-6F175D3DCCD1}">
              <a14:hiddenFill xmlns:a14="http://schemas.microsoft.com/office/drawing/2010/main">
                <a:solidFill>
                  <a:srgbClr val="FFFFFF"/>
                </a:solidFill>
              </a14:hiddenFill>
            </a:ext>
          </a:extLst>
        </p:spPr>
      </p:pic>
      <p:pic>
        <p:nvPicPr>
          <p:cNvPr id="64516" name="Picture 4">
            <a:extLst>
              <a:ext uri="{FF2B5EF4-FFF2-40B4-BE49-F238E27FC236}">
                <a16:creationId xmlns:a16="http://schemas.microsoft.com/office/drawing/2014/main" id="{47313736-49C6-45D0-987B-40C3FA5A53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8200"/>
            <a:ext cx="7772400" cy="32385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6825690-F7C6-487F-8419-BBCD78A3C23E}"/>
              </a:ext>
            </a:extLst>
          </p:cNvPr>
          <p:cNvPicPr>
            <a:picLocks noChangeAspect="1"/>
          </p:cNvPicPr>
          <p:nvPr/>
        </p:nvPicPr>
        <p:blipFill>
          <a:blip r:embed="rId4"/>
          <a:stretch>
            <a:fillRect/>
          </a:stretch>
        </p:blipFill>
        <p:spPr>
          <a:xfrm>
            <a:off x="1981200" y="4245228"/>
            <a:ext cx="3529013" cy="1190308"/>
          </a:xfrm>
          <a:prstGeom prst="rect">
            <a:avLst/>
          </a:prstGeom>
        </p:spPr>
      </p:pic>
    </p:spTree>
    <p:extLst>
      <p:ext uri="{BB962C8B-B14F-4D97-AF65-F5344CB8AC3E}">
        <p14:creationId xmlns:p14="http://schemas.microsoft.com/office/powerpoint/2010/main" val="291317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8C8618-C47C-4281-B6BB-23D7C2688FAC}"/>
              </a:ext>
            </a:extLst>
          </p:cNvPr>
          <p:cNvSpPr>
            <a:spLocks noGrp="1"/>
          </p:cNvSpPr>
          <p:nvPr>
            <p:ph type="sldNum" sz="quarter" idx="12"/>
          </p:nvPr>
        </p:nvSpPr>
        <p:spPr/>
        <p:txBody>
          <a:bodyPr/>
          <a:lstStyle/>
          <a:p>
            <a:fld id="{8A2A4A19-B384-42F8-8C0D-94C30AAB39F2}" type="slidenum">
              <a:rPr lang="en-US" smtClean="0"/>
              <a:pPr/>
              <a:t>13</a:t>
            </a:fld>
            <a:endParaRPr lang="en-US"/>
          </a:p>
        </p:txBody>
      </p:sp>
      <p:pic>
        <p:nvPicPr>
          <p:cNvPr id="67586" name="Picture 2" descr="Unexplained variance removed, primarily impacting the residual.">
            <a:extLst>
              <a:ext uri="{FF2B5EF4-FFF2-40B4-BE49-F238E27FC236}">
                <a16:creationId xmlns:a16="http://schemas.microsoft.com/office/drawing/2014/main" id="{05C306B7-E858-44FE-8780-775A6110E2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4830" y="1266828"/>
            <a:ext cx="2971800" cy="1891973"/>
          </a:xfrm>
          <a:prstGeom prst="rect">
            <a:avLst/>
          </a:prstGeom>
          <a:noFill/>
          <a:extLst>
            <a:ext uri="{909E8E84-426E-40DD-AFC4-6F175D3DCCD1}">
              <a14:hiddenFill xmlns:a14="http://schemas.microsoft.com/office/drawing/2010/main">
                <a:solidFill>
                  <a:srgbClr val="FFFFFF"/>
                </a:solidFill>
              </a14:hiddenFill>
            </a:ext>
          </a:extLst>
        </p:spPr>
      </p:pic>
      <p:pic>
        <p:nvPicPr>
          <p:cNvPr id="67588" name="Picture 4">
            <a:extLst>
              <a:ext uri="{FF2B5EF4-FFF2-40B4-BE49-F238E27FC236}">
                <a16:creationId xmlns:a16="http://schemas.microsoft.com/office/drawing/2014/main" id="{EA2B428E-12E7-4C96-AA14-3BEE92EF0B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4800" y="1481345"/>
            <a:ext cx="3049693" cy="167745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7E9B9139-EED4-44BF-8A14-0F97CFAA50B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3430" y="6862036"/>
            <a:ext cx="5486400" cy="304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60F4BC79-2F19-4558-A175-7CD06E35F5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8230" y="4028429"/>
            <a:ext cx="5181600" cy="215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1633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2A6A62-5C8A-4E23-A82B-A58EC3802A8C}"/>
              </a:ext>
            </a:extLst>
          </p:cNvPr>
          <p:cNvSpPr>
            <a:spLocks noGrp="1"/>
          </p:cNvSpPr>
          <p:nvPr>
            <p:ph type="sldNum" sz="quarter" idx="12"/>
          </p:nvPr>
        </p:nvSpPr>
        <p:spPr/>
        <p:txBody>
          <a:bodyPr/>
          <a:lstStyle/>
          <a:p>
            <a:fld id="{8A2A4A19-B384-42F8-8C0D-94C30AAB39F2}" type="slidenum">
              <a:rPr lang="en-US" smtClean="0"/>
              <a:pPr/>
              <a:t>14</a:t>
            </a:fld>
            <a:endParaRPr lang="en-US"/>
          </a:p>
        </p:txBody>
      </p:sp>
      <p:pic>
        <p:nvPicPr>
          <p:cNvPr id="66562" name="Picture 2">
            <a:extLst>
              <a:ext uri="{FF2B5EF4-FFF2-40B4-BE49-F238E27FC236}">
                <a16:creationId xmlns:a16="http://schemas.microsoft.com/office/drawing/2014/main" id="{E41B377F-DE3F-4A84-91EC-CC90FAD101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7772400" cy="3255963"/>
          </a:xfrm>
          <a:prstGeom prst="rect">
            <a:avLst/>
          </a:prstGeom>
          <a:noFill/>
          <a:extLst>
            <a:ext uri="{909E8E84-426E-40DD-AFC4-6F175D3DCCD1}">
              <a14:hiddenFill xmlns:a14="http://schemas.microsoft.com/office/drawing/2010/main">
                <a:solidFill>
                  <a:srgbClr val="FFFFFF"/>
                </a:solidFill>
              </a14:hiddenFill>
            </a:ext>
          </a:extLst>
        </p:spPr>
      </p:pic>
      <p:pic>
        <p:nvPicPr>
          <p:cNvPr id="66564" name="Picture 4">
            <a:extLst>
              <a:ext uri="{FF2B5EF4-FFF2-40B4-BE49-F238E27FC236}">
                <a16:creationId xmlns:a16="http://schemas.microsoft.com/office/drawing/2014/main" id="{6D66E006-7BE8-4195-B821-BE40E51D28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706056"/>
            <a:ext cx="7772400" cy="431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CFC17374-0B68-4410-847F-60C1E2A2C96A}"/>
              </a:ext>
            </a:extLst>
          </p:cNvPr>
          <p:cNvPicPr>
            <a:picLocks noChangeAspect="1"/>
          </p:cNvPicPr>
          <p:nvPr/>
        </p:nvPicPr>
        <p:blipFill>
          <a:blip r:embed="rId4"/>
          <a:stretch>
            <a:fillRect/>
          </a:stretch>
        </p:blipFill>
        <p:spPr>
          <a:xfrm>
            <a:off x="1828800" y="4320646"/>
            <a:ext cx="3600450" cy="1143000"/>
          </a:xfrm>
          <a:prstGeom prst="rect">
            <a:avLst/>
          </a:prstGeom>
        </p:spPr>
      </p:pic>
    </p:spTree>
    <p:extLst>
      <p:ext uri="{BB962C8B-B14F-4D97-AF65-F5344CB8AC3E}">
        <p14:creationId xmlns:p14="http://schemas.microsoft.com/office/powerpoint/2010/main" val="370104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CFCAC0-1E98-4334-B835-C823DAD82498}"/>
              </a:ext>
            </a:extLst>
          </p:cNvPr>
          <p:cNvSpPr>
            <a:spLocks noGrp="1"/>
          </p:cNvSpPr>
          <p:nvPr>
            <p:ph type="sldNum" sz="quarter" idx="12"/>
          </p:nvPr>
        </p:nvSpPr>
        <p:spPr/>
        <p:txBody>
          <a:bodyPr/>
          <a:lstStyle/>
          <a:p>
            <a:fld id="{8A2A4A19-B384-42F8-8C0D-94C30AAB39F2}" type="slidenum">
              <a:rPr lang="en-US" smtClean="0"/>
              <a:pPr/>
              <a:t>15</a:t>
            </a:fld>
            <a:endParaRPr lang="en-US"/>
          </a:p>
        </p:txBody>
      </p:sp>
      <p:pic>
        <p:nvPicPr>
          <p:cNvPr id="68610" name="Picture 2" descr="Variance of X1 targetted, thus impacting the explained component.">
            <a:extLst>
              <a:ext uri="{FF2B5EF4-FFF2-40B4-BE49-F238E27FC236}">
                <a16:creationId xmlns:a16="http://schemas.microsoft.com/office/drawing/2014/main" id="{336CE373-109C-4676-9192-F9EE24DAF5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500" y="1371600"/>
            <a:ext cx="3581400" cy="2280070"/>
          </a:xfrm>
          <a:prstGeom prst="rect">
            <a:avLst/>
          </a:prstGeom>
          <a:noFill/>
          <a:extLst>
            <a:ext uri="{909E8E84-426E-40DD-AFC4-6F175D3DCCD1}">
              <a14:hiddenFill xmlns:a14="http://schemas.microsoft.com/office/drawing/2010/main">
                <a:solidFill>
                  <a:srgbClr val="FFFFFF"/>
                </a:solidFill>
              </a14:hiddenFill>
            </a:ext>
          </a:extLst>
        </p:spPr>
      </p:pic>
      <p:pic>
        <p:nvPicPr>
          <p:cNvPr id="68612" name="Picture 4">
            <a:extLst>
              <a:ext uri="{FF2B5EF4-FFF2-40B4-BE49-F238E27FC236}">
                <a16:creationId xmlns:a16="http://schemas.microsoft.com/office/drawing/2014/main" id="{491DDC1A-54FB-4ED6-BB66-988EF487F1A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1900" y="1275643"/>
            <a:ext cx="3974123" cy="203251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45C73BF-2EB4-4FC4-BA91-888FC8DA14C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200" y="7194163"/>
            <a:ext cx="5105400" cy="283633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9170E4AE-9955-4988-8548-5E480D6219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4600014"/>
            <a:ext cx="4876800" cy="2042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7684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p:cNvSpPr/>
          <p:nvPr/>
        </p:nvSpPr>
        <p:spPr>
          <a:xfrm>
            <a:off x="3429000" y="6400800"/>
            <a:ext cx="1230630" cy="1230630"/>
          </a:xfrm>
          <a:prstGeom prst="ellipse">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0" name="TextBox 9"/>
          <p:cNvSpPr txBox="1"/>
          <p:nvPr/>
        </p:nvSpPr>
        <p:spPr>
          <a:xfrm>
            <a:off x="3179119" y="7479570"/>
            <a:ext cx="428322" cy="369332"/>
          </a:xfrm>
          <a:prstGeom prst="rect">
            <a:avLst/>
          </a:prstGeom>
          <a:noFill/>
        </p:spPr>
        <p:txBody>
          <a:bodyPr wrap="none" rtlCol="0">
            <a:spAutoFit/>
          </a:bodyPr>
          <a:lstStyle/>
          <a:p>
            <a:r>
              <a:rPr lang="en-US" b="1" dirty="0">
                <a:solidFill>
                  <a:schemeClr val="accent6">
                    <a:lumMod val="75000"/>
                  </a:schemeClr>
                </a:solidFill>
              </a:rPr>
              <a:t>X1</a:t>
            </a:r>
          </a:p>
        </p:txBody>
      </p:sp>
      <p:sp>
        <p:nvSpPr>
          <p:cNvPr id="11" name="TextBox 10"/>
          <p:cNvSpPr txBox="1"/>
          <p:nvPr/>
        </p:nvSpPr>
        <p:spPr>
          <a:xfrm>
            <a:off x="3071150" y="4970356"/>
            <a:ext cx="344966" cy="461665"/>
          </a:xfrm>
          <a:prstGeom prst="rect">
            <a:avLst/>
          </a:prstGeom>
          <a:noFill/>
        </p:spPr>
        <p:txBody>
          <a:bodyPr wrap="none" rtlCol="0">
            <a:spAutoFit/>
          </a:bodyPr>
          <a:lstStyle/>
          <a:p>
            <a:r>
              <a:rPr lang="en-US" sz="2400" b="1" dirty="0">
                <a:solidFill>
                  <a:srgbClr val="385D8A"/>
                </a:solidFill>
              </a:rPr>
              <a:t>Y</a:t>
            </a:r>
          </a:p>
        </p:txBody>
      </p:sp>
      <p:sp>
        <p:nvSpPr>
          <p:cNvPr id="6" name="Oval 5"/>
          <p:cNvSpPr/>
          <p:nvPr/>
        </p:nvSpPr>
        <p:spPr>
          <a:xfrm>
            <a:off x="2813685" y="6211449"/>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 name="Oval 4"/>
          <p:cNvSpPr/>
          <p:nvPr/>
        </p:nvSpPr>
        <p:spPr>
          <a:xfrm>
            <a:off x="2956976" y="5259729"/>
            <a:ext cx="1878330" cy="1813560"/>
          </a:xfrm>
          <a:prstGeom prst="ellipse">
            <a:avLst/>
          </a:prstGeom>
          <a:noFill/>
          <a:ln>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2" name="TextBox 21"/>
          <p:cNvSpPr txBox="1"/>
          <p:nvPr/>
        </p:nvSpPr>
        <p:spPr>
          <a:xfrm>
            <a:off x="3280904" y="6307721"/>
            <a:ext cx="333746" cy="400110"/>
          </a:xfrm>
          <a:prstGeom prst="rect">
            <a:avLst/>
          </a:prstGeom>
          <a:noFill/>
        </p:spPr>
        <p:txBody>
          <a:bodyPr wrap="none" rtlCol="0">
            <a:spAutoFit/>
          </a:bodyPr>
          <a:lstStyle/>
          <a:p>
            <a:r>
              <a:rPr lang="en-US" sz="2000" dirty="0">
                <a:solidFill>
                  <a:schemeClr val="bg1">
                    <a:lumMod val="50000"/>
                  </a:schemeClr>
                </a:solidFill>
              </a:rPr>
              <a:t>A</a:t>
            </a:r>
          </a:p>
        </p:txBody>
      </p:sp>
      <p:sp>
        <p:nvSpPr>
          <p:cNvPr id="25" name="TextBox 24"/>
          <p:cNvSpPr txBox="1"/>
          <p:nvPr/>
        </p:nvSpPr>
        <p:spPr>
          <a:xfrm>
            <a:off x="3774342" y="5661493"/>
            <a:ext cx="320922" cy="400110"/>
          </a:xfrm>
          <a:prstGeom prst="rect">
            <a:avLst/>
          </a:prstGeom>
          <a:noFill/>
        </p:spPr>
        <p:txBody>
          <a:bodyPr wrap="none" rtlCol="0">
            <a:spAutoFit/>
          </a:bodyPr>
          <a:lstStyle/>
          <a:p>
            <a:r>
              <a:rPr lang="en-US" sz="2000" dirty="0">
                <a:solidFill>
                  <a:schemeClr val="bg1">
                    <a:lumMod val="50000"/>
                  </a:schemeClr>
                </a:solidFill>
              </a:rPr>
              <a:t>C</a:t>
            </a:r>
          </a:p>
        </p:txBody>
      </p:sp>
      <p:sp>
        <p:nvSpPr>
          <p:cNvPr id="26" name="TextBox 25"/>
          <p:cNvSpPr txBox="1"/>
          <p:nvPr/>
        </p:nvSpPr>
        <p:spPr>
          <a:xfrm>
            <a:off x="2951565" y="6751193"/>
            <a:ext cx="324128" cy="400110"/>
          </a:xfrm>
          <a:prstGeom prst="rect">
            <a:avLst/>
          </a:prstGeom>
          <a:noFill/>
        </p:spPr>
        <p:txBody>
          <a:bodyPr wrap="none" rtlCol="0">
            <a:spAutoFit/>
          </a:bodyPr>
          <a:lstStyle/>
          <a:p>
            <a:r>
              <a:rPr lang="en-US" sz="2000" dirty="0">
                <a:solidFill>
                  <a:schemeClr val="bg1">
                    <a:lumMod val="50000"/>
                  </a:schemeClr>
                </a:solidFill>
              </a:rPr>
              <a:t>B</a:t>
            </a:r>
          </a:p>
        </p:txBody>
      </p:sp>
      <p:sp>
        <p:nvSpPr>
          <p:cNvPr id="2" name="TextBox 1"/>
          <p:cNvSpPr txBox="1"/>
          <p:nvPr/>
        </p:nvSpPr>
        <p:spPr>
          <a:xfrm>
            <a:off x="3774342" y="3508487"/>
            <a:ext cx="3213845" cy="646331"/>
          </a:xfrm>
          <a:prstGeom prst="rect">
            <a:avLst/>
          </a:prstGeom>
          <a:noFill/>
        </p:spPr>
        <p:txBody>
          <a:bodyPr wrap="square" rtlCol="0">
            <a:spAutoFit/>
          </a:bodyPr>
          <a:lstStyle/>
          <a:p>
            <a:pPr algn="ctr"/>
            <a:r>
              <a:rPr lang="en-US" dirty="0">
                <a:solidFill>
                  <a:schemeClr val="tx1">
                    <a:lumMod val="50000"/>
                    <a:lumOff val="50000"/>
                  </a:schemeClr>
                </a:solidFill>
              </a:rPr>
              <a:t>C = Unexplained Portion of Y (the residual)</a:t>
            </a:r>
          </a:p>
        </p:txBody>
      </p:sp>
      <p:sp>
        <p:nvSpPr>
          <p:cNvPr id="12" name="TextBox 11"/>
          <p:cNvSpPr txBox="1"/>
          <p:nvPr/>
        </p:nvSpPr>
        <p:spPr>
          <a:xfrm>
            <a:off x="205198" y="4468832"/>
            <a:ext cx="2000000" cy="1200329"/>
          </a:xfrm>
          <a:prstGeom prst="rect">
            <a:avLst/>
          </a:prstGeom>
          <a:noFill/>
        </p:spPr>
        <p:txBody>
          <a:bodyPr wrap="square" rtlCol="0">
            <a:spAutoFit/>
          </a:bodyPr>
          <a:lstStyle/>
          <a:p>
            <a:pPr algn="ctr"/>
            <a:r>
              <a:rPr lang="en-US" dirty="0">
                <a:solidFill>
                  <a:schemeClr val="tx1">
                    <a:lumMod val="50000"/>
                    <a:lumOff val="50000"/>
                  </a:schemeClr>
                </a:solidFill>
              </a:rPr>
              <a:t>A = </a:t>
            </a:r>
            <a:r>
              <a:rPr lang="en-US" dirty="0" err="1">
                <a:solidFill>
                  <a:schemeClr val="tx1">
                    <a:lumMod val="50000"/>
                    <a:lumOff val="50000"/>
                  </a:schemeClr>
                </a:solidFill>
              </a:rPr>
              <a:t>Cov</a:t>
            </a:r>
            <a:r>
              <a:rPr lang="en-US" dirty="0">
                <a:solidFill>
                  <a:schemeClr val="tx1">
                    <a:lumMod val="50000"/>
                    <a:lumOff val="50000"/>
                  </a:schemeClr>
                </a:solidFill>
              </a:rPr>
              <a:t>( X1, Y) after removing effects of X2 (“controlling for”)</a:t>
            </a:r>
          </a:p>
        </p:txBody>
      </p:sp>
      <p:sp>
        <p:nvSpPr>
          <p:cNvPr id="13" name="TextBox 12"/>
          <p:cNvSpPr txBox="1"/>
          <p:nvPr/>
        </p:nvSpPr>
        <p:spPr>
          <a:xfrm>
            <a:off x="574209" y="8356236"/>
            <a:ext cx="2373063" cy="646331"/>
          </a:xfrm>
          <a:prstGeom prst="rect">
            <a:avLst/>
          </a:prstGeom>
          <a:noFill/>
        </p:spPr>
        <p:txBody>
          <a:bodyPr wrap="square" rtlCol="0">
            <a:spAutoFit/>
          </a:bodyPr>
          <a:lstStyle/>
          <a:p>
            <a:pPr algn="ctr"/>
            <a:r>
              <a:rPr lang="en-US" dirty="0">
                <a:solidFill>
                  <a:schemeClr val="tx1">
                    <a:lumMod val="50000"/>
                    <a:lumOff val="50000"/>
                  </a:schemeClr>
                </a:solidFill>
              </a:rPr>
              <a:t>A + B = Variance of X1 after controlling for X2</a:t>
            </a:r>
          </a:p>
        </p:txBody>
      </p:sp>
      <p:cxnSp>
        <p:nvCxnSpPr>
          <p:cNvPr id="4" name="Straight Arrow Connector 3"/>
          <p:cNvCxnSpPr/>
          <p:nvPr/>
        </p:nvCxnSpPr>
        <p:spPr>
          <a:xfrm flipH="1">
            <a:off x="4095264" y="4340248"/>
            <a:ext cx="1284506" cy="1222352"/>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1876926" y="5776207"/>
            <a:ext cx="1359448" cy="671091"/>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2022694" y="7274625"/>
            <a:ext cx="714337" cy="87877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itle 17"/>
          <p:cNvSpPr>
            <a:spLocks noGrp="1"/>
          </p:cNvSpPr>
          <p:nvPr>
            <p:ph type="title"/>
          </p:nvPr>
        </p:nvSpPr>
        <p:spPr/>
        <p:txBody>
          <a:bodyPr/>
          <a:lstStyle/>
          <a:p>
            <a:r>
              <a:rPr lang="en-US" dirty="0" err="1"/>
              <a:t>Ballentine</a:t>
            </a:r>
            <a:r>
              <a:rPr lang="en-US" dirty="0"/>
              <a:t> </a:t>
            </a:r>
            <a:r>
              <a:rPr lang="en-US" dirty="0" err="1"/>
              <a:t>venn</a:t>
            </a:r>
            <a:r>
              <a:rPr lang="en-US" dirty="0"/>
              <a:t> diagram</a:t>
            </a:r>
          </a:p>
        </p:txBody>
      </p:sp>
      <p:sp>
        <p:nvSpPr>
          <p:cNvPr id="27" name="TextBox 26"/>
          <p:cNvSpPr txBox="1"/>
          <p:nvPr/>
        </p:nvSpPr>
        <p:spPr>
          <a:xfrm>
            <a:off x="4653269" y="7402776"/>
            <a:ext cx="428322" cy="369332"/>
          </a:xfrm>
          <a:prstGeom prst="rect">
            <a:avLst/>
          </a:prstGeom>
          <a:noFill/>
        </p:spPr>
        <p:txBody>
          <a:bodyPr wrap="none" rtlCol="0">
            <a:spAutoFit/>
          </a:bodyPr>
          <a:lstStyle/>
          <a:p>
            <a:r>
              <a:rPr lang="en-US" b="1" dirty="0">
                <a:solidFill>
                  <a:schemeClr val="tx1">
                    <a:lumMod val="50000"/>
                    <a:lumOff val="50000"/>
                  </a:schemeClr>
                </a:solidFill>
              </a:rPr>
              <a:t>X2</a:t>
            </a:r>
          </a:p>
        </p:txBody>
      </p:sp>
    </p:spTree>
    <p:extLst>
      <p:ext uri="{BB962C8B-B14F-4D97-AF65-F5344CB8AC3E}">
        <p14:creationId xmlns:p14="http://schemas.microsoft.com/office/powerpoint/2010/main" val="80084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Partitioned Regression</a:t>
            </a:r>
          </a:p>
        </p:txBody>
      </p:sp>
      <p:sp>
        <p:nvSpPr>
          <p:cNvPr id="5" name="Oval 4"/>
          <p:cNvSpPr/>
          <p:nvPr/>
        </p:nvSpPr>
        <p:spPr>
          <a:xfrm>
            <a:off x="712470" y="3409950"/>
            <a:ext cx="1878330" cy="18135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Oval 5"/>
          <p:cNvSpPr/>
          <p:nvPr/>
        </p:nvSpPr>
        <p:spPr>
          <a:xfrm>
            <a:off x="712470" y="6195060"/>
            <a:ext cx="1230630" cy="1230630"/>
          </a:xfrm>
          <a:prstGeom prst="ellipse">
            <a:avLst/>
          </a:prstGeom>
          <a:solidFill>
            <a:schemeClr val="accent2">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 name="Oval 3"/>
          <p:cNvSpPr/>
          <p:nvPr/>
        </p:nvSpPr>
        <p:spPr>
          <a:xfrm>
            <a:off x="1036320" y="4575810"/>
            <a:ext cx="1230630" cy="1230630"/>
          </a:xfrm>
          <a:prstGeom prst="ellipse">
            <a:avLst/>
          </a:prstGeom>
          <a:solidFill>
            <a:schemeClr val="bg1">
              <a:lumMod val="95000"/>
              <a:alpha val="36000"/>
            </a:scheme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Oval 6"/>
          <p:cNvSpPr/>
          <p:nvPr/>
        </p:nvSpPr>
        <p:spPr>
          <a:xfrm>
            <a:off x="1424940" y="6454140"/>
            <a:ext cx="1230630" cy="1230630"/>
          </a:xfrm>
          <a:prstGeom prst="ellipse">
            <a:avLst/>
          </a:prstGeom>
          <a:solidFill>
            <a:schemeClr val="bg1">
              <a:lumMod val="95000"/>
              <a:alpha val="37000"/>
            </a:scheme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TextBox 7"/>
          <p:cNvSpPr txBox="1"/>
          <p:nvPr/>
        </p:nvSpPr>
        <p:spPr>
          <a:xfrm>
            <a:off x="1489710" y="5353050"/>
            <a:ext cx="391454" cy="327782"/>
          </a:xfrm>
          <a:prstGeom prst="rect">
            <a:avLst/>
          </a:prstGeom>
          <a:noFill/>
        </p:spPr>
        <p:txBody>
          <a:bodyPr wrap="none" rtlCol="0">
            <a:spAutoFit/>
          </a:bodyPr>
          <a:lstStyle/>
          <a:p>
            <a:r>
              <a:rPr lang="en-US" sz="1530" b="1" dirty="0"/>
              <a:t>X2</a:t>
            </a:r>
          </a:p>
        </p:txBody>
      </p:sp>
      <p:sp>
        <p:nvSpPr>
          <p:cNvPr id="9" name="TextBox 8"/>
          <p:cNvSpPr txBox="1"/>
          <p:nvPr/>
        </p:nvSpPr>
        <p:spPr>
          <a:xfrm>
            <a:off x="2072640" y="7037070"/>
            <a:ext cx="391454" cy="327782"/>
          </a:xfrm>
          <a:prstGeom prst="rect">
            <a:avLst/>
          </a:prstGeom>
          <a:noFill/>
        </p:spPr>
        <p:txBody>
          <a:bodyPr wrap="none" rtlCol="0">
            <a:spAutoFit/>
          </a:bodyPr>
          <a:lstStyle/>
          <a:p>
            <a:r>
              <a:rPr lang="en-US" sz="1530" b="1" dirty="0"/>
              <a:t>X2</a:t>
            </a:r>
          </a:p>
        </p:txBody>
      </p:sp>
      <p:sp>
        <p:nvSpPr>
          <p:cNvPr id="10" name="TextBox 9"/>
          <p:cNvSpPr txBox="1"/>
          <p:nvPr/>
        </p:nvSpPr>
        <p:spPr>
          <a:xfrm>
            <a:off x="971550" y="6583680"/>
            <a:ext cx="391454" cy="327782"/>
          </a:xfrm>
          <a:prstGeom prst="rect">
            <a:avLst/>
          </a:prstGeom>
          <a:noFill/>
        </p:spPr>
        <p:txBody>
          <a:bodyPr wrap="none" rtlCol="0">
            <a:spAutoFit/>
          </a:bodyPr>
          <a:lstStyle/>
          <a:p>
            <a:r>
              <a:rPr lang="en-US" sz="1530" b="1" dirty="0"/>
              <a:t>X1</a:t>
            </a:r>
          </a:p>
        </p:txBody>
      </p:sp>
      <p:sp>
        <p:nvSpPr>
          <p:cNvPr id="11" name="TextBox 10"/>
          <p:cNvSpPr txBox="1"/>
          <p:nvPr/>
        </p:nvSpPr>
        <p:spPr>
          <a:xfrm>
            <a:off x="1489710" y="3863340"/>
            <a:ext cx="287258" cy="327782"/>
          </a:xfrm>
          <a:prstGeom prst="rect">
            <a:avLst/>
          </a:prstGeom>
          <a:noFill/>
        </p:spPr>
        <p:txBody>
          <a:bodyPr wrap="none" rtlCol="0">
            <a:spAutoFit/>
          </a:bodyPr>
          <a:lstStyle/>
          <a:p>
            <a:r>
              <a:rPr lang="en-US" sz="1530" b="1" dirty="0"/>
              <a:t>Y</a:t>
            </a:r>
          </a:p>
        </p:txBody>
      </p:sp>
      <p:graphicFrame>
        <p:nvGraphicFramePr>
          <p:cNvPr id="35842" name="Object 2"/>
          <p:cNvGraphicFramePr>
            <a:graphicFrameLocks noChangeAspect="1"/>
          </p:cNvGraphicFramePr>
          <p:nvPr/>
        </p:nvGraphicFramePr>
        <p:xfrm>
          <a:off x="2979420" y="4251960"/>
          <a:ext cx="2010569" cy="421005"/>
        </p:xfrm>
        <a:graphic>
          <a:graphicData uri="http://schemas.openxmlformats.org/presentationml/2006/ole">
            <mc:AlternateContent xmlns:mc="http://schemas.openxmlformats.org/markup-compatibility/2006">
              <mc:Choice xmlns:v="urn:schemas-microsoft-com:vml" Requires="v">
                <p:oleObj spid="_x0000_s57358" name="Equation" r:id="rId3" imgW="1091880" imgH="228600" progId="Equation.3">
                  <p:embed/>
                </p:oleObj>
              </mc:Choice>
              <mc:Fallback>
                <p:oleObj name="Equation" r:id="rId3" imgW="1091880" imgH="228600" progId="Equation.3">
                  <p:embed/>
                  <p:pic>
                    <p:nvPicPr>
                      <p:cNvPr id="358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9420" y="4251960"/>
                        <a:ext cx="2010569" cy="421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843" name="Object 3"/>
          <p:cNvGraphicFramePr>
            <a:graphicFrameLocks noChangeAspect="1"/>
          </p:cNvGraphicFramePr>
          <p:nvPr/>
        </p:nvGraphicFramePr>
        <p:xfrm>
          <a:off x="3044190" y="6583680"/>
          <a:ext cx="2150904" cy="421005"/>
        </p:xfrm>
        <a:graphic>
          <a:graphicData uri="http://schemas.openxmlformats.org/presentationml/2006/ole">
            <mc:AlternateContent xmlns:mc="http://schemas.openxmlformats.org/markup-compatibility/2006">
              <mc:Choice xmlns:v="urn:schemas-microsoft-com:vml" Requires="v">
                <p:oleObj spid="_x0000_s57359" name="Equation" r:id="rId5" imgW="1168200" imgH="228600" progId="Equation.3">
                  <p:embed/>
                </p:oleObj>
              </mc:Choice>
              <mc:Fallback>
                <p:oleObj name="Equation" r:id="rId5" imgW="1168200" imgH="228600" progId="Equation.3">
                  <p:embed/>
                  <p:pic>
                    <p:nvPicPr>
                      <p:cNvPr id="3584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4190" y="6583680"/>
                        <a:ext cx="2150904" cy="421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Oval 14"/>
          <p:cNvSpPr/>
          <p:nvPr/>
        </p:nvSpPr>
        <p:spPr>
          <a:xfrm>
            <a:off x="5311140" y="3409950"/>
            <a:ext cx="1878330" cy="1813560"/>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7" name="TextBox 16"/>
          <p:cNvSpPr txBox="1"/>
          <p:nvPr/>
        </p:nvSpPr>
        <p:spPr>
          <a:xfrm>
            <a:off x="6088380" y="3863340"/>
            <a:ext cx="349776" cy="327782"/>
          </a:xfrm>
          <a:prstGeom prst="rect">
            <a:avLst/>
          </a:prstGeom>
          <a:noFill/>
        </p:spPr>
        <p:txBody>
          <a:bodyPr wrap="none" rtlCol="0">
            <a:spAutoFit/>
          </a:bodyPr>
          <a:lstStyle/>
          <a:p>
            <a:r>
              <a:rPr lang="en-US" sz="1530" b="1" dirty="0"/>
              <a:t>e</a:t>
            </a:r>
            <a:r>
              <a:rPr lang="en-US" sz="1530" b="1" baseline="-25000" dirty="0"/>
              <a:t>1</a:t>
            </a:r>
          </a:p>
        </p:txBody>
      </p:sp>
      <p:sp>
        <p:nvSpPr>
          <p:cNvPr id="14" name="Oval 13"/>
          <p:cNvSpPr/>
          <p:nvPr/>
        </p:nvSpPr>
        <p:spPr>
          <a:xfrm>
            <a:off x="5649384" y="4439073"/>
            <a:ext cx="1230630" cy="12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9" name="Oval 18"/>
          <p:cNvSpPr/>
          <p:nvPr/>
        </p:nvSpPr>
        <p:spPr>
          <a:xfrm>
            <a:off x="5570220" y="6195060"/>
            <a:ext cx="1230630" cy="1230630"/>
          </a:xfrm>
          <a:prstGeom prst="ellipse">
            <a:avLst/>
          </a:prstGeom>
          <a:solidFill>
            <a:schemeClr val="accent2">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0" name="Oval 19"/>
          <p:cNvSpPr/>
          <p:nvPr/>
        </p:nvSpPr>
        <p:spPr>
          <a:xfrm>
            <a:off x="6259829" y="6454140"/>
            <a:ext cx="1230630" cy="12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3" name="TextBox 22"/>
          <p:cNvSpPr txBox="1"/>
          <p:nvPr/>
        </p:nvSpPr>
        <p:spPr>
          <a:xfrm>
            <a:off x="5829300" y="6518910"/>
            <a:ext cx="349776" cy="327782"/>
          </a:xfrm>
          <a:prstGeom prst="rect">
            <a:avLst/>
          </a:prstGeom>
          <a:noFill/>
        </p:spPr>
        <p:txBody>
          <a:bodyPr wrap="none" rtlCol="0">
            <a:spAutoFit/>
          </a:bodyPr>
          <a:lstStyle/>
          <a:p>
            <a:r>
              <a:rPr lang="en-US" sz="1530" b="1" dirty="0"/>
              <a:t>e</a:t>
            </a:r>
            <a:r>
              <a:rPr lang="en-US" sz="1530" b="1" baseline="-25000" dirty="0"/>
              <a:t>2</a:t>
            </a:r>
          </a:p>
        </p:txBody>
      </p:sp>
    </p:spTree>
    <p:extLst>
      <p:ext uri="{BB962C8B-B14F-4D97-AF65-F5344CB8AC3E}">
        <p14:creationId xmlns:p14="http://schemas.microsoft.com/office/powerpoint/2010/main" val="1208232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953BAF0-9579-42B3-B979-30EFD986705E}" type="slidenum">
              <a:rPr lang="en-US" smtClean="0"/>
              <a:t>18</a:t>
            </a:fld>
            <a:endParaRPr lang="en-US"/>
          </a:p>
        </p:txBody>
      </p:sp>
      <p:sp>
        <p:nvSpPr>
          <p:cNvPr id="3" name="Oval 2"/>
          <p:cNvSpPr/>
          <p:nvPr/>
        </p:nvSpPr>
        <p:spPr>
          <a:xfrm>
            <a:off x="1813560" y="5029200"/>
            <a:ext cx="1230630" cy="1230630"/>
          </a:xfrm>
          <a:prstGeom prst="ellipse">
            <a:avLst/>
          </a:prstGeom>
          <a:solidFill>
            <a:schemeClr val="accent2">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 name="Oval 3"/>
          <p:cNvSpPr/>
          <p:nvPr/>
        </p:nvSpPr>
        <p:spPr>
          <a:xfrm>
            <a:off x="2007870" y="3992880"/>
            <a:ext cx="1878330" cy="1813560"/>
          </a:xfrm>
          <a:prstGeom prst="ellipse">
            <a:avLst/>
          </a:prstGeom>
          <a:solidFill>
            <a:schemeClr val="accent1">
              <a:lumMod val="40000"/>
              <a:lumOff val="60000"/>
              <a:alpha val="7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 name="Oval 4"/>
          <p:cNvSpPr/>
          <p:nvPr/>
        </p:nvSpPr>
        <p:spPr>
          <a:xfrm>
            <a:off x="2526030" y="5158740"/>
            <a:ext cx="1230630" cy="12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6" name="TextBox 5"/>
          <p:cNvSpPr txBox="1"/>
          <p:nvPr/>
        </p:nvSpPr>
        <p:spPr>
          <a:xfrm>
            <a:off x="2333795" y="5131314"/>
            <a:ext cx="298480" cy="327782"/>
          </a:xfrm>
          <a:prstGeom prst="rect">
            <a:avLst/>
          </a:prstGeom>
          <a:noFill/>
        </p:spPr>
        <p:txBody>
          <a:bodyPr wrap="none" rtlCol="0">
            <a:spAutoFit/>
          </a:bodyPr>
          <a:lstStyle/>
          <a:p>
            <a:r>
              <a:rPr lang="en-US" sz="1530" dirty="0"/>
              <a:t>A</a:t>
            </a:r>
          </a:p>
        </p:txBody>
      </p:sp>
      <p:sp>
        <p:nvSpPr>
          <p:cNvPr id="7" name="TextBox 6"/>
          <p:cNvSpPr txBox="1"/>
          <p:nvPr/>
        </p:nvSpPr>
        <p:spPr>
          <a:xfrm>
            <a:off x="3046265" y="4548384"/>
            <a:ext cx="288862" cy="327782"/>
          </a:xfrm>
          <a:prstGeom prst="rect">
            <a:avLst/>
          </a:prstGeom>
          <a:noFill/>
        </p:spPr>
        <p:txBody>
          <a:bodyPr wrap="none" rtlCol="0">
            <a:spAutoFit/>
          </a:bodyPr>
          <a:lstStyle/>
          <a:p>
            <a:r>
              <a:rPr lang="en-US" sz="1530" dirty="0"/>
              <a:t>C</a:t>
            </a:r>
          </a:p>
        </p:txBody>
      </p:sp>
      <p:sp>
        <p:nvSpPr>
          <p:cNvPr id="8" name="TextBox 7"/>
          <p:cNvSpPr txBox="1"/>
          <p:nvPr/>
        </p:nvSpPr>
        <p:spPr>
          <a:xfrm>
            <a:off x="2004455" y="5574786"/>
            <a:ext cx="292068" cy="327782"/>
          </a:xfrm>
          <a:prstGeom prst="rect">
            <a:avLst/>
          </a:prstGeom>
          <a:noFill/>
        </p:spPr>
        <p:txBody>
          <a:bodyPr wrap="none" rtlCol="0">
            <a:spAutoFit/>
          </a:bodyPr>
          <a:lstStyle/>
          <a:p>
            <a:r>
              <a:rPr lang="en-US" sz="1530" dirty="0"/>
              <a:t>B</a:t>
            </a:r>
          </a:p>
        </p:txBody>
      </p:sp>
      <p:graphicFrame>
        <p:nvGraphicFramePr>
          <p:cNvPr id="10" name="Object 2"/>
          <p:cNvGraphicFramePr>
            <a:graphicFrameLocks noChangeAspect="1"/>
          </p:cNvGraphicFramePr>
          <p:nvPr/>
        </p:nvGraphicFramePr>
        <p:xfrm>
          <a:off x="4922520" y="4490564"/>
          <a:ext cx="1987630" cy="1520745"/>
        </p:xfrm>
        <a:graphic>
          <a:graphicData uri="http://schemas.openxmlformats.org/presentationml/2006/ole">
            <mc:AlternateContent xmlns:mc="http://schemas.openxmlformats.org/markup-compatibility/2006">
              <mc:Choice xmlns:v="urn:schemas-microsoft-com:vml" Requires="v">
                <p:oleObj spid="_x0000_s58376" name="Equation" r:id="rId3" imgW="1079280" imgH="825480" progId="Equation.3">
                  <p:embed/>
                </p:oleObj>
              </mc:Choice>
              <mc:Fallback>
                <p:oleObj name="Equation" r:id="rId3" imgW="1079280" imgH="825480" progId="Equation.3">
                  <p:embed/>
                  <p:pic>
                    <p:nvPicPr>
                      <p:cNvPr id="10" name="Object 2"/>
                      <p:cNvPicPr>
                        <a:picLocks noChangeAspect="1" noChangeArrowheads="1"/>
                      </p:cNvPicPr>
                      <p:nvPr/>
                    </p:nvPicPr>
                    <p:blipFill>
                      <a:blip r:embed="rId4"/>
                      <a:srcRect/>
                      <a:stretch>
                        <a:fillRect/>
                      </a:stretch>
                    </p:blipFill>
                    <p:spPr bwMode="auto">
                      <a:xfrm>
                        <a:off x="4922520" y="4490564"/>
                        <a:ext cx="1987630" cy="1520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TextBox 10"/>
          <p:cNvSpPr txBox="1"/>
          <p:nvPr/>
        </p:nvSpPr>
        <p:spPr>
          <a:xfrm>
            <a:off x="3177206" y="3671751"/>
            <a:ext cx="349776" cy="327782"/>
          </a:xfrm>
          <a:prstGeom prst="rect">
            <a:avLst/>
          </a:prstGeom>
          <a:noFill/>
        </p:spPr>
        <p:txBody>
          <a:bodyPr wrap="none" rtlCol="0">
            <a:spAutoFit/>
          </a:bodyPr>
          <a:lstStyle/>
          <a:p>
            <a:r>
              <a:rPr lang="en-US" sz="1530" b="1" dirty="0"/>
              <a:t>e</a:t>
            </a:r>
            <a:r>
              <a:rPr lang="en-US" sz="1530" b="1" baseline="-25000" dirty="0"/>
              <a:t>1</a:t>
            </a:r>
          </a:p>
        </p:txBody>
      </p:sp>
      <p:sp>
        <p:nvSpPr>
          <p:cNvPr id="12" name="TextBox 11"/>
          <p:cNvSpPr txBox="1"/>
          <p:nvPr/>
        </p:nvSpPr>
        <p:spPr>
          <a:xfrm>
            <a:off x="1424940" y="5680498"/>
            <a:ext cx="349776" cy="327782"/>
          </a:xfrm>
          <a:prstGeom prst="rect">
            <a:avLst/>
          </a:prstGeom>
          <a:noFill/>
        </p:spPr>
        <p:txBody>
          <a:bodyPr wrap="none" rtlCol="0">
            <a:spAutoFit/>
          </a:bodyPr>
          <a:lstStyle/>
          <a:p>
            <a:r>
              <a:rPr lang="en-US" sz="1530" b="1" dirty="0"/>
              <a:t>e</a:t>
            </a:r>
            <a:r>
              <a:rPr lang="en-US" sz="1530" b="1" baseline="-25000" dirty="0"/>
              <a:t>2</a:t>
            </a:r>
          </a:p>
        </p:txBody>
      </p:sp>
      <p:sp>
        <p:nvSpPr>
          <p:cNvPr id="13" name="Title 1"/>
          <p:cNvSpPr txBox="1">
            <a:spLocks/>
          </p:cNvSpPr>
          <p:nvPr/>
        </p:nvSpPr>
        <p:spPr>
          <a:xfrm>
            <a:off x="397764" y="1157985"/>
            <a:ext cx="6995160" cy="1676400"/>
          </a:xfrm>
          <a:prstGeom prst="rect">
            <a:avLst/>
          </a:prstGeom>
        </p:spPr>
        <p:txBody>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r>
              <a:rPr lang="en-US"/>
              <a:t>Partitioned Regression</a:t>
            </a:r>
            <a:endParaRPr lang="en-US" dirty="0"/>
          </a:p>
        </p:txBody>
      </p:sp>
    </p:spTree>
    <p:extLst>
      <p:ext uri="{BB962C8B-B14F-4D97-AF65-F5344CB8AC3E}">
        <p14:creationId xmlns:p14="http://schemas.microsoft.com/office/powerpoint/2010/main" val="220617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can we do this?</a:t>
            </a:r>
          </a:p>
        </p:txBody>
      </p:sp>
      <p:pic>
        <p:nvPicPr>
          <p:cNvPr id="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63340"/>
            <a:ext cx="7578090" cy="168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Oval 2"/>
          <p:cNvSpPr/>
          <p:nvPr/>
        </p:nvSpPr>
        <p:spPr>
          <a:xfrm>
            <a:off x="4960252" y="4172097"/>
            <a:ext cx="647700" cy="116586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TextBox 6"/>
          <p:cNvSpPr txBox="1"/>
          <p:nvPr/>
        </p:nvSpPr>
        <p:spPr>
          <a:xfrm>
            <a:off x="2526030" y="6065520"/>
            <a:ext cx="3067250" cy="327782"/>
          </a:xfrm>
          <a:prstGeom prst="rect">
            <a:avLst/>
          </a:prstGeom>
          <a:noFill/>
        </p:spPr>
        <p:txBody>
          <a:bodyPr wrap="none" rtlCol="0">
            <a:spAutoFit/>
          </a:bodyPr>
          <a:lstStyle/>
          <a:p>
            <a:r>
              <a:rPr lang="en-US" sz="1530" dirty="0">
                <a:solidFill>
                  <a:schemeClr val="accent6">
                    <a:lumMod val="75000"/>
                  </a:schemeClr>
                </a:solidFill>
              </a:rPr>
              <a:t>The residual is just another variable.</a:t>
            </a:r>
          </a:p>
        </p:txBody>
      </p:sp>
      <p:sp>
        <p:nvSpPr>
          <p:cNvPr id="9" name="TextBox 8"/>
          <p:cNvSpPr txBox="1"/>
          <p:nvPr/>
        </p:nvSpPr>
        <p:spPr>
          <a:xfrm>
            <a:off x="1554480" y="6621024"/>
            <a:ext cx="5142562" cy="327782"/>
          </a:xfrm>
          <a:prstGeom prst="rect">
            <a:avLst/>
          </a:prstGeom>
          <a:noFill/>
        </p:spPr>
        <p:txBody>
          <a:bodyPr wrap="none" rtlCol="0">
            <a:spAutoFit/>
          </a:bodyPr>
          <a:lstStyle/>
          <a:p>
            <a:r>
              <a:rPr lang="en-US" sz="1530" dirty="0">
                <a:solidFill>
                  <a:schemeClr val="bg1">
                    <a:lumMod val="50000"/>
                  </a:schemeClr>
                </a:solidFill>
              </a:rPr>
              <a:t>The order of operations is important in partitioned regression.</a:t>
            </a:r>
          </a:p>
        </p:txBody>
      </p:sp>
    </p:spTree>
    <p:extLst>
      <p:ext uri="{BB962C8B-B14F-4D97-AF65-F5344CB8AC3E}">
        <p14:creationId xmlns:p14="http://schemas.microsoft.com/office/powerpoint/2010/main" val="1855914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Note:  Multiple Regression Context</a:t>
            </a:r>
          </a:p>
        </p:txBody>
      </p:sp>
      <p:graphicFrame>
        <p:nvGraphicFramePr>
          <p:cNvPr id="38914" name="Object 2"/>
          <p:cNvGraphicFramePr>
            <a:graphicFrameLocks noChangeAspect="1"/>
          </p:cNvGraphicFramePr>
          <p:nvPr/>
        </p:nvGraphicFramePr>
        <p:xfrm>
          <a:off x="1943100" y="4057650"/>
          <a:ext cx="3038793" cy="421005"/>
        </p:xfrm>
        <a:graphic>
          <a:graphicData uri="http://schemas.openxmlformats.org/presentationml/2006/ole">
            <mc:AlternateContent xmlns:mc="http://schemas.openxmlformats.org/markup-compatibility/2006">
              <mc:Choice xmlns:v="urn:schemas-microsoft-com:vml" Requires="v">
                <p:oleObj spid="_x0000_s59406" name="Equation" r:id="rId3" imgW="1650960" imgH="228600" progId="Equation.3">
                  <p:embed/>
                </p:oleObj>
              </mc:Choice>
              <mc:Fallback>
                <p:oleObj name="Equation" r:id="rId3" imgW="1650960" imgH="228600" progId="Equation.3">
                  <p:embed/>
                  <p:pic>
                    <p:nvPicPr>
                      <p:cNvPr id="389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3100" y="4057650"/>
                        <a:ext cx="3038793" cy="421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5" name="Object 3"/>
          <p:cNvGraphicFramePr>
            <a:graphicFrameLocks noChangeAspect="1"/>
          </p:cNvGraphicFramePr>
          <p:nvPr/>
        </p:nvGraphicFramePr>
        <p:xfrm>
          <a:off x="1878330" y="4964430"/>
          <a:ext cx="3156189" cy="421005"/>
        </p:xfrm>
        <a:graphic>
          <a:graphicData uri="http://schemas.openxmlformats.org/presentationml/2006/ole">
            <mc:AlternateContent xmlns:mc="http://schemas.openxmlformats.org/markup-compatibility/2006">
              <mc:Choice xmlns:v="urn:schemas-microsoft-com:vml" Requires="v">
                <p:oleObj spid="_x0000_s59407" name="Equation" r:id="rId5" imgW="1714320" imgH="228600" progId="Equation.3">
                  <p:embed/>
                </p:oleObj>
              </mc:Choice>
              <mc:Fallback>
                <p:oleObj name="Equation" r:id="rId5" imgW="1714320" imgH="228600" progId="Equation.3">
                  <p:embed/>
                  <p:pic>
                    <p:nvPicPr>
                      <p:cNvPr id="3891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8330" y="4964430"/>
                        <a:ext cx="3156189" cy="421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Box 5"/>
          <p:cNvSpPr txBox="1"/>
          <p:nvPr/>
        </p:nvSpPr>
        <p:spPr>
          <a:xfrm>
            <a:off x="1600200" y="5871210"/>
            <a:ext cx="4217670" cy="1077218"/>
          </a:xfrm>
          <a:prstGeom prst="rect">
            <a:avLst/>
          </a:prstGeom>
          <a:noFill/>
        </p:spPr>
        <p:txBody>
          <a:bodyPr wrap="square" rtlCol="0">
            <a:spAutoFit/>
          </a:bodyPr>
          <a:lstStyle/>
          <a:p>
            <a:r>
              <a:rPr lang="en-US" sz="1600" dirty="0">
                <a:solidFill>
                  <a:schemeClr val="tx1">
                    <a:lumMod val="50000"/>
                    <a:lumOff val="50000"/>
                  </a:schemeClr>
                </a:solidFill>
                <a:latin typeface="Arial" panose="020B0604020202020204" pitchFamily="34" charset="0"/>
                <a:cs typeface="Arial" panose="020B0604020202020204" pitchFamily="34" charset="0"/>
              </a:rPr>
              <a:t>If there is more than one control variable make sure you cleanse all of the nuisance variance from both your dependent variable and your policy variable.</a:t>
            </a:r>
          </a:p>
        </p:txBody>
      </p:sp>
    </p:spTree>
    <p:extLst>
      <p:ext uri="{BB962C8B-B14F-4D97-AF65-F5344CB8AC3E}">
        <p14:creationId xmlns:p14="http://schemas.microsoft.com/office/powerpoint/2010/main" val="4228586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sp>
        <p:nvSpPr>
          <p:cNvPr id="4" name="Slide Number Placeholder 3"/>
          <p:cNvSpPr>
            <a:spLocks noGrp="1"/>
          </p:cNvSpPr>
          <p:nvPr>
            <p:ph type="sldNum" sz="quarter" idx="12"/>
          </p:nvPr>
        </p:nvSpPr>
        <p:spPr/>
        <p:txBody>
          <a:bodyPr/>
          <a:lstStyle/>
          <a:p>
            <a:fld id="{A953BAF0-9579-42B3-B979-30EFD986705E}" type="slidenum">
              <a:rPr lang="en-US" smtClean="0"/>
              <a:t>21</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416230393"/>
              </p:ext>
            </p:extLst>
          </p:nvPr>
        </p:nvGraphicFramePr>
        <p:xfrm>
          <a:off x="656844" y="5314038"/>
          <a:ext cx="6477000" cy="2997208"/>
        </p:xfrm>
        <a:graphic>
          <a:graphicData uri="http://schemas.openxmlformats.org/drawingml/2006/table">
            <a:tbl>
              <a:tblPr>
                <a:tableStyleId>{5C22544A-7EE6-4342-B048-85BDC9FD1C3A}</a:tableStyleId>
              </a:tblPr>
              <a:tblGrid>
                <a:gridCol w="1414730">
                  <a:extLst>
                    <a:ext uri="{9D8B030D-6E8A-4147-A177-3AD203B41FA5}">
                      <a16:colId xmlns:a16="http://schemas.microsoft.com/office/drawing/2014/main" val="20000"/>
                    </a:ext>
                  </a:extLst>
                </a:gridCol>
                <a:gridCol w="1414730">
                  <a:extLst>
                    <a:ext uri="{9D8B030D-6E8A-4147-A177-3AD203B41FA5}">
                      <a16:colId xmlns:a16="http://schemas.microsoft.com/office/drawing/2014/main" val="20001"/>
                    </a:ext>
                  </a:extLst>
                </a:gridCol>
                <a:gridCol w="771828">
                  <a:extLst>
                    <a:ext uri="{9D8B030D-6E8A-4147-A177-3AD203B41FA5}">
                      <a16:colId xmlns:a16="http://schemas.microsoft.com/office/drawing/2014/main" val="20002"/>
                    </a:ext>
                  </a:extLst>
                </a:gridCol>
                <a:gridCol w="848723">
                  <a:extLst>
                    <a:ext uri="{9D8B030D-6E8A-4147-A177-3AD203B41FA5}">
                      <a16:colId xmlns:a16="http://schemas.microsoft.com/office/drawing/2014/main" val="20003"/>
                    </a:ext>
                  </a:extLst>
                </a:gridCol>
                <a:gridCol w="1065345">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352044">
                  <a:extLst>
                    <a:ext uri="{9D8B030D-6E8A-4147-A177-3AD203B41FA5}">
                      <a16:colId xmlns:a16="http://schemas.microsoft.com/office/drawing/2014/main" val="20006"/>
                    </a:ext>
                  </a:extLst>
                </a:gridCol>
              </a:tblGrid>
              <a:tr h="205105">
                <a:tc gridSpan="7">
                  <a:txBody>
                    <a:bodyPr/>
                    <a:lstStyle/>
                    <a:p>
                      <a:pPr marL="0" marR="0" algn="ctr">
                        <a:lnSpc>
                          <a:spcPts val="1600"/>
                        </a:lnSpc>
                        <a:spcBef>
                          <a:spcPts val="0"/>
                        </a:spcBef>
                        <a:spcAft>
                          <a:spcPts val="0"/>
                        </a:spcAft>
                      </a:pPr>
                      <a:r>
                        <a:rPr lang="en-US" sz="1400" dirty="0" err="1">
                          <a:effectLst/>
                        </a:rPr>
                        <a:t>Coefficients</a:t>
                      </a:r>
                      <a:r>
                        <a:rPr lang="en-US" sz="1400" baseline="30000" dirty="0" err="1">
                          <a:effectLst/>
                        </a:rPr>
                        <a:t>a</a:t>
                      </a:r>
                      <a:endParaRPr lang="en-US" sz="1600" dirty="0">
                        <a:effectLst/>
                        <a:latin typeface="Calibri"/>
                        <a:ea typeface="Calibri"/>
                        <a:cs typeface="Times New Roman"/>
                      </a:endParaRPr>
                    </a:p>
                  </a:txBody>
                  <a:tcPr marL="16193" marR="16193" marT="16193" marB="16193"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7825">
                <a:tc rowSpan="2" gridSpan="2">
                  <a:txBody>
                    <a:bodyPr/>
                    <a:lstStyle/>
                    <a:p>
                      <a:pPr marL="0" marR="0">
                        <a:lnSpc>
                          <a:spcPts val="1600"/>
                        </a:lnSpc>
                        <a:spcBef>
                          <a:spcPts val="0"/>
                        </a:spcBef>
                        <a:spcAft>
                          <a:spcPts val="0"/>
                        </a:spcAft>
                      </a:pPr>
                      <a:r>
                        <a:rPr lang="en-US" sz="1400" dirty="0">
                          <a:effectLst/>
                        </a:rPr>
                        <a:t>Model</a:t>
                      </a:r>
                      <a:endParaRPr lang="en-US" sz="1600" dirty="0">
                        <a:effectLst/>
                        <a:latin typeface="Calibri"/>
                        <a:ea typeface="Calibri"/>
                        <a:cs typeface="Times New Roman"/>
                      </a:endParaRPr>
                    </a:p>
                  </a:txBody>
                  <a:tcPr marL="16193" marR="16193" marT="16193" marB="16193" anchor="b"/>
                </a:tc>
                <a:tc rowSpan="2" hMerge="1">
                  <a:txBody>
                    <a:bodyPr/>
                    <a:lstStyle/>
                    <a:p>
                      <a:endParaRPr lang="en-US"/>
                    </a:p>
                  </a:txBody>
                  <a:tcPr/>
                </a:tc>
                <a:tc gridSpan="2">
                  <a:txBody>
                    <a:bodyPr/>
                    <a:lstStyle/>
                    <a:p>
                      <a:pPr marL="0" marR="0" algn="ctr">
                        <a:lnSpc>
                          <a:spcPts val="1600"/>
                        </a:lnSpc>
                        <a:spcBef>
                          <a:spcPts val="0"/>
                        </a:spcBef>
                        <a:spcAft>
                          <a:spcPts val="0"/>
                        </a:spcAft>
                      </a:pPr>
                      <a:r>
                        <a:rPr lang="en-US" sz="1400">
                          <a:effectLst/>
                        </a:rPr>
                        <a:t>Unstandardized Coefficients</a:t>
                      </a:r>
                      <a:endParaRPr lang="en-US" sz="1600">
                        <a:effectLst/>
                        <a:latin typeface="Calibri"/>
                        <a:ea typeface="Calibri"/>
                        <a:cs typeface="Times New Roman"/>
                      </a:endParaRPr>
                    </a:p>
                  </a:txBody>
                  <a:tcPr marL="16193" marR="16193" marT="16193" marB="16193" anchor="b"/>
                </a:tc>
                <a:tc hMerge="1">
                  <a:txBody>
                    <a:bodyPr/>
                    <a:lstStyle/>
                    <a:p>
                      <a:endParaRPr lang="en-US"/>
                    </a:p>
                  </a:txBody>
                  <a:tcPr/>
                </a:tc>
                <a:tc>
                  <a:txBody>
                    <a:bodyPr/>
                    <a:lstStyle/>
                    <a:p>
                      <a:pPr marL="0" marR="0" algn="ctr">
                        <a:lnSpc>
                          <a:spcPts val="1600"/>
                        </a:lnSpc>
                        <a:spcBef>
                          <a:spcPts val="0"/>
                        </a:spcBef>
                        <a:spcAft>
                          <a:spcPts val="0"/>
                        </a:spcAft>
                      </a:pPr>
                      <a:r>
                        <a:rPr lang="en-US" sz="1400" dirty="0">
                          <a:effectLst/>
                        </a:rPr>
                        <a:t>Standardized Coefficients</a:t>
                      </a:r>
                      <a:endParaRPr lang="en-US" sz="1600" dirty="0">
                        <a:effectLst/>
                        <a:latin typeface="Calibri"/>
                        <a:ea typeface="Calibri"/>
                        <a:cs typeface="Times New Roman"/>
                      </a:endParaRPr>
                    </a:p>
                  </a:txBody>
                  <a:tcPr marL="16193" marR="16193" marT="16193" marB="16193" anchor="b"/>
                </a:tc>
                <a:tc rowSpan="2">
                  <a:txBody>
                    <a:bodyPr/>
                    <a:lstStyle/>
                    <a:p>
                      <a:pPr marL="0" marR="0" algn="ctr">
                        <a:lnSpc>
                          <a:spcPts val="1600"/>
                        </a:lnSpc>
                        <a:spcBef>
                          <a:spcPts val="0"/>
                        </a:spcBef>
                        <a:spcAft>
                          <a:spcPts val="0"/>
                        </a:spcAft>
                      </a:pPr>
                      <a:r>
                        <a:rPr lang="en-US" sz="1400">
                          <a:effectLst/>
                        </a:rPr>
                        <a:t>t</a:t>
                      </a:r>
                      <a:endParaRPr lang="en-US" sz="1600">
                        <a:effectLst/>
                        <a:latin typeface="Calibri"/>
                        <a:ea typeface="Calibri"/>
                        <a:cs typeface="Times New Roman"/>
                      </a:endParaRPr>
                    </a:p>
                  </a:txBody>
                  <a:tcPr marL="16193" marR="16193" marT="16193" marB="16193" anchor="b"/>
                </a:tc>
                <a:tc rowSpan="2">
                  <a:txBody>
                    <a:bodyPr/>
                    <a:lstStyle/>
                    <a:p>
                      <a:pPr marL="0" marR="0" algn="ctr">
                        <a:lnSpc>
                          <a:spcPts val="1600"/>
                        </a:lnSpc>
                        <a:spcBef>
                          <a:spcPts val="0"/>
                        </a:spcBef>
                        <a:spcAft>
                          <a:spcPts val="0"/>
                        </a:spcAft>
                      </a:pPr>
                      <a:r>
                        <a:rPr lang="en-US" sz="1400">
                          <a:effectLst/>
                        </a:rPr>
                        <a:t>Sig.</a:t>
                      </a:r>
                      <a:endParaRPr lang="en-US" sz="1600">
                        <a:effectLst/>
                        <a:latin typeface="Calibri"/>
                        <a:ea typeface="Calibri"/>
                        <a:cs typeface="Times New Roman"/>
                      </a:endParaRPr>
                    </a:p>
                  </a:txBody>
                  <a:tcPr marL="16193" marR="16193" marT="16193" marB="16193" anchor="b"/>
                </a:tc>
                <a:extLst>
                  <a:ext uri="{0D108BD9-81ED-4DB2-BD59-A6C34878D82A}">
                    <a16:rowId xmlns:a16="http://schemas.microsoft.com/office/drawing/2014/main" val="10001"/>
                  </a:ext>
                </a:extLst>
              </a:tr>
              <a:tr h="205105">
                <a:tc gridSpan="2" vMerge="1">
                  <a:txBody>
                    <a:bodyPr/>
                    <a:lstStyle/>
                    <a:p>
                      <a:endParaRPr lang="en-US"/>
                    </a:p>
                  </a:txBody>
                  <a:tcPr/>
                </a:tc>
                <a:tc hMerge="1" vMerge="1">
                  <a:txBody>
                    <a:bodyPr/>
                    <a:lstStyle/>
                    <a:p>
                      <a:endParaRPr lang="en-US"/>
                    </a:p>
                  </a:txBody>
                  <a:tcPr/>
                </a:tc>
                <a:tc>
                  <a:txBody>
                    <a:bodyPr/>
                    <a:lstStyle/>
                    <a:p>
                      <a:pPr marL="0" marR="0" algn="ctr">
                        <a:lnSpc>
                          <a:spcPts val="1600"/>
                        </a:lnSpc>
                        <a:spcBef>
                          <a:spcPts val="0"/>
                        </a:spcBef>
                        <a:spcAft>
                          <a:spcPts val="0"/>
                        </a:spcAft>
                      </a:pPr>
                      <a:r>
                        <a:rPr lang="en-US" sz="1400">
                          <a:effectLst/>
                        </a:rPr>
                        <a:t>B</a:t>
                      </a:r>
                      <a:endParaRPr lang="en-US" sz="1600">
                        <a:effectLst/>
                        <a:latin typeface="Calibri"/>
                        <a:ea typeface="Calibri"/>
                        <a:cs typeface="Times New Roman"/>
                      </a:endParaRPr>
                    </a:p>
                  </a:txBody>
                  <a:tcPr marL="16193" marR="16193" marT="16193" marB="16193" anchor="b"/>
                </a:tc>
                <a:tc>
                  <a:txBody>
                    <a:bodyPr/>
                    <a:lstStyle/>
                    <a:p>
                      <a:pPr marL="0" marR="0" algn="ctr">
                        <a:lnSpc>
                          <a:spcPts val="1600"/>
                        </a:lnSpc>
                        <a:spcBef>
                          <a:spcPts val="0"/>
                        </a:spcBef>
                        <a:spcAft>
                          <a:spcPts val="0"/>
                        </a:spcAft>
                      </a:pPr>
                      <a:r>
                        <a:rPr lang="en-US" sz="1400">
                          <a:effectLst/>
                        </a:rPr>
                        <a:t>Std. Error</a:t>
                      </a:r>
                      <a:endParaRPr lang="en-US" sz="1600">
                        <a:effectLst/>
                        <a:latin typeface="Calibri"/>
                        <a:ea typeface="Calibri"/>
                        <a:cs typeface="Times New Roman"/>
                      </a:endParaRPr>
                    </a:p>
                  </a:txBody>
                  <a:tcPr marL="16193" marR="16193" marT="16193" marB="16193" anchor="b"/>
                </a:tc>
                <a:tc>
                  <a:txBody>
                    <a:bodyPr/>
                    <a:lstStyle/>
                    <a:p>
                      <a:pPr marL="0" marR="0" algn="ctr">
                        <a:lnSpc>
                          <a:spcPts val="1600"/>
                        </a:lnSpc>
                        <a:spcBef>
                          <a:spcPts val="0"/>
                        </a:spcBef>
                        <a:spcAft>
                          <a:spcPts val="0"/>
                        </a:spcAft>
                      </a:pPr>
                      <a:r>
                        <a:rPr lang="en-US" sz="1400">
                          <a:effectLst/>
                        </a:rPr>
                        <a:t>Beta</a:t>
                      </a:r>
                      <a:endParaRPr lang="en-US" sz="1600">
                        <a:effectLst/>
                        <a:latin typeface="Calibri"/>
                        <a:ea typeface="Calibri"/>
                        <a:cs typeface="Times New Roman"/>
                      </a:endParaRPr>
                    </a:p>
                  </a:txBody>
                  <a:tcPr marL="16193" marR="16193" marT="16193" marB="16193"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211150">
                <a:tc rowSpan="4">
                  <a:txBody>
                    <a:bodyPr/>
                    <a:lstStyle/>
                    <a:p>
                      <a:pPr marL="0" marR="0">
                        <a:lnSpc>
                          <a:spcPts val="1600"/>
                        </a:lnSpc>
                        <a:spcBef>
                          <a:spcPts val="0"/>
                        </a:spcBef>
                        <a:spcAft>
                          <a:spcPts val="0"/>
                        </a:spcAft>
                      </a:pPr>
                      <a:r>
                        <a:rPr lang="en-US" sz="1400">
                          <a:effectLst/>
                        </a:rPr>
                        <a:t>1</a:t>
                      </a:r>
                      <a:endParaRPr lang="en-US" sz="1600">
                        <a:effectLst/>
                        <a:latin typeface="Calibri"/>
                        <a:ea typeface="Calibri"/>
                        <a:cs typeface="Times New Roman"/>
                      </a:endParaRPr>
                    </a:p>
                  </a:txBody>
                  <a:tcPr marL="16193" marR="16193" marT="16193" marB="16193"/>
                </a:tc>
                <a:tc>
                  <a:txBody>
                    <a:bodyPr/>
                    <a:lstStyle/>
                    <a:p>
                      <a:pPr marL="0" marR="0">
                        <a:lnSpc>
                          <a:spcPts val="1600"/>
                        </a:lnSpc>
                        <a:spcBef>
                          <a:spcPts val="0"/>
                        </a:spcBef>
                        <a:spcAft>
                          <a:spcPts val="0"/>
                        </a:spcAft>
                      </a:pPr>
                      <a:r>
                        <a:rPr lang="en-US" sz="1400">
                          <a:effectLst/>
                        </a:rPr>
                        <a:t>(Constant)</a:t>
                      </a:r>
                      <a:endParaRPr lang="en-US" sz="160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dirty="0">
                          <a:effectLst/>
                        </a:rPr>
                        <a:t>-1.507</a:t>
                      </a:r>
                      <a:endParaRPr lang="en-US" sz="1600" dirty="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a:effectLst/>
                        </a:rPr>
                        <a:t>2.633</a:t>
                      </a:r>
                      <a:endParaRPr lang="en-US" sz="1600">
                        <a:effectLst/>
                        <a:latin typeface="Calibri"/>
                        <a:ea typeface="Calibri"/>
                        <a:cs typeface="Times New Roman"/>
                      </a:endParaRPr>
                    </a:p>
                  </a:txBody>
                  <a:tcPr marL="16193" marR="16193" marT="16193" marB="16193"/>
                </a:tc>
                <a:tc>
                  <a:txBody>
                    <a:bodyPr/>
                    <a:lstStyle/>
                    <a:p>
                      <a:pPr marL="0" marR="0" algn="ctr">
                        <a:lnSpc>
                          <a:spcPct val="115000"/>
                        </a:lnSpc>
                        <a:spcBef>
                          <a:spcPts val="0"/>
                        </a:spcBef>
                        <a:spcAft>
                          <a:spcPts val="0"/>
                        </a:spcAft>
                      </a:pPr>
                      <a:r>
                        <a:rPr lang="en-US" sz="1800">
                          <a:effectLst/>
                        </a:rPr>
                        <a:t> </a:t>
                      </a:r>
                      <a:endParaRPr lang="en-US" sz="1600">
                        <a:effectLst/>
                        <a:latin typeface="Calibri"/>
                        <a:ea typeface="Calibri"/>
                        <a:cs typeface="Times New Roman"/>
                      </a:endParaRPr>
                    </a:p>
                  </a:txBody>
                  <a:tcPr marL="16193" marR="16193" marT="16193" marB="16193" anchor="ctr"/>
                </a:tc>
                <a:tc>
                  <a:txBody>
                    <a:bodyPr/>
                    <a:lstStyle/>
                    <a:p>
                      <a:pPr marL="0" marR="0" algn="ctr">
                        <a:lnSpc>
                          <a:spcPts val="1600"/>
                        </a:lnSpc>
                        <a:spcBef>
                          <a:spcPts val="0"/>
                        </a:spcBef>
                        <a:spcAft>
                          <a:spcPts val="0"/>
                        </a:spcAft>
                      </a:pPr>
                      <a:r>
                        <a:rPr lang="en-US" sz="1400">
                          <a:effectLst/>
                        </a:rPr>
                        <a:t>-.572</a:t>
                      </a:r>
                      <a:endParaRPr lang="en-US" sz="160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a:effectLst/>
                        </a:rPr>
                        <a:t>.567</a:t>
                      </a:r>
                      <a:endParaRPr lang="en-US" sz="1600">
                        <a:effectLst/>
                        <a:latin typeface="Calibri"/>
                        <a:ea typeface="Calibri"/>
                        <a:cs typeface="Times New Roman"/>
                      </a:endParaRPr>
                    </a:p>
                  </a:txBody>
                  <a:tcPr marL="16193" marR="16193" marT="16193" marB="16193"/>
                </a:tc>
                <a:extLst>
                  <a:ext uri="{0D108BD9-81ED-4DB2-BD59-A6C34878D82A}">
                    <a16:rowId xmlns:a16="http://schemas.microsoft.com/office/drawing/2014/main" val="10003"/>
                  </a:ext>
                </a:extLst>
              </a:tr>
              <a:tr h="205105">
                <a:tc vMerge="1">
                  <a:txBody>
                    <a:bodyPr/>
                    <a:lstStyle/>
                    <a:p>
                      <a:endParaRPr lang="en-US"/>
                    </a:p>
                  </a:txBody>
                  <a:tcPr/>
                </a:tc>
                <a:tc>
                  <a:txBody>
                    <a:bodyPr/>
                    <a:lstStyle/>
                    <a:p>
                      <a:pPr marL="0" marR="0">
                        <a:lnSpc>
                          <a:spcPts val="1600"/>
                        </a:lnSpc>
                        <a:spcBef>
                          <a:spcPts val="0"/>
                        </a:spcBef>
                        <a:spcAft>
                          <a:spcPts val="0"/>
                        </a:spcAft>
                      </a:pPr>
                      <a:r>
                        <a:rPr lang="en-US" sz="1400" dirty="0">
                          <a:solidFill>
                            <a:schemeClr val="accent6">
                              <a:lumMod val="75000"/>
                            </a:schemeClr>
                          </a:solidFill>
                          <a:effectLst/>
                        </a:rPr>
                        <a:t>Perceived Social Support</a:t>
                      </a:r>
                      <a:endParaRPr lang="en-US" sz="1600" dirty="0">
                        <a:solidFill>
                          <a:schemeClr val="accent6">
                            <a:lumMod val="75000"/>
                          </a:schemeClr>
                        </a:solidFill>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800" b="1" dirty="0">
                          <a:solidFill>
                            <a:schemeClr val="accent6">
                              <a:lumMod val="75000"/>
                            </a:schemeClr>
                          </a:solidFill>
                          <a:effectLst/>
                        </a:rPr>
                        <a:t>.310</a:t>
                      </a:r>
                      <a:endParaRPr lang="en-US" sz="1800" b="1" dirty="0">
                        <a:solidFill>
                          <a:schemeClr val="accent6">
                            <a:lumMod val="75000"/>
                          </a:schemeClr>
                        </a:solidFill>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dirty="0">
                          <a:effectLst/>
                        </a:rPr>
                        <a:t>.032</a:t>
                      </a:r>
                      <a:endParaRPr lang="en-US" sz="1600" dirty="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dirty="0">
                          <a:effectLst/>
                        </a:rPr>
                        <a:t>.460</a:t>
                      </a:r>
                      <a:endParaRPr lang="en-US" sz="1600" dirty="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a:effectLst/>
                        </a:rPr>
                        <a:t>9.645</a:t>
                      </a:r>
                      <a:endParaRPr lang="en-US" sz="160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a:effectLst/>
                        </a:rPr>
                        <a:t>.000</a:t>
                      </a:r>
                      <a:endParaRPr lang="en-US" sz="1600">
                        <a:effectLst/>
                        <a:latin typeface="Calibri"/>
                        <a:ea typeface="Calibri"/>
                        <a:cs typeface="Times New Roman"/>
                      </a:endParaRPr>
                    </a:p>
                  </a:txBody>
                  <a:tcPr marL="16193" marR="16193" marT="16193" marB="16193"/>
                </a:tc>
                <a:extLst>
                  <a:ext uri="{0D108BD9-81ED-4DB2-BD59-A6C34878D82A}">
                    <a16:rowId xmlns:a16="http://schemas.microsoft.com/office/drawing/2014/main" val="10004"/>
                  </a:ext>
                </a:extLst>
              </a:tr>
              <a:tr h="205105">
                <a:tc vMerge="1">
                  <a:txBody>
                    <a:bodyPr/>
                    <a:lstStyle/>
                    <a:p>
                      <a:endParaRPr lang="en-US"/>
                    </a:p>
                  </a:txBody>
                  <a:tcPr/>
                </a:tc>
                <a:tc>
                  <a:txBody>
                    <a:bodyPr/>
                    <a:lstStyle/>
                    <a:p>
                      <a:pPr marL="0" marR="0">
                        <a:lnSpc>
                          <a:spcPts val="1600"/>
                        </a:lnSpc>
                        <a:spcBef>
                          <a:spcPts val="0"/>
                        </a:spcBef>
                        <a:spcAft>
                          <a:spcPts val="0"/>
                        </a:spcAft>
                      </a:pPr>
                      <a:r>
                        <a:rPr lang="en-US" sz="1400">
                          <a:effectLst/>
                        </a:rPr>
                        <a:t>Network Diversity</a:t>
                      </a:r>
                      <a:endParaRPr lang="en-US" sz="160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a:effectLst/>
                        </a:rPr>
                        <a:t>-.215</a:t>
                      </a:r>
                      <a:endParaRPr lang="en-US" sz="160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a:effectLst/>
                        </a:rPr>
                        <a:t>.210</a:t>
                      </a:r>
                      <a:endParaRPr lang="en-US" sz="160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dirty="0">
                          <a:effectLst/>
                        </a:rPr>
                        <a:t>-.055</a:t>
                      </a:r>
                      <a:endParaRPr lang="en-US" sz="1600" dirty="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a:effectLst/>
                        </a:rPr>
                        <a:t>-1.025</a:t>
                      </a:r>
                      <a:endParaRPr lang="en-US" sz="160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a:effectLst/>
                        </a:rPr>
                        <a:t>.306</a:t>
                      </a:r>
                      <a:endParaRPr lang="en-US" sz="1600">
                        <a:effectLst/>
                        <a:latin typeface="Calibri"/>
                        <a:ea typeface="Calibri"/>
                        <a:cs typeface="Times New Roman"/>
                      </a:endParaRPr>
                    </a:p>
                  </a:txBody>
                  <a:tcPr marL="16193" marR="16193" marT="16193" marB="16193"/>
                </a:tc>
                <a:extLst>
                  <a:ext uri="{0D108BD9-81ED-4DB2-BD59-A6C34878D82A}">
                    <a16:rowId xmlns:a16="http://schemas.microsoft.com/office/drawing/2014/main" val="10005"/>
                  </a:ext>
                </a:extLst>
              </a:tr>
              <a:tr h="205105">
                <a:tc vMerge="1">
                  <a:txBody>
                    <a:bodyPr/>
                    <a:lstStyle/>
                    <a:p>
                      <a:endParaRPr lang="en-US"/>
                    </a:p>
                  </a:txBody>
                  <a:tcPr/>
                </a:tc>
                <a:tc>
                  <a:txBody>
                    <a:bodyPr/>
                    <a:lstStyle/>
                    <a:p>
                      <a:pPr marL="0" marR="0">
                        <a:lnSpc>
                          <a:spcPts val="1600"/>
                        </a:lnSpc>
                        <a:spcBef>
                          <a:spcPts val="0"/>
                        </a:spcBef>
                        <a:spcAft>
                          <a:spcPts val="0"/>
                        </a:spcAft>
                      </a:pPr>
                      <a:r>
                        <a:rPr lang="en-US" sz="1400">
                          <a:effectLst/>
                        </a:rPr>
                        <a:t># People in Social Network</a:t>
                      </a:r>
                      <a:endParaRPr lang="en-US" sz="160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a:effectLst/>
                        </a:rPr>
                        <a:t>.023</a:t>
                      </a:r>
                      <a:endParaRPr lang="en-US" sz="160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a:effectLst/>
                        </a:rPr>
                        <a:t>.014</a:t>
                      </a:r>
                      <a:endParaRPr lang="en-US" sz="160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dirty="0">
                          <a:effectLst/>
                        </a:rPr>
                        <a:t>.087</a:t>
                      </a:r>
                      <a:endParaRPr lang="en-US" sz="1600" dirty="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dirty="0">
                          <a:effectLst/>
                        </a:rPr>
                        <a:t>1.654</a:t>
                      </a:r>
                      <a:endParaRPr lang="en-US" sz="1600" dirty="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1400" dirty="0">
                          <a:effectLst/>
                        </a:rPr>
                        <a:t>.099</a:t>
                      </a:r>
                      <a:endParaRPr lang="en-US" sz="1600" dirty="0">
                        <a:effectLst/>
                        <a:latin typeface="Calibri"/>
                        <a:ea typeface="Calibri"/>
                        <a:cs typeface="Times New Roman"/>
                      </a:endParaRPr>
                    </a:p>
                  </a:txBody>
                  <a:tcPr marL="16193" marR="16193" marT="16193" marB="16193"/>
                </a:tc>
                <a:extLst>
                  <a:ext uri="{0D108BD9-81ED-4DB2-BD59-A6C34878D82A}">
                    <a16:rowId xmlns:a16="http://schemas.microsoft.com/office/drawing/2014/main" val="10006"/>
                  </a:ext>
                </a:extLst>
              </a:tr>
              <a:tr h="205105">
                <a:tc gridSpan="7">
                  <a:txBody>
                    <a:bodyPr/>
                    <a:lstStyle/>
                    <a:p>
                      <a:pPr marL="0" marR="0" indent="0">
                        <a:lnSpc>
                          <a:spcPts val="1600"/>
                        </a:lnSpc>
                        <a:spcBef>
                          <a:spcPts val="0"/>
                        </a:spcBef>
                        <a:spcAft>
                          <a:spcPts val="0"/>
                        </a:spcAft>
                        <a:buNone/>
                      </a:pPr>
                      <a:endParaRPr lang="en-US" sz="1400" dirty="0">
                        <a:effectLst/>
                      </a:endParaRPr>
                    </a:p>
                    <a:p>
                      <a:pPr marL="0" marR="0" indent="0">
                        <a:lnSpc>
                          <a:spcPts val="1600"/>
                        </a:lnSpc>
                        <a:spcBef>
                          <a:spcPts val="0"/>
                        </a:spcBef>
                        <a:spcAft>
                          <a:spcPts val="0"/>
                        </a:spcAft>
                        <a:buNone/>
                      </a:pPr>
                      <a:r>
                        <a:rPr lang="en-US" sz="1400" dirty="0">
                          <a:effectLst/>
                        </a:rPr>
                        <a:t>Dependent Variable: </a:t>
                      </a:r>
                      <a:r>
                        <a:rPr lang="en-US" sz="1400" b="1" dirty="0">
                          <a:effectLst/>
                        </a:rPr>
                        <a:t>Subjective Well Being</a:t>
                      </a:r>
                    </a:p>
                    <a:p>
                      <a:pPr marL="342900" marR="0" indent="-342900">
                        <a:lnSpc>
                          <a:spcPts val="1600"/>
                        </a:lnSpc>
                        <a:spcBef>
                          <a:spcPts val="0"/>
                        </a:spcBef>
                        <a:spcAft>
                          <a:spcPts val="0"/>
                        </a:spcAft>
                        <a:buAutoNum type="alphaLcPeriod"/>
                      </a:pPr>
                      <a:endParaRPr lang="en-US" sz="1600" dirty="0">
                        <a:effectLst/>
                        <a:latin typeface="Calibri"/>
                        <a:ea typeface="Calibri"/>
                        <a:cs typeface="Times New Roman"/>
                      </a:endParaRPr>
                    </a:p>
                  </a:txBody>
                  <a:tcPr marL="16193" marR="16193" marT="16193" marB="16193"/>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mc:AlternateContent xmlns:mc="http://schemas.openxmlformats.org/markup-compatibility/2006" xmlns:a14="http://schemas.microsoft.com/office/drawing/2010/main">
        <mc:Choice Requires="a14">
          <p:sp>
            <p:nvSpPr>
              <p:cNvPr id="6" name="Rectangle 5"/>
              <p:cNvSpPr/>
              <p:nvPr/>
            </p:nvSpPr>
            <p:spPr>
              <a:xfrm>
                <a:off x="1554495" y="3748156"/>
                <a:ext cx="470596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latin typeface="Cambria Math"/>
                        </a:rPr>
                        <m:t>𝑆𝑊𝐵</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𝛽</m:t>
                          </m:r>
                        </m:e>
                        <m:sub>
                          <m:r>
                            <a:rPr lang="en-US" sz="2000" i="1">
                              <a:latin typeface="Cambria Math"/>
                            </a:rPr>
                            <m:t>0</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𝛽</m:t>
                          </m:r>
                        </m:e>
                        <m:sub>
                          <m:r>
                            <a:rPr lang="en-US" sz="2000" i="1">
                              <a:latin typeface="Cambria Math"/>
                            </a:rPr>
                            <m:t>1</m:t>
                          </m:r>
                        </m:sub>
                      </m:sSub>
                      <m:r>
                        <a:rPr lang="en-US" sz="2000" b="1" i="1" smtClean="0">
                          <a:solidFill>
                            <a:schemeClr val="accent6">
                              <a:lumMod val="75000"/>
                            </a:schemeClr>
                          </a:solidFill>
                          <a:latin typeface="Cambria Math"/>
                        </a:rPr>
                        <m:t>𝑷𝑺𝑺</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𝛽</m:t>
                          </m:r>
                        </m:e>
                        <m:sub>
                          <m:r>
                            <a:rPr lang="en-US" sz="2000" i="1">
                              <a:latin typeface="Cambria Math"/>
                            </a:rPr>
                            <m:t>2</m:t>
                          </m:r>
                        </m:sub>
                      </m:sSub>
                      <m:r>
                        <a:rPr lang="en-US" sz="2000" i="1">
                          <a:latin typeface="Cambria Math"/>
                        </a:rPr>
                        <m:t>𝑁𝐷</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𝛽</m:t>
                          </m:r>
                        </m:e>
                        <m:sub>
                          <m:r>
                            <a:rPr lang="en-US" sz="2000" i="1">
                              <a:latin typeface="Cambria Math"/>
                            </a:rPr>
                            <m:t>3</m:t>
                          </m:r>
                        </m:sub>
                      </m:sSub>
                      <m:r>
                        <a:rPr lang="en-US" sz="2000" i="1">
                          <a:latin typeface="Cambria Math"/>
                        </a:rPr>
                        <m:t>𝑁𝑃</m:t>
                      </m:r>
                      <m:r>
                        <a:rPr lang="en-US" sz="2000" i="1">
                          <a:latin typeface="Cambria Math"/>
                        </a:rPr>
                        <m:t>+</m:t>
                      </m:r>
                      <m:r>
                        <a:rPr lang="en-US" sz="2000" i="1">
                          <a:latin typeface="Cambria Math"/>
                        </a:rPr>
                        <m:t>𝜀</m:t>
                      </m:r>
                    </m:oMath>
                  </m:oMathPara>
                </a14:m>
                <a:endParaRPr lang="en-US" sz="2000" dirty="0"/>
              </a:p>
            </p:txBody>
          </p:sp>
        </mc:Choice>
        <mc:Fallback xmlns="">
          <p:sp>
            <p:nvSpPr>
              <p:cNvPr id="6" name="Rectangle 5"/>
              <p:cNvSpPr>
                <a:spLocks noRot="1" noChangeAspect="1" noMove="1" noResize="1" noEditPoints="1" noAdjustHandles="1" noChangeArrowheads="1" noChangeShapeType="1" noTextEdit="1"/>
              </p:cNvSpPr>
              <p:nvPr/>
            </p:nvSpPr>
            <p:spPr>
              <a:xfrm>
                <a:off x="1554495" y="3748156"/>
                <a:ext cx="4705968" cy="400110"/>
              </a:xfrm>
              <a:prstGeom prst="rect">
                <a:avLst/>
              </a:prstGeom>
              <a:blipFill>
                <a:blip r:embed="rId2"/>
                <a:stretch>
                  <a:fillRect b="-15385"/>
                </a:stretch>
              </a:blipFill>
            </p:spPr>
            <p:txBody>
              <a:bodyPr/>
              <a:lstStyle/>
              <a:p>
                <a:r>
                  <a:rPr lang="en-US">
                    <a:noFill/>
                  </a:rPr>
                  <a:t> </a:t>
                </a:r>
              </a:p>
            </p:txBody>
          </p:sp>
        </mc:Fallback>
      </mc:AlternateContent>
      <p:cxnSp>
        <p:nvCxnSpPr>
          <p:cNvPr id="8" name="Straight Arrow Connector 7"/>
          <p:cNvCxnSpPr>
            <a:endCxn id="6" idx="2"/>
          </p:cNvCxnSpPr>
          <p:nvPr/>
        </p:nvCxnSpPr>
        <p:spPr>
          <a:xfrm flipH="1" flipV="1">
            <a:off x="3907479" y="4148266"/>
            <a:ext cx="435921" cy="370776"/>
          </a:xfrm>
          <a:prstGeom prst="straightConnector1">
            <a:avLst/>
          </a:prstGeom>
          <a:ln>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002155" y="4519042"/>
            <a:ext cx="1726563" cy="369332"/>
          </a:xfrm>
          <a:prstGeom prst="rect">
            <a:avLst/>
          </a:prstGeom>
          <a:noFill/>
        </p:spPr>
        <p:txBody>
          <a:bodyPr wrap="none" rtlCol="0">
            <a:spAutoFit/>
          </a:bodyPr>
          <a:lstStyle/>
          <a:p>
            <a:r>
              <a:rPr lang="en-US" dirty="0">
                <a:solidFill>
                  <a:schemeClr val="accent6">
                    <a:lumMod val="75000"/>
                  </a:schemeClr>
                </a:solidFill>
              </a:rPr>
              <a:t>“policy variable”</a:t>
            </a:r>
          </a:p>
        </p:txBody>
      </p:sp>
    </p:spTree>
    <p:extLst>
      <p:ext uri="{BB962C8B-B14F-4D97-AF65-F5344CB8AC3E}">
        <p14:creationId xmlns:p14="http://schemas.microsoft.com/office/powerpoint/2010/main" val="1797897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Auxiliary Regression #1</a:t>
            </a:r>
          </a:p>
        </p:txBody>
      </p:sp>
      <mc:AlternateContent xmlns:mc="http://schemas.openxmlformats.org/markup-compatibility/2006" xmlns:a14="http://schemas.microsoft.com/office/drawing/2010/main">
        <mc:Choice Requires="a14">
          <p:sp>
            <p:nvSpPr>
              <p:cNvPr id="9" name="Rectangle 8"/>
              <p:cNvSpPr/>
              <p:nvPr/>
            </p:nvSpPr>
            <p:spPr>
              <a:xfrm>
                <a:off x="2019413" y="3733800"/>
                <a:ext cx="375186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latin typeface="Cambria Math"/>
                        </a:rPr>
                        <m:t>𝑆𝑊𝐵</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𝑏</m:t>
                          </m:r>
                        </m:e>
                        <m:sub>
                          <m:r>
                            <a:rPr lang="en-US" sz="2000" i="1">
                              <a:latin typeface="Cambria Math"/>
                            </a:rPr>
                            <m:t>0</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𝑏</m:t>
                          </m:r>
                        </m:e>
                        <m:sub>
                          <m:r>
                            <a:rPr lang="en-US" sz="2000" i="1">
                              <a:latin typeface="Cambria Math"/>
                            </a:rPr>
                            <m:t>1</m:t>
                          </m:r>
                        </m:sub>
                      </m:sSub>
                      <m:r>
                        <a:rPr lang="en-US" sz="2000" i="1">
                          <a:latin typeface="Cambria Math"/>
                        </a:rPr>
                        <m:t>𝑁𝐷</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𝑏</m:t>
                          </m:r>
                        </m:e>
                        <m:sub>
                          <m:r>
                            <a:rPr lang="en-US" sz="2000" i="1">
                              <a:latin typeface="Cambria Math"/>
                            </a:rPr>
                            <m:t>2</m:t>
                          </m:r>
                        </m:sub>
                      </m:sSub>
                      <m:r>
                        <a:rPr lang="en-US" sz="2000" i="1">
                          <a:latin typeface="Cambria Math"/>
                        </a:rPr>
                        <m:t>𝑁𝑃</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𝑒</m:t>
                          </m:r>
                        </m:e>
                        <m:sub>
                          <m:r>
                            <a:rPr lang="en-US" sz="2000" i="1">
                              <a:latin typeface="Cambria Math"/>
                            </a:rPr>
                            <m:t>1</m:t>
                          </m:r>
                        </m:sub>
                      </m:sSub>
                    </m:oMath>
                  </m:oMathPara>
                </a14:m>
                <a:endParaRPr lang="en-US" sz="1530" dirty="0"/>
              </a:p>
            </p:txBody>
          </p:sp>
        </mc:Choice>
        <mc:Fallback xmlns="">
          <p:sp>
            <p:nvSpPr>
              <p:cNvPr id="9" name="Rectangle 8"/>
              <p:cNvSpPr>
                <a:spLocks noRot="1" noChangeAspect="1" noMove="1" noResize="1" noEditPoints="1" noAdjustHandles="1" noChangeArrowheads="1" noChangeShapeType="1" noTextEdit="1"/>
              </p:cNvSpPr>
              <p:nvPr/>
            </p:nvSpPr>
            <p:spPr>
              <a:xfrm>
                <a:off x="2019413" y="3733800"/>
                <a:ext cx="3751861" cy="400110"/>
              </a:xfrm>
              <a:prstGeom prst="rect">
                <a:avLst/>
              </a:prstGeom>
              <a:blipFill>
                <a:blip r:embed="rId2"/>
                <a:stretch>
                  <a:fillRect/>
                </a:stretch>
              </a:blipFill>
            </p:spPr>
            <p:txBody>
              <a:bodyPr/>
              <a:lstStyle/>
              <a:p>
                <a:r>
                  <a:rPr lang="en-US">
                    <a:noFill/>
                  </a:rPr>
                  <a:t> </a:t>
                </a:r>
              </a:p>
            </p:txBody>
          </p:sp>
        </mc:Fallback>
      </mc:AlternateContent>
      <p:graphicFrame>
        <p:nvGraphicFramePr>
          <p:cNvPr id="11" name="Table 10"/>
          <p:cNvGraphicFramePr>
            <a:graphicFrameLocks noGrp="1"/>
          </p:cNvGraphicFramePr>
          <p:nvPr>
            <p:extLst>
              <p:ext uri="{D42A27DB-BD31-4B8C-83A1-F6EECF244321}">
                <p14:modId xmlns:p14="http://schemas.microsoft.com/office/powerpoint/2010/main" val="3113226971"/>
              </p:ext>
            </p:extLst>
          </p:nvPr>
        </p:nvGraphicFramePr>
        <p:xfrm>
          <a:off x="397763" y="4504644"/>
          <a:ext cx="6995160" cy="2667896"/>
        </p:xfrm>
        <a:graphic>
          <a:graphicData uri="http://schemas.openxmlformats.org/drawingml/2006/table">
            <a:tbl>
              <a:tblPr>
                <a:tableStyleId>{5C22544A-7EE6-4342-B048-85BDC9FD1C3A}</a:tableStyleId>
              </a:tblPr>
              <a:tblGrid>
                <a:gridCol w="1527909">
                  <a:extLst>
                    <a:ext uri="{9D8B030D-6E8A-4147-A177-3AD203B41FA5}">
                      <a16:colId xmlns:a16="http://schemas.microsoft.com/office/drawing/2014/main" val="20000"/>
                    </a:ext>
                  </a:extLst>
                </a:gridCol>
                <a:gridCol w="1527909">
                  <a:extLst>
                    <a:ext uri="{9D8B030D-6E8A-4147-A177-3AD203B41FA5}">
                      <a16:colId xmlns:a16="http://schemas.microsoft.com/office/drawing/2014/main" val="20001"/>
                    </a:ext>
                  </a:extLst>
                </a:gridCol>
                <a:gridCol w="833574">
                  <a:extLst>
                    <a:ext uri="{9D8B030D-6E8A-4147-A177-3AD203B41FA5}">
                      <a16:colId xmlns:a16="http://schemas.microsoft.com/office/drawing/2014/main" val="20002"/>
                    </a:ext>
                  </a:extLst>
                </a:gridCol>
                <a:gridCol w="916620">
                  <a:extLst>
                    <a:ext uri="{9D8B030D-6E8A-4147-A177-3AD203B41FA5}">
                      <a16:colId xmlns:a16="http://schemas.microsoft.com/office/drawing/2014/main" val="20003"/>
                    </a:ext>
                  </a:extLst>
                </a:gridCol>
                <a:gridCol w="1044625">
                  <a:extLst>
                    <a:ext uri="{9D8B030D-6E8A-4147-A177-3AD203B41FA5}">
                      <a16:colId xmlns:a16="http://schemas.microsoft.com/office/drawing/2014/main" val="20004"/>
                    </a:ext>
                  </a:extLst>
                </a:gridCol>
                <a:gridCol w="508259">
                  <a:extLst>
                    <a:ext uri="{9D8B030D-6E8A-4147-A177-3AD203B41FA5}">
                      <a16:colId xmlns:a16="http://schemas.microsoft.com/office/drawing/2014/main" val="20005"/>
                    </a:ext>
                  </a:extLst>
                </a:gridCol>
                <a:gridCol w="636264">
                  <a:extLst>
                    <a:ext uri="{9D8B030D-6E8A-4147-A177-3AD203B41FA5}">
                      <a16:colId xmlns:a16="http://schemas.microsoft.com/office/drawing/2014/main" val="20006"/>
                    </a:ext>
                  </a:extLst>
                </a:gridCol>
              </a:tblGrid>
              <a:tr h="205105">
                <a:tc gridSpan="7">
                  <a:txBody>
                    <a:bodyPr/>
                    <a:lstStyle/>
                    <a:p>
                      <a:pPr marL="0" marR="0" algn="ctr">
                        <a:lnSpc>
                          <a:spcPts val="1600"/>
                        </a:lnSpc>
                        <a:spcBef>
                          <a:spcPts val="0"/>
                        </a:spcBef>
                        <a:spcAft>
                          <a:spcPts val="0"/>
                        </a:spcAft>
                      </a:pPr>
                      <a:r>
                        <a:rPr lang="en-US" sz="1400">
                          <a:effectLst/>
                        </a:rPr>
                        <a:t>Coefficients</a:t>
                      </a:r>
                      <a:r>
                        <a:rPr lang="en-US" sz="1400" baseline="30000">
                          <a:effectLst/>
                        </a:rPr>
                        <a:t>a</a:t>
                      </a:r>
                      <a:endParaRPr lang="en-US" sz="1600">
                        <a:effectLst/>
                        <a:latin typeface="Calibri"/>
                        <a:ea typeface="Calibri"/>
                        <a:cs typeface="Times New Roman"/>
                      </a:endParaRPr>
                    </a:p>
                  </a:txBody>
                  <a:tcPr marL="16193" marR="16193" marT="16193" marB="16193"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7825">
                <a:tc rowSpan="2" gridSpan="2">
                  <a:txBody>
                    <a:bodyPr/>
                    <a:lstStyle/>
                    <a:p>
                      <a:pPr marL="0" marR="0">
                        <a:lnSpc>
                          <a:spcPts val="1600"/>
                        </a:lnSpc>
                        <a:spcBef>
                          <a:spcPts val="0"/>
                        </a:spcBef>
                        <a:spcAft>
                          <a:spcPts val="0"/>
                        </a:spcAft>
                      </a:pPr>
                      <a:r>
                        <a:rPr lang="en-US" sz="1400">
                          <a:effectLst/>
                        </a:rPr>
                        <a:t>Model</a:t>
                      </a:r>
                      <a:endParaRPr lang="en-US" sz="1600">
                        <a:effectLst/>
                        <a:latin typeface="Calibri"/>
                        <a:ea typeface="Calibri"/>
                        <a:cs typeface="Times New Roman"/>
                      </a:endParaRPr>
                    </a:p>
                  </a:txBody>
                  <a:tcPr marL="16193" marR="16193" marT="16193" marB="16193" anchor="b"/>
                </a:tc>
                <a:tc rowSpan="2" hMerge="1">
                  <a:txBody>
                    <a:bodyPr/>
                    <a:lstStyle/>
                    <a:p>
                      <a:endParaRPr lang="en-US"/>
                    </a:p>
                  </a:txBody>
                  <a:tcPr/>
                </a:tc>
                <a:tc gridSpan="2">
                  <a:txBody>
                    <a:bodyPr/>
                    <a:lstStyle/>
                    <a:p>
                      <a:pPr marL="0" marR="0" algn="ctr">
                        <a:lnSpc>
                          <a:spcPts val="1600"/>
                        </a:lnSpc>
                        <a:spcBef>
                          <a:spcPts val="0"/>
                        </a:spcBef>
                        <a:spcAft>
                          <a:spcPts val="0"/>
                        </a:spcAft>
                      </a:pPr>
                      <a:r>
                        <a:rPr lang="en-US" sz="1400">
                          <a:effectLst/>
                        </a:rPr>
                        <a:t>Unstandardized Coefficients</a:t>
                      </a:r>
                      <a:endParaRPr lang="en-US" sz="1600">
                        <a:effectLst/>
                        <a:latin typeface="Calibri"/>
                        <a:ea typeface="Calibri"/>
                        <a:cs typeface="Times New Roman"/>
                      </a:endParaRPr>
                    </a:p>
                  </a:txBody>
                  <a:tcPr marL="16193" marR="16193" marT="16193" marB="16193" anchor="b"/>
                </a:tc>
                <a:tc hMerge="1">
                  <a:txBody>
                    <a:bodyPr/>
                    <a:lstStyle/>
                    <a:p>
                      <a:endParaRPr lang="en-US"/>
                    </a:p>
                  </a:txBody>
                  <a:tcPr/>
                </a:tc>
                <a:tc>
                  <a:txBody>
                    <a:bodyPr/>
                    <a:lstStyle/>
                    <a:p>
                      <a:pPr marL="0" marR="0" algn="ctr">
                        <a:lnSpc>
                          <a:spcPts val="1600"/>
                        </a:lnSpc>
                        <a:spcBef>
                          <a:spcPts val="0"/>
                        </a:spcBef>
                        <a:spcAft>
                          <a:spcPts val="0"/>
                        </a:spcAft>
                      </a:pPr>
                      <a:r>
                        <a:rPr lang="en-US" sz="1400">
                          <a:effectLst/>
                        </a:rPr>
                        <a:t>Standardized Coefficients</a:t>
                      </a:r>
                      <a:endParaRPr lang="en-US" sz="1600">
                        <a:effectLst/>
                        <a:latin typeface="Calibri"/>
                        <a:ea typeface="Calibri"/>
                        <a:cs typeface="Times New Roman"/>
                      </a:endParaRPr>
                    </a:p>
                  </a:txBody>
                  <a:tcPr marL="16193" marR="16193" marT="16193" marB="16193" anchor="b"/>
                </a:tc>
                <a:tc rowSpan="2">
                  <a:txBody>
                    <a:bodyPr/>
                    <a:lstStyle/>
                    <a:p>
                      <a:pPr marL="0" marR="0" algn="ctr">
                        <a:lnSpc>
                          <a:spcPts val="1600"/>
                        </a:lnSpc>
                        <a:spcBef>
                          <a:spcPts val="0"/>
                        </a:spcBef>
                        <a:spcAft>
                          <a:spcPts val="0"/>
                        </a:spcAft>
                      </a:pPr>
                      <a:r>
                        <a:rPr lang="en-US" sz="1400">
                          <a:effectLst/>
                        </a:rPr>
                        <a:t>t</a:t>
                      </a:r>
                      <a:endParaRPr lang="en-US" sz="1600">
                        <a:effectLst/>
                        <a:latin typeface="Calibri"/>
                        <a:ea typeface="Calibri"/>
                        <a:cs typeface="Times New Roman"/>
                      </a:endParaRPr>
                    </a:p>
                  </a:txBody>
                  <a:tcPr marL="16193" marR="16193" marT="16193" marB="16193" anchor="b"/>
                </a:tc>
                <a:tc rowSpan="2">
                  <a:txBody>
                    <a:bodyPr/>
                    <a:lstStyle/>
                    <a:p>
                      <a:pPr marL="0" marR="0" algn="ctr">
                        <a:lnSpc>
                          <a:spcPts val="1600"/>
                        </a:lnSpc>
                        <a:spcBef>
                          <a:spcPts val="0"/>
                        </a:spcBef>
                        <a:spcAft>
                          <a:spcPts val="0"/>
                        </a:spcAft>
                      </a:pPr>
                      <a:r>
                        <a:rPr lang="en-US" sz="1400">
                          <a:effectLst/>
                        </a:rPr>
                        <a:t>Sig.</a:t>
                      </a:r>
                      <a:endParaRPr lang="en-US" sz="1600">
                        <a:effectLst/>
                        <a:latin typeface="Calibri"/>
                        <a:ea typeface="Calibri"/>
                        <a:cs typeface="Times New Roman"/>
                      </a:endParaRPr>
                    </a:p>
                  </a:txBody>
                  <a:tcPr marL="16193" marR="16193" marT="16193" marB="16193" anchor="b"/>
                </a:tc>
                <a:extLst>
                  <a:ext uri="{0D108BD9-81ED-4DB2-BD59-A6C34878D82A}">
                    <a16:rowId xmlns:a16="http://schemas.microsoft.com/office/drawing/2014/main" val="10001"/>
                  </a:ext>
                </a:extLst>
              </a:tr>
              <a:tr h="205105">
                <a:tc gridSpan="2" vMerge="1">
                  <a:txBody>
                    <a:bodyPr/>
                    <a:lstStyle/>
                    <a:p>
                      <a:endParaRPr lang="en-US"/>
                    </a:p>
                  </a:txBody>
                  <a:tcPr/>
                </a:tc>
                <a:tc hMerge="1" vMerge="1">
                  <a:txBody>
                    <a:bodyPr/>
                    <a:lstStyle/>
                    <a:p>
                      <a:endParaRPr lang="en-US"/>
                    </a:p>
                  </a:txBody>
                  <a:tcPr/>
                </a:tc>
                <a:tc>
                  <a:txBody>
                    <a:bodyPr/>
                    <a:lstStyle/>
                    <a:p>
                      <a:pPr marL="0" marR="0" algn="ctr">
                        <a:lnSpc>
                          <a:spcPts val="1600"/>
                        </a:lnSpc>
                        <a:spcBef>
                          <a:spcPts val="0"/>
                        </a:spcBef>
                        <a:spcAft>
                          <a:spcPts val="0"/>
                        </a:spcAft>
                      </a:pPr>
                      <a:r>
                        <a:rPr lang="en-US" sz="1400">
                          <a:effectLst/>
                        </a:rPr>
                        <a:t>B</a:t>
                      </a:r>
                      <a:endParaRPr lang="en-US" sz="1600">
                        <a:effectLst/>
                        <a:latin typeface="Calibri"/>
                        <a:ea typeface="Calibri"/>
                        <a:cs typeface="Times New Roman"/>
                      </a:endParaRPr>
                    </a:p>
                  </a:txBody>
                  <a:tcPr marL="16193" marR="16193" marT="16193" marB="16193" anchor="b"/>
                </a:tc>
                <a:tc>
                  <a:txBody>
                    <a:bodyPr/>
                    <a:lstStyle/>
                    <a:p>
                      <a:pPr marL="0" marR="0" algn="ctr">
                        <a:lnSpc>
                          <a:spcPts val="1600"/>
                        </a:lnSpc>
                        <a:spcBef>
                          <a:spcPts val="0"/>
                        </a:spcBef>
                        <a:spcAft>
                          <a:spcPts val="0"/>
                        </a:spcAft>
                      </a:pPr>
                      <a:r>
                        <a:rPr lang="en-US" sz="1400">
                          <a:effectLst/>
                        </a:rPr>
                        <a:t>Std. Error</a:t>
                      </a:r>
                      <a:endParaRPr lang="en-US" sz="1600">
                        <a:effectLst/>
                        <a:latin typeface="Calibri"/>
                        <a:ea typeface="Calibri"/>
                        <a:cs typeface="Times New Roman"/>
                      </a:endParaRPr>
                    </a:p>
                  </a:txBody>
                  <a:tcPr marL="16193" marR="16193" marT="16193" marB="16193" anchor="b"/>
                </a:tc>
                <a:tc>
                  <a:txBody>
                    <a:bodyPr/>
                    <a:lstStyle/>
                    <a:p>
                      <a:pPr marL="0" marR="0" algn="ctr">
                        <a:lnSpc>
                          <a:spcPts val="1600"/>
                        </a:lnSpc>
                        <a:spcBef>
                          <a:spcPts val="0"/>
                        </a:spcBef>
                        <a:spcAft>
                          <a:spcPts val="0"/>
                        </a:spcAft>
                      </a:pPr>
                      <a:r>
                        <a:rPr lang="en-US" sz="1400">
                          <a:effectLst/>
                        </a:rPr>
                        <a:t>Beta</a:t>
                      </a:r>
                      <a:endParaRPr lang="en-US" sz="1600">
                        <a:effectLst/>
                        <a:latin typeface="Calibri"/>
                        <a:ea typeface="Calibri"/>
                        <a:cs typeface="Times New Roman"/>
                      </a:endParaRPr>
                    </a:p>
                  </a:txBody>
                  <a:tcPr marL="16193" marR="16193" marT="16193" marB="16193"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211150">
                <a:tc rowSpan="3">
                  <a:txBody>
                    <a:bodyPr/>
                    <a:lstStyle/>
                    <a:p>
                      <a:pPr marL="0" marR="0">
                        <a:lnSpc>
                          <a:spcPts val="1600"/>
                        </a:lnSpc>
                        <a:spcBef>
                          <a:spcPts val="0"/>
                        </a:spcBef>
                        <a:spcAft>
                          <a:spcPts val="0"/>
                        </a:spcAft>
                      </a:pPr>
                      <a:r>
                        <a:rPr lang="en-US" sz="1400" dirty="0">
                          <a:effectLst/>
                        </a:rPr>
                        <a:t>1</a:t>
                      </a:r>
                      <a:endParaRPr lang="en-US" sz="1600" dirty="0">
                        <a:effectLst/>
                        <a:latin typeface="Calibri"/>
                        <a:ea typeface="Calibri"/>
                        <a:cs typeface="Times New Roman"/>
                      </a:endParaRPr>
                    </a:p>
                  </a:txBody>
                  <a:tcPr marL="16193" marR="16193" marT="16193" marB="16193"/>
                </a:tc>
                <a:tc>
                  <a:txBody>
                    <a:bodyPr/>
                    <a:lstStyle/>
                    <a:p>
                      <a:pPr marL="0" marR="0">
                        <a:lnSpc>
                          <a:spcPts val="1600"/>
                        </a:lnSpc>
                        <a:spcBef>
                          <a:spcPts val="0"/>
                        </a:spcBef>
                        <a:spcAft>
                          <a:spcPts val="0"/>
                        </a:spcAft>
                      </a:pPr>
                      <a:r>
                        <a:rPr lang="en-US" sz="1400">
                          <a:effectLst/>
                        </a:rPr>
                        <a:t>(Constant)</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21.630</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1.207</a:t>
                      </a:r>
                      <a:endParaRPr lang="en-US" sz="1600">
                        <a:effectLst/>
                        <a:latin typeface="Calibri"/>
                        <a:ea typeface="Calibri"/>
                        <a:cs typeface="Times New Roman"/>
                      </a:endParaRPr>
                    </a:p>
                  </a:txBody>
                  <a:tcPr marL="16193" marR="16193" marT="16193" marB="16193"/>
                </a:tc>
                <a:tc>
                  <a:txBody>
                    <a:bodyPr/>
                    <a:lstStyle/>
                    <a:p>
                      <a:pPr marL="0" marR="0" algn="ctr">
                        <a:lnSpc>
                          <a:spcPct val="115000"/>
                        </a:lnSpc>
                        <a:spcBef>
                          <a:spcPts val="0"/>
                        </a:spcBef>
                        <a:spcAft>
                          <a:spcPts val="0"/>
                        </a:spcAft>
                      </a:pPr>
                      <a:r>
                        <a:rPr lang="en-US" sz="1800">
                          <a:effectLst/>
                        </a:rPr>
                        <a:t> </a:t>
                      </a:r>
                      <a:endParaRPr lang="en-US" sz="1600">
                        <a:effectLst/>
                        <a:latin typeface="Calibri"/>
                        <a:ea typeface="Calibri"/>
                        <a:cs typeface="Times New Roman"/>
                      </a:endParaRPr>
                    </a:p>
                  </a:txBody>
                  <a:tcPr marL="16193" marR="16193" marT="16193" marB="16193" anchor="ctr"/>
                </a:tc>
                <a:tc>
                  <a:txBody>
                    <a:bodyPr/>
                    <a:lstStyle/>
                    <a:p>
                      <a:pPr marL="0" marR="0" algn="r">
                        <a:lnSpc>
                          <a:spcPts val="1600"/>
                        </a:lnSpc>
                        <a:spcBef>
                          <a:spcPts val="0"/>
                        </a:spcBef>
                        <a:spcAft>
                          <a:spcPts val="0"/>
                        </a:spcAft>
                      </a:pPr>
                      <a:r>
                        <a:rPr lang="en-US" sz="1400">
                          <a:effectLst/>
                        </a:rPr>
                        <a:t>17.915</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.000</a:t>
                      </a:r>
                      <a:endParaRPr lang="en-US" sz="1600">
                        <a:effectLst/>
                        <a:latin typeface="Calibri"/>
                        <a:ea typeface="Calibri"/>
                        <a:cs typeface="Times New Roman"/>
                      </a:endParaRPr>
                    </a:p>
                  </a:txBody>
                  <a:tcPr marL="16193" marR="16193" marT="16193" marB="16193"/>
                </a:tc>
                <a:extLst>
                  <a:ext uri="{0D108BD9-81ED-4DB2-BD59-A6C34878D82A}">
                    <a16:rowId xmlns:a16="http://schemas.microsoft.com/office/drawing/2014/main" val="10003"/>
                  </a:ext>
                </a:extLst>
              </a:tr>
              <a:tr h="205105">
                <a:tc vMerge="1">
                  <a:txBody>
                    <a:bodyPr/>
                    <a:lstStyle/>
                    <a:p>
                      <a:endParaRPr lang="en-US"/>
                    </a:p>
                  </a:txBody>
                  <a:tcPr/>
                </a:tc>
                <a:tc>
                  <a:txBody>
                    <a:bodyPr/>
                    <a:lstStyle/>
                    <a:p>
                      <a:pPr marL="0" marR="0">
                        <a:lnSpc>
                          <a:spcPts val="1600"/>
                        </a:lnSpc>
                        <a:spcBef>
                          <a:spcPts val="0"/>
                        </a:spcBef>
                        <a:spcAft>
                          <a:spcPts val="0"/>
                        </a:spcAft>
                      </a:pPr>
                      <a:r>
                        <a:rPr lang="en-US" sz="1400">
                          <a:effectLst/>
                        </a:rPr>
                        <a:t>Network Diversity</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.224</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.228</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.057</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.979</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.328</a:t>
                      </a:r>
                      <a:endParaRPr lang="en-US" sz="1600">
                        <a:effectLst/>
                        <a:latin typeface="Calibri"/>
                        <a:ea typeface="Calibri"/>
                        <a:cs typeface="Times New Roman"/>
                      </a:endParaRPr>
                    </a:p>
                  </a:txBody>
                  <a:tcPr marL="16193" marR="16193" marT="16193" marB="16193"/>
                </a:tc>
                <a:extLst>
                  <a:ext uri="{0D108BD9-81ED-4DB2-BD59-A6C34878D82A}">
                    <a16:rowId xmlns:a16="http://schemas.microsoft.com/office/drawing/2014/main" val="10004"/>
                  </a:ext>
                </a:extLst>
              </a:tr>
              <a:tr h="205105">
                <a:tc vMerge="1">
                  <a:txBody>
                    <a:bodyPr/>
                    <a:lstStyle/>
                    <a:p>
                      <a:endParaRPr lang="en-US"/>
                    </a:p>
                  </a:txBody>
                  <a:tcPr/>
                </a:tc>
                <a:tc>
                  <a:txBody>
                    <a:bodyPr/>
                    <a:lstStyle/>
                    <a:p>
                      <a:pPr marL="0" marR="0">
                        <a:lnSpc>
                          <a:spcPts val="1600"/>
                        </a:lnSpc>
                        <a:spcBef>
                          <a:spcPts val="0"/>
                        </a:spcBef>
                        <a:spcAft>
                          <a:spcPts val="0"/>
                        </a:spcAft>
                      </a:pPr>
                      <a:r>
                        <a:rPr lang="en-US" sz="1400">
                          <a:effectLst/>
                        </a:rPr>
                        <a:t># People in Social Network</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.039</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.016</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.148</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2.540</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.011</a:t>
                      </a:r>
                      <a:endParaRPr lang="en-US" sz="1600">
                        <a:effectLst/>
                        <a:latin typeface="Calibri"/>
                        <a:ea typeface="Calibri"/>
                        <a:cs typeface="Times New Roman"/>
                      </a:endParaRPr>
                    </a:p>
                  </a:txBody>
                  <a:tcPr marL="16193" marR="16193" marT="16193" marB="16193"/>
                </a:tc>
                <a:extLst>
                  <a:ext uri="{0D108BD9-81ED-4DB2-BD59-A6C34878D82A}">
                    <a16:rowId xmlns:a16="http://schemas.microsoft.com/office/drawing/2014/main" val="10005"/>
                  </a:ext>
                </a:extLst>
              </a:tr>
              <a:tr h="205105">
                <a:tc gridSpan="7">
                  <a:txBody>
                    <a:bodyPr/>
                    <a:lstStyle/>
                    <a:p>
                      <a:pPr marL="0" marR="0">
                        <a:lnSpc>
                          <a:spcPts val="1600"/>
                        </a:lnSpc>
                        <a:spcBef>
                          <a:spcPts val="0"/>
                        </a:spcBef>
                        <a:spcAft>
                          <a:spcPts val="0"/>
                        </a:spcAft>
                      </a:pPr>
                      <a:endParaRPr lang="en-US" sz="1400" dirty="0">
                        <a:effectLst/>
                      </a:endParaRPr>
                    </a:p>
                    <a:p>
                      <a:pPr marL="0" marR="0">
                        <a:lnSpc>
                          <a:spcPts val="1600"/>
                        </a:lnSpc>
                        <a:spcBef>
                          <a:spcPts val="0"/>
                        </a:spcBef>
                        <a:spcAft>
                          <a:spcPts val="0"/>
                        </a:spcAft>
                      </a:pPr>
                      <a:r>
                        <a:rPr lang="en-US" sz="1400" dirty="0">
                          <a:effectLst/>
                        </a:rPr>
                        <a:t>Dependent Variable: </a:t>
                      </a:r>
                      <a:r>
                        <a:rPr lang="en-US" sz="1400" b="1" dirty="0">
                          <a:effectLst/>
                        </a:rPr>
                        <a:t>Subjective Well Being</a:t>
                      </a:r>
                    </a:p>
                    <a:p>
                      <a:pPr marL="0" marR="0">
                        <a:lnSpc>
                          <a:spcPts val="1600"/>
                        </a:lnSpc>
                        <a:spcBef>
                          <a:spcPts val="0"/>
                        </a:spcBef>
                        <a:spcAft>
                          <a:spcPts val="0"/>
                        </a:spcAft>
                      </a:pPr>
                      <a:endParaRPr lang="en-US" sz="1600" dirty="0">
                        <a:effectLst/>
                        <a:latin typeface="Calibri"/>
                        <a:ea typeface="Calibri"/>
                        <a:cs typeface="Times New Roman"/>
                      </a:endParaRPr>
                    </a:p>
                  </a:txBody>
                  <a:tcPr marL="16193" marR="16193" marT="16193" marB="16193"/>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5" name="TextBox 4"/>
          <p:cNvSpPr txBox="1"/>
          <p:nvPr/>
        </p:nvSpPr>
        <p:spPr>
          <a:xfrm>
            <a:off x="1752600" y="7543274"/>
            <a:ext cx="4490075" cy="584775"/>
          </a:xfrm>
          <a:prstGeom prst="rect">
            <a:avLst/>
          </a:prstGeom>
          <a:noFill/>
        </p:spPr>
        <p:txBody>
          <a:bodyPr wrap="none" rtlCol="0">
            <a:spAutoFit/>
          </a:bodyPr>
          <a:lstStyle/>
          <a:p>
            <a:r>
              <a:rPr lang="en-US" sz="1600" dirty="0">
                <a:solidFill>
                  <a:schemeClr val="accent6">
                    <a:lumMod val="75000"/>
                  </a:schemeClr>
                </a:solidFill>
              </a:rPr>
              <a:t>Regress the DV on all IV’s except the policy variable.</a:t>
            </a:r>
            <a:br>
              <a:rPr lang="en-US" sz="1600" dirty="0">
                <a:solidFill>
                  <a:schemeClr val="accent6">
                    <a:lumMod val="75000"/>
                  </a:schemeClr>
                </a:solidFill>
              </a:rPr>
            </a:br>
            <a:r>
              <a:rPr lang="en-US" sz="1600" dirty="0">
                <a:solidFill>
                  <a:schemeClr val="accent6">
                    <a:lumMod val="75000"/>
                  </a:schemeClr>
                </a:solidFill>
              </a:rPr>
              <a:t>Save the residuals.</a:t>
            </a:r>
          </a:p>
        </p:txBody>
      </p:sp>
    </p:spTree>
    <p:extLst>
      <p:ext uri="{BB962C8B-B14F-4D97-AF65-F5344CB8AC3E}">
        <p14:creationId xmlns:p14="http://schemas.microsoft.com/office/powerpoint/2010/main" val="3265408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Auxiliary Regression #1</a:t>
            </a:r>
          </a:p>
        </p:txBody>
      </p:sp>
      <mc:AlternateContent xmlns:mc="http://schemas.openxmlformats.org/markup-compatibility/2006" xmlns:a14="http://schemas.microsoft.com/office/drawing/2010/main">
        <mc:Choice Requires="a14">
          <p:sp>
            <p:nvSpPr>
              <p:cNvPr id="9" name="Rectangle 8"/>
              <p:cNvSpPr/>
              <p:nvPr/>
            </p:nvSpPr>
            <p:spPr>
              <a:xfrm>
                <a:off x="2331720" y="3928110"/>
                <a:ext cx="2912144" cy="3277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530" i="1">
                          <a:latin typeface="Cambria Math"/>
                        </a:rPr>
                        <m:t>𝑆𝑊𝐵</m:t>
                      </m:r>
                      <m:r>
                        <a:rPr lang="en-US" sz="1530" i="1">
                          <a:latin typeface="Cambria Math"/>
                        </a:rPr>
                        <m:t>=</m:t>
                      </m:r>
                      <m:sSub>
                        <m:sSubPr>
                          <m:ctrlPr>
                            <a:rPr lang="en-US" sz="1530" i="1">
                              <a:latin typeface="Cambria Math" panose="02040503050406030204" pitchFamily="18" charset="0"/>
                            </a:rPr>
                          </m:ctrlPr>
                        </m:sSubPr>
                        <m:e>
                          <m:r>
                            <a:rPr lang="en-US" sz="1530" i="1">
                              <a:latin typeface="Cambria Math"/>
                            </a:rPr>
                            <m:t>𝑏</m:t>
                          </m:r>
                        </m:e>
                        <m:sub>
                          <m:r>
                            <a:rPr lang="en-US" sz="1530" i="1">
                              <a:latin typeface="Cambria Math"/>
                            </a:rPr>
                            <m:t>0</m:t>
                          </m:r>
                        </m:sub>
                      </m:sSub>
                      <m:r>
                        <a:rPr lang="en-US" sz="1530" i="1">
                          <a:latin typeface="Cambria Math"/>
                        </a:rPr>
                        <m:t>+</m:t>
                      </m:r>
                      <m:sSub>
                        <m:sSubPr>
                          <m:ctrlPr>
                            <a:rPr lang="en-US" sz="1530" i="1">
                              <a:latin typeface="Cambria Math" panose="02040503050406030204" pitchFamily="18" charset="0"/>
                            </a:rPr>
                          </m:ctrlPr>
                        </m:sSubPr>
                        <m:e>
                          <m:r>
                            <a:rPr lang="en-US" sz="1530" i="1">
                              <a:latin typeface="Cambria Math"/>
                            </a:rPr>
                            <m:t>𝑏</m:t>
                          </m:r>
                        </m:e>
                        <m:sub>
                          <m:r>
                            <a:rPr lang="en-US" sz="1530" i="1">
                              <a:latin typeface="Cambria Math"/>
                            </a:rPr>
                            <m:t>1</m:t>
                          </m:r>
                        </m:sub>
                      </m:sSub>
                      <m:r>
                        <a:rPr lang="en-US" sz="1530" i="1">
                          <a:latin typeface="Cambria Math"/>
                        </a:rPr>
                        <m:t>𝑁𝐷</m:t>
                      </m:r>
                      <m:r>
                        <a:rPr lang="en-US" sz="1530" i="1">
                          <a:latin typeface="Cambria Math"/>
                        </a:rPr>
                        <m:t>+</m:t>
                      </m:r>
                      <m:sSub>
                        <m:sSubPr>
                          <m:ctrlPr>
                            <a:rPr lang="en-US" sz="1530" i="1">
                              <a:latin typeface="Cambria Math" panose="02040503050406030204" pitchFamily="18" charset="0"/>
                            </a:rPr>
                          </m:ctrlPr>
                        </m:sSubPr>
                        <m:e>
                          <m:r>
                            <a:rPr lang="en-US" sz="1530" i="1">
                              <a:latin typeface="Cambria Math"/>
                            </a:rPr>
                            <m:t>𝑏</m:t>
                          </m:r>
                        </m:e>
                        <m:sub>
                          <m:r>
                            <a:rPr lang="en-US" sz="1530" i="1">
                              <a:latin typeface="Cambria Math"/>
                            </a:rPr>
                            <m:t>2</m:t>
                          </m:r>
                        </m:sub>
                      </m:sSub>
                      <m:r>
                        <a:rPr lang="en-US" sz="1530" i="1">
                          <a:latin typeface="Cambria Math"/>
                        </a:rPr>
                        <m:t>𝑁𝑃</m:t>
                      </m:r>
                      <m:r>
                        <a:rPr lang="en-US" sz="1530" i="1">
                          <a:latin typeface="Cambria Math"/>
                        </a:rPr>
                        <m:t>+</m:t>
                      </m:r>
                      <m:sSub>
                        <m:sSubPr>
                          <m:ctrlPr>
                            <a:rPr lang="en-US" sz="1530" i="1">
                              <a:latin typeface="Cambria Math" panose="02040503050406030204" pitchFamily="18" charset="0"/>
                            </a:rPr>
                          </m:ctrlPr>
                        </m:sSubPr>
                        <m:e>
                          <m:r>
                            <a:rPr lang="en-US" sz="1530" i="1">
                              <a:latin typeface="Cambria Math"/>
                            </a:rPr>
                            <m:t>𝑒</m:t>
                          </m:r>
                        </m:e>
                        <m:sub>
                          <m:r>
                            <a:rPr lang="en-US" sz="1530" i="1">
                              <a:latin typeface="Cambria Math"/>
                            </a:rPr>
                            <m:t>1</m:t>
                          </m:r>
                        </m:sub>
                      </m:sSub>
                    </m:oMath>
                  </m:oMathPara>
                </a14:m>
                <a:endParaRPr lang="en-US" sz="1530" dirty="0"/>
              </a:p>
            </p:txBody>
          </p:sp>
        </mc:Choice>
        <mc:Fallback xmlns="">
          <p:sp>
            <p:nvSpPr>
              <p:cNvPr id="9" name="Rectangle 8"/>
              <p:cNvSpPr>
                <a:spLocks noRot="1" noChangeAspect="1" noMove="1" noResize="1" noEditPoints="1" noAdjustHandles="1" noChangeArrowheads="1" noChangeShapeType="1" noTextEdit="1"/>
              </p:cNvSpPr>
              <p:nvPr/>
            </p:nvSpPr>
            <p:spPr>
              <a:xfrm>
                <a:off x="2331720" y="3928110"/>
                <a:ext cx="2912144" cy="327782"/>
              </a:xfrm>
              <a:prstGeom prst="rect">
                <a:avLst/>
              </a:prstGeom>
              <a:blipFill>
                <a:blip r:embed="rId2"/>
                <a:stretch>
                  <a:fillRect/>
                </a:stretch>
              </a:blipFill>
            </p:spPr>
            <p:txBody>
              <a:bodyPr/>
              <a:lstStyle/>
              <a:p>
                <a:r>
                  <a:rPr lang="en-US">
                    <a:noFill/>
                  </a:rPr>
                  <a:t> </a:t>
                </a:r>
              </a:p>
            </p:txBody>
          </p:sp>
        </mc:Fallback>
      </mc:AlternateContent>
      <p:graphicFrame>
        <p:nvGraphicFramePr>
          <p:cNvPr id="11" name="Table 10"/>
          <p:cNvGraphicFramePr>
            <a:graphicFrameLocks noGrp="1"/>
          </p:cNvGraphicFramePr>
          <p:nvPr/>
        </p:nvGraphicFramePr>
        <p:xfrm>
          <a:off x="1360169" y="4504644"/>
          <a:ext cx="5052062" cy="1887929"/>
        </p:xfrm>
        <a:graphic>
          <a:graphicData uri="http://schemas.openxmlformats.org/drawingml/2006/table">
            <a:tbl>
              <a:tblPr>
                <a:tableStyleId>{5C22544A-7EE6-4342-B048-85BDC9FD1C3A}</a:tableStyleId>
              </a:tblPr>
              <a:tblGrid>
                <a:gridCol w="1103490">
                  <a:extLst>
                    <a:ext uri="{9D8B030D-6E8A-4147-A177-3AD203B41FA5}">
                      <a16:colId xmlns:a16="http://schemas.microsoft.com/office/drawing/2014/main" val="20000"/>
                    </a:ext>
                  </a:extLst>
                </a:gridCol>
                <a:gridCol w="1103490">
                  <a:extLst>
                    <a:ext uri="{9D8B030D-6E8A-4147-A177-3AD203B41FA5}">
                      <a16:colId xmlns:a16="http://schemas.microsoft.com/office/drawing/2014/main" val="20001"/>
                    </a:ext>
                  </a:extLst>
                </a:gridCol>
                <a:gridCol w="602026">
                  <a:extLst>
                    <a:ext uri="{9D8B030D-6E8A-4147-A177-3AD203B41FA5}">
                      <a16:colId xmlns:a16="http://schemas.microsoft.com/office/drawing/2014/main" val="20002"/>
                    </a:ext>
                  </a:extLst>
                </a:gridCol>
                <a:gridCol w="662004">
                  <a:extLst>
                    <a:ext uri="{9D8B030D-6E8A-4147-A177-3AD203B41FA5}">
                      <a16:colId xmlns:a16="http://schemas.microsoft.com/office/drawing/2014/main" val="20003"/>
                    </a:ext>
                  </a:extLst>
                </a:gridCol>
                <a:gridCol w="662004">
                  <a:extLst>
                    <a:ext uri="{9D8B030D-6E8A-4147-A177-3AD203B41FA5}">
                      <a16:colId xmlns:a16="http://schemas.microsoft.com/office/drawing/2014/main" val="20004"/>
                    </a:ext>
                  </a:extLst>
                </a:gridCol>
                <a:gridCol w="459524">
                  <a:extLst>
                    <a:ext uri="{9D8B030D-6E8A-4147-A177-3AD203B41FA5}">
                      <a16:colId xmlns:a16="http://schemas.microsoft.com/office/drawing/2014/main" val="20005"/>
                    </a:ext>
                  </a:extLst>
                </a:gridCol>
                <a:gridCol w="459524">
                  <a:extLst>
                    <a:ext uri="{9D8B030D-6E8A-4147-A177-3AD203B41FA5}">
                      <a16:colId xmlns:a16="http://schemas.microsoft.com/office/drawing/2014/main" val="20006"/>
                    </a:ext>
                  </a:extLst>
                </a:gridCol>
              </a:tblGrid>
              <a:tr h="205105">
                <a:tc gridSpan="7">
                  <a:txBody>
                    <a:bodyPr/>
                    <a:lstStyle/>
                    <a:p>
                      <a:pPr marL="0" marR="0" algn="ctr">
                        <a:lnSpc>
                          <a:spcPts val="1600"/>
                        </a:lnSpc>
                        <a:spcBef>
                          <a:spcPts val="0"/>
                        </a:spcBef>
                        <a:spcAft>
                          <a:spcPts val="0"/>
                        </a:spcAft>
                      </a:pPr>
                      <a:r>
                        <a:rPr lang="en-US" sz="800">
                          <a:effectLst/>
                        </a:rPr>
                        <a:t>Coefficients</a:t>
                      </a:r>
                      <a:r>
                        <a:rPr lang="en-US" sz="800" baseline="30000">
                          <a:effectLst/>
                        </a:rPr>
                        <a:t>a</a:t>
                      </a:r>
                      <a:endParaRPr lang="en-US" sz="900">
                        <a:effectLst/>
                        <a:latin typeface="Calibri"/>
                        <a:ea typeface="Calibri"/>
                        <a:cs typeface="Times New Roman"/>
                      </a:endParaRPr>
                    </a:p>
                  </a:txBody>
                  <a:tcPr marL="16193" marR="16193" marT="16193" marB="16193"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7825">
                <a:tc rowSpan="2" gridSpan="2">
                  <a:txBody>
                    <a:bodyPr/>
                    <a:lstStyle/>
                    <a:p>
                      <a:pPr marL="0" marR="0">
                        <a:lnSpc>
                          <a:spcPts val="1600"/>
                        </a:lnSpc>
                        <a:spcBef>
                          <a:spcPts val="0"/>
                        </a:spcBef>
                        <a:spcAft>
                          <a:spcPts val="0"/>
                        </a:spcAft>
                      </a:pPr>
                      <a:r>
                        <a:rPr lang="en-US" sz="800">
                          <a:effectLst/>
                        </a:rPr>
                        <a:t>Model</a:t>
                      </a:r>
                      <a:endParaRPr lang="en-US" sz="900">
                        <a:effectLst/>
                        <a:latin typeface="Calibri"/>
                        <a:ea typeface="Calibri"/>
                        <a:cs typeface="Times New Roman"/>
                      </a:endParaRPr>
                    </a:p>
                  </a:txBody>
                  <a:tcPr marL="16193" marR="16193" marT="16193" marB="16193" anchor="b"/>
                </a:tc>
                <a:tc rowSpan="2" hMerge="1">
                  <a:txBody>
                    <a:bodyPr/>
                    <a:lstStyle/>
                    <a:p>
                      <a:endParaRPr lang="en-US"/>
                    </a:p>
                  </a:txBody>
                  <a:tcPr/>
                </a:tc>
                <a:tc gridSpan="2">
                  <a:txBody>
                    <a:bodyPr/>
                    <a:lstStyle/>
                    <a:p>
                      <a:pPr marL="0" marR="0" algn="ctr">
                        <a:lnSpc>
                          <a:spcPts val="1600"/>
                        </a:lnSpc>
                        <a:spcBef>
                          <a:spcPts val="0"/>
                        </a:spcBef>
                        <a:spcAft>
                          <a:spcPts val="0"/>
                        </a:spcAft>
                      </a:pPr>
                      <a:r>
                        <a:rPr lang="en-US" sz="800">
                          <a:effectLst/>
                        </a:rPr>
                        <a:t>Unstandardized Coefficients</a:t>
                      </a:r>
                      <a:endParaRPr lang="en-US" sz="900">
                        <a:effectLst/>
                        <a:latin typeface="Calibri"/>
                        <a:ea typeface="Calibri"/>
                        <a:cs typeface="Times New Roman"/>
                      </a:endParaRPr>
                    </a:p>
                  </a:txBody>
                  <a:tcPr marL="16193" marR="16193" marT="16193" marB="16193" anchor="b"/>
                </a:tc>
                <a:tc hMerge="1">
                  <a:txBody>
                    <a:bodyPr/>
                    <a:lstStyle/>
                    <a:p>
                      <a:endParaRPr lang="en-US"/>
                    </a:p>
                  </a:txBody>
                  <a:tcPr/>
                </a:tc>
                <a:tc>
                  <a:txBody>
                    <a:bodyPr/>
                    <a:lstStyle/>
                    <a:p>
                      <a:pPr marL="0" marR="0" algn="ctr">
                        <a:lnSpc>
                          <a:spcPts val="1600"/>
                        </a:lnSpc>
                        <a:spcBef>
                          <a:spcPts val="0"/>
                        </a:spcBef>
                        <a:spcAft>
                          <a:spcPts val="0"/>
                        </a:spcAft>
                      </a:pPr>
                      <a:r>
                        <a:rPr lang="en-US" sz="800">
                          <a:effectLst/>
                        </a:rPr>
                        <a:t>Standardized Coefficients</a:t>
                      </a:r>
                      <a:endParaRPr lang="en-US" sz="900">
                        <a:effectLst/>
                        <a:latin typeface="Calibri"/>
                        <a:ea typeface="Calibri"/>
                        <a:cs typeface="Times New Roman"/>
                      </a:endParaRPr>
                    </a:p>
                  </a:txBody>
                  <a:tcPr marL="16193" marR="16193" marT="16193" marB="16193" anchor="b"/>
                </a:tc>
                <a:tc rowSpan="2">
                  <a:txBody>
                    <a:bodyPr/>
                    <a:lstStyle/>
                    <a:p>
                      <a:pPr marL="0" marR="0" algn="ctr">
                        <a:lnSpc>
                          <a:spcPts val="1600"/>
                        </a:lnSpc>
                        <a:spcBef>
                          <a:spcPts val="0"/>
                        </a:spcBef>
                        <a:spcAft>
                          <a:spcPts val="0"/>
                        </a:spcAft>
                      </a:pPr>
                      <a:r>
                        <a:rPr lang="en-US" sz="800">
                          <a:effectLst/>
                        </a:rPr>
                        <a:t>t</a:t>
                      </a:r>
                      <a:endParaRPr lang="en-US" sz="900">
                        <a:effectLst/>
                        <a:latin typeface="Calibri"/>
                        <a:ea typeface="Calibri"/>
                        <a:cs typeface="Times New Roman"/>
                      </a:endParaRPr>
                    </a:p>
                  </a:txBody>
                  <a:tcPr marL="16193" marR="16193" marT="16193" marB="16193" anchor="b"/>
                </a:tc>
                <a:tc rowSpan="2">
                  <a:txBody>
                    <a:bodyPr/>
                    <a:lstStyle/>
                    <a:p>
                      <a:pPr marL="0" marR="0" algn="ctr">
                        <a:lnSpc>
                          <a:spcPts val="1600"/>
                        </a:lnSpc>
                        <a:spcBef>
                          <a:spcPts val="0"/>
                        </a:spcBef>
                        <a:spcAft>
                          <a:spcPts val="0"/>
                        </a:spcAft>
                      </a:pPr>
                      <a:r>
                        <a:rPr lang="en-US" sz="800">
                          <a:effectLst/>
                        </a:rPr>
                        <a:t>Sig.</a:t>
                      </a:r>
                      <a:endParaRPr lang="en-US" sz="900">
                        <a:effectLst/>
                        <a:latin typeface="Calibri"/>
                        <a:ea typeface="Calibri"/>
                        <a:cs typeface="Times New Roman"/>
                      </a:endParaRPr>
                    </a:p>
                  </a:txBody>
                  <a:tcPr marL="16193" marR="16193" marT="16193" marB="16193" anchor="b"/>
                </a:tc>
                <a:extLst>
                  <a:ext uri="{0D108BD9-81ED-4DB2-BD59-A6C34878D82A}">
                    <a16:rowId xmlns:a16="http://schemas.microsoft.com/office/drawing/2014/main" val="10001"/>
                  </a:ext>
                </a:extLst>
              </a:tr>
              <a:tr h="205105">
                <a:tc gridSpan="2" vMerge="1">
                  <a:txBody>
                    <a:bodyPr/>
                    <a:lstStyle/>
                    <a:p>
                      <a:endParaRPr lang="en-US"/>
                    </a:p>
                  </a:txBody>
                  <a:tcPr/>
                </a:tc>
                <a:tc hMerge="1" vMerge="1">
                  <a:txBody>
                    <a:bodyPr/>
                    <a:lstStyle/>
                    <a:p>
                      <a:endParaRPr lang="en-US"/>
                    </a:p>
                  </a:txBody>
                  <a:tcPr/>
                </a:tc>
                <a:tc>
                  <a:txBody>
                    <a:bodyPr/>
                    <a:lstStyle/>
                    <a:p>
                      <a:pPr marL="0" marR="0" algn="ctr">
                        <a:lnSpc>
                          <a:spcPts val="1600"/>
                        </a:lnSpc>
                        <a:spcBef>
                          <a:spcPts val="0"/>
                        </a:spcBef>
                        <a:spcAft>
                          <a:spcPts val="0"/>
                        </a:spcAft>
                      </a:pPr>
                      <a:r>
                        <a:rPr lang="en-US" sz="800">
                          <a:effectLst/>
                        </a:rPr>
                        <a:t>B</a:t>
                      </a:r>
                      <a:endParaRPr lang="en-US" sz="900">
                        <a:effectLst/>
                        <a:latin typeface="Calibri"/>
                        <a:ea typeface="Calibri"/>
                        <a:cs typeface="Times New Roman"/>
                      </a:endParaRPr>
                    </a:p>
                  </a:txBody>
                  <a:tcPr marL="16193" marR="16193" marT="16193" marB="16193" anchor="b"/>
                </a:tc>
                <a:tc>
                  <a:txBody>
                    <a:bodyPr/>
                    <a:lstStyle/>
                    <a:p>
                      <a:pPr marL="0" marR="0" algn="ctr">
                        <a:lnSpc>
                          <a:spcPts val="1600"/>
                        </a:lnSpc>
                        <a:spcBef>
                          <a:spcPts val="0"/>
                        </a:spcBef>
                        <a:spcAft>
                          <a:spcPts val="0"/>
                        </a:spcAft>
                      </a:pPr>
                      <a:r>
                        <a:rPr lang="en-US" sz="800">
                          <a:effectLst/>
                        </a:rPr>
                        <a:t>Std. Error</a:t>
                      </a:r>
                      <a:endParaRPr lang="en-US" sz="900">
                        <a:effectLst/>
                        <a:latin typeface="Calibri"/>
                        <a:ea typeface="Calibri"/>
                        <a:cs typeface="Times New Roman"/>
                      </a:endParaRPr>
                    </a:p>
                  </a:txBody>
                  <a:tcPr marL="16193" marR="16193" marT="16193" marB="16193" anchor="b"/>
                </a:tc>
                <a:tc>
                  <a:txBody>
                    <a:bodyPr/>
                    <a:lstStyle/>
                    <a:p>
                      <a:pPr marL="0" marR="0" algn="ctr">
                        <a:lnSpc>
                          <a:spcPts val="1600"/>
                        </a:lnSpc>
                        <a:spcBef>
                          <a:spcPts val="0"/>
                        </a:spcBef>
                        <a:spcAft>
                          <a:spcPts val="0"/>
                        </a:spcAft>
                      </a:pPr>
                      <a:r>
                        <a:rPr lang="en-US" sz="800">
                          <a:effectLst/>
                        </a:rPr>
                        <a:t>Beta</a:t>
                      </a:r>
                      <a:endParaRPr lang="en-US" sz="900">
                        <a:effectLst/>
                        <a:latin typeface="Calibri"/>
                        <a:ea typeface="Calibri"/>
                        <a:cs typeface="Times New Roman"/>
                      </a:endParaRPr>
                    </a:p>
                  </a:txBody>
                  <a:tcPr marL="16193" marR="16193" marT="16193" marB="16193"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211150">
                <a:tc rowSpan="3">
                  <a:txBody>
                    <a:bodyPr/>
                    <a:lstStyle/>
                    <a:p>
                      <a:pPr marL="0" marR="0">
                        <a:lnSpc>
                          <a:spcPts val="1600"/>
                        </a:lnSpc>
                        <a:spcBef>
                          <a:spcPts val="0"/>
                        </a:spcBef>
                        <a:spcAft>
                          <a:spcPts val="0"/>
                        </a:spcAft>
                      </a:pPr>
                      <a:r>
                        <a:rPr lang="en-US" sz="800">
                          <a:effectLst/>
                        </a:rPr>
                        <a:t>1</a:t>
                      </a:r>
                      <a:endParaRPr lang="en-US" sz="900">
                        <a:effectLst/>
                        <a:latin typeface="Calibri"/>
                        <a:ea typeface="Calibri"/>
                        <a:cs typeface="Times New Roman"/>
                      </a:endParaRPr>
                    </a:p>
                  </a:txBody>
                  <a:tcPr marL="16193" marR="16193" marT="16193" marB="16193"/>
                </a:tc>
                <a:tc>
                  <a:txBody>
                    <a:bodyPr/>
                    <a:lstStyle/>
                    <a:p>
                      <a:pPr marL="0" marR="0">
                        <a:lnSpc>
                          <a:spcPts val="1600"/>
                        </a:lnSpc>
                        <a:spcBef>
                          <a:spcPts val="0"/>
                        </a:spcBef>
                        <a:spcAft>
                          <a:spcPts val="0"/>
                        </a:spcAft>
                      </a:pPr>
                      <a:r>
                        <a:rPr lang="en-US" sz="800">
                          <a:effectLst/>
                        </a:rPr>
                        <a:t>(Constant)</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21.630</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1.207</a:t>
                      </a:r>
                      <a:endParaRPr lang="en-US" sz="900">
                        <a:effectLst/>
                        <a:latin typeface="Calibri"/>
                        <a:ea typeface="Calibri"/>
                        <a:cs typeface="Times New Roman"/>
                      </a:endParaRPr>
                    </a:p>
                  </a:txBody>
                  <a:tcPr marL="16193" marR="16193" marT="16193" marB="16193"/>
                </a:tc>
                <a:tc>
                  <a:txBody>
                    <a:bodyPr/>
                    <a:lstStyle/>
                    <a:p>
                      <a:pPr marL="0" marR="0" algn="ctr">
                        <a:lnSpc>
                          <a:spcPct val="115000"/>
                        </a:lnSpc>
                        <a:spcBef>
                          <a:spcPts val="0"/>
                        </a:spcBef>
                        <a:spcAft>
                          <a:spcPts val="0"/>
                        </a:spcAft>
                      </a:pPr>
                      <a:r>
                        <a:rPr lang="en-US" sz="1000">
                          <a:effectLst/>
                        </a:rPr>
                        <a:t> </a:t>
                      </a:r>
                      <a:endParaRPr lang="en-US" sz="900">
                        <a:effectLst/>
                        <a:latin typeface="Calibri"/>
                        <a:ea typeface="Calibri"/>
                        <a:cs typeface="Times New Roman"/>
                      </a:endParaRPr>
                    </a:p>
                  </a:txBody>
                  <a:tcPr marL="16193" marR="16193" marT="16193" marB="16193" anchor="ctr"/>
                </a:tc>
                <a:tc>
                  <a:txBody>
                    <a:bodyPr/>
                    <a:lstStyle/>
                    <a:p>
                      <a:pPr marL="0" marR="0" algn="r">
                        <a:lnSpc>
                          <a:spcPts val="1600"/>
                        </a:lnSpc>
                        <a:spcBef>
                          <a:spcPts val="0"/>
                        </a:spcBef>
                        <a:spcAft>
                          <a:spcPts val="0"/>
                        </a:spcAft>
                      </a:pPr>
                      <a:r>
                        <a:rPr lang="en-US" sz="800">
                          <a:effectLst/>
                        </a:rPr>
                        <a:t>17.915</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.000</a:t>
                      </a:r>
                      <a:endParaRPr lang="en-US" sz="900">
                        <a:effectLst/>
                        <a:latin typeface="Calibri"/>
                        <a:ea typeface="Calibri"/>
                        <a:cs typeface="Times New Roman"/>
                      </a:endParaRPr>
                    </a:p>
                  </a:txBody>
                  <a:tcPr marL="16193" marR="16193" marT="16193" marB="16193"/>
                </a:tc>
                <a:extLst>
                  <a:ext uri="{0D108BD9-81ED-4DB2-BD59-A6C34878D82A}">
                    <a16:rowId xmlns:a16="http://schemas.microsoft.com/office/drawing/2014/main" val="10003"/>
                  </a:ext>
                </a:extLst>
              </a:tr>
              <a:tr h="205105">
                <a:tc vMerge="1">
                  <a:txBody>
                    <a:bodyPr/>
                    <a:lstStyle/>
                    <a:p>
                      <a:endParaRPr lang="en-US"/>
                    </a:p>
                  </a:txBody>
                  <a:tcPr/>
                </a:tc>
                <a:tc>
                  <a:txBody>
                    <a:bodyPr/>
                    <a:lstStyle/>
                    <a:p>
                      <a:pPr marL="0" marR="0">
                        <a:lnSpc>
                          <a:spcPts val="1600"/>
                        </a:lnSpc>
                        <a:spcBef>
                          <a:spcPts val="0"/>
                        </a:spcBef>
                        <a:spcAft>
                          <a:spcPts val="0"/>
                        </a:spcAft>
                      </a:pPr>
                      <a:r>
                        <a:rPr lang="en-US" sz="800">
                          <a:effectLst/>
                        </a:rPr>
                        <a:t>Network Diversity</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.224</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.228</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.057</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.979</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.328</a:t>
                      </a:r>
                      <a:endParaRPr lang="en-US" sz="900">
                        <a:effectLst/>
                        <a:latin typeface="Calibri"/>
                        <a:ea typeface="Calibri"/>
                        <a:cs typeface="Times New Roman"/>
                      </a:endParaRPr>
                    </a:p>
                  </a:txBody>
                  <a:tcPr marL="16193" marR="16193" marT="16193" marB="16193"/>
                </a:tc>
                <a:extLst>
                  <a:ext uri="{0D108BD9-81ED-4DB2-BD59-A6C34878D82A}">
                    <a16:rowId xmlns:a16="http://schemas.microsoft.com/office/drawing/2014/main" val="10004"/>
                  </a:ext>
                </a:extLst>
              </a:tr>
              <a:tr h="205105">
                <a:tc vMerge="1">
                  <a:txBody>
                    <a:bodyPr/>
                    <a:lstStyle/>
                    <a:p>
                      <a:endParaRPr lang="en-US"/>
                    </a:p>
                  </a:txBody>
                  <a:tcPr/>
                </a:tc>
                <a:tc>
                  <a:txBody>
                    <a:bodyPr/>
                    <a:lstStyle/>
                    <a:p>
                      <a:pPr marL="0" marR="0">
                        <a:lnSpc>
                          <a:spcPts val="1600"/>
                        </a:lnSpc>
                        <a:spcBef>
                          <a:spcPts val="0"/>
                        </a:spcBef>
                        <a:spcAft>
                          <a:spcPts val="0"/>
                        </a:spcAft>
                      </a:pPr>
                      <a:r>
                        <a:rPr lang="en-US" sz="800">
                          <a:effectLst/>
                        </a:rPr>
                        <a:t># People in Social Network</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.039</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.016</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.148</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2.540</a:t>
                      </a:r>
                      <a:endParaRPr lang="en-US" sz="9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800">
                          <a:effectLst/>
                        </a:rPr>
                        <a:t>.011</a:t>
                      </a:r>
                      <a:endParaRPr lang="en-US" sz="900">
                        <a:effectLst/>
                        <a:latin typeface="Calibri"/>
                        <a:ea typeface="Calibri"/>
                        <a:cs typeface="Times New Roman"/>
                      </a:endParaRPr>
                    </a:p>
                  </a:txBody>
                  <a:tcPr marL="16193" marR="16193" marT="16193" marB="16193"/>
                </a:tc>
                <a:extLst>
                  <a:ext uri="{0D108BD9-81ED-4DB2-BD59-A6C34878D82A}">
                    <a16:rowId xmlns:a16="http://schemas.microsoft.com/office/drawing/2014/main" val="10005"/>
                  </a:ext>
                </a:extLst>
              </a:tr>
              <a:tr h="205105">
                <a:tc gridSpan="7">
                  <a:txBody>
                    <a:bodyPr/>
                    <a:lstStyle/>
                    <a:p>
                      <a:pPr marL="0" marR="0">
                        <a:lnSpc>
                          <a:spcPts val="1600"/>
                        </a:lnSpc>
                        <a:spcBef>
                          <a:spcPts val="0"/>
                        </a:spcBef>
                        <a:spcAft>
                          <a:spcPts val="0"/>
                        </a:spcAft>
                      </a:pPr>
                      <a:r>
                        <a:rPr lang="en-US" sz="800" dirty="0">
                          <a:effectLst/>
                        </a:rPr>
                        <a:t>a. Dependent Variable: Subjective Well Being</a:t>
                      </a:r>
                      <a:endParaRPr lang="en-US" sz="900" dirty="0">
                        <a:effectLst/>
                        <a:latin typeface="Calibri"/>
                        <a:ea typeface="Calibri"/>
                        <a:cs typeface="Times New Roman"/>
                      </a:endParaRPr>
                    </a:p>
                  </a:txBody>
                  <a:tcPr marL="16193" marR="16193" marT="16193" marB="16193"/>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pic>
        <p:nvPicPr>
          <p:cNvPr id="12" name="Picture 11"/>
          <p:cNvPicPr/>
          <p:nvPr/>
        </p:nvPicPr>
        <p:blipFill>
          <a:blip r:embed="rId3" cstate="print"/>
          <a:srcRect/>
          <a:stretch>
            <a:fillRect/>
          </a:stretch>
        </p:blipFill>
        <p:spPr bwMode="auto">
          <a:xfrm>
            <a:off x="2202180" y="3345181"/>
            <a:ext cx="2526030" cy="4066754"/>
          </a:xfrm>
          <a:prstGeom prst="rect">
            <a:avLst/>
          </a:prstGeom>
          <a:noFill/>
          <a:ln w="9525">
            <a:noFill/>
            <a:miter lim="800000"/>
            <a:headEnd/>
            <a:tailEnd/>
          </a:ln>
        </p:spPr>
      </p:pic>
      <p:sp>
        <p:nvSpPr>
          <p:cNvPr id="3" name="Oval 2"/>
          <p:cNvSpPr/>
          <p:nvPr/>
        </p:nvSpPr>
        <p:spPr>
          <a:xfrm>
            <a:off x="3173730" y="3539491"/>
            <a:ext cx="1360170" cy="43963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Tree>
    <p:extLst>
      <p:ext uri="{BB962C8B-B14F-4D97-AF65-F5344CB8AC3E}">
        <p14:creationId xmlns:p14="http://schemas.microsoft.com/office/powerpoint/2010/main" val="3822840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Auxiliary Regression #2</a:t>
            </a:r>
          </a:p>
        </p:txBody>
      </p:sp>
      <mc:AlternateContent xmlns:mc="http://schemas.openxmlformats.org/markup-compatibility/2006" xmlns:a14="http://schemas.microsoft.com/office/drawing/2010/main">
        <mc:Choice Requires="a14">
          <p:sp>
            <p:nvSpPr>
              <p:cNvPr id="3" name="Rectangle 2"/>
              <p:cNvSpPr/>
              <p:nvPr/>
            </p:nvSpPr>
            <p:spPr>
              <a:xfrm>
                <a:off x="2047299" y="3479118"/>
                <a:ext cx="367780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latin typeface="Cambria Math"/>
                        </a:rPr>
                        <m:t>𝑃𝑆𝑆</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𝑎</m:t>
                          </m:r>
                        </m:e>
                        <m:sub>
                          <m:r>
                            <a:rPr lang="en-US" sz="2000" i="1">
                              <a:latin typeface="Cambria Math"/>
                            </a:rPr>
                            <m:t>0</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𝑎</m:t>
                          </m:r>
                        </m:e>
                        <m:sub>
                          <m:r>
                            <a:rPr lang="en-US" sz="2000" i="1">
                              <a:latin typeface="Cambria Math"/>
                            </a:rPr>
                            <m:t>1</m:t>
                          </m:r>
                        </m:sub>
                      </m:sSub>
                      <m:r>
                        <a:rPr lang="en-US" sz="2000" i="1">
                          <a:latin typeface="Cambria Math"/>
                        </a:rPr>
                        <m:t>𝑁𝐷</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𝑎</m:t>
                          </m:r>
                        </m:e>
                        <m:sub>
                          <m:r>
                            <a:rPr lang="en-US" sz="2000" i="1">
                              <a:latin typeface="Cambria Math"/>
                            </a:rPr>
                            <m:t>2</m:t>
                          </m:r>
                        </m:sub>
                      </m:sSub>
                      <m:r>
                        <a:rPr lang="en-US" sz="2000" i="1">
                          <a:latin typeface="Cambria Math"/>
                        </a:rPr>
                        <m:t>𝑁𝑃</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𝑒</m:t>
                          </m:r>
                        </m:e>
                        <m:sub>
                          <m:r>
                            <a:rPr lang="en-US" sz="2000" i="1">
                              <a:latin typeface="Cambria Math"/>
                            </a:rPr>
                            <m:t>2</m:t>
                          </m:r>
                        </m:sub>
                      </m:sSub>
                    </m:oMath>
                  </m:oMathPara>
                </a14:m>
                <a:endParaRPr lang="en-US" sz="1530" dirty="0"/>
              </a:p>
            </p:txBody>
          </p:sp>
        </mc:Choice>
        <mc:Fallback xmlns="">
          <p:sp>
            <p:nvSpPr>
              <p:cNvPr id="3" name="Rectangle 2"/>
              <p:cNvSpPr>
                <a:spLocks noRot="1" noChangeAspect="1" noMove="1" noResize="1" noEditPoints="1" noAdjustHandles="1" noChangeArrowheads="1" noChangeShapeType="1" noTextEdit="1"/>
              </p:cNvSpPr>
              <p:nvPr/>
            </p:nvSpPr>
            <p:spPr>
              <a:xfrm>
                <a:off x="2047299" y="3479118"/>
                <a:ext cx="3677802" cy="400110"/>
              </a:xfrm>
              <a:prstGeom prst="rect">
                <a:avLst/>
              </a:prstGeom>
              <a:blipFill>
                <a:blip r:embed="rId2"/>
                <a:stretch>
                  <a:fillRect b="-1538"/>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2008958688"/>
              </p:ext>
            </p:extLst>
          </p:nvPr>
        </p:nvGraphicFramePr>
        <p:xfrm>
          <a:off x="533400" y="4504644"/>
          <a:ext cx="6705600" cy="2558422"/>
        </p:xfrm>
        <a:graphic>
          <a:graphicData uri="http://schemas.openxmlformats.org/drawingml/2006/table">
            <a:tbl>
              <a:tblPr>
                <a:tableStyleId>{5C22544A-7EE6-4342-B048-85BDC9FD1C3A}</a:tableStyleId>
              </a:tblPr>
              <a:tblGrid>
                <a:gridCol w="1464662">
                  <a:extLst>
                    <a:ext uri="{9D8B030D-6E8A-4147-A177-3AD203B41FA5}">
                      <a16:colId xmlns:a16="http://schemas.microsoft.com/office/drawing/2014/main" val="20000"/>
                    </a:ext>
                  </a:extLst>
                </a:gridCol>
                <a:gridCol w="1464662">
                  <a:extLst>
                    <a:ext uri="{9D8B030D-6E8A-4147-A177-3AD203B41FA5}">
                      <a16:colId xmlns:a16="http://schemas.microsoft.com/office/drawing/2014/main" val="20001"/>
                    </a:ext>
                  </a:extLst>
                </a:gridCol>
                <a:gridCol w="799068">
                  <a:extLst>
                    <a:ext uri="{9D8B030D-6E8A-4147-A177-3AD203B41FA5}">
                      <a16:colId xmlns:a16="http://schemas.microsoft.com/office/drawing/2014/main" val="20002"/>
                    </a:ext>
                  </a:extLst>
                </a:gridCol>
                <a:gridCol w="878678">
                  <a:extLst>
                    <a:ext uri="{9D8B030D-6E8A-4147-A177-3AD203B41FA5}">
                      <a16:colId xmlns:a16="http://schemas.microsoft.com/office/drawing/2014/main" val="20003"/>
                    </a:ext>
                  </a:extLst>
                </a:gridCol>
                <a:gridCol w="110793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tblGrid>
              <a:tr h="205105">
                <a:tc gridSpan="7">
                  <a:txBody>
                    <a:bodyPr/>
                    <a:lstStyle/>
                    <a:p>
                      <a:pPr marL="0" marR="0" algn="ctr">
                        <a:lnSpc>
                          <a:spcPts val="1600"/>
                        </a:lnSpc>
                        <a:spcBef>
                          <a:spcPts val="0"/>
                        </a:spcBef>
                        <a:spcAft>
                          <a:spcPts val="0"/>
                        </a:spcAft>
                      </a:pPr>
                      <a:r>
                        <a:rPr lang="en-US" sz="1400">
                          <a:effectLst/>
                        </a:rPr>
                        <a:t>Coefficients</a:t>
                      </a:r>
                      <a:r>
                        <a:rPr lang="en-US" sz="1400" baseline="30000">
                          <a:effectLst/>
                        </a:rPr>
                        <a:t>a</a:t>
                      </a:r>
                      <a:endParaRPr lang="en-US" sz="1600">
                        <a:effectLst/>
                        <a:latin typeface="Calibri"/>
                        <a:ea typeface="Calibri"/>
                        <a:cs typeface="Times New Roman"/>
                      </a:endParaRPr>
                    </a:p>
                  </a:txBody>
                  <a:tcPr marL="16193" marR="16193" marT="16193" marB="16193"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7825">
                <a:tc rowSpan="2" gridSpan="2">
                  <a:txBody>
                    <a:bodyPr/>
                    <a:lstStyle/>
                    <a:p>
                      <a:pPr marL="0" marR="0">
                        <a:lnSpc>
                          <a:spcPts val="1600"/>
                        </a:lnSpc>
                        <a:spcBef>
                          <a:spcPts val="0"/>
                        </a:spcBef>
                        <a:spcAft>
                          <a:spcPts val="0"/>
                        </a:spcAft>
                      </a:pPr>
                      <a:r>
                        <a:rPr lang="en-US" sz="1400">
                          <a:effectLst/>
                        </a:rPr>
                        <a:t>Model</a:t>
                      </a:r>
                      <a:endParaRPr lang="en-US" sz="1600">
                        <a:effectLst/>
                        <a:latin typeface="Calibri"/>
                        <a:ea typeface="Calibri"/>
                        <a:cs typeface="Times New Roman"/>
                      </a:endParaRPr>
                    </a:p>
                  </a:txBody>
                  <a:tcPr marL="16193" marR="16193" marT="16193" marB="16193" anchor="b"/>
                </a:tc>
                <a:tc rowSpan="2" hMerge="1">
                  <a:txBody>
                    <a:bodyPr/>
                    <a:lstStyle/>
                    <a:p>
                      <a:endParaRPr lang="en-US"/>
                    </a:p>
                  </a:txBody>
                  <a:tcPr/>
                </a:tc>
                <a:tc gridSpan="2">
                  <a:txBody>
                    <a:bodyPr/>
                    <a:lstStyle/>
                    <a:p>
                      <a:pPr marL="0" marR="0" algn="ctr">
                        <a:lnSpc>
                          <a:spcPts val="1600"/>
                        </a:lnSpc>
                        <a:spcBef>
                          <a:spcPts val="0"/>
                        </a:spcBef>
                        <a:spcAft>
                          <a:spcPts val="0"/>
                        </a:spcAft>
                      </a:pPr>
                      <a:r>
                        <a:rPr lang="en-US" sz="1400">
                          <a:effectLst/>
                        </a:rPr>
                        <a:t>Unstandardized Coefficients</a:t>
                      </a:r>
                      <a:endParaRPr lang="en-US" sz="1600">
                        <a:effectLst/>
                        <a:latin typeface="Calibri"/>
                        <a:ea typeface="Calibri"/>
                        <a:cs typeface="Times New Roman"/>
                      </a:endParaRPr>
                    </a:p>
                  </a:txBody>
                  <a:tcPr marL="16193" marR="16193" marT="16193" marB="16193" anchor="b"/>
                </a:tc>
                <a:tc hMerge="1">
                  <a:txBody>
                    <a:bodyPr/>
                    <a:lstStyle/>
                    <a:p>
                      <a:endParaRPr lang="en-US"/>
                    </a:p>
                  </a:txBody>
                  <a:tcPr/>
                </a:tc>
                <a:tc>
                  <a:txBody>
                    <a:bodyPr/>
                    <a:lstStyle/>
                    <a:p>
                      <a:pPr marL="0" marR="0" algn="ctr">
                        <a:lnSpc>
                          <a:spcPts val="1600"/>
                        </a:lnSpc>
                        <a:spcBef>
                          <a:spcPts val="0"/>
                        </a:spcBef>
                        <a:spcAft>
                          <a:spcPts val="0"/>
                        </a:spcAft>
                      </a:pPr>
                      <a:r>
                        <a:rPr lang="en-US" sz="1400">
                          <a:effectLst/>
                        </a:rPr>
                        <a:t>Standardized Coefficients</a:t>
                      </a:r>
                      <a:endParaRPr lang="en-US" sz="1600">
                        <a:effectLst/>
                        <a:latin typeface="Calibri"/>
                        <a:ea typeface="Calibri"/>
                        <a:cs typeface="Times New Roman"/>
                      </a:endParaRPr>
                    </a:p>
                  </a:txBody>
                  <a:tcPr marL="16193" marR="16193" marT="16193" marB="16193" anchor="b"/>
                </a:tc>
                <a:tc rowSpan="2">
                  <a:txBody>
                    <a:bodyPr/>
                    <a:lstStyle/>
                    <a:p>
                      <a:pPr marL="0" marR="0" algn="ctr">
                        <a:lnSpc>
                          <a:spcPts val="1600"/>
                        </a:lnSpc>
                        <a:spcBef>
                          <a:spcPts val="0"/>
                        </a:spcBef>
                        <a:spcAft>
                          <a:spcPts val="0"/>
                        </a:spcAft>
                      </a:pPr>
                      <a:r>
                        <a:rPr lang="en-US" sz="1400">
                          <a:effectLst/>
                        </a:rPr>
                        <a:t>t</a:t>
                      </a:r>
                      <a:endParaRPr lang="en-US" sz="1600">
                        <a:effectLst/>
                        <a:latin typeface="Calibri"/>
                        <a:ea typeface="Calibri"/>
                        <a:cs typeface="Times New Roman"/>
                      </a:endParaRPr>
                    </a:p>
                  </a:txBody>
                  <a:tcPr marL="16193" marR="16193" marT="16193" marB="16193" anchor="b"/>
                </a:tc>
                <a:tc rowSpan="2">
                  <a:txBody>
                    <a:bodyPr/>
                    <a:lstStyle/>
                    <a:p>
                      <a:pPr marL="0" marR="0" algn="ctr">
                        <a:lnSpc>
                          <a:spcPts val="1600"/>
                        </a:lnSpc>
                        <a:spcBef>
                          <a:spcPts val="0"/>
                        </a:spcBef>
                        <a:spcAft>
                          <a:spcPts val="0"/>
                        </a:spcAft>
                      </a:pPr>
                      <a:r>
                        <a:rPr lang="en-US" sz="1400">
                          <a:effectLst/>
                        </a:rPr>
                        <a:t>Sig.</a:t>
                      </a:r>
                      <a:endParaRPr lang="en-US" sz="1600">
                        <a:effectLst/>
                        <a:latin typeface="Calibri"/>
                        <a:ea typeface="Calibri"/>
                        <a:cs typeface="Times New Roman"/>
                      </a:endParaRPr>
                    </a:p>
                  </a:txBody>
                  <a:tcPr marL="16193" marR="16193" marT="16193" marB="16193" anchor="b"/>
                </a:tc>
                <a:extLst>
                  <a:ext uri="{0D108BD9-81ED-4DB2-BD59-A6C34878D82A}">
                    <a16:rowId xmlns:a16="http://schemas.microsoft.com/office/drawing/2014/main" val="10001"/>
                  </a:ext>
                </a:extLst>
              </a:tr>
              <a:tr h="205105">
                <a:tc gridSpan="2" vMerge="1">
                  <a:txBody>
                    <a:bodyPr/>
                    <a:lstStyle/>
                    <a:p>
                      <a:endParaRPr lang="en-US"/>
                    </a:p>
                  </a:txBody>
                  <a:tcPr/>
                </a:tc>
                <a:tc hMerge="1" vMerge="1">
                  <a:txBody>
                    <a:bodyPr/>
                    <a:lstStyle/>
                    <a:p>
                      <a:endParaRPr lang="en-US"/>
                    </a:p>
                  </a:txBody>
                  <a:tcPr/>
                </a:tc>
                <a:tc>
                  <a:txBody>
                    <a:bodyPr/>
                    <a:lstStyle/>
                    <a:p>
                      <a:pPr marL="0" marR="0" algn="ctr">
                        <a:lnSpc>
                          <a:spcPts val="1600"/>
                        </a:lnSpc>
                        <a:spcBef>
                          <a:spcPts val="0"/>
                        </a:spcBef>
                        <a:spcAft>
                          <a:spcPts val="0"/>
                        </a:spcAft>
                      </a:pPr>
                      <a:r>
                        <a:rPr lang="en-US" sz="1400">
                          <a:effectLst/>
                        </a:rPr>
                        <a:t>B</a:t>
                      </a:r>
                      <a:endParaRPr lang="en-US" sz="1600">
                        <a:effectLst/>
                        <a:latin typeface="Calibri"/>
                        <a:ea typeface="Calibri"/>
                        <a:cs typeface="Times New Roman"/>
                      </a:endParaRPr>
                    </a:p>
                  </a:txBody>
                  <a:tcPr marL="16193" marR="16193" marT="16193" marB="16193" anchor="b"/>
                </a:tc>
                <a:tc>
                  <a:txBody>
                    <a:bodyPr/>
                    <a:lstStyle/>
                    <a:p>
                      <a:pPr marL="0" marR="0" algn="ctr">
                        <a:lnSpc>
                          <a:spcPts val="1600"/>
                        </a:lnSpc>
                        <a:spcBef>
                          <a:spcPts val="0"/>
                        </a:spcBef>
                        <a:spcAft>
                          <a:spcPts val="0"/>
                        </a:spcAft>
                      </a:pPr>
                      <a:r>
                        <a:rPr lang="en-US" sz="1400">
                          <a:effectLst/>
                        </a:rPr>
                        <a:t>Std. Error</a:t>
                      </a:r>
                      <a:endParaRPr lang="en-US" sz="1600">
                        <a:effectLst/>
                        <a:latin typeface="Calibri"/>
                        <a:ea typeface="Calibri"/>
                        <a:cs typeface="Times New Roman"/>
                      </a:endParaRPr>
                    </a:p>
                  </a:txBody>
                  <a:tcPr marL="16193" marR="16193" marT="16193" marB="16193" anchor="b"/>
                </a:tc>
                <a:tc>
                  <a:txBody>
                    <a:bodyPr/>
                    <a:lstStyle/>
                    <a:p>
                      <a:pPr marL="0" marR="0" algn="ctr">
                        <a:lnSpc>
                          <a:spcPts val="1600"/>
                        </a:lnSpc>
                        <a:spcBef>
                          <a:spcPts val="0"/>
                        </a:spcBef>
                        <a:spcAft>
                          <a:spcPts val="0"/>
                        </a:spcAft>
                      </a:pPr>
                      <a:r>
                        <a:rPr lang="en-US" sz="1400">
                          <a:effectLst/>
                        </a:rPr>
                        <a:t>Beta</a:t>
                      </a:r>
                      <a:endParaRPr lang="en-US" sz="1600">
                        <a:effectLst/>
                        <a:latin typeface="Calibri"/>
                        <a:ea typeface="Calibri"/>
                        <a:cs typeface="Times New Roman"/>
                      </a:endParaRPr>
                    </a:p>
                  </a:txBody>
                  <a:tcPr marL="16193" marR="16193" marT="16193" marB="16193"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211150">
                <a:tc rowSpan="3">
                  <a:txBody>
                    <a:bodyPr/>
                    <a:lstStyle/>
                    <a:p>
                      <a:pPr marL="0" marR="0">
                        <a:lnSpc>
                          <a:spcPts val="1600"/>
                        </a:lnSpc>
                        <a:spcBef>
                          <a:spcPts val="0"/>
                        </a:spcBef>
                        <a:spcAft>
                          <a:spcPts val="0"/>
                        </a:spcAft>
                      </a:pPr>
                      <a:r>
                        <a:rPr lang="en-US" sz="1400" dirty="0">
                          <a:effectLst/>
                        </a:rPr>
                        <a:t>1</a:t>
                      </a:r>
                      <a:endParaRPr lang="en-US" sz="1600" dirty="0">
                        <a:effectLst/>
                        <a:latin typeface="Calibri"/>
                        <a:ea typeface="Calibri"/>
                        <a:cs typeface="Times New Roman"/>
                      </a:endParaRPr>
                    </a:p>
                  </a:txBody>
                  <a:tcPr marL="16193" marR="16193" marT="16193" marB="16193"/>
                </a:tc>
                <a:tc>
                  <a:txBody>
                    <a:bodyPr/>
                    <a:lstStyle/>
                    <a:p>
                      <a:pPr marL="0" marR="0">
                        <a:lnSpc>
                          <a:spcPts val="1600"/>
                        </a:lnSpc>
                        <a:spcBef>
                          <a:spcPts val="0"/>
                        </a:spcBef>
                        <a:spcAft>
                          <a:spcPts val="0"/>
                        </a:spcAft>
                      </a:pPr>
                      <a:r>
                        <a:rPr lang="en-US" sz="1400">
                          <a:effectLst/>
                        </a:rPr>
                        <a:t>(Constant)</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74.720</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1.720</a:t>
                      </a:r>
                      <a:endParaRPr lang="en-US" sz="1600">
                        <a:effectLst/>
                        <a:latin typeface="Calibri"/>
                        <a:ea typeface="Calibri"/>
                        <a:cs typeface="Times New Roman"/>
                      </a:endParaRPr>
                    </a:p>
                  </a:txBody>
                  <a:tcPr marL="16193" marR="16193" marT="16193" marB="16193"/>
                </a:tc>
                <a:tc>
                  <a:txBody>
                    <a:bodyPr/>
                    <a:lstStyle/>
                    <a:p>
                      <a:pPr marL="0" marR="0" algn="ctr">
                        <a:lnSpc>
                          <a:spcPct val="115000"/>
                        </a:lnSpc>
                        <a:spcBef>
                          <a:spcPts val="0"/>
                        </a:spcBef>
                        <a:spcAft>
                          <a:spcPts val="0"/>
                        </a:spcAft>
                      </a:pPr>
                      <a:r>
                        <a:rPr lang="en-US" sz="1800">
                          <a:effectLst/>
                        </a:rPr>
                        <a:t> </a:t>
                      </a:r>
                      <a:endParaRPr lang="en-US" sz="1600">
                        <a:effectLst/>
                        <a:latin typeface="Calibri"/>
                        <a:ea typeface="Calibri"/>
                        <a:cs typeface="Times New Roman"/>
                      </a:endParaRPr>
                    </a:p>
                  </a:txBody>
                  <a:tcPr marL="16193" marR="16193" marT="16193" marB="16193" anchor="ctr"/>
                </a:tc>
                <a:tc>
                  <a:txBody>
                    <a:bodyPr/>
                    <a:lstStyle/>
                    <a:p>
                      <a:pPr marL="0" marR="0" algn="r">
                        <a:lnSpc>
                          <a:spcPts val="1600"/>
                        </a:lnSpc>
                        <a:spcBef>
                          <a:spcPts val="0"/>
                        </a:spcBef>
                        <a:spcAft>
                          <a:spcPts val="0"/>
                        </a:spcAft>
                      </a:pPr>
                      <a:r>
                        <a:rPr lang="en-US" sz="1400">
                          <a:effectLst/>
                        </a:rPr>
                        <a:t>43.438</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.000</a:t>
                      </a:r>
                      <a:endParaRPr lang="en-US" sz="1600">
                        <a:effectLst/>
                        <a:latin typeface="Calibri"/>
                        <a:ea typeface="Calibri"/>
                        <a:cs typeface="Times New Roman"/>
                      </a:endParaRPr>
                    </a:p>
                  </a:txBody>
                  <a:tcPr marL="16193" marR="16193" marT="16193" marB="16193"/>
                </a:tc>
                <a:extLst>
                  <a:ext uri="{0D108BD9-81ED-4DB2-BD59-A6C34878D82A}">
                    <a16:rowId xmlns:a16="http://schemas.microsoft.com/office/drawing/2014/main" val="10003"/>
                  </a:ext>
                </a:extLst>
              </a:tr>
              <a:tr h="205105">
                <a:tc vMerge="1">
                  <a:txBody>
                    <a:bodyPr/>
                    <a:lstStyle/>
                    <a:p>
                      <a:endParaRPr lang="en-US"/>
                    </a:p>
                  </a:txBody>
                  <a:tcPr/>
                </a:tc>
                <a:tc>
                  <a:txBody>
                    <a:bodyPr/>
                    <a:lstStyle/>
                    <a:p>
                      <a:pPr marL="0" marR="0">
                        <a:lnSpc>
                          <a:spcPts val="1600"/>
                        </a:lnSpc>
                        <a:spcBef>
                          <a:spcPts val="0"/>
                        </a:spcBef>
                        <a:spcAft>
                          <a:spcPts val="0"/>
                        </a:spcAft>
                      </a:pPr>
                      <a:r>
                        <a:rPr lang="en-US" sz="1400">
                          <a:effectLst/>
                        </a:rPr>
                        <a:t>Network Diversity</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1.417</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.325</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.244</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4.356</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.000</a:t>
                      </a:r>
                      <a:endParaRPr lang="en-US" sz="1600">
                        <a:effectLst/>
                        <a:latin typeface="Calibri"/>
                        <a:ea typeface="Calibri"/>
                        <a:cs typeface="Times New Roman"/>
                      </a:endParaRPr>
                    </a:p>
                  </a:txBody>
                  <a:tcPr marL="16193" marR="16193" marT="16193" marB="16193"/>
                </a:tc>
                <a:extLst>
                  <a:ext uri="{0D108BD9-81ED-4DB2-BD59-A6C34878D82A}">
                    <a16:rowId xmlns:a16="http://schemas.microsoft.com/office/drawing/2014/main" val="10004"/>
                  </a:ext>
                </a:extLst>
              </a:tr>
              <a:tr h="205105">
                <a:tc vMerge="1">
                  <a:txBody>
                    <a:bodyPr/>
                    <a:lstStyle/>
                    <a:p>
                      <a:endParaRPr lang="en-US"/>
                    </a:p>
                  </a:txBody>
                  <a:tcPr/>
                </a:tc>
                <a:tc>
                  <a:txBody>
                    <a:bodyPr/>
                    <a:lstStyle/>
                    <a:p>
                      <a:pPr marL="0" marR="0">
                        <a:lnSpc>
                          <a:spcPts val="1600"/>
                        </a:lnSpc>
                        <a:spcBef>
                          <a:spcPts val="0"/>
                        </a:spcBef>
                        <a:spcAft>
                          <a:spcPts val="0"/>
                        </a:spcAft>
                      </a:pPr>
                      <a:r>
                        <a:rPr lang="en-US" sz="1400">
                          <a:effectLst/>
                        </a:rPr>
                        <a:t># People in Social Network</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.052</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.022</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.133</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2.364</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.019</a:t>
                      </a:r>
                      <a:endParaRPr lang="en-US" sz="1600">
                        <a:effectLst/>
                        <a:latin typeface="Calibri"/>
                        <a:ea typeface="Calibri"/>
                        <a:cs typeface="Times New Roman"/>
                      </a:endParaRPr>
                    </a:p>
                  </a:txBody>
                  <a:tcPr marL="16193" marR="16193" marT="16193" marB="16193"/>
                </a:tc>
                <a:extLst>
                  <a:ext uri="{0D108BD9-81ED-4DB2-BD59-A6C34878D82A}">
                    <a16:rowId xmlns:a16="http://schemas.microsoft.com/office/drawing/2014/main" val="10005"/>
                  </a:ext>
                </a:extLst>
              </a:tr>
              <a:tr h="205105">
                <a:tc gridSpan="7">
                  <a:txBody>
                    <a:bodyPr/>
                    <a:lstStyle/>
                    <a:p>
                      <a:pPr marL="0" marR="0">
                        <a:lnSpc>
                          <a:spcPts val="1600"/>
                        </a:lnSpc>
                        <a:spcBef>
                          <a:spcPts val="0"/>
                        </a:spcBef>
                        <a:spcAft>
                          <a:spcPts val="0"/>
                        </a:spcAft>
                      </a:pPr>
                      <a:endParaRPr lang="en-US" sz="1400" dirty="0">
                        <a:effectLst/>
                      </a:endParaRPr>
                    </a:p>
                    <a:p>
                      <a:pPr marL="0" marR="0">
                        <a:lnSpc>
                          <a:spcPts val="1600"/>
                        </a:lnSpc>
                        <a:spcBef>
                          <a:spcPts val="0"/>
                        </a:spcBef>
                        <a:spcAft>
                          <a:spcPts val="0"/>
                        </a:spcAft>
                      </a:pPr>
                      <a:r>
                        <a:rPr lang="en-US" sz="1400" dirty="0">
                          <a:effectLst/>
                        </a:rPr>
                        <a:t> Dependent Variable: </a:t>
                      </a:r>
                      <a:r>
                        <a:rPr lang="en-US" sz="1400" b="1" dirty="0">
                          <a:solidFill>
                            <a:schemeClr val="accent6">
                              <a:lumMod val="75000"/>
                            </a:schemeClr>
                          </a:solidFill>
                          <a:effectLst/>
                        </a:rPr>
                        <a:t>Perceived Social Support</a:t>
                      </a:r>
                    </a:p>
                    <a:p>
                      <a:pPr marL="0" marR="0">
                        <a:lnSpc>
                          <a:spcPts val="1600"/>
                        </a:lnSpc>
                        <a:spcBef>
                          <a:spcPts val="0"/>
                        </a:spcBef>
                        <a:spcAft>
                          <a:spcPts val="0"/>
                        </a:spcAft>
                      </a:pPr>
                      <a:endParaRPr lang="en-US" sz="1600" dirty="0">
                        <a:effectLst/>
                        <a:latin typeface="Calibri"/>
                        <a:ea typeface="Calibri"/>
                        <a:cs typeface="Times New Roman"/>
                      </a:endParaRPr>
                    </a:p>
                  </a:txBody>
                  <a:tcPr marL="16193" marR="16193" marT="16193" marB="16193"/>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5" name="TextBox 4"/>
          <p:cNvSpPr txBox="1"/>
          <p:nvPr/>
        </p:nvSpPr>
        <p:spPr>
          <a:xfrm>
            <a:off x="2047299" y="7543800"/>
            <a:ext cx="3672993" cy="563231"/>
          </a:xfrm>
          <a:prstGeom prst="rect">
            <a:avLst/>
          </a:prstGeom>
          <a:noFill/>
        </p:spPr>
        <p:txBody>
          <a:bodyPr wrap="none" rtlCol="0">
            <a:spAutoFit/>
          </a:bodyPr>
          <a:lstStyle/>
          <a:p>
            <a:r>
              <a:rPr lang="en-US" sz="1530" dirty="0">
                <a:solidFill>
                  <a:schemeClr val="accent6">
                    <a:lumMod val="75000"/>
                  </a:schemeClr>
                </a:solidFill>
              </a:rPr>
              <a:t>Regress the policy variable on all of the IV’s.</a:t>
            </a:r>
            <a:br>
              <a:rPr lang="en-US" sz="1530" dirty="0">
                <a:solidFill>
                  <a:schemeClr val="accent6">
                    <a:lumMod val="75000"/>
                  </a:schemeClr>
                </a:solidFill>
              </a:rPr>
            </a:br>
            <a:r>
              <a:rPr lang="en-US" sz="1530" dirty="0">
                <a:solidFill>
                  <a:schemeClr val="accent6">
                    <a:lumMod val="75000"/>
                  </a:schemeClr>
                </a:solidFill>
              </a:rPr>
              <a:t>Save the residuals.</a:t>
            </a:r>
          </a:p>
        </p:txBody>
      </p:sp>
    </p:spTree>
    <p:extLst>
      <p:ext uri="{BB962C8B-B14F-4D97-AF65-F5344CB8AC3E}">
        <p14:creationId xmlns:p14="http://schemas.microsoft.com/office/powerpoint/2010/main" val="1525891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Partitioned Regression</a:t>
            </a:r>
          </a:p>
        </p:txBody>
      </p:sp>
      <mc:AlternateContent xmlns:mc="http://schemas.openxmlformats.org/markup-compatibility/2006" xmlns:a14="http://schemas.microsoft.com/office/drawing/2010/main">
        <mc:Choice Requires="a14">
          <p:sp>
            <p:nvSpPr>
              <p:cNvPr id="3" name="Rectangle 2"/>
              <p:cNvSpPr/>
              <p:nvPr/>
            </p:nvSpPr>
            <p:spPr>
              <a:xfrm>
                <a:off x="2461260" y="3601862"/>
                <a:ext cx="3048000"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a:rPr>
                            <m:t>𝑒</m:t>
                          </m:r>
                        </m:e>
                        <m:sub>
                          <m:r>
                            <a:rPr lang="en-US" sz="2000" i="1">
                              <a:latin typeface="Cambria Math"/>
                            </a:rPr>
                            <m:t>1</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𝑐</m:t>
                          </m:r>
                        </m:e>
                        <m:sub>
                          <m:r>
                            <a:rPr lang="en-US" sz="2000" i="1">
                              <a:latin typeface="Cambria Math"/>
                            </a:rPr>
                            <m:t>0</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𝛽</m:t>
                          </m:r>
                        </m:e>
                        <m:sub>
                          <m:r>
                            <a:rPr lang="en-US" sz="2000" i="1">
                              <a:latin typeface="Cambria Math"/>
                            </a:rPr>
                            <m:t>1</m:t>
                          </m:r>
                        </m:sub>
                      </m:sSub>
                      <m:sSub>
                        <m:sSubPr>
                          <m:ctrlPr>
                            <a:rPr lang="en-US" sz="2000" i="1">
                              <a:latin typeface="Cambria Math" panose="02040503050406030204" pitchFamily="18" charset="0"/>
                            </a:rPr>
                          </m:ctrlPr>
                        </m:sSubPr>
                        <m:e>
                          <m:r>
                            <a:rPr lang="en-US" sz="2000" i="1">
                              <a:latin typeface="Cambria Math"/>
                            </a:rPr>
                            <m:t>𝑒</m:t>
                          </m:r>
                        </m:e>
                        <m:sub>
                          <m:r>
                            <a:rPr lang="en-US" sz="2000" i="1">
                              <a:latin typeface="Cambria Math"/>
                            </a:rPr>
                            <m:t>2</m:t>
                          </m:r>
                        </m:sub>
                      </m:sSub>
                      <m:r>
                        <a:rPr lang="en-US" sz="2000" i="1">
                          <a:latin typeface="Cambria Math"/>
                        </a:rPr>
                        <m:t>+</m:t>
                      </m:r>
                      <m:r>
                        <a:rPr lang="en-US" sz="2000" i="1">
                          <a:latin typeface="Cambria Math"/>
                        </a:rPr>
                        <m:t>𝜀</m:t>
                      </m:r>
                    </m:oMath>
                  </m:oMathPara>
                </a14:m>
                <a:endParaRPr lang="en-US" sz="1530" dirty="0"/>
              </a:p>
            </p:txBody>
          </p:sp>
        </mc:Choice>
        <mc:Fallback xmlns="">
          <p:sp>
            <p:nvSpPr>
              <p:cNvPr id="3" name="Rectangle 2"/>
              <p:cNvSpPr>
                <a:spLocks noRot="1" noChangeAspect="1" noMove="1" noResize="1" noEditPoints="1" noAdjustHandles="1" noChangeArrowheads="1" noChangeShapeType="1" noTextEdit="1"/>
              </p:cNvSpPr>
              <p:nvPr/>
            </p:nvSpPr>
            <p:spPr>
              <a:xfrm>
                <a:off x="2461260" y="3601862"/>
                <a:ext cx="3048000" cy="400110"/>
              </a:xfrm>
              <a:prstGeom prst="rect">
                <a:avLst/>
              </a:prstGeom>
              <a:blipFill>
                <a:blip r:embed="rId2"/>
                <a:stretch>
                  <a:fillRect b="-15385"/>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1185000193"/>
              </p:ext>
            </p:extLst>
          </p:nvPr>
        </p:nvGraphicFramePr>
        <p:xfrm>
          <a:off x="304800" y="5051061"/>
          <a:ext cx="6934198" cy="2322836"/>
        </p:xfrm>
        <a:graphic>
          <a:graphicData uri="http://schemas.openxmlformats.org/drawingml/2006/table">
            <a:tbl>
              <a:tblPr>
                <a:tableStyleId>{5C22544A-7EE6-4342-B048-85BDC9FD1C3A}</a:tableStyleId>
              </a:tblPr>
              <a:tblGrid>
                <a:gridCol w="1508650">
                  <a:extLst>
                    <a:ext uri="{9D8B030D-6E8A-4147-A177-3AD203B41FA5}">
                      <a16:colId xmlns:a16="http://schemas.microsoft.com/office/drawing/2014/main" val="20000"/>
                    </a:ext>
                  </a:extLst>
                </a:gridCol>
                <a:gridCol w="1508650">
                  <a:extLst>
                    <a:ext uri="{9D8B030D-6E8A-4147-A177-3AD203B41FA5}">
                      <a16:colId xmlns:a16="http://schemas.microsoft.com/office/drawing/2014/main" val="20001"/>
                    </a:ext>
                  </a:extLst>
                </a:gridCol>
                <a:gridCol w="828826">
                  <a:extLst>
                    <a:ext uri="{9D8B030D-6E8A-4147-A177-3AD203B41FA5}">
                      <a16:colId xmlns:a16="http://schemas.microsoft.com/office/drawing/2014/main" val="20002"/>
                    </a:ext>
                  </a:extLst>
                </a:gridCol>
                <a:gridCol w="911397">
                  <a:extLst>
                    <a:ext uri="{9D8B030D-6E8A-4147-A177-3AD203B41FA5}">
                      <a16:colId xmlns:a16="http://schemas.microsoft.com/office/drawing/2014/main" val="20003"/>
                    </a:ext>
                  </a:extLst>
                </a:gridCol>
                <a:gridCol w="1033677">
                  <a:extLst>
                    <a:ext uri="{9D8B030D-6E8A-4147-A177-3AD203B41FA5}">
                      <a16:colId xmlns:a16="http://schemas.microsoft.com/office/drawing/2014/main" val="20004"/>
                    </a:ext>
                  </a:extLst>
                </a:gridCol>
                <a:gridCol w="510359">
                  <a:extLst>
                    <a:ext uri="{9D8B030D-6E8A-4147-A177-3AD203B41FA5}">
                      <a16:colId xmlns:a16="http://schemas.microsoft.com/office/drawing/2014/main" val="20005"/>
                    </a:ext>
                  </a:extLst>
                </a:gridCol>
                <a:gridCol w="632639">
                  <a:extLst>
                    <a:ext uri="{9D8B030D-6E8A-4147-A177-3AD203B41FA5}">
                      <a16:colId xmlns:a16="http://schemas.microsoft.com/office/drawing/2014/main" val="20006"/>
                    </a:ext>
                  </a:extLst>
                </a:gridCol>
              </a:tblGrid>
              <a:tr h="205105">
                <a:tc gridSpan="7">
                  <a:txBody>
                    <a:bodyPr/>
                    <a:lstStyle/>
                    <a:p>
                      <a:pPr marL="0" marR="0" algn="ctr">
                        <a:lnSpc>
                          <a:spcPts val="1600"/>
                        </a:lnSpc>
                        <a:spcBef>
                          <a:spcPts val="0"/>
                        </a:spcBef>
                        <a:spcAft>
                          <a:spcPts val="0"/>
                        </a:spcAft>
                      </a:pPr>
                      <a:r>
                        <a:rPr lang="en-US" sz="1400" dirty="0" err="1">
                          <a:effectLst/>
                        </a:rPr>
                        <a:t>Coefficients</a:t>
                      </a:r>
                      <a:r>
                        <a:rPr lang="en-US" sz="1400" baseline="30000" dirty="0" err="1">
                          <a:effectLst/>
                        </a:rPr>
                        <a:t>a</a:t>
                      </a:r>
                      <a:endParaRPr lang="en-US" sz="1600" dirty="0">
                        <a:effectLst/>
                        <a:latin typeface="Calibri"/>
                        <a:ea typeface="Calibri"/>
                        <a:cs typeface="Times New Roman"/>
                      </a:endParaRPr>
                    </a:p>
                  </a:txBody>
                  <a:tcPr marL="16193" marR="16193" marT="16193" marB="16193"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7825">
                <a:tc rowSpan="2" gridSpan="2">
                  <a:txBody>
                    <a:bodyPr/>
                    <a:lstStyle/>
                    <a:p>
                      <a:pPr marL="0" marR="0">
                        <a:lnSpc>
                          <a:spcPts val="1600"/>
                        </a:lnSpc>
                        <a:spcBef>
                          <a:spcPts val="0"/>
                        </a:spcBef>
                        <a:spcAft>
                          <a:spcPts val="0"/>
                        </a:spcAft>
                      </a:pPr>
                      <a:r>
                        <a:rPr lang="en-US" sz="1400" dirty="0">
                          <a:effectLst/>
                        </a:rPr>
                        <a:t>Model</a:t>
                      </a:r>
                      <a:endParaRPr lang="en-US" sz="1600" dirty="0">
                        <a:effectLst/>
                        <a:latin typeface="Calibri"/>
                        <a:ea typeface="Calibri"/>
                        <a:cs typeface="Times New Roman"/>
                      </a:endParaRPr>
                    </a:p>
                  </a:txBody>
                  <a:tcPr marL="16193" marR="16193" marT="16193" marB="16193" anchor="b"/>
                </a:tc>
                <a:tc rowSpan="2" hMerge="1">
                  <a:txBody>
                    <a:bodyPr/>
                    <a:lstStyle/>
                    <a:p>
                      <a:endParaRPr lang="en-US"/>
                    </a:p>
                  </a:txBody>
                  <a:tcPr/>
                </a:tc>
                <a:tc gridSpan="2">
                  <a:txBody>
                    <a:bodyPr/>
                    <a:lstStyle/>
                    <a:p>
                      <a:pPr marL="0" marR="0" algn="ctr">
                        <a:lnSpc>
                          <a:spcPts val="1600"/>
                        </a:lnSpc>
                        <a:spcBef>
                          <a:spcPts val="0"/>
                        </a:spcBef>
                        <a:spcAft>
                          <a:spcPts val="0"/>
                        </a:spcAft>
                      </a:pPr>
                      <a:r>
                        <a:rPr lang="en-US" sz="1400">
                          <a:effectLst/>
                        </a:rPr>
                        <a:t>Unstandardized Coefficients</a:t>
                      </a:r>
                      <a:endParaRPr lang="en-US" sz="1600">
                        <a:effectLst/>
                        <a:latin typeface="Calibri"/>
                        <a:ea typeface="Calibri"/>
                        <a:cs typeface="Times New Roman"/>
                      </a:endParaRPr>
                    </a:p>
                  </a:txBody>
                  <a:tcPr marL="16193" marR="16193" marT="16193" marB="16193" anchor="b"/>
                </a:tc>
                <a:tc hMerge="1">
                  <a:txBody>
                    <a:bodyPr/>
                    <a:lstStyle/>
                    <a:p>
                      <a:endParaRPr lang="en-US"/>
                    </a:p>
                  </a:txBody>
                  <a:tcPr/>
                </a:tc>
                <a:tc>
                  <a:txBody>
                    <a:bodyPr/>
                    <a:lstStyle/>
                    <a:p>
                      <a:pPr marL="0" marR="0" algn="ctr">
                        <a:lnSpc>
                          <a:spcPts val="1600"/>
                        </a:lnSpc>
                        <a:spcBef>
                          <a:spcPts val="0"/>
                        </a:spcBef>
                        <a:spcAft>
                          <a:spcPts val="0"/>
                        </a:spcAft>
                      </a:pPr>
                      <a:r>
                        <a:rPr lang="en-US" sz="1400">
                          <a:effectLst/>
                        </a:rPr>
                        <a:t>Standardized Coefficients</a:t>
                      </a:r>
                      <a:endParaRPr lang="en-US" sz="1600">
                        <a:effectLst/>
                        <a:latin typeface="Calibri"/>
                        <a:ea typeface="Calibri"/>
                        <a:cs typeface="Times New Roman"/>
                      </a:endParaRPr>
                    </a:p>
                  </a:txBody>
                  <a:tcPr marL="16193" marR="16193" marT="16193" marB="16193" anchor="b"/>
                </a:tc>
                <a:tc rowSpan="2">
                  <a:txBody>
                    <a:bodyPr/>
                    <a:lstStyle/>
                    <a:p>
                      <a:pPr marL="0" marR="0" algn="ctr">
                        <a:lnSpc>
                          <a:spcPts val="1600"/>
                        </a:lnSpc>
                        <a:spcBef>
                          <a:spcPts val="0"/>
                        </a:spcBef>
                        <a:spcAft>
                          <a:spcPts val="0"/>
                        </a:spcAft>
                      </a:pPr>
                      <a:r>
                        <a:rPr lang="en-US" sz="1400">
                          <a:effectLst/>
                        </a:rPr>
                        <a:t>t</a:t>
                      </a:r>
                      <a:endParaRPr lang="en-US" sz="1600">
                        <a:effectLst/>
                        <a:latin typeface="Calibri"/>
                        <a:ea typeface="Calibri"/>
                        <a:cs typeface="Times New Roman"/>
                      </a:endParaRPr>
                    </a:p>
                  </a:txBody>
                  <a:tcPr marL="16193" marR="16193" marT="16193" marB="16193" anchor="b"/>
                </a:tc>
                <a:tc rowSpan="2">
                  <a:txBody>
                    <a:bodyPr/>
                    <a:lstStyle/>
                    <a:p>
                      <a:pPr marL="0" marR="0" algn="ctr">
                        <a:lnSpc>
                          <a:spcPts val="1600"/>
                        </a:lnSpc>
                        <a:spcBef>
                          <a:spcPts val="0"/>
                        </a:spcBef>
                        <a:spcAft>
                          <a:spcPts val="0"/>
                        </a:spcAft>
                      </a:pPr>
                      <a:r>
                        <a:rPr lang="en-US" sz="1400">
                          <a:effectLst/>
                        </a:rPr>
                        <a:t>Sig.</a:t>
                      </a:r>
                      <a:endParaRPr lang="en-US" sz="1600">
                        <a:effectLst/>
                        <a:latin typeface="Calibri"/>
                        <a:ea typeface="Calibri"/>
                        <a:cs typeface="Times New Roman"/>
                      </a:endParaRPr>
                    </a:p>
                  </a:txBody>
                  <a:tcPr marL="16193" marR="16193" marT="16193" marB="16193" anchor="b"/>
                </a:tc>
                <a:extLst>
                  <a:ext uri="{0D108BD9-81ED-4DB2-BD59-A6C34878D82A}">
                    <a16:rowId xmlns:a16="http://schemas.microsoft.com/office/drawing/2014/main" val="10001"/>
                  </a:ext>
                </a:extLst>
              </a:tr>
              <a:tr h="205105">
                <a:tc gridSpan="2" vMerge="1">
                  <a:txBody>
                    <a:bodyPr/>
                    <a:lstStyle/>
                    <a:p>
                      <a:endParaRPr lang="en-US"/>
                    </a:p>
                  </a:txBody>
                  <a:tcPr/>
                </a:tc>
                <a:tc hMerge="1" vMerge="1">
                  <a:txBody>
                    <a:bodyPr/>
                    <a:lstStyle/>
                    <a:p>
                      <a:endParaRPr lang="en-US"/>
                    </a:p>
                  </a:txBody>
                  <a:tcPr/>
                </a:tc>
                <a:tc>
                  <a:txBody>
                    <a:bodyPr/>
                    <a:lstStyle/>
                    <a:p>
                      <a:pPr marL="0" marR="0" algn="ctr">
                        <a:lnSpc>
                          <a:spcPts val="1600"/>
                        </a:lnSpc>
                        <a:spcBef>
                          <a:spcPts val="0"/>
                        </a:spcBef>
                        <a:spcAft>
                          <a:spcPts val="0"/>
                        </a:spcAft>
                      </a:pPr>
                      <a:r>
                        <a:rPr lang="en-US" sz="1400">
                          <a:effectLst/>
                        </a:rPr>
                        <a:t>B</a:t>
                      </a:r>
                      <a:endParaRPr lang="en-US" sz="1600">
                        <a:effectLst/>
                        <a:latin typeface="Calibri"/>
                        <a:ea typeface="Calibri"/>
                        <a:cs typeface="Times New Roman"/>
                      </a:endParaRPr>
                    </a:p>
                  </a:txBody>
                  <a:tcPr marL="16193" marR="16193" marT="16193" marB="16193" anchor="b"/>
                </a:tc>
                <a:tc>
                  <a:txBody>
                    <a:bodyPr/>
                    <a:lstStyle/>
                    <a:p>
                      <a:pPr marL="0" marR="0" algn="ctr">
                        <a:lnSpc>
                          <a:spcPts val="1600"/>
                        </a:lnSpc>
                        <a:spcBef>
                          <a:spcPts val="0"/>
                        </a:spcBef>
                        <a:spcAft>
                          <a:spcPts val="0"/>
                        </a:spcAft>
                      </a:pPr>
                      <a:r>
                        <a:rPr lang="en-US" sz="1400" dirty="0">
                          <a:effectLst/>
                        </a:rPr>
                        <a:t>Std. Error</a:t>
                      </a:r>
                      <a:endParaRPr lang="en-US" sz="1600" dirty="0">
                        <a:effectLst/>
                        <a:latin typeface="Calibri"/>
                        <a:ea typeface="Calibri"/>
                        <a:cs typeface="Times New Roman"/>
                      </a:endParaRPr>
                    </a:p>
                  </a:txBody>
                  <a:tcPr marL="16193" marR="16193" marT="16193" marB="16193" anchor="b"/>
                </a:tc>
                <a:tc>
                  <a:txBody>
                    <a:bodyPr/>
                    <a:lstStyle/>
                    <a:p>
                      <a:pPr marL="0" marR="0" algn="ctr">
                        <a:lnSpc>
                          <a:spcPts val="1600"/>
                        </a:lnSpc>
                        <a:spcBef>
                          <a:spcPts val="0"/>
                        </a:spcBef>
                        <a:spcAft>
                          <a:spcPts val="0"/>
                        </a:spcAft>
                      </a:pPr>
                      <a:r>
                        <a:rPr lang="en-US" sz="1400">
                          <a:effectLst/>
                        </a:rPr>
                        <a:t>Beta</a:t>
                      </a:r>
                      <a:endParaRPr lang="en-US" sz="1600">
                        <a:effectLst/>
                        <a:latin typeface="Calibri"/>
                        <a:ea typeface="Calibri"/>
                        <a:cs typeface="Times New Roman"/>
                      </a:endParaRPr>
                    </a:p>
                  </a:txBody>
                  <a:tcPr marL="16193" marR="16193" marT="16193" marB="16193"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2"/>
                  </a:ext>
                </a:extLst>
              </a:tr>
              <a:tr h="211150">
                <a:tc rowSpan="2">
                  <a:txBody>
                    <a:bodyPr/>
                    <a:lstStyle/>
                    <a:p>
                      <a:pPr marL="0" marR="0">
                        <a:lnSpc>
                          <a:spcPts val="1600"/>
                        </a:lnSpc>
                        <a:spcBef>
                          <a:spcPts val="0"/>
                        </a:spcBef>
                        <a:spcAft>
                          <a:spcPts val="0"/>
                        </a:spcAft>
                      </a:pPr>
                      <a:r>
                        <a:rPr lang="en-US" sz="1400">
                          <a:effectLst/>
                        </a:rPr>
                        <a:t>1</a:t>
                      </a:r>
                      <a:endParaRPr lang="en-US" sz="1600">
                        <a:effectLst/>
                        <a:latin typeface="Calibri"/>
                        <a:ea typeface="Calibri"/>
                        <a:cs typeface="Times New Roman"/>
                      </a:endParaRPr>
                    </a:p>
                  </a:txBody>
                  <a:tcPr marL="16193" marR="16193" marT="16193" marB="16193"/>
                </a:tc>
                <a:tc>
                  <a:txBody>
                    <a:bodyPr/>
                    <a:lstStyle/>
                    <a:p>
                      <a:pPr marL="0" marR="0">
                        <a:lnSpc>
                          <a:spcPts val="1600"/>
                        </a:lnSpc>
                        <a:spcBef>
                          <a:spcPts val="0"/>
                        </a:spcBef>
                        <a:spcAft>
                          <a:spcPts val="0"/>
                        </a:spcAft>
                      </a:pPr>
                      <a:r>
                        <a:rPr lang="en-US" sz="1400">
                          <a:effectLst/>
                        </a:rPr>
                        <a:t>(Constant)</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dirty="0">
                          <a:effectLst/>
                        </a:rPr>
                        <a:t>2.369E-15</a:t>
                      </a:r>
                      <a:endParaRPr lang="en-US" sz="1600" dirty="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.253</a:t>
                      </a:r>
                      <a:endParaRPr lang="en-US" sz="1600">
                        <a:effectLst/>
                        <a:latin typeface="Calibri"/>
                        <a:ea typeface="Calibri"/>
                        <a:cs typeface="Times New Roman"/>
                      </a:endParaRPr>
                    </a:p>
                  </a:txBody>
                  <a:tcPr marL="16193" marR="16193" marT="16193" marB="16193"/>
                </a:tc>
                <a:tc>
                  <a:txBody>
                    <a:bodyPr/>
                    <a:lstStyle/>
                    <a:p>
                      <a:pPr marL="0" marR="0" algn="ctr">
                        <a:lnSpc>
                          <a:spcPct val="115000"/>
                        </a:lnSpc>
                        <a:spcBef>
                          <a:spcPts val="0"/>
                        </a:spcBef>
                        <a:spcAft>
                          <a:spcPts val="0"/>
                        </a:spcAft>
                      </a:pPr>
                      <a:r>
                        <a:rPr lang="en-US" sz="1800">
                          <a:effectLst/>
                        </a:rPr>
                        <a:t> </a:t>
                      </a:r>
                      <a:endParaRPr lang="en-US" sz="1600">
                        <a:effectLst/>
                        <a:latin typeface="Calibri"/>
                        <a:ea typeface="Calibri"/>
                        <a:cs typeface="Times New Roman"/>
                      </a:endParaRPr>
                    </a:p>
                  </a:txBody>
                  <a:tcPr marL="16193" marR="16193" marT="16193" marB="16193" anchor="ctr"/>
                </a:tc>
                <a:tc>
                  <a:txBody>
                    <a:bodyPr/>
                    <a:lstStyle/>
                    <a:p>
                      <a:pPr marL="0" marR="0" algn="r">
                        <a:lnSpc>
                          <a:spcPts val="1600"/>
                        </a:lnSpc>
                        <a:spcBef>
                          <a:spcPts val="0"/>
                        </a:spcBef>
                        <a:spcAft>
                          <a:spcPts val="0"/>
                        </a:spcAft>
                      </a:pPr>
                      <a:r>
                        <a:rPr lang="en-US" sz="1400">
                          <a:effectLst/>
                        </a:rPr>
                        <a:t>.000</a:t>
                      </a:r>
                      <a:endParaRPr lang="en-US" sz="1600">
                        <a:effectLst/>
                        <a:latin typeface="Calibri"/>
                        <a:ea typeface="Calibri"/>
                        <a:cs typeface="Times New Roman"/>
                      </a:endParaRPr>
                    </a:p>
                  </a:txBody>
                  <a:tcPr marL="16193" marR="16193" marT="16193" marB="16193"/>
                </a:tc>
                <a:tc>
                  <a:txBody>
                    <a:bodyPr/>
                    <a:lstStyle/>
                    <a:p>
                      <a:pPr marL="0" marR="0" algn="r">
                        <a:lnSpc>
                          <a:spcPts val="1600"/>
                        </a:lnSpc>
                        <a:spcBef>
                          <a:spcPts val="0"/>
                        </a:spcBef>
                        <a:spcAft>
                          <a:spcPts val="0"/>
                        </a:spcAft>
                      </a:pPr>
                      <a:r>
                        <a:rPr lang="en-US" sz="1400">
                          <a:effectLst/>
                        </a:rPr>
                        <a:t>1.000</a:t>
                      </a:r>
                      <a:endParaRPr lang="en-US" sz="1600">
                        <a:effectLst/>
                        <a:latin typeface="Calibri"/>
                        <a:ea typeface="Calibri"/>
                        <a:cs typeface="Times New Roman"/>
                      </a:endParaRPr>
                    </a:p>
                  </a:txBody>
                  <a:tcPr marL="16193" marR="16193" marT="16193" marB="16193"/>
                </a:tc>
                <a:extLst>
                  <a:ext uri="{0D108BD9-81ED-4DB2-BD59-A6C34878D82A}">
                    <a16:rowId xmlns:a16="http://schemas.microsoft.com/office/drawing/2014/main" val="10003"/>
                  </a:ext>
                </a:extLst>
              </a:tr>
              <a:tr h="205105">
                <a:tc vMerge="1">
                  <a:txBody>
                    <a:bodyPr/>
                    <a:lstStyle/>
                    <a:p>
                      <a:endParaRPr lang="en-US"/>
                    </a:p>
                  </a:txBody>
                  <a:tcPr/>
                </a:tc>
                <a:tc>
                  <a:txBody>
                    <a:bodyPr/>
                    <a:lstStyle/>
                    <a:p>
                      <a:pPr marL="0" marR="0">
                        <a:lnSpc>
                          <a:spcPts val="1600"/>
                        </a:lnSpc>
                        <a:spcBef>
                          <a:spcPts val="0"/>
                        </a:spcBef>
                        <a:spcAft>
                          <a:spcPts val="0"/>
                        </a:spcAft>
                      </a:pPr>
                      <a:r>
                        <a:rPr lang="en-US" sz="1400">
                          <a:effectLst/>
                        </a:rPr>
                        <a:t>Unstandardized Residual</a:t>
                      </a:r>
                      <a:endParaRPr lang="en-US" sz="1600">
                        <a:effectLst/>
                        <a:latin typeface="Calibri"/>
                        <a:ea typeface="Calibri"/>
                        <a:cs typeface="Times New Roman"/>
                      </a:endParaRPr>
                    </a:p>
                  </a:txBody>
                  <a:tcPr marL="16193" marR="16193" marT="16193" marB="16193"/>
                </a:tc>
                <a:tc>
                  <a:txBody>
                    <a:bodyPr/>
                    <a:lstStyle/>
                    <a:p>
                      <a:pPr marL="0" marR="0" algn="ctr">
                        <a:lnSpc>
                          <a:spcPts val="1600"/>
                        </a:lnSpc>
                        <a:spcBef>
                          <a:spcPts val="0"/>
                        </a:spcBef>
                        <a:spcAft>
                          <a:spcPts val="0"/>
                        </a:spcAft>
                      </a:pPr>
                      <a:r>
                        <a:rPr lang="en-US" sz="2000" b="1" dirty="0">
                          <a:solidFill>
                            <a:schemeClr val="accent6">
                              <a:lumMod val="75000"/>
                            </a:schemeClr>
                          </a:solidFill>
                          <a:effectLst/>
                        </a:rPr>
                        <a:t>.310</a:t>
                      </a:r>
                      <a:endParaRPr lang="en-US" sz="2000" b="1" dirty="0">
                        <a:solidFill>
                          <a:schemeClr val="accent6">
                            <a:lumMod val="75000"/>
                          </a:schemeClr>
                        </a:solidFill>
                        <a:effectLst/>
                        <a:latin typeface="Calibri"/>
                        <a:ea typeface="Calibri"/>
                        <a:cs typeface="Times New Roman"/>
                      </a:endParaRPr>
                    </a:p>
                  </a:txBody>
                  <a:tcPr marL="16193" marR="16193" marT="16193" marB="16193" anchor="ctr"/>
                </a:tc>
                <a:tc>
                  <a:txBody>
                    <a:bodyPr/>
                    <a:lstStyle/>
                    <a:p>
                      <a:pPr marL="0" marR="0" algn="ctr">
                        <a:lnSpc>
                          <a:spcPts val="1600"/>
                        </a:lnSpc>
                        <a:spcBef>
                          <a:spcPts val="0"/>
                        </a:spcBef>
                        <a:spcAft>
                          <a:spcPts val="0"/>
                        </a:spcAft>
                      </a:pPr>
                      <a:r>
                        <a:rPr lang="en-US" sz="1400" dirty="0">
                          <a:effectLst/>
                        </a:rPr>
                        <a:t>.032</a:t>
                      </a:r>
                      <a:endParaRPr lang="en-US" sz="1600" dirty="0">
                        <a:effectLst/>
                        <a:latin typeface="Calibri"/>
                        <a:ea typeface="Calibri"/>
                        <a:cs typeface="Times New Roman"/>
                      </a:endParaRPr>
                    </a:p>
                  </a:txBody>
                  <a:tcPr marL="16193" marR="16193" marT="16193" marB="16193" anchor="ctr"/>
                </a:tc>
                <a:tc>
                  <a:txBody>
                    <a:bodyPr/>
                    <a:lstStyle/>
                    <a:p>
                      <a:pPr marL="0" marR="0" algn="ctr">
                        <a:lnSpc>
                          <a:spcPts val="1600"/>
                        </a:lnSpc>
                        <a:spcBef>
                          <a:spcPts val="0"/>
                        </a:spcBef>
                        <a:spcAft>
                          <a:spcPts val="0"/>
                        </a:spcAft>
                      </a:pPr>
                      <a:r>
                        <a:rPr lang="en-US" sz="1400" dirty="0">
                          <a:effectLst/>
                        </a:rPr>
                        <a:t>.441</a:t>
                      </a:r>
                      <a:endParaRPr lang="en-US" sz="1600" dirty="0">
                        <a:effectLst/>
                        <a:latin typeface="Calibri"/>
                        <a:ea typeface="Calibri"/>
                        <a:cs typeface="Times New Roman"/>
                      </a:endParaRPr>
                    </a:p>
                  </a:txBody>
                  <a:tcPr marL="16193" marR="16193" marT="16193" marB="16193" anchor="ctr"/>
                </a:tc>
                <a:tc>
                  <a:txBody>
                    <a:bodyPr/>
                    <a:lstStyle/>
                    <a:p>
                      <a:pPr marL="0" marR="0" algn="ctr">
                        <a:lnSpc>
                          <a:spcPts val="1600"/>
                        </a:lnSpc>
                        <a:spcBef>
                          <a:spcPts val="0"/>
                        </a:spcBef>
                        <a:spcAft>
                          <a:spcPts val="0"/>
                        </a:spcAft>
                      </a:pPr>
                      <a:r>
                        <a:rPr lang="en-US" sz="1400" dirty="0">
                          <a:effectLst/>
                        </a:rPr>
                        <a:t>9.670</a:t>
                      </a:r>
                      <a:endParaRPr lang="en-US" sz="1600" dirty="0">
                        <a:effectLst/>
                        <a:latin typeface="Calibri"/>
                        <a:ea typeface="Calibri"/>
                        <a:cs typeface="Times New Roman"/>
                      </a:endParaRPr>
                    </a:p>
                  </a:txBody>
                  <a:tcPr marL="16193" marR="16193" marT="16193" marB="16193" anchor="ctr"/>
                </a:tc>
                <a:tc>
                  <a:txBody>
                    <a:bodyPr/>
                    <a:lstStyle/>
                    <a:p>
                      <a:pPr marL="0" marR="0" algn="ctr">
                        <a:lnSpc>
                          <a:spcPts val="1600"/>
                        </a:lnSpc>
                        <a:spcBef>
                          <a:spcPts val="0"/>
                        </a:spcBef>
                        <a:spcAft>
                          <a:spcPts val="0"/>
                        </a:spcAft>
                      </a:pPr>
                      <a:r>
                        <a:rPr lang="en-US" sz="1400" dirty="0">
                          <a:effectLst/>
                        </a:rPr>
                        <a:t>.000</a:t>
                      </a:r>
                      <a:endParaRPr lang="en-US" sz="1600" dirty="0">
                        <a:effectLst/>
                        <a:latin typeface="Calibri"/>
                        <a:ea typeface="Calibri"/>
                        <a:cs typeface="Times New Roman"/>
                      </a:endParaRPr>
                    </a:p>
                  </a:txBody>
                  <a:tcPr marL="16193" marR="16193" marT="16193" marB="16193" anchor="ctr"/>
                </a:tc>
                <a:extLst>
                  <a:ext uri="{0D108BD9-81ED-4DB2-BD59-A6C34878D82A}">
                    <a16:rowId xmlns:a16="http://schemas.microsoft.com/office/drawing/2014/main" val="10004"/>
                  </a:ext>
                </a:extLst>
              </a:tr>
              <a:tr h="205105">
                <a:tc gridSpan="7">
                  <a:txBody>
                    <a:bodyPr/>
                    <a:lstStyle/>
                    <a:p>
                      <a:pPr marL="0" marR="0">
                        <a:lnSpc>
                          <a:spcPts val="1600"/>
                        </a:lnSpc>
                        <a:spcBef>
                          <a:spcPts val="0"/>
                        </a:spcBef>
                        <a:spcAft>
                          <a:spcPts val="0"/>
                        </a:spcAft>
                      </a:pPr>
                      <a:endParaRPr lang="en-US" sz="1400" dirty="0">
                        <a:effectLst/>
                      </a:endParaRPr>
                    </a:p>
                    <a:p>
                      <a:pPr marL="0" marR="0">
                        <a:lnSpc>
                          <a:spcPts val="1600"/>
                        </a:lnSpc>
                        <a:spcBef>
                          <a:spcPts val="0"/>
                        </a:spcBef>
                        <a:spcAft>
                          <a:spcPts val="0"/>
                        </a:spcAft>
                      </a:pPr>
                      <a:r>
                        <a:rPr lang="en-US" sz="1400" dirty="0">
                          <a:effectLst/>
                        </a:rPr>
                        <a:t>Dependent Variable: </a:t>
                      </a:r>
                      <a:r>
                        <a:rPr lang="en-US" sz="1400" b="1" dirty="0">
                          <a:effectLst/>
                        </a:rPr>
                        <a:t>Unstandardized Residual</a:t>
                      </a:r>
                    </a:p>
                    <a:p>
                      <a:pPr marL="0" marR="0">
                        <a:lnSpc>
                          <a:spcPts val="1600"/>
                        </a:lnSpc>
                        <a:spcBef>
                          <a:spcPts val="0"/>
                        </a:spcBef>
                        <a:spcAft>
                          <a:spcPts val="0"/>
                        </a:spcAft>
                      </a:pPr>
                      <a:endParaRPr lang="en-US" sz="1600" dirty="0">
                        <a:effectLst/>
                        <a:latin typeface="Calibri"/>
                        <a:ea typeface="Calibri"/>
                        <a:cs typeface="Times New Roman"/>
                      </a:endParaRPr>
                    </a:p>
                  </a:txBody>
                  <a:tcPr marL="16193" marR="16193" marT="16193" marB="16193"/>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cxnSp>
        <p:nvCxnSpPr>
          <p:cNvPr id="6" name="Straight Arrow Connector 5"/>
          <p:cNvCxnSpPr/>
          <p:nvPr/>
        </p:nvCxnSpPr>
        <p:spPr>
          <a:xfrm flipH="1" flipV="1">
            <a:off x="4076700" y="6743192"/>
            <a:ext cx="876300" cy="876808"/>
          </a:xfrm>
          <a:prstGeom prst="straightConnector1">
            <a:avLst/>
          </a:prstGeom>
          <a:ln>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697571" y="7848600"/>
            <a:ext cx="2356607" cy="646331"/>
          </a:xfrm>
          <a:prstGeom prst="rect">
            <a:avLst/>
          </a:prstGeom>
          <a:noFill/>
        </p:spPr>
        <p:txBody>
          <a:bodyPr wrap="none" rtlCol="0">
            <a:spAutoFit/>
          </a:bodyPr>
          <a:lstStyle/>
          <a:p>
            <a:r>
              <a:rPr lang="en-US" dirty="0">
                <a:solidFill>
                  <a:schemeClr val="accent6">
                    <a:lumMod val="75000"/>
                  </a:schemeClr>
                </a:solidFill>
              </a:rPr>
              <a:t>We have recovered the</a:t>
            </a:r>
            <a:br>
              <a:rPr lang="en-US" dirty="0">
                <a:solidFill>
                  <a:schemeClr val="accent6">
                    <a:lumMod val="75000"/>
                  </a:schemeClr>
                </a:solidFill>
              </a:rPr>
            </a:br>
            <a:r>
              <a:rPr lang="en-US" dirty="0">
                <a:solidFill>
                  <a:schemeClr val="accent6">
                    <a:lumMod val="75000"/>
                  </a:schemeClr>
                </a:solidFill>
              </a:rPr>
              <a:t>original slope!</a:t>
            </a:r>
          </a:p>
        </p:txBody>
      </p:sp>
      <p:sp>
        <p:nvSpPr>
          <p:cNvPr id="5" name="Rectangle 4"/>
          <p:cNvSpPr/>
          <p:nvPr/>
        </p:nvSpPr>
        <p:spPr>
          <a:xfrm>
            <a:off x="2133600" y="4157184"/>
            <a:ext cx="3886200" cy="369332"/>
          </a:xfrm>
          <a:prstGeom prst="rect">
            <a:avLst/>
          </a:prstGeom>
        </p:spPr>
        <p:txBody>
          <a:bodyPr>
            <a:spAutoFit/>
          </a:bodyPr>
          <a:lstStyle/>
          <a:p>
            <a:r>
              <a:rPr lang="en-US" dirty="0">
                <a:solidFill>
                  <a:schemeClr val="accent6">
                    <a:lumMod val="75000"/>
                  </a:schemeClr>
                </a:solidFill>
              </a:rPr>
              <a:t>Regress the residuals on each other.</a:t>
            </a:r>
          </a:p>
        </p:txBody>
      </p:sp>
    </p:spTree>
    <p:extLst>
      <p:ext uri="{BB962C8B-B14F-4D97-AF65-F5344CB8AC3E}">
        <p14:creationId xmlns:p14="http://schemas.microsoft.com/office/powerpoint/2010/main" val="114660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this important?</a:t>
            </a:r>
          </a:p>
        </p:txBody>
      </p:sp>
      <p:sp>
        <p:nvSpPr>
          <p:cNvPr id="3" name="Content Placeholder 2"/>
          <p:cNvSpPr>
            <a:spLocks noGrp="1"/>
          </p:cNvSpPr>
          <p:nvPr>
            <p:ph idx="1"/>
          </p:nvPr>
        </p:nvSpPr>
        <p:spPr>
          <a:xfrm>
            <a:off x="622554" y="3810000"/>
            <a:ext cx="6545580" cy="3847069"/>
          </a:xfrm>
        </p:spPr>
        <p:txBody>
          <a:bodyPr>
            <a:normAutofit/>
          </a:bodyPr>
          <a:lstStyle/>
          <a:p>
            <a:pPr marL="0" indent="0">
              <a:buNone/>
            </a:pPr>
            <a:endParaRPr lang="en-US" sz="1700" dirty="0"/>
          </a:p>
          <a:p>
            <a:r>
              <a:rPr lang="en-US" sz="1700" dirty="0"/>
              <a:t>It illustrates the idea of statistical controls in policy work – get rid of the nuisance variance!</a:t>
            </a:r>
          </a:p>
          <a:p>
            <a:endParaRPr lang="en-US" sz="1700" dirty="0"/>
          </a:p>
          <a:p>
            <a:r>
              <a:rPr lang="en-US" sz="1700" dirty="0"/>
              <a:t>Provides insight into the regression error term.</a:t>
            </a:r>
            <a:br>
              <a:rPr lang="en-US" sz="1700" dirty="0"/>
            </a:br>
            <a:endParaRPr lang="en-US" sz="1700" dirty="0"/>
          </a:p>
          <a:p>
            <a:r>
              <a:rPr lang="en-US" sz="1700" dirty="0"/>
              <a:t>Serves as a tool for future methods (instrumental variables).</a:t>
            </a:r>
          </a:p>
          <a:p>
            <a:endParaRPr lang="en-US" sz="1700" dirty="0"/>
          </a:p>
          <a:p>
            <a:r>
              <a:rPr lang="en-US" sz="1700" dirty="0"/>
              <a:t>It paved the way for modern computational econometrics.</a:t>
            </a:r>
          </a:p>
        </p:txBody>
      </p:sp>
    </p:spTree>
    <p:extLst>
      <p:ext uri="{BB962C8B-B14F-4D97-AF65-F5344CB8AC3E}">
        <p14:creationId xmlns:p14="http://schemas.microsoft.com/office/powerpoint/2010/main" val="347661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we care:</a:t>
            </a:r>
          </a:p>
        </p:txBody>
      </p:sp>
      <p:pic>
        <p:nvPicPr>
          <p:cNvPr id="15" name="Picture 2" descr="http://westinstenv.org/wp-content/postimage/accuracy_precisio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0600" y="3200400"/>
            <a:ext cx="3497580" cy="297942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135880" y="4082081"/>
            <a:ext cx="2025298" cy="1269578"/>
          </a:xfrm>
          <a:prstGeom prst="rect">
            <a:avLst/>
          </a:prstGeom>
          <a:noFill/>
        </p:spPr>
        <p:txBody>
          <a:bodyPr wrap="none" rtlCol="0">
            <a:spAutoFit/>
          </a:bodyPr>
          <a:lstStyle/>
          <a:p>
            <a:r>
              <a:rPr lang="en-US" sz="1530" dirty="0"/>
              <a:t>Results need to be:</a:t>
            </a:r>
          </a:p>
          <a:p>
            <a:endParaRPr lang="en-US" sz="1530" dirty="0"/>
          </a:p>
          <a:p>
            <a:pPr marL="242888" indent="-242888">
              <a:buFont typeface="Arial" pitchFamily="34" charset="0"/>
              <a:buChar char="•"/>
            </a:pPr>
            <a:r>
              <a:rPr lang="en-US" sz="1530" dirty="0"/>
              <a:t>Unbiased (accurate)</a:t>
            </a:r>
          </a:p>
          <a:p>
            <a:pPr marL="242888" indent="-242888">
              <a:buFont typeface="Arial" pitchFamily="34" charset="0"/>
              <a:buChar char="•"/>
            </a:pPr>
            <a:endParaRPr lang="en-US" sz="1530" dirty="0"/>
          </a:p>
          <a:p>
            <a:pPr marL="242888" indent="-242888">
              <a:buFont typeface="Arial" pitchFamily="34" charset="0"/>
              <a:buChar char="•"/>
            </a:pPr>
            <a:r>
              <a:rPr lang="en-US" sz="1530" dirty="0"/>
              <a:t>Efficient (precise)</a:t>
            </a:r>
          </a:p>
        </p:txBody>
      </p:sp>
      <p:pic>
        <p:nvPicPr>
          <p:cNvPr id="5" name="Picture 4"/>
          <p:cNvPicPr>
            <a:picLocks noChangeAspect="1"/>
          </p:cNvPicPr>
          <p:nvPr/>
        </p:nvPicPr>
        <p:blipFill>
          <a:blip r:embed="rId3">
            <a:grayscl/>
          </a:blip>
          <a:stretch>
            <a:fillRect/>
          </a:stretch>
        </p:blipFill>
        <p:spPr>
          <a:xfrm>
            <a:off x="1013138" y="6324600"/>
            <a:ext cx="3714750" cy="3181350"/>
          </a:xfrm>
          <a:prstGeom prst="rect">
            <a:avLst/>
          </a:prstGeom>
        </p:spPr>
      </p:pic>
      <p:sp>
        <p:nvSpPr>
          <p:cNvPr id="4" name="TextBox 3"/>
          <p:cNvSpPr txBox="1"/>
          <p:nvPr/>
        </p:nvSpPr>
        <p:spPr>
          <a:xfrm>
            <a:off x="373079" y="6934200"/>
            <a:ext cx="1755417" cy="307777"/>
          </a:xfrm>
          <a:prstGeom prst="rect">
            <a:avLst/>
          </a:prstGeom>
          <a:noFill/>
        </p:spPr>
        <p:txBody>
          <a:bodyPr wrap="none" rtlCol="0">
            <a:spAutoFit/>
          </a:bodyPr>
          <a:lstStyle/>
          <a:p>
            <a:r>
              <a:rPr lang="en-US" sz="1400" dirty="0">
                <a:solidFill>
                  <a:schemeClr val="accent6">
                    <a:lumMod val="75000"/>
                  </a:schemeClr>
                </a:solidFill>
              </a:rPr>
              <a:t>Biased and inefficient</a:t>
            </a:r>
          </a:p>
        </p:txBody>
      </p:sp>
      <p:sp>
        <p:nvSpPr>
          <p:cNvPr id="7" name="TextBox 6"/>
          <p:cNvSpPr txBox="1"/>
          <p:nvPr/>
        </p:nvSpPr>
        <p:spPr>
          <a:xfrm>
            <a:off x="2739390" y="7761386"/>
            <a:ext cx="1660839" cy="307777"/>
          </a:xfrm>
          <a:prstGeom prst="rect">
            <a:avLst/>
          </a:prstGeom>
          <a:noFill/>
        </p:spPr>
        <p:txBody>
          <a:bodyPr wrap="none" rtlCol="0">
            <a:spAutoFit/>
          </a:bodyPr>
          <a:lstStyle/>
          <a:p>
            <a:r>
              <a:rPr lang="en-US" sz="1400" dirty="0">
                <a:solidFill>
                  <a:schemeClr val="accent6">
                    <a:lumMod val="75000"/>
                  </a:schemeClr>
                </a:solidFill>
              </a:rPr>
              <a:t>Biased and efficient</a:t>
            </a:r>
          </a:p>
        </p:txBody>
      </p:sp>
      <p:sp>
        <p:nvSpPr>
          <p:cNvPr id="8" name="TextBox 7"/>
          <p:cNvSpPr txBox="1"/>
          <p:nvPr/>
        </p:nvSpPr>
        <p:spPr>
          <a:xfrm>
            <a:off x="4709643" y="8687985"/>
            <a:ext cx="1962204" cy="307777"/>
          </a:xfrm>
          <a:prstGeom prst="rect">
            <a:avLst/>
          </a:prstGeom>
          <a:noFill/>
        </p:spPr>
        <p:txBody>
          <a:bodyPr wrap="none" rtlCol="0">
            <a:spAutoFit/>
          </a:bodyPr>
          <a:lstStyle/>
          <a:p>
            <a:r>
              <a:rPr lang="en-US" sz="1400" dirty="0">
                <a:solidFill>
                  <a:schemeClr val="accent6">
                    <a:lumMod val="75000"/>
                  </a:schemeClr>
                </a:solidFill>
              </a:rPr>
              <a:t>Unbiased and inefficient</a:t>
            </a:r>
          </a:p>
        </p:txBody>
      </p:sp>
    </p:spTree>
    <p:extLst>
      <p:ext uri="{BB962C8B-B14F-4D97-AF65-F5344CB8AC3E}">
        <p14:creationId xmlns:p14="http://schemas.microsoft.com/office/powerpoint/2010/main" val="16660534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780479"/>
            <a:ext cx="6995160" cy="1676400"/>
          </a:xfrm>
        </p:spPr>
        <p:txBody>
          <a:bodyPr>
            <a:noAutofit/>
          </a:bodyPr>
          <a:lstStyle/>
          <a:p>
            <a:r>
              <a:rPr lang="en-US" sz="2800" dirty="0"/>
              <a:t>Effects of controls determined by their correlations with the outcome and policy variables</a:t>
            </a:r>
          </a:p>
        </p:txBody>
      </p:sp>
      <p:sp>
        <p:nvSpPr>
          <p:cNvPr id="3" name="Slide Number Placeholder 2"/>
          <p:cNvSpPr>
            <a:spLocks noGrp="1"/>
          </p:cNvSpPr>
          <p:nvPr>
            <p:ph type="sldNum" sz="quarter" idx="12"/>
          </p:nvPr>
        </p:nvSpPr>
        <p:spPr/>
        <p:txBody>
          <a:bodyPr/>
          <a:lstStyle/>
          <a:p>
            <a:fld id="{A953BAF0-9579-42B3-B979-30EFD986705E}" type="slidenum">
              <a:rPr lang="en-US" smtClean="0"/>
              <a:t>28</a:t>
            </a:fld>
            <a:endParaRPr lang="en-US"/>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777426"/>
            <a:ext cx="3238500" cy="3233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Oval 4"/>
          <p:cNvSpPr/>
          <p:nvPr/>
        </p:nvSpPr>
        <p:spPr>
          <a:xfrm>
            <a:off x="5170170" y="4994297"/>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Oval 6"/>
          <p:cNvSpPr/>
          <p:nvPr/>
        </p:nvSpPr>
        <p:spPr>
          <a:xfrm>
            <a:off x="5105400" y="3828437"/>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TextBox 7"/>
          <p:cNvSpPr txBox="1"/>
          <p:nvPr/>
        </p:nvSpPr>
        <p:spPr>
          <a:xfrm>
            <a:off x="5505261" y="4548453"/>
            <a:ext cx="1079334" cy="327782"/>
          </a:xfrm>
          <a:prstGeom prst="rect">
            <a:avLst/>
          </a:prstGeom>
          <a:noFill/>
        </p:spPr>
        <p:txBody>
          <a:bodyPr wrap="none" rtlCol="0">
            <a:spAutoFit/>
          </a:bodyPr>
          <a:lstStyle/>
          <a:p>
            <a:r>
              <a:rPr lang="en-US" sz="1530" b="1" dirty="0"/>
              <a:t>Test Scores</a:t>
            </a:r>
          </a:p>
        </p:txBody>
      </p:sp>
      <p:sp>
        <p:nvSpPr>
          <p:cNvPr id="14" name="Oval 13"/>
          <p:cNvSpPr/>
          <p:nvPr/>
        </p:nvSpPr>
        <p:spPr>
          <a:xfrm>
            <a:off x="5506596" y="3317823"/>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5" name="TextBox 14"/>
          <p:cNvSpPr txBox="1"/>
          <p:nvPr/>
        </p:nvSpPr>
        <p:spPr>
          <a:xfrm>
            <a:off x="5035043" y="6224927"/>
            <a:ext cx="1030282" cy="563231"/>
          </a:xfrm>
          <a:prstGeom prst="rect">
            <a:avLst/>
          </a:prstGeom>
          <a:noFill/>
        </p:spPr>
        <p:txBody>
          <a:bodyPr wrap="none" rtlCol="0">
            <a:spAutoFit/>
          </a:bodyPr>
          <a:lstStyle/>
          <a:p>
            <a:pPr algn="ctr"/>
            <a:r>
              <a:rPr lang="en-US" sz="1530" b="1" dirty="0"/>
              <a:t>Classroom</a:t>
            </a:r>
            <a:br>
              <a:rPr lang="en-US" sz="1530" b="1" dirty="0"/>
            </a:br>
            <a:r>
              <a:rPr lang="en-US" sz="1530" b="1" dirty="0"/>
              <a:t>Size</a:t>
            </a:r>
          </a:p>
        </p:txBody>
      </p:sp>
      <p:sp>
        <p:nvSpPr>
          <p:cNvPr id="17" name="TextBox 16"/>
          <p:cNvSpPr txBox="1"/>
          <p:nvPr/>
        </p:nvSpPr>
        <p:spPr>
          <a:xfrm>
            <a:off x="6720338" y="3280722"/>
            <a:ext cx="818557" cy="563231"/>
          </a:xfrm>
          <a:prstGeom prst="rect">
            <a:avLst/>
          </a:prstGeom>
          <a:noFill/>
        </p:spPr>
        <p:txBody>
          <a:bodyPr wrap="none" rtlCol="0">
            <a:spAutoFit/>
          </a:bodyPr>
          <a:lstStyle/>
          <a:p>
            <a:r>
              <a:rPr lang="en-US" sz="1530" b="1" dirty="0"/>
              <a:t>Teacher</a:t>
            </a:r>
            <a:br>
              <a:rPr lang="en-US" sz="1530" b="1" dirty="0"/>
            </a:br>
            <a:r>
              <a:rPr lang="en-US" sz="1530" b="1" dirty="0"/>
              <a:t>Quality</a:t>
            </a:r>
          </a:p>
        </p:txBody>
      </p:sp>
      <p:pic>
        <p:nvPicPr>
          <p:cNvPr id="11" name="Picture 10"/>
          <p:cNvPicPr>
            <a:picLocks noChangeAspect="1"/>
          </p:cNvPicPr>
          <p:nvPr/>
        </p:nvPicPr>
        <p:blipFill>
          <a:blip r:embed="rId3">
            <a:grayscl/>
          </a:blip>
          <a:stretch>
            <a:fillRect/>
          </a:stretch>
        </p:blipFill>
        <p:spPr>
          <a:xfrm>
            <a:off x="1143000" y="3505200"/>
            <a:ext cx="3028950" cy="2594024"/>
          </a:xfrm>
          <a:prstGeom prst="rect">
            <a:avLst/>
          </a:prstGeom>
        </p:spPr>
      </p:pic>
    </p:spTree>
    <p:extLst>
      <p:ext uri="{BB962C8B-B14F-4D97-AF65-F5344CB8AC3E}">
        <p14:creationId xmlns:p14="http://schemas.microsoft.com/office/powerpoint/2010/main" val="1187491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Partitioning the Variance of Y</a:t>
            </a:r>
          </a:p>
        </p:txBody>
      </p:sp>
      <p:sp>
        <p:nvSpPr>
          <p:cNvPr id="4" name="Rectangle 3"/>
          <p:cNvSpPr/>
          <p:nvPr/>
        </p:nvSpPr>
        <p:spPr>
          <a:xfrm>
            <a:off x="3551830" y="4251960"/>
            <a:ext cx="388620" cy="30441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5" name="TextBox 4"/>
          <p:cNvSpPr txBox="1"/>
          <p:nvPr/>
        </p:nvSpPr>
        <p:spPr>
          <a:xfrm>
            <a:off x="3039902" y="3798570"/>
            <a:ext cx="1627561" cy="327782"/>
          </a:xfrm>
          <a:prstGeom prst="rect">
            <a:avLst/>
          </a:prstGeom>
          <a:noFill/>
        </p:spPr>
        <p:txBody>
          <a:bodyPr wrap="none" rtlCol="0">
            <a:spAutoFit/>
          </a:bodyPr>
          <a:lstStyle/>
          <a:p>
            <a:r>
              <a:rPr lang="en-US" sz="1530" b="1" dirty="0"/>
              <a:t>Final Exam Scores</a:t>
            </a:r>
          </a:p>
        </p:txBody>
      </p:sp>
      <p:sp>
        <p:nvSpPr>
          <p:cNvPr id="33" name="Rectangle 32"/>
          <p:cNvSpPr/>
          <p:nvPr/>
        </p:nvSpPr>
        <p:spPr>
          <a:xfrm>
            <a:off x="3551830" y="6389370"/>
            <a:ext cx="388620" cy="90678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TextBox 7"/>
          <p:cNvSpPr txBox="1"/>
          <p:nvPr/>
        </p:nvSpPr>
        <p:spPr>
          <a:xfrm>
            <a:off x="4134761" y="6701416"/>
            <a:ext cx="1886029" cy="327782"/>
          </a:xfrm>
          <a:prstGeom prst="rect">
            <a:avLst/>
          </a:prstGeom>
          <a:noFill/>
        </p:spPr>
        <p:txBody>
          <a:bodyPr wrap="none" rtlCol="0">
            <a:spAutoFit/>
          </a:bodyPr>
          <a:lstStyle/>
          <a:p>
            <a:r>
              <a:rPr lang="en-US" sz="1530" b="1" dirty="0">
                <a:solidFill>
                  <a:srgbClr val="FF0000"/>
                </a:solidFill>
              </a:rPr>
              <a:t>Hours of Preparation</a:t>
            </a:r>
          </a:p>
        </p:txBody>
      </p:sp>
      <p:sp>
        <p:nvSpPr>
          <p:cNvPr id="34" name="Rectangle 33"/>
          <p:cNvSpPr/>
          <p:nvPr/>
        </p:nvSpPr>
        <p:spPr>
          <a:xfrm>
            <a:off x="3551830" y="5547360"/>
            <a:ext cx="388620" cy="51816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5" name="Rectangle 34"/>
          <p:cNvSpPr/>
          <p:nvPr/>
        </p:nvSpPr>
        <p:spPr>
          <a:xfrm>
            <a:off x="3551830" y="6065520"/>
            <a:ext cx="388620" cy="32385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6" name="Rectangle 35"/>
          <p:cNvSpPr/>
          <p:nvPr/>
        </p:nvSpPr>
        <p:spPr>
          <a:xfrm>
            <a:off x="3551830" y="5093970"/>
            <a:ext cx="388620" cy="45339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7" name="TextBox 36"/>
          <p:cNvSpPr txBox="1"/>
          <p:nvPr/>
        </p:nvSpPr>
        <p:spPr>
          <a:xfrm>
            <a:off x="4134761" y="6065520"/>
            <a:ext cx="1370119" cy="327782"/>
          </a:xfrm>
          <a:prstGeom prst="rect">
            <a:avLst/>
          </a:prstGeom>
          <a:noFill/>
        </p:spPr>
        <p:txBody>
          <a:bodyPr wrap="none" rtlCol="0">
            <a:spAutoFit/>
          </a:bodyPr>
          <a:lstStyle/>
          <a:p>
            <a:r>
              <a:rPr lang="en-US" sz="1530" b="1" dirty="0">
                <a:solidFill>
                  <a:srgbClr val="00B050"/>
                </a:solidFill>
              </a:rPr>
              <a:t>Hours of Sleep</a:t>
            </a:r>
          </a:p>
        </p:txBody>
      </p:sp>
      <p:sp>
        <p:nvSpPr>
          <p:cNvPr id="38" name="TextBox 37"/>
          <p:cNvSpPr txBox="1"/>
          <p:nvPr/>
        </p:nvSpPr>
        <p:spPr>
          <a:xfrm>
            <a:off x="4134760" y="5649474"/>
            <a:ext cx="1907830" cy="327782"/>
          </a:xfrm>
          <a:prstGeom prst="rect">
            <a:avLst/>
          </a:prstGeom>
          <a:noFill/>
        </p:spPr>
        <p:txBody>
          <a:bodyPr wrap="none" rtlCol="0">
            <a:spAutoFit/>
          </a:bodyPr>
          <a:lstStyle/>
          <a:p>
            <a:r>
              <a:rPr lang="en-US" sz="1530" b="1" dirty="0">
                <a:solidFill>
                  <a:schemeClr val="accent6">
                    <a:lumMod val="75000"/>
                  </a:schemeClr>
                </a:solidFill>
              </a:rPr>
              <a:t>Previous Coursework</a:t>
            </a:r>
          </a:p>
        </p:txBody>
      </p:sp>
      <p:sp>
        <p:nvSpPr>
          <p:cNvPr id="39" name="TextBox 38"/>
          <p:cNvSpPr txBox="1"/>
          <p:nvPr/>
        </p:nvSpPr>
        <p:spPr>
          <a:xfrm>
            <a:off x="4134761" y="5163699"/>
            <a:ext cx="2512547" cy="327782"/>
          </a:xfrm>
          <a:prstGeom prst="rect">
            <a:avLst/>
          </a:prstGeom>
          <a:noFill/>
        </p:spPr>
        <p:txBody>
          <a:bodyPr wrap="none" rtlCol="0">
            <a:spAutoFit/>
          </a:bodyPr>
          <a:lstStyle/>
          <a:p>
            <a:r>
              <a:rPr lang="en-US" sz="1530" b="1" dirty="0">
                <a:solidFill>
                  <a:schemeClr val="accent4">
                    <a:lumMod val="75000"/>
                  </a:schemeClr>
                </a:solidFill>
              </a:rPr>
              <a:t>SES: Race / Gender / Income</a:t>
            </a:r>
          </a:p>
        </p:txBody>
      </p:sp>
      <p:sp>
        <p:nvSpPr>
          <p:cNvPr id="40" name="TextBox 39"/>
          <p:cNvSpPr txBox="1"/>
          <p:nvPr/>
        </p:nvSpPr>
        <p:spPr>
          <a:xfrm>
            <a:off x="4134760" y="4511040"/>
            <a:ext cx="1863202" cy="327782"/>
          </a:xfrm>
          <a:prstGeom prst="rect">
            <a:avLst/>
          </a:prstGeom>
          <a:noFill/>
        </p:spPr>
        <p:txBody>
          <a:bodyPr wrap="none" rtlCol="0">
            <a:spAutoFit/>
          </a:bodyPr>
          <a:lstStyle/>
          <a:p>
            <a:r>
              <a:rPr lang="en-US" sz="1530" b="1" dirty="0">
                <a:solidFill>
                  <a:schemeClr val="accent1"/>
                </a:solidFill>
              </a:rPr>
              <a:t>Unexplained Portion</a:t>
            </a:r>
          </a:p>
        </p:txBody>
      </p:sp>
      <p:graphicFrame>
        <p:nvGraphicFramePr>
          <p:cNvPr id="6" name="Object 5"/>
          <p:cNvGraphicFramePr>
            <a:graphicFrameLocks noChangeAspect="1"/>
          </p:cNvGraphicFramePr>
          <p:nvPr/>
        </p:nvGraphicFramePr>
        <p:xfrm>
          <a:off x="333296" y="5238353"/>
          <a:ext cx="2063194" cy="309007"/>
        </p:xfrm>
        <a:graphic>
          <a:graphicData uri="http://schemas.openxmlformats.org/presentationml/2006/ole">
            <mc:AlternateContent xmlns:mc="http://schemas.openxmlformats.org/markup-compatibility/2006">
              <mc:Choice xmlns:v="urn:schemas-microsoft-com:vml" Requires="v">
                <p:oleObj spid="_x0000_s60423" name="Equation" r:id="rId3" imgW="1523880" imgH="228600" progId="Equation.3">
                  <p:embed/>
                </p:oleObj>
              </mc:Choice>
              <mc:Fallback>
                <p:oleObj name="Equation" r:id="rId3" imgW="1523880" imgH="228600" progId="Equation.3">
                  <p:embed/>
                  <p:pic>
                    <p:nvPicPr>
                      <p:cNvPr id="6" name="Object 5"/>
                      <p:cNvPicPr>
                        <a:picLocks noChangeAspect="1" noChangeArrowheads="1"/>
                      </p:cNvPicPr>
                      <p:nvPr/>
                    </p:nvPicPr>
                    <p:blipFill>
                      <a:blip r:embed="rId4"/>
                      <a:srcRect/>
                      <a:stretch>
                        <a:fillRect/>
                      </a:stretch>
                    </p:blipFill>
                    <p:spPr bwMode="auto">
                      <a:xfrm>
                        <a:off x="333296" y="5238353"/>
                        <a:ext cx="2063194" cy="309007"/>
                      </a:xfrm>
                      <a:prstGeom prst="rect">
                        <a:avLst/>
                      </a:prstGeom>
                      <a:noFill/>
                      <a:ln>
                        <a:noFill/>
                      </a:ln>
                      <a:effectLst/>
                    </p:spPr>
                  </p:pic>
                </p:oleObj>
              </mc:Fallback>
            </mc:AlternateContent>
          </a:graphicData>
        </a:graphic>
      </p:graphicFrame>
      <p:sp>
        <p:nvSpPr>
          <p:cNvPr id="7" name="TextBox 6"/>
          <p:cNvSpPr txBox="1"/>
          <p:nvPr/>
        </p:nvSpPr>
        <p:spPr>
          <a:xfrm>
            <a:off x="388620" y="6568070"/>
            <a:ext cx="2323072" cy="563231"/>
          </a:xfrm>
          <a:prstGeom prst="rect">
            <a:avLst/>
          </a:prstGeom>
          <a:noFill/>
        </p:spPr>
        <p:txBody>
          <a:bodyPr wrap="none" rtlCol="0">
            <a:spAutoFit/>
          </a:bodyPr>
          <a:lstStyle/>
          <a:p>
            <a:r>
              <a:rPr lang="en-US" sz="1530" b="1" i="1" dirty="0">
                <a:solidFill>
                  <a:schemeClr val="bg1">
                    <a:lumMod val="50000"/>
                  </a:schemeClr>
                </a:solidFill>
              </a:rPr>
              <a:t>What happens if we omit</a:t>
            </a:r>
            <a:br>
              <a:rPr lang="en-US" sz="1530" b="1" i="1" dirty="0">
                <a:solidFill>
                  <a:schemeClr val="bg1">
                    <a:lumMod val="50000"/>
                  </a:schemeClr>
                </a:solidFill>
              </a:rPr>
            </a:br>
            <a:r>
              <a:rPr lang="en-US" sz="1530" b="1" i="1" dirty="0">
                <a:solidFill>
                  <a:schemeClr val="bg1">
                    <a:lumMod val="50000"/>
                  </a:schemeClr>
                </a:solidFill>
              </a:rPr>
              <a:t>variables from the model?</a:t>
            </a:r>
          </a:p>
        </p:txBody>
      </p:sp>
      <p:cxnSp>
        <p:nvCxnSpPr>
          <p:cNvPr id="10" name="Straight Arrow Connector 9"/>
          <p:cNvCxnSpPr/>
          <p:nvPr/>
        </p:nvCxnSpPr>
        <p:spPr>
          <a:xfrm flipH="1" flipV="1">
            <a:off x="1619250" y="5547360"/>
            <a:ext cx="1813560" cy="115405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Left Brace 10"/>
          <p:cNvSpPr/>
          <p:nvPr/>
        </p:nvSpPr>
        <p:spPr>
          <a:xfrm>
            <a:off x="3039902" y="4251960"/>
            <a:ext cx="392908" cy="197548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cxnSp>
        <p:nvCxnSpPr>
          <p:cNvPr id="13" name="Straight Arrow Connector 12"/>
          <p:cNvCxnSpPr>
            <a:endCxn id="6" idx="3"/>
          </p:cNvCxnSpPr>
          <p:nvPr/>
        </p:nvCxnSpPr>
        <p:spPr>
          <a:xfrm flipH="1">
            <a:off x="2396490" y="5239703"/>
            <a:ext cx="518160" cy="1531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07629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Partitioning the Variance of Y</a:t>
            </a:r>
          </a:p>
        </p:txBody>
      </p:sp>
      <p:pic>
        <p:nvPicPr>
          <p:cNvPr id="7" name="Picture 2"/>
          <p:cNvPicPr>
            <a:picLocks noChangeAspect="1" noChangeArrowheads="1"/>
          </p:cNvPicPr>
          <p:nvPr/>
        </p:nvPicPr>
        <p:blipFill>
          <a:blip r:embed="rId3" cstate="print"/>
          <a:srcRect/>
          <a:stretch>
            <a:fillRect/>
          </a:stretch>
        </p:blipFill>
        <p:spPr bwMode="auto">
          <a:xfrm>
            <a:off x="2526030" y="3345180"/>
            <a:ext cx="3756660" cy="3751070"/>
          </a:xfrm>
          <a:prstGeom prst="rect">
            <a:avLst/>
          </a:prstGeom>
          <a:noFill/>
          <a:ln w="9525">
            <a:noFill/>
            <a:miter lim="800000"/>
            <a:headEnd/>
            <a:tailEnd/>
          </a:ln>
          <a:effectLst/>
        </p:spPr>
      </p:pic>
      <p:cxnSp>
        <p:nvCxnSpPr>
          <p:cNvPr id="9" name="Straight Connector 8"/>
          <p:cNvCxnSpPr/>
          <p:nvPr/>
        </p:nvCxnSpPr>
        <p:spPr>
          <a:xfrm>
            <a:off x="2979420" y="5162552"/>
            <a:ext cx="330327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 name="Right Brace 11"/>
          <p:cNvSpPr/>
          <p:nvPr/>
        </p:nvSpPr>
        <p:spPr>
          <a:xfrm>
            <a:off x="5505450" y="4720591"/>
            <a:ext cx="129540" cy="388620"/>
          </a:xfrm>
          <a:prstGeom prst="righ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solidFill>
                <a:schemeClr val="accent6">
                  <a:lumMod val="75000"/>
                </a:schemeClr>
              </a:solidFill>
            </a:endParaRPr>
          </a:p>
        </p:txBody>
      </p:sp>
      <p:cxnSp>
        <p:nvCxnSpPr>
          <p:cNvPr id="14" name="Straight Connector 13"/>
          <p:cNvCxnSpPr/>
          <p:nvPr/>
        </p:nvCxnSpPr>
        <p:spPr>
          <a:xfrm rot="5400000">
            <a:off x="4922520" y="4705350"/>
            <a:ext cx="90678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5311140" y="412242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6" name="Right Brace 15"/>
          <p:cNvSpPr/>
          <p:nvPr/>
        </p:nvSpPr>
        <p:spPr>
          <a:xfrm>
            <a:off x="5505450" y="4251960"/>
            <a:ext cx="129540" cy="388620"/>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graphicFrame>
        <p:nvGraphicFramePr>
          <p:cNvPr id="17" name="Object 16"/>
          <p:cNvGraphicFramePr>
            <a:graphicFrameLocks noChangeAspect="1"/>
          </p:cNvGraphicFramePr>
          <p:nvPr/>
        </p:nvGraphicFramePr>
        <p:xfrm>
          <a:off x="6212523" y="4813300"/>
          <a:ext cx="334645" cy="215900"/>
        </p:xfrm>
        <a:graphic>
          <a:graphicData uri="http://schemas.openxmlformats.org/presentationml/2006/ole">
            <mc:AlternateContent xmlns:mc="http://schemas.openxmlformats.org/markup-compatibility/2006">
              <mc:Choice xmlns:v="urn:schemas-microsoft-com:vml" Requires="v">
                <p:oleObj spid="_x0000_s61457" name="Equation" r:id="rId4" imgW="393480" imgH="253800" progId="Equation.3">
                  <p:embed/>
                </p:oleObj>
              </mc:Choice>
              <mc:Fallback>
                <p:oleObj name="Equation" r:id="rId4" imgW="393480" imgH="253800" progId="Equation.3">
                  <p:embed/>
                  <p:pic>
                    <p:nvPicPr>
                      <p:cNvPr id="17"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2523" y="4813300"/>
                        <a:ext cx="334645"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4" name="Object 8"/>
          <p:cNvGraphicFramePr>
            <a:graphicFrameLocks noChangeAspect="1"/>
          </p:cNvGraphicFramePr>
          <p:nvPr/>
        </p:nvGraphicFramePr>
        <p:xfrm>
          <a:off x="6207204" y="4295140"/>
          <a:ext cx="570785" cy="222647"/>
        </p:xfrm>
        <a:graphic>
          <a:graphicData uri="http://schemas.openxmlformats.org/presentationml/2006/ole">
            <mc:AlternateContent xmlns:mc="http://schemas.openxmlformats.org/markup-compatibility/2006">
              <mc:Choice xmlns:v="urn:schemas-microsoft-com:vml" Requires="v">
                <p:oleObj spid="_x0000_s61458" name="Equation" r:id="rId6" imgW="647640" imgH="253800" progId="Equation.3">
                  <p:embed/>
                </p:oleObj>
              </mc:Choice>
              <mc:Fallback>
                <p:oleObj name="Equation" r:id="rId6" imgW="647640" imgH="253800" progId="Equation.3">
                  <p:embed/>
                  <p:pic>
                    <p:nvPicPr>
                      <p:cNvPr id="4506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07204" y="4295140"/>
                        <a:ext cx="570785" cy="2226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065" name="Object 9"/>
          <p:cNvGraphicFramePr>
            <a:graphicFrameLocks noChangeAspect="1"/>
          </p:cNvGraphicFramePr>
          <p:nvPr/>
        </p:nvGraphicFramePr>
        <p:xfrm flipH="1">
          <a:off x="3238500" y="4834890"/>
          <a:ext cx="161925" cy="283369"/>
        </p:xfrm>
        <a:graphic>
          <a:graphicData uri="http://schemas.openxmlformats.org/presentationml/2006/ole">
            <mc:AlternateContent xmlns:mc="http://schemas.openxmlformats.org/markup-compatibility/2006">
              <mc:Choice xmlns:v="urn:schemas-microsoft-com:vml" Requires="v">
                <p:oleObj spid="_x0000_s61459" name="Equation" r:id="rId8" imgW="152280" imgH="190440" progId="Equation.3">
                  <p:embed/>
                </p:oleObj>
              </mc:Choice>
              <mc:Fallback>
                <p:oleObj name="Equation" r:id="rId8" imgW="152280" imgH="190440" progId="Equation.3">
                  <p:embed/>
                  <p:pic>
                    <p:nvPicPr>
                      <p:cNvPr id="45065"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3238500" y="4834890"/>
                        <a:ext cx="161925" cy="2833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TextBox 22"/>
          <p:cNvSpPr txBox="1"/>
          <p:nvPr/>
        </p:nvSpPr>
        <p:spPr>
          <a:xfrm>
            <a:off x="6930390" y="4251960"/>
            <a:ext cx="298480" cy="327782"/>
          </a:xfrm>
          <a:prstGeom prst="rect">
            <a:avLst/>
          </a:prstGeom>
          <a:noFill/>
        </p:spPr>
        <p:txBody>
          <a:bodyPr wrap="none" rtlCol="0">
            <a:spAutoFit/>
          </a:bodyPr>
          <a:lstStyle/>
          <a:p>
            <a:r>
              <a:rPr lang="en-US" sz="1530" dirty="0"/>
              <a:t>A</a:t>
            </a:r>
          </a:p>
        </p:txBody>
      </p:sp>
      <p:sp>
        <p:nvSpPr>
          <p:cNvPr id="24" name="TextBox 23"/>
          <p:cNvSpPr txBox="1"/>
          <p:nvPr/>
        </p:nvSpPr>
        <p:spPr>
          <a:xfrm>
            <a:off x="6930390" y="4770120"/>
            <a:ext cx="292068" cy="327782"/>
          </a:xfrm>
          <a:prstGeom prst="rect">
            <a:avLst/>
          </a:prstGeom>
          <a:noFill/>
        </p:spPr>
        <p:txBody>
          <a:bodyPr wrap="none" rtlCol="0">
            <a:spAutoFit/>
          </a:bodyPr>
          <a:lstStyle/>
          <a:p>
            <a:r>
              <a:rPr lang="en-US" sz="1530" dirty="0"/>
              <a:t>B</a:t>
            </a:r>
          </a:p>
        </p:txBody>
      </p:sp>
      <p:sp>
        <p:nvSpPr>
          <p:cNvPr id="31" name="TextBox 30"/>
          <p:cNvSpPr txBox="1"/>
          <p:nvPr/>
        </p:nvSpPr>
        <p:spPr>
          <a:xfrm>
            <a:off x="943776" y="4326648"/>
            <a:ext cx="298480" cy="327782"/>
          </a:xfrm>
          <a:prstGeom prst="rect">
            <a:avLst/>
          </a:prstGeom>
          <a:noFill/>
        </p:spPr>
        <p:txBody>
          <a:bodyPr wrap="none" rtlCol="0">
            <a:spAutoFit/>
          </a:bodyPr>
          <a:lstStyle/>
          <a:p>
            <a:r>
              <a:rPr lang="en-US" sz="1530" dirty="0">
                <a:solidFill>
                  <a:schemeClr val="bg1">
                    <a:lumMod val="50000"/>
                  </a:schemeClr>
                </a:solidFill>
              </a:rPr>
              <a:t>A</a:t>
            </a:r>
          </a:p>
        </p:txBody>
      </p:sp>
      <p:sp>
        <p:nvSpPr>
          <p:cNvPr id="32" name="TextBox 31"/>
          <p:cNvSpPr txBox="1"/>
          <p:nvPr/>
        </p:nvSpPr>
        <p:spPr>
          <a:xfrm>
            <a:off x="1266358" y="4115260"/>
            <a:ext cx="292068" cy="327782"/>
          </a:xfrm>
          <a:prstGeom prst="rect">
            <a:avLst/>
          </a:prstGeom>
          <a:noFill/>
        </p:spPr>
        <p:txBody>
          <a:bodyPr wrap="none" rtlCol="0">
            <a:spAutoFit/>
          </a:bodyPr>
          <a:lstStyle/>
          <a:p>
            <a:r>
              <a:rPr lang="en-US" sz="1530" dirty="0">
                <a:solidFill>
                  <a:schemeClr val="bg1">
                    <a:lumMod val="50000"/>
                  </a:schemeClr>
                </a:solidFill>
              </a:rPr>
              <a:t>B</a:t>
            </a:r>
          </a:p>
        </p:txBody>
      </p:sp>
      <p:sp>
        <p:nvSpPr>
          <p:cNvPr id="33" name="TextBox 32"/>
          <p:cNvSpPr txBox="1"/>
          <p:nvPr/>
        </p:nvSpPr>
        <p:spPr>
          <a:xfrm>
            <a:off x="3756660" y="6782317"/>
            <a:ext cx="2229219" cy="327782"/>
          </a:xfrm>
          <a:prstGeom prst="rect">
            <a:avLst/>
          </a:prstGeom>
          <a:solidFill>
            <a:schemeClr val="bg1"/>
          </a:solidFill>
        </p:spPr>
        <p:txBody>
          <a:bodyPr wrap="square" rtlCol="0">
            <a:spAutoFit/>
          </a:bodyPr>
          <a:lstStyle/>
          <a:p>
            <a:r>
              <a:rPr lang="en-US" sz="1530" b="1" dirty="0"/>
              <a:t>Teacher Quality</a:t>
            </a:r>
          </a:p>
        </p:txBody>
      </p:sp>
      <p:sp>
        <p:nvSpPr>
          <p:cNvPr id="34" name="TextBox 33"/>
          <p:cNvSpPr txBox="1"/>
          <p:nvPr/>
        </p:nvSpPr>
        <p:spPr>
          <a:xfrm>
            <a:off x="2340519" y="5000236"/>
            <a:ext cx="388620" cy="327782"/>
          </a:xfrm>
          <a:prstGeom prst="rect">
            <a:avLst/>
          </a:prstGeom>
          <a:solidFill>
            <a:schemeClr val="bg1"/>
          </a:solidFill>
        </p:spPr>
        <p:txBody>
          <a:bodyPr wrap="square" rtlCol="0">
            <a:spAutoFit/>
          </a:bodyPr>
          <a:lstStyle/>
          <a:p>
            <a:r>
              <a:rPr lang="en-US" sz="1530" b="1" dirty="0"/>
              <a:t>TS</a:t>
            </a:r>
          </a:p>
        </p:txBody>
      </p:sp>
      <p:sp>
        <p:nvSpPr>
          <p:cNvPr id="36" name="Oval 35"/>
          <p:cNvSpPr/>
          <p:nvPr/>
        </p:nvSpPr>
        <p:spPr>
          <a:xfrm>
            <a:off x="712470" y="4002798"/>
            <a:ext cx="906780" cy="8420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8" name="TextBox 37"/>
          <p:cNvSpPr txBox="1"/>
          <p:nvPr/>
        </p:nvSpPr>
        <p:spPr>
          <a:xfrm>
            <a:off x="259080" y="4472159"/>
            <a:ext cx="982623" cy="563231"/>
          </a:xfrm>
          <a:prstGeom prst="rect">
            <a:avLst/>
          </a:prstGeom>
          <a:noFill/>
        </p:spPr>
        <p:txBody>
          <a:bodyPr wrap="square" rtlCol="0">
            <a:spAutoFit/>
          </a:bodyPr>
          <a:lstStyle/>
          <a:p>
            <a:r>
              <a:rPr lang="en-US" sz="1530" b="1" dirty="0"/>
              <a:t>Test</a:t>
            </a:r>
            <a:br>
              <a:rPr lang="en-US" sz="1530" b="1" dirty="0"/>
            </a:br>
            <a:r>
              <a:rPr lang="en-US" sz="1530" b="1" dirty="0"/>
              <a:t>Score</a:t>
            </a:r>
          </a:p>
        </p:txBody>
      </p:sp>
      <p:sp>
        <p:nvSpPr>
          <p:cNvPr id="39" name="Oval 38"/>
          <p:cNvSpPr/>
          <p:nvPr/>
        </p:nvSpPr>
        <p:spPr>
          <a:xfrm>
            <a:off x="1142318" y="3799810"/>
            <a:ext cx="788407" cy="672349"/>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solidFill>
                <a:schemeClr val="accent6">
                  <a:lumMod val="75000"/>
                </a:schemeClr>
              </a:solidFill>
            </a:endParaRPr>
          </a:p>
        </p:txBody>
      </p:sp>
      <p:sp>
        <p:nvSpPr>
          <p:cNvPr id="40" name="TextBox 39"/>
          <p:cNvSpPr txBox="1"/>
          <p:nvPr/>
        </p:nvSpPr>
        <p:spPr>
          <a:xfrm>
            <a:off x="388620" y="3474720"/>
            <a:ext cx="1554480" cy="327782"/>
          </a:xfrm>
          <a:prstGeom prst="rect">
            <a:avLst/>
          </a:prstGeom>
          <a:noFill/>
        </p:spPr>
        <p:txBody>
          <a:bodyPr wrap="square" rtlCol="0">
            <a:spAutoFit/>
          </a:bodyPr>
          <a:lstStyle/>
          <a:p>
            <a:r>
              <a:rPr lang="en-US" sz="1530" b="1" dirty="0"/>
              <a:t>Teacher Quality</a:t>
            </a:r>
          </a:p>
        </p:txBody>
      </p:sp>
      <p:sp>
        <p:nvSpPr>
          <p:cNvPr id="45" name="Oval 44"/>
          <p:cNvSpPr/>
          <p:nvPr/>
        </p:nvSpPr>
        <p:spPr>
          <a:xfrm>
            <a:off x="723456" y="5955768"/>
            <a:ext cx="788407" cy="672349"/>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8" name="TextBox 27"/>
          <p:cNvSpPr txBox="1"/>
          <p:nvPr/>
        </p:nvSpPr>
        <p:spPr>
          <a:xfrm>
            <a:off x="288006" y="5642681"/>
            <a:ext cx="790799" cy="563231"/>
          </a:xfrm>
          <a:prstGeom prst="rect">
            <a:avLst/>
          </a:prstGeom>
          <a:noFill/>
        </p:spPr>
        <p:txBody>
          <a:bodyPr wrap="square" rtlCol="0">
            <a:spAutoFit/>
          </a:bodyPr>
          <a:lstStyle/>
          <a:p>
            <a:r>
              <a:rPr lang="en-US" sz="1530" b="1" dirty="0"/>
              <a:t>*Test</a:t>
            </a:r>
            <a:br>
              <a:rPr lang="en-US" sz="1530" b="1" dirty="0"/>
            </a:br>
            <a:r>
              <a:rPr lang="en-US" sz="1530" b="1" dirty="0"/>
              <a:t>Score</a:t>
            </a:r>
          </a:p>
        </p:txBody>
      </p:sp>
      <p:sp>
        <p:nvSpPr>
          <p:cNvPr id="29" name="Oval 28"/>
          <p:cNvSpPr/>
          <p:nvPr/>
        </p:nvSpPr>
        <p:spPr>
          <a:xfrm>
            <a:off x="826289" y="5917372"/>
            <a:ext cx="906780" cy="84201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0" name="Oval 29"/>
          <p:cNvSpPr/>
          <p:nvPr/>
        </p:nvSpPr>
        <p:spPr>
          <a:xfrm>
            <a:off x="1286597" y="5741670"/>
            <a:ext cx="786043" cy="74478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5" name="TextBox 34"/>
          <p:cNvSpPr txBox="1"/>
          <p:nvPr/>
        </p:nvSpPr>
        <p:spPr>
          <a:xfrm>
            <a:off x="1489710" y="5957098"/>
            <a:ext cx="582930" cy="327782"/>
          </a:xfrm>
          <a:prstGeom prst="rect">
            <a:avLst/>
          </a:prstGeom>
          <a:noFill/>
        </p:spPr>
        <p:txBody>
          <a:bodyPr wrap="square" rtlCol="0">
            <a:spAutoFit/>
          </a:bodyPr>
          <a:lstStyle/>
          <a:p>
            <a:r>
              <a:rPr lang="en-US" sz="1530" b="1" dirty="0">
                <a:solidFill>
                  <a:schemeClr val="bg1">
                    <a:lumMod val="50000"/>
                  </a:schemeClr>
                </a:solidFill>
              </a:rPr>
              <a:t>TQ</a:t>
            </a:r>
          </a:p>
        </p:txBody>
      </p:sp>
      <p:sp>
        <p:nvSpPr>
          <p:cNvPr id="37" name="TextBox 36"/>
          <p:cNvSpPr txBox="1"/>
          <p:nvPr/>
        </p:nvSpPr>
        <p:spPr>
          <a:xfrm>
            <a:off x="974131" y="6271030"/>
            <a:ext cx="298480" cy="327782"/>
          </a:xfrm>
          <a:prstGeom prst="rect">
            <a:avLst/>
          </a:prstGeom>
          <a:noFill/>
        </p:spPr>
        <p:txBody>
          <a:bodyPr wrap="none" rtlCol="0">
            <a:spAutoFit/>
          </a:bodyPr>
          <a:lstStyle/>
          <a:p>
            <a:r>
              <a:rPr lang="en-US" sz="1530" dirty="0">
                <a:solidFill>
                  <a:schemeClr val="bg1"/>
                </a:solidFill>
              </a:rPr>
              <a:t>A</a:t>
            </a:r>
          </a:p>
        </p:txBody>
      </p:sp>
    </p:spTree>
    <p:extLst>
      <p:ext uri="{BB962C8B-B14F-4D97-AF65-F5344CB8AC3E}">
        <p14:creationId xmlns:p14="http://schemas.microsoft.com/office/powerpoint/2010/main" val="333719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Effects of the Control Variable</a:t>
            </a:r>
          </a:p>
        </p:txBody>
      </p:sp>
      <p:sp>
        <p:nvSpPr>
          <p:cNvPr id="3" name="Slide Number Placeholder 2"/>
          <p:cNvSpPr>
            <a:spLocks noGrp="1"/>
          </p:cNvSpPr>
          <p:nvPr>
            <p:ph type="sldNum" sz="quarter" idx="12"/>
          </p:nvPr>
        </p:nvSpPr>
        <p:spPr/>
        <p:txBody>
          <a:bodyPr/>
          <a:lstStyle/>
          <a:p>
            <a:fld id="{A953BAF0-9579-42B3-B979-30EFD986705E}" type="slidenum">
              <a:rPr lang="en-US" smtClean="0"/>
              <a:t>31</a:t>
            </a:fld>
            <a:endParaRPr lang="en-US"/>
          </a:p>
        </p:txBody>
      </p:sp>
      <p:pic>
        <p:nvPicPr>
          <p:cNvPr id="2765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240" y="4705351"/>
            <a:ext cx="2720340" cy="271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0050" y="4705350"/>
            <a:ext cx="2724401" cy="2720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p:cNvSpPr/>
          <p:nvPr/>
        </p:nvSpPr>
        <p:spPr>
          <a:xfrm>
            <a:off x="1793589" y="4116652"/>
            <a:ext cx="594097" cy="57136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solidFill>
                <a:schemeClr val="accent6">
                  <a:lumMod val="75000"/>
                </a:schemeClr>
              </a:solidFill>
            </a:endParaRPr>
          </a:p>
        </p:txBody>
      </p:sp>
      <p:sp>
        <p:nvSpPr>
          <p:cNvPr id="7" name="Oval 6"/>
          <p:cNvSpPr/>
          <p:nvPr/>
        </p:nvSpPr>
        <p:spPr>
          <a:xfrm>
            <a:off x="1878330" y="3566159"/>
            <a:ext cx="906780" cy="8420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TextBox 7"/>
          <p:cNvSpPr txBox="1"/>
          <p:nvPr/>
        </p:nvSpPr>
        <p:spPr>
          <a:xfrm>
            <a:off x="1478782" y="4435352"/>
            <a:ext cx="582930" cy="327782"/>
          </a:xfrm>
          <a:prstGeom prst="rect">
            <a:avLst/>
          </a:prstGeom>
          <a:noFill/>
        </p:spPr>
        <p:txBody>
          <a:bodyPr wrap="square" rtlCol="0">
            <a:spAutoFit/>
          </a:bodyPr>
          <a:lstStyle/>
          <a:p>
            <a:r>
              <a:rPr lang="en-US" sz="1530" b="1" dirty="0"/>
              <a:t>CS</a:t>
            </a:r>
          </a:p>
        </p:txBody>
      </p:sp>
      <p:sp>
        <p:nvSpPr>
          <p:cNvPr id="9" name="TextBox 8"/>
          <p:cNvSpPr txBox="1"/>
          <p:nvPr/>
        </p:nvSpPr>
        <p:spPr>
          <a:xfrm>
            <a:off x="1253028" y="3461493"/>
            <a:ext cx="756439" cy="563231"/>
          </a:xfrm>
          <a:prstGeom prst="rect">
            <a:avLst/>
          </a:prstGeom>
          <a:noFill/>
        </p:spPr>
        <p:txBody>
          <a:bodyPr wrap="square" rtlCol="0">
            <a:spAutoFit/>
          </a:bodyPr>
          <a:lstStyle/>
          <a:p>
            <a:r>
              <a:rPr lang="en-US" sz="1530" b="1" dirty="0"/>
              <a:t>Test</a:t>
            </a:r>
            <a:br>
              <a:rPr lang="en-US" sz="1530" b="1" dirty="0"/>
            </a:br>
            <a:r>
              <a:rPr lang="en-US" sz="1530" b="1" dirty="0"/>
              <a:t>Score</a:t>
            </a:r>
          </a:p>
        </p:txBody>
      </p:sp>
      <p:sp>
        <p:nvSpPr>
          <p:cNvPr id="4" name="TextBox 3"/>
          <p:cNvSpPr txBox="1"/>
          <p:nvPr/>
        </p:nvSpPr>
        <p:spPr>
          <a:xfrm>
            <a:off x="2195129" y="3706374"/>
            <a:ext cx="348172" cy="327782"/>
          </a:xfrm>
          <a:prstGeom prst="rect">
            <a:avLst/>
          </a:prstGeom>
          <a:noFill/>
        </p:spPr>
        <p:txBody>
          <a:bodyPr wrap="none" rtlCol="0">
            <a:spAutoFit/>
          </a:bodyPr>
          <a:lstStyle/>
          <a:p>
            <a:r>
              <a:rPr lang="en-US" sz="1530" dirty="0">
                <a:solidFill>
                  <a:schemeClr val="bg1">
                    <a:lumMod val="50000"/>
                  </a:schemeClr>
                </a:solidFill>
              </a:rPr>
              <a:t>e</a:t>
            </a:r>
            <a:r>
              <a:rPr lang="en-US" sz="1530" baseline="-25000" dirty="0">
                <a:solidFill>
                  <a:schemeClr val="bg1">
                    <a:lumMod val="50000"/>
                  </a:schemeClr>
                </a:solidFill>
              </a:rPr>
              <a:t>1</a:t>
            </a:r>
          </a:p>
        </p:txBody>
      </p:sp>
      <p:sp>
        <p:nvSpPr>
          <p:cNvPr id="21" name="Oval 20"/>
          <p:cNvSpPr/>
          <p:nvPr/>
        </p:nvSpPr>
        <p:spPr>
          <a:xfrm>
            <a:off x="5311140" y="3539490"/>
            <a:ext cx="906780" cy="84201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2" name="Oval 21"/>
          <p:cNvSpPr/>
          <p:nvPr/>
        </p:nvSpPr>
        <p:spPr>
          <a:xfrm>
            <a:off x="5275202" y="4022129"/>
            <a:ext cx="594097" cy="57136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solidFill>
                <a:schemeClr val="accent6">
                  <a:lumMod val="75000"/>
                </a:schemeClr>
              </a:solidFill>
            </a:endParaRPr>
          </a:p>
        </p:txBody>
      </p:sp>
      <p:sp>
        <p:nvSpPr>
          <p:cNvPr id="23" name="TextBox 22"/>
          <p:cNvSpPr txBox="1"/>
          <p:nvPr/>
        </p:nvSpPr>
        <p:spPr>
          <a:xfrm>
            <a:off x="4859765" y="4374083"/>
            <a:ext cx="582930" cy="327782"/>
          </a:xfrm>
          <a:prstGeom prst="rect">
            <a:avLst/>
          </a:prstGeom>
          <a:noFill/>
        </p:spPr>
        <p:txBody>
          <a:bodyPr wrap="square" rtlCol="0">
            <a:spAutoFit/>
          </a:bodyPr>
          <a:lstStyle/>
          <a:p>
            <a:r>
              <a:rPr lang="en-US" sz="1530" b="1" dirty="0"/>
              <a:t>CS</a:t>
            </a:r>
          </a:p>
        </p:txBody>
      </p:sp>
      <p:sp>
        <p:nvSpPr>
          <p:cNvPr id="24" name="TextBox 23"/>
          <p:cNvSpPr txBox="1"/>
          <p:nvPr/>
        </p:nvSpPr>
        <p:spPr>
          <a:xfrm>
            <a:off x="4688908" y="3431683"/>
            <a:ext cx="622232" cy="798680"/>
          </a:xfrm>
          <a:prstGeom prst="rect">
            <a:avLst/>
          </a:prstGeom>
          <a:noFill/>
        </p:spPr>
        <p:txBody>
          <a:bodyPr wrap="square" rtlCol="0">
            <a:spAutoFit/>
          </a:bodyPr>
          <a:lstStyle/>
          <a:p>
            <a:r>
              <a:rPr lang="en-US" sz="1530" b="1" dirty="0"/>
              <a:t>Test </a:t>
            </a:r>
            <a:br>
              <a:rPr lang="en-US" sz="1530" b="1" dirty="0"/>
            </a:br>
            <a:r>
              <a:rPr lang="en-US" sz="1530" b="1" dirty="0"/>
              <a:t>Score</a:t>
            </a:r>
          </a:p>
        </p:txBody>
      </p:sp>
      <p:sp>
        <p:nvSpPr>
          <p:cNvPr id="25" name="TextBox 24"/>
          <p:cNvSpPr txBox="1"/>
          <p:nvPr/>
        </p:nvSpPr>
        <p:spPr>
          <a:xfrm>
            <a:off x="5442695" y="3678891"/>
            <a:ext cx="348172" cy="327782"/>
          </a:xfrm>
          <a:prstGeom prst="rect">
            <a:avLst/>
          </a:prstGeom>
          <a:noFill/>
        </p:spPr>
        <p:txBody>
          <a:bodyPr wrap="none" rtlCol="0">
            <a:spAutoFit/>
          </a:bodyPr>
          <a:lstStyle/>
          <a:p>
            <a:r>
              <a:rPr lang="en-US" sz="1530" dirty="0">
                <a:solidFill>
                  <a:schemeClr val="bg1"/>
                </a:solidFill>
              </a:rPr>
              <a:t>e</a:t>
            </a:r>
            <a:r>
              <a:rPr lang="en-US" sz="1530" baseline="-25000" dirty="0">
                <a:solidFill>
                  <a:schemeClr val="bg1"/>
                </a:solidFill>
              </a:rPr>
              <a:t>2</a:t>
            </a:r>
          </a:p>
        </p:txBody>
      </p:sp>
      <p:sp>
        <p:nvSpPr>
          <p:cNvPr id="26" name="Oval 25"/>
          <p:cNvSpPr/>
          <p:nvPr/>
        </p:nvSpPr>
        <p:spPr>
          <a:xfrm>
            <a:off x="5771448" y="3363788"/>
            <a:ext cx="786043" cy="74478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7" name="TextBox 26"/>
          <p:cNvSpPr txBox="1"/>
          <p:nvPr/>
        </p:nvSpPr>
        <p:spPr>
          <a:xfrm>
            <a:off x="5974561" y="3579216"/>
            <a:ext cx="582930" cy="327782"/>
          </a:xfrm>
          <a:prstGeom prst="rect">
            <a:avLst/>
          </a:prstGeom>
          <a:noFill/>
        </p:spPr>
        <p:txBody>
          <a:bodyPr wrap="square" rtlCol="0">
            <a:spAutoFit/>
          </a:bodyPr>
          <a:lstStyle/>
          <a:p>
            <a:r>
              <a:rPr lang="en-US" sz="1530" b="1" dirty="0">
                <a:solidFill>
                  <a:schemeClr val="bg1">
                    <a:lumMod val="50000"/>
                  </a:schemeClr>
                </a:solidFill>
              </a:rPr>
              <a:t>TQ</a:t>
            </a:r>
          </a:p>
        </p:txBody>
      </p:sp>
    </p:spTree>
    <p:extLst>
      <p:ext uri="{BB962C8B-B14F-4D97-AF65-F5344CB8AC3E}">
        <p14:creationId xmlns:p14="http://schemas.microsoft.com/office/powerpoint/2010/main" val="1748268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Effects of the Control Variable</a:t>
            </a:r>
          </a:p>
        </p:txBody>
      </p:sp>
      <p:sp>
        <p:nvSpPr>
          <p:cNvPr id="3" name="Slide Number Placeholder 2"/>
          <p:cNvSpPr>
            <a:spLocks noGrp="1"/>
          </p:cNvSpPr>
          <p:nvPr>
            <p:ph type="sldNum" sz="quarter" idx="12"/>
          </p:nvPr>
        </p:nvSpPr>
        <p:spPr/>
        <p:txBody>
          <a:bodyPr/>
          <a:lstStyle/>
          <a:p>
            <a:fld id="{A953BAF0-9579-42B3-B979-30EFD986705E}" type="slidenum">
              <a:rPr lang="en-US" smtClean="0"/>
              <a:t>32</a:t>
            </a:fld>
            <a:endParaRPr lang="en-US"/>
          </a:p>
        </p:txBody>
      </p:sp>
      <p:pic>
        <p:nvPicPr>
          <p:cNvPr id="2765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240" y="4705351"/>
            <a:ext cx="2720340" cy="2716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0050" y="4705350"/>
            <a:ext cx="2724401" cy="2720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p:cNvSpPr/>
          <p:nvPr/>
        </p:nvSpPr>
        <p:spPr>
          <a:xfrm>
            <a:off x="1793589" y="4116652"/>
            <a:ext cx="594097" cy="57136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Oval 6"/>
          <p:cNvSpPr/>
          <p:nvPr/>
        </p:nvSpPr>
        <p:spPr>
          <a:xfrm>
            <a:off x="1878330" y="3566159"/>
            <a:ext cx="906780" cy="8420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TextBox 7"/>
          <p:cNvSpPr txBox="1"/>
          <p:nvPr/>
        </p:nvSpPr>
        <p:spPr>
          <a:xfrm>
            <a:off x="1478782" y="4435352"/>
            <a:ext cx="582930" cy="327782"/>
          </a:xfrm>
          <a:prstGeom prst="rect">
            <a:avLst/>
          </a:prstGeom>
          <a:noFill/>
        </p:spPr>
        <p:txBody>
          <a:bodyPr wrap="square" rtlCol="0">
            <a:spAutoFit/>
          </a:bodyPr>
          <a:lstStyle/>
          <a:p>
            <a:r>
              <a:rPr lang="en-US" sz="1530" b="1" dirty="0"/>
              <a:t>CS</a:t>
            </a:r>
          </a:p>
        </p:txBody>
      </p:sp>
      <p:sp>
        <p:nvSpPr>
          <p:cNvPr id="9" name="TextBox 8"/>
          <p:cNvSpPr txBox="1"/>
          <p:nvPr/>
        </p:nvSpPr>
        <p:spPr>
          <a:xfrm>
            <a:off x="1253028" y="3461493"/>
            <a:ext cx="756439" cy="563231"/>
          </a:xfrm>
          <a:prstGeom prst="rect">
            <a:avLst/>
          </a:prstGeom>
          <a:noFill/>
        </p:spPr>
        <p:txBody>
          <a:bodyPr wrap="square" rtlCol="0">
            <a:spAutoFit/>
          </a:bodyPr>
          <a:lstStyle/>
          <a:p>
            <a:r>
              <a:rPr lang="en-US" sz="1530" b="1" dirty="0"/>
              <a:t>Test</a:t>
            </a:r>
            <a:br>
              <a:rPr lang="en-US" sz="1530" b="1" dirty="0"/>
            </a:br>
            <a:r>
              <a:rPr lang="en-US" sz="1530" b="1" dirty="0"/>
              <a:t>Score</a:t>
            </a:r>
          </a:p>
        </p:txBody>
      </p:sp>
      <p:sp>
        <p:nvSpPr>
          <p:cNvPr id="4" name="TextBox 3"/>
          <p:cNvSpPr txBox="1"/>
          <p:nvPr/>
        </p:nvSpPr>
        <p:spPr>
          <a:xfrm>
            <a:off x="2195129" y="3706374"/>
            <a:ext cx="348172" cy="327782"/>
          </a:xfrm>
          <a:prstGeom prst="rect">
            <a:avLst/>
          </a:prstGeom>
          <a:noFill/>
        </p:spPr>
        <p:txBody>
          <a:bodyPr wrap="none" rtlCol="0">
            <a:spAutoFit/>
          </a:bodyPr>
          <a:lstStyle/>
          <a:p>
            <a:r>
              <a:rPr lang="en-US" sz="1530" dirty="0">
                <a:solidFill>
                  <a:schemeClr val="bg1">
                    <a:lumMod val="50000"/>
                  </a:schemeClr>
                </a:solidFill>
              </a:rPr>
              <a:t>e</a:t>
            </a:r>
            <a:r>
              <a:rPr lang="en-US" sz="1530" baseline="-25000" dirty="0">
                <a:solidFill>
                  <a:schemeClr val="bg1">
                    <a:lumMod val="50000"/>
                  </a:schemeClr>
                </a:solidFill>
              </a:rPr>
              <a:t>1</a:t>
            </a:r>
          </a:p>
        </p:txBody>
      </p:sp>
      <p:sp>
        <p:nvSpPr>
          <p:cNvPr id="20" name="TextBox 19"/>
          <p:cNvSpPr txBox="1"/>
          <p:nvPr/>
        </p:nvSpPr>
        <p:spPr>
          <a:xfrm>
            <a:off x="3400943" y="3928111"/>
            <a:ext cx="872355" cy="406265"/>
          </a:xfrm>
          <a:prstGeom prst="rect">
            <a:avLst/>
          </a:prstGeom>
          <a:noFill/>
        </p:spPr>
        <p:txBody>
          <a:bodyPr wrap="none" rtlCol="0">
            <a:spAutoFit/>
          </a:bodyPr>
          <a:lstStyle/>
          <a:p>
            <a:r>
              <a:rPr lang="en-US" sz="2040" b="1" dirty="0">
                <a:solidFill>
                  <a:schemeClr val="tx2"/>
                </a:solidFill>
              </a:rPr>
              <a:t>e</a:t>
            </a:r>
            <a:r>
              <a:rPr lang="en-US" sz="2040" b="1" baseline="-25000" dirty="0">
                <a:solidFill>
                  <a:schemeClr val="tx2"/>
                </a:solidFill>
              </a:rPr>
              <a:t>1</a:t>
            </a:r>
            <a:r>
              <a:rPr lang="en-US" sz="2040" b="1" dirty="0">
                <a:solidFill>
                  <a:schemeClr val="tx2"/>
                </a:solidFill>
              </a:rPr>
              <a:t> &gt; e</a:t>
            </a:r>
            <a:r>
              <a:rPr lang="en-US" sz="2040" b="1" baseline="-25000" dirty="0">
                <a:solidFill>
                  <a:schemeClr val="tx2"/>
                </a:solidFill>
              </a:rPr>
              <a:t>2</a:t>
            </a:r>
          </a:p>
        </p:txBody>
      </p:sp>
      <p:cxnSp>
        <p:nvCxnSpPr>
          <p:cNvPr id="21" name="Straight Connector 20"/>
          <p:cNvCxnSpPr/>
          <p:nvPr/>
        </p:nvCxnSpPr>
        <p:spPr>
          <a:xfrm>
            <a:off x="4533901" y="6061708"/>
            <a:ext cx="2202966" cy="381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Right Brace 21"/>
          <p:cNvSpPr/>
          <p:nvPr/>
        </p:nvSpPr>
        <p:spPr>
          <a:xfrm>
            <a:off x="5207853" y="5623558"/>
            <a:ext cx="129540" cy="388620"/>
          </a:xfrm>
          <a:prstGeom prst="righ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cxnSp>
        <p:nvCxnSpPr>
          <p:cNvPr id="23" name="Straight Connector 22"/>
          <p:cNvCxnSpPr/>
          <p:nvPr/>
        </p:nvCxnSpPr>
        <p:spPr>
          <a:xfrm>
            <a:off x="5065579" y="5378204"/>
            <a:ext cx="0" cy="698745"/>
          </a:xfrm>
          <a:prstGeom prst="line">
            <a:avLst/>
          </a:prstGeom>
        </p:spPr>
        <p:style>
          <a:lnRef idx="1">
            <a:schemeClr val="accent1"/>
          </a:lnRef>
          <a:fillRef idx="0">
            <a:schemeClr val="accent1"/>
          </a:fillRef>
          <a:effectRef idx="0">
            <a:schemeClr val="accent1"/>
          </a:effectRef>
          <a:fontRef idx="minor">
            <a:schemeClr val="tx1"/>
          </a:fontRef>
        </p:style>
      </p:cxnSp>
      <p:sp>
        <p:nvSpPr>
          <p:cNvPr id="24" name="Right Brace 23"/>
          <p:cNvSpPr/>
          <p:nvPr/>
        </p:nvSpPr>
        <p:spPr>
          <a:xfrm>
            <a:off x="5209268" y="5378203"/>
            <a:ext cx="129540" cy="190498"/>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sp>
        <p:nvSpPr>
          <p:cNvPr id="25" name="Oval 24"/>
          <p:cNvSpPr/>
          <p:nvPr/>
        </p:nvSpPr>
        <p:spPr>
          <a:xfrm>
            <a:off x="5000024" y="5244851"/>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cxnSp>
        <p:nvCxnSpPr>
          <p:cNvPr id="12" name="Straight Connector 11"/>
          <p:cNvCxnSpPr/>
          <p:nvPr/>
        </p:nvCxnSpPr>
        <p:spPr>
          <a:xfrm>
            <a:off x="4533900" y="5090158"/>
            <a:ext cx="2072640" cy="175260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100304" y="6065521"/>
            <a:ext cx="2202966" cy="381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9" name="Right Brace 28"/>
          <p:cNvSpPr/>
          <p:nvPr/>
        </p:nvSpPr>
        <p:spPr>
          <a:xfrm>
            <a:off x="1774257" y="5627371"/>
            <a:ext cx="129540" cy="388620"/>
          </a:xfrm>
          <a:prstGeom prst="righ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cxnSp>
        <p:nvCxnSpPr>
          <p:cNvPr id="30" name="Straight Connector 29"/>
          <p:cNvCxnSpPr/>
          <p:nvPr/>
        </p:nvCxnSpPr>
        <p:spPr>
          <a:xfrm rot="5400000">
            <a:off x="1178593" y="5627371"/>
            <a:ext cx="906780"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Right Brace 30"/>
          <p:cNvSpPr/>
          <p:nvPr/>
        </p:nvSpPr>
        <p:spPr>
          <a:xfrm>
            <a:off x="1775672" y="5183893"/>
            <a:ext cx="129540" cy="388620"/>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30"/>
          </a:p>
        </p:txBody>
      </p:sp>
      <p:sp>
        <p:nvSpPr>
          <p:cNvPr id="32" name="Oval 31"/>
          <p:cNvSpPr/>
          <p:nvPr/>
        </p:nvSpPr>
        <p:spPr>
          <a:xfrm>
            <a:off x="1553694" y="5093970"/>
            <a:ext cx="129540" cy="1295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cxnSp>
        <p:nvCxnSpPr>
          <p:cNvPr id="33" name="Straight Connector 32"/>
          <p:cNvCxnSpPr/>
          <p:nvPr/>
        </p:nvCxnSpPr>
        <p:spPr>
          <a:xfrm>
            <a:off x="1100304" y="5093971"/>
            <a:ext cx="2072640" cy="1752602"/>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985529" y="5217425"/>
            <a:ext cx="349776" cy="327782"/>
          </a:xfrm>
          <a:prstGeom prst="rect">
            <a:avLst/>
          </a:prstGeom>
          <a:solidFill>
            <a:schemeClr val="bg1"/>
          </a:solidFill>
        </p:spPr>
        <p:txBody>
          <a:bodyPr wrap="none" rtlCol="0">
            <a:spAutoFit/>
          </a:bodyPr>
          <a:lstStyle/>
          <a:p>
            <a:r>
              <a:rPr lang="en-US" sz="1530" b="1" dirty="0">
                <a:solidFill>
                  <a:schemeClr val="tx2"/>
                </a:solidFill>
              </a:rPr>
              <a:t>e</a:t>
            </a:r>
            <a:r>
              <a:rPr lang="en-US" sz="1530" b="1" baseline="-25000" dirty="0">
                <a:solidFill>
                  <a:schemeClr val="tx2"/>
                </a:solidFill>
              </a:rPr>
              <a:t>1</a:t>
            </a:r>
          </a:p>
        </p:txBody>
      </p:sp>
      <p:sp>
        <p:nvSpPr>
          <p:cNvPr id="36" name="TextBox 35"/>
          <p:cNvSpPr txBox="1"/>
          <p:nvPr/>
        </p:nvSpPr>
        <p:spPr>
          <a:xfrm>
            <a:off x="5409302" y="5316485"/>
            <a:ext cx="349776" cy="327782"/>
          </a:xfrm>
          <a:prstGeom prst="rect">
            <a:avLst/>
          </a:prstGeom>
          <a:noFill/>
        </p:spPr>
        <p:txBody>
          <a:bodyPr wrap="none" rtlCol="0">
            <a:spAutoFit/>
          </a:bodyPr>
          <a:lstStyle/>
          <a:p>
            <a:r>
              <a:rPr lang="en-US" sz="1530" b="1" dirty="0">
                <a:solidFill>
                  <a:schemeClr val="tx2"/>
                </a:solidFill>
              </a:rPr>
              <a:t>e</a:t>
            </a:r>
            <a:r>
              <a:rPr lang="en-US" sz="1530" b="1" baseline="-25000" dirty="0">
                <a:solidFill>
                  <a:schemeClr val="tx2"/>
                </a:solidFill>
              </a:rPr>
              <a:t>2</a:t>
            </a:r>
          </a:p>
        </p:txBody>
      </p:sp>
      <p:sp>
        <p:nvSpPr>
          <p:cNvPr id="37" name="Oval 36"/>
          <p:cNvSpPr/>
          <p:nvPr/>
        </p:nvSpPr>
        <p:spPr>
          <a:xfrm>
            <a:off x="5311140" y="3539490"/>
            <a:ext cx="906780" cy="84201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8" name="Oval 37"/>
          <p:cNvSpPr/>
          <p:nvPr/>
        </p:nvSpPr>
        <p:spPr>
          <a:xfrm>
            <a:off x="5275202" y="4022129"/>
            <a:ext cx="594097" cy="571364"/>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39" name="TextBox 38"/>
          <p:cNvSpPr txBox="1"/>
          <p:nvPr/>
        </p:nvSpPr>
        <p:spPr>
          <a:xfrm>
            <a:off x="4859765" y="4374083"/>
            <a:ext cx="582930" cy="327782"/>
          </a:xfrm>
          <a:prstGeom prst="rect">
            <a:avLst/>
          </a:prstGeom>
          <a:noFill/>
        </p:spPr>
        <p:txBody>
          <a:bodyPr wrap="square" rtlCol="0">
            <a:spAutoFit/>
          </a:bodyPr>
          <a:lstStyle/>
          <a:p>
            <a:r>
              <a:rPr lang="en-US" sz="1530" b="1" dirty="0"/>
              <a:t>CS</a:t>
            </a:r>
          </a:p>
        </p:txBody>
      </p:sp>
      <p:sp>
        <p:nvSpPr>
          <p:cNvPr id="40" name="TextBox 39"/>
          <p:cNvSpPr txBox="1"/>
          <p:nvPr/>
        </p:nvSpPr>
        <p:spPr>
          <a:xfrm>
            <a:off x="4688908" y="3431683"/>
            <a:ext cx="622232" cy="798680"/>
          </a:xfrm>
          <a:prstGeom prst="rect">
            <a:avLst/>
          </a:prstGeom>
          <a:noFill/>
        </p:spPr>
        <p:txBody>
          <a:bodyPr wrap="square" rtlCol="0">
            <a:spAutoFit/>
          </a:bodyPr>
          <a:lstStyle/>
          <a:p>
            <a:r>
              <a:rPr lang="en-US" sz="1530" b="1" dirty="0"/>
              <a:t>Test </a:t>
            </a:r>
            <a:br>
              <a:rPr lang="en-US" sz="1530" b="1" dirty="0"/>
            </a:br>
            <a:r>
              <a:rPr lang="en-US" sz="1530" b="1" dirty="0"/>
              <a:t>Score</a:t>
            </a:r>
          </a:p>
        </p:txBody>
      </p:sp>
      <p:sp>
        <p:nvSpPr>
          <p:cNvPr id="41" name="TextBox 40"/>
          <p:cNvSpPr txBox="1"/>
          <p:nvPr/>
        </p:nvSpPr>
        <p:spPr>
          <a:xfrm>
            <a:off x="5442695" y="3678891"/>
            <a:ext cx="348172" cy="327782"/>
          </a:xfrm>
          <a:prstGeom prst="rect">
            <a:avLst/>
          </a:prstGeom>
          <a:noFill/>
        </p:spPr>
        <p:txBody>
          <a:bodyPr wrap="none" rtlCol="0">
            <a:spAutoFit/>
          </a:bodyPr>
          <a:lstStyle/>
          <a:p>
            <a:r>
              <a:rPr lang="en-US" sz="1530" dirty="0">
                <a:solidFill>
                  <a:schemeClr val="bg1"/>
                </a:solidFill>
              </a:rPr>
              <a:t>e</a:t>
            </a:r>
            <a:r>
              <a:rPr lang="en-US" sz="1530" baseline="-25000" dirty="0">
                <a:solidFill>
                  <a:schemeClr val="bg1"/>
                </a:solidFill>
              </a:rPr>
              <a:t>2</a:t>
            </a:r>
          </a:p>
        </p:txBody>
      </p:sp>
      <p:sp>
        <p:nvSpPr>
          <p:cNvPr id="42" name="Oval 41"/>
          <p:cNvSpPr/>
          <p:nvPr/>
        </p:nvSpPr>
        <p:spPr>
          <a:xfrm>
            <a:off x="5771448" y="3363788"/>
            <a:ext cx="786043" cy="74478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43" name="TextBox 42"/>
          <p:cNvSpPr txBox="1"/>
          <p:nvPr/>
        </p:nvSpPr>
        <p:spPr>
          <a:xfrm>
            <a:off x="5974561" y="3579216"/>
            <a:ext cx="582930" cy="327782"/>
          </a:xfrm>
          <a:prstGeom prst="rect">
            <a:avLst/>
          </a:prstGeom>
          <a:noFill/>
        </p:spPr>
        <p:txBody>
          <a:bodyPr wrap="square" rtlCol="0">
            <a:spAutoFit/>
          </a:bodyPr>
          <a:lstStyle/>
          <a:p>
            <a:r>
              <a:rPr lang="en-US" sz="1530" b="1" dirty="0">
                <a:solidFill>
                  <a:schemeClr val="bg1">
                    <a:lumMod val="50000"/>
                  </a:schemeClr>
                </a:solidFill>
              </a:rPr>
              <a:t>TQ</a:t>
            </a:r>
          </a:p>
        </p:txBody>
      </p:sp>
    </p:spTree>
    <p:extLst>
      <p:ext uri="{BB962C8B-B14F-4D97-AF65-F5344CB8AC3E}">
        <p14:creationId xmlns:p14="http://schemas.microsoft.com/office/powerpoint/2010/main" val="684090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Partitioning y with multiple variables</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A953BAF0-9579-42B3-B979-30EFD986705E}" type="slidenum">
              <a:rPr lang="en-US" smtClean="0"/>
              <a:t>33</a:t>
            </a:fld>
            <a:endParaRPr lang="en-US"/>
          </a:p>
        </p:txBody>
      </p:sp>
    </p:spTree>
    <p:extLst>
      <p:ext uri="{BB962C8B-B14F-4D97-AF65-F5344CB8AC3E}">
        <p14:creationId xmlns:p14="http://schemas.microsoft.com/office/powerpoint/2010/main" val="3115450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happens to slopes and standard errors when we add more variables?</a:t>
            </a:r>
          </a:p>
        </p:txBody>
      </p:sp>
      <p:sp>
        <p:nvSpPr>
          <p:cNvPr id="16" name="Oval 15"/>
          <p:cNvSpPr/>
          <p:nvPr/>
        </p:nvSpPr>
        <p:spPr>
          <a:xfrm>
            <a:off x="2914650" y="5806440"/>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19" name="Oval 18"/>
          <p:cNvSpPr/>
          <p:nvPr/>
        </p:nvSpPr>
        <p:spPr>
          <a:xfrm>
            <a:off x="2849880" y="4640580"/>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20" name="TextBox 19"/>
          <p:cNvSpPr txBox="1"/>
          <p:nvPr/>
        </p:nvSpPr>
        <p:spPr>
          <a:xfrm>
            <a:off x="3627120" y="4770120"/>
            <a:ext cx="287258" cy="327782"/>
          </a:xfrm>
          <a:prstGeom prst="rect">
            <a:avLst/>
          </a:prstGeom>
          <a:noFill/>
        </p:spPr>
        <p:txBody>
          <a:bodyPr wrap="none" rtlCol="0">
            <a:spAutoFit/>
          </a:bodyPr>
          <a:lstStyle/>
          <a:p>
            <a:r>
              <a:rPr lang="en-US" sz="1530" b="1" dirty="0"/>
              <a:t>Y</a:t>
            </a:r>
          </a:p>
        </p:txBody>
      </p:sp>
      <p:sp>
        <p:nvSpPr>
          <p:cNvPr id="21" name="TextBox 20"/>
          <p:cNvSpPr txBox="1"/>
          <p:nvPr/>
        </p:nvSpPr>
        <p:spPr>
          <a:xfrm>
            <a:off x="4906877" y="6416796"/>
            <a:ext cx="279244" cy="327782"/>
          </a:xfrm>
          <a:prstGeom prst="rect">
            <a:avLst/>
          </a:prstGeom>
          <a:noFill/>
        </p:spPr>
        <p:txBody>
          <a:bodyPr wrap="none" rtlCol="0">
            <a:spAutoFit/>
          </a:bodyPr>
          <a:lstStyle/>
          <a:p>
            <a:r>
              <a:rPr lang="en-US" sz="1530" b="1" dirty="0"/>
              <a:t>Z</a:t>
            </a:r>
          </a:p>
        </p:txBody>
      </p:sp>
      <p:sp>
        <p:nvSpPr>
          <p:cNvPr id="22" name="TextBox 21"/>
          <p:cNvSpPr txBox="1"/>
          <p:nvPr/>
        </p:nvSpPr>
        <p:spPr>
          <a:xfrm>
            <a:off x="2526030" y="6259830"/>
            <a:ext cx="292068" cy="327782"/>
          </a:xfrm>
          <a:prstGeom prst="rect">
            <a:avLst/>
          </a:prstGeom>
          <a:noFill/>
        </p:spPr>
        <p:txBody>
          <a:bodyPr wrap="none" rtlCol="0">
            <a:spAutoFit/>
          </a:bodyPr>
          <a:lstStyle/>
          <a:p>
            <a:r>
              <a:rPr lang="en-US" sz="1530" b="1" dirty="0"/>
              <a:t>X</a:t>
            </a:r>
          </a:p>
        </p:txBody>
      </p:sp>
      <p:sp>
        <p:nvSpPr>
          <p:cNvPr id="23" name="TextBox 22"/>
          <p:cNvSpPr txBox="1"/>
          <p:nvPr/>
        </p:nvSpPr>
        <p:spPr>
          <a:xfrm>
            <a:off x="3303270" y="5935980"/>
            <a:ext cx="298480" cy="327782"/>
          </a:xfrm>
          <a:prstGeom prst="rect">
            <a:avLst/>
          </a:prstGeom>
          <a:noFill/>
        </p:spPr>
        <p:txBody>
          <a:bodyPr wrap="none" rtlCol="0">
            <a:spAutoFit/>
          </a:bodyPr>
          <a:lstStyle/>
          <a:p>
            <a:r>
              <a:rPr lang="en-US" sz="1530" dirty="0">
                <a:solidFill>
                  <a:schemeClr val="bg1">
                    <a:lumMod val="50000"/>
                  </a:schemeClr>
                </a:solidFill>
              </a:rPr>
              <a:t>A</a:t>
            </a:r>
          </a:p>
        </p:txBody>
      </p:sp>
      <p:sp>
        <p:nvSpPr>
          <p:cNvPr id="24" name="TextBox 23"/>
          <p:cNvSpPr txBox="1"/>
          <p:nvPr/>
        </p:nvSpPr>
        <p:spPr>
          <a:xfrm>
            <a:off x="3756660" y="6065520"/>
            <a:ext cx="292068" cy="327782"/>
          </a:xfrm>
          <a:prstGeom prst="rect">
            <a:avLst/>
          </a:prstGeom>
          <a:noFill/>
        </p:spPr>
        <p:txBody>
          <a:bodyPr wrap="none" rtlCol="0">
            <a:spAutoFit/>
          </a:bodyPr>
          <a:lstStyle/>
          <a:p>
            <a:r>
              <a:rPr lang="en-US" sz="1530" dirty="0">
                <a:solidFill>
                  <a:schemeClr val="bg1">
                    <a:lumMod val="50000"/>
                  </a:schemeClr>
                </a:solidFill>
              </a:rPr>
              <a:t>B</a:t>
            </a:r>
          </a:p>
        </p:txBody>
      </p:sp>
      <p:sp>
        <p:nvSpPr>
          <p:cNvPr id="25" name="TextBox 24"/>
          <p:cNvSpPr txBox="1"/>
          <p:nvPr/>
        </p:nvSpPr>
        <p:spPr>
          <a:xfrm>
            <a:off x="3821430" y="6454140"/>
            <a:ext cx="288862" cy="327782"/>
          </a:xfrm>
          <a:prstGeom prst="rect">
            <a:avLst/>
          </a:prstGeom>
          <a:noFill/>
        </p:spPr>
        <p:txBody>
          <a:bodyPr wrap="none" rtlCol="0">
            <a:spAutoFit/>
          </a:bodyPr>
          <a:lstStyle/>
          <a:p>
            <a:r>
              <a:rPr lang="en-US" sz="1530" dirty="0">
                <a:solidFill>
                  <a:schemeClr val="bg1">
                    <a:lumMod val="50000"/>
                  </a:schemeClr>
                </a:solidFill>
              </a:rPr>
              <a:t>C</a:t>
            </a:r>
          </a:p>
        </p:txBody>
      </p:sp>
      <p:sp>
        <p:nvSpPr>
          <p:cNvPr id="26" name="TextBox 25"/>
          <p:cNvSpPr txBox="1"/>
          <p:nvPr/>
        </p:nvSpPr>
        <p:spPr>
          <a:xfrm>
            <a:off x="3238500" y="6454140"/>
            <a:ext cx="304892" cy="327782"/>
          </a:xfrm>
          <a:prstGeom prst="rect">
            <a:avLst/>
          </a:prstGeom>
          <a:noFill/>
        </p:spPr>
        <p:txBody>
          <a:bodyPr wrap="none" rtlCol="0">
            <a:spAutoFit/>
          </a:bodyPr>
          <a:lstStyle/>
          <a:p>
            <a:r>
              <a:rPr lang="en-US" sz="1530" dirty="0">
                <a:solidFill>
                  <a:schemeClr val="bg1">
                    <a:lumMod val="50000"/>
                  </a:schemeClr>
                </a:solidFill>
              </a:rPr>
              <a:t>D</a:t>
            </a:r>
          </a:p>
        </p:txBody>
      </p:sp>
      <p:sp>
        <p:nvSpPr>
          <p:cNvPr id="14" name="Oval 13"/>
          <p:cNvSpPr/>
          <p:nvPr/>
        </p:nvSpPr>
        <p:spPr>
          <a:xfrm>
            <a:off x="3627120" y="5676900"/>
            <a:ext cx="1230630" cy="1230630"/>
          </a:xfrm>
          <a:prstGeom prst="ellipse">
            <a:avLst/>
          </a:prstGeom>
          <a:noFill/>
          <a:ln>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Tree>
    <p:extLst>
      <p:ext uri="{BB962C8B-B14F-4D97-AF65-F5344CB8AC3E}">
        <p14:creationId xmlns:p14="http://schemas.microsoft.com/office/powerpoint/2010/main" val="2749497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Multiple Regression Mechanics: SLOPE</a:t>
            </a:r>
          </a:p>
        </p:txBody>
      </p:sp>
      <p:graphicFrame>
        <p:nvGraphicFramePr>
          <p:cNvPr id="10242" name="Object 2"/>
          <p:cNvGraphicFramePr>
            <a:graphicFrameLocks noChangeAspect="1"/>
          </p:cNvGraphicFramePr>
          <p:nvPr/>
        </p:nvGraphicFramePr>
        <p:xfrm>
          <a:off x="5375910" y="3539490"/>
          <a:ext cx="2051050" cy="1870234"/>
        </p:xfrm>
        <a:graphic>
          <a:graphicData uri="http://schemas.openxmlformats.org/presentationml/2006/ole">
            <mc:AlternateContent xmlns:mc="http://schemas.openxmlformats.org/markup-compatibility/2006">
              <mc:Choice xmlns:v="urn:schemas-microsoft-com:vml" Requires="v">
                <p:oleObj spid="_x0000_s62476" name="Equation" r:id="rId3" imgW="1447560" imgH="1320480" progId="Equation.3">
                  <p:embed/>
                </p:oleObj>
              </mc:Choice>
              <mc:Fallback>
                <p:oleObj name="Equation" r:id="rId3" imgW="1447560" imgH="1320480" progId="Equation.3">
                  <p:embed/>
                  <p:pic>
                    <p:nvPicPr>
                      <p:cNvPr id="102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5910" y="3539490"/>
                        <a:ext cx="2051050" cy="1870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3" name="Object 3"/>
          <p:cNvGraphicFramePr>
            <a:graphicFrameLocks noChangeAspect="1"/>
          </p:cNvGraphicFramePr>
          <p:nvPr/>
        </p:nvGraphicFramePr>
        <p:xfrm>
          <a:off x="582930" y="3604260"/>
          <a:ext cx="1655683" cy="1836499"/>
        </p:xfrm>
        <a:graphic>
          <a:graphicData uri="http://schemas.openxmlformats.org/presentationml/2006/ole">
            <mc:AlternateContent xmlns:mc="http://schemas.openxmlformats.org/markup-compatibility/2006">
              <mc:Choice xmlns:v="urn:schemas-microsoft-com:vml" Requires="v">
                <p:oleObj spid="_x0000_s62477" name="Equation" r:id="rId5" imgW="1168200" imgH="1295280" progId="Equation.3">
                  <p:embed/>
                </p:oleObj>
              </mc:Choice>
              <mc:Fallback>
                <p:oleObj name="Equation" r:id="rId5" imgW="1168200" imgH="1295280" progId="Equation.3">
                  <p:embed/>
                  <p:pic>
                    <p:nvPicPr>
                      <p:cNvPr id="1024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930" y="3604260"/>
                        <a:ext cx="1655683" cy="18364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Oval 5"/>
          <p:cNvSpPr/>
          <p:nvPr/>
        </p:nvSpPr>
        <p:spPr>
          <a:xfrm>
            <a:off x="2914650" y="5806440"/>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Oval 6"/>
          <p:cNvSpPr/>
          <p:nvPr/>
        </p:nvSpPr>
        <p:spPr>
          <a:xfrm>
            <a:off x="3627120" y="5676900"/>
            <a:ext cx="1230630" cy="1230630"/>
          </a:xfrm>
          <a:prstGeom prst="ellipse">
            <a:avLst/>
          </a:prstGeom>
          <a:noFill/>
          <a:ln>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Oval 7"/>
          <p:cNvSpPr/>
          <p:nvPr/>
        </p:nvSpPr>
        <p:spPr>
          <a:xfrm>
            <a:off x="2849880" y="4640580"/>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9" name="TextBox 8"/>
          <p:cNvSpPr txBox="1"/>
          <p:nvPr/>
        </p:nvSpPr>
        <p:spPr>
          <a:xfrm>
            <a:off x="3627120" y="4770120"/>
            <a:ext cx="287258" cy="327782"/>
          </a:xfrm>
          <a:prstGeom prst="rect">
            <a:avLst/>
          </a:prstGeom>
          <a:noFill/>
        </p:spPr>
        <p:txBody>
          <a:bodyPr wrap="none" rtlCol="0">
            <a:spAutoFit/>
          </a:bodyPr>
          <a:lstStyle/>
          <a:p>
            <a:r>
              <a:rPr lang="en-US" sz="1530" b="1" dirty="0"/>
              <a:t>Y</a:t>
            </a:r>
          </a:p>
        </p:txBody>
      </p:sp>
      <p:sp>
        <p:nvSpPr>
          <p:cNvPr id="10" name="TextBox 9"/>
          <p:cNvSpPr txBox="1"/>
          <p:nvPr/>
        </p:nvSpPr>
        <p:spPr>
          <a:xfrm>
            <a:off x="4906877" y="6416796"/>
            <a:ext cx="279244" cy="327782"/>
          </a:xfrm>
          <a:prstGeom prst="rect">
            <a:avLst/>
          </a:prstGeom>
          <a:noFill/>
        </p:spPr>
        <p:txBody>
          <a:bodyPr wrap="none" rtlCol="0">
            <a:spAutoFit/>
          </a:bodyPr>
          <a:lstStyle/>
          <a:p>
            <a:r>
              <a:rPr lang="en-US" sz="1530" b="1" dirty="0"/>
              <a:t>Z</a:t>
            </a:r>
          </a:p>
        </p:txBody>
      </p:sp>
      <p:sp>
        <p:nvSpPr>
          <p:cNvPr id="11" name="TextBox 10"/>
          <p:cNvSpPr txBox="1"/>
          <p:nvPr/>
        </p:nvSpPr>
        <p:spPr>
          <a:xfrm>
            <a:off x="2526030" y="6259830"/>
            <a:ext cx="292068" cy="327782"/>
          </a:xfrm>
          <a:prstGeom prst="rect">
            <a:avLst/>
          </a:prstGeom>
          <a:noFill/>
        </p:spPr>
        <p:txBody>
          <a:bodyPr wrap="none" rtlCol="0">
            <a:spAutoFit/>
          </a:bodyPr>
          <a:lstStyle/>
          <a:p>
            <a:r>
              <a:rPr lang="en-US" sz="1530" b="1" dirty="0"/>
              <a:t>X</a:t>
            </a:r>
          </a:p>
        </p:txBody>
      </p:sp>
      <p:sp>
        <p:nvSpPr>
          <p:cNvPr id="12" name="TextBox 11"/>
          <p:cNvSpPr txBox="1"/>
          <p:nvPr/>
        </p:nvSpPr>
        <p:spPr>
          <a:xfrm>
            <a:off x="3303270" y="5935980"/>
            <a:ext cx="298480" cy="327782"/>
          </a:xfrm>
          <a:prstGeom prst="rect">
            <a:avLst/>
          </a:prstGeom>
          <a:noFill/>
        </p:spPr>
        <p:txBody>
          <a:bodyPr wrap="none" rtlCol="0">
            <a:spAutoFit/>
          </a:bodyPr>
          <a:lstStyle/>
          <a:p>
            <a:r>
              <a:rPr lang="en-US" sz="1530" dirty="0">
                <a:solidFill>
                  <a:schemeClr val="bg1">
                    <a:lumMod val="50000"/>
                  </a:schemeClr>
                </a:solidFill>
              </a:rPr>
              <a:t>A</a:t>
            </a:r>
          </a:p>
        </p:txBody>
      </p:sp>
      <p:sp>
        <p:nvSpPr>
          <p:cNvPr id="13" name="TextBox 12"/>
          <p:cNvSpPr txBox="1"/>
          <p:nvPr/>
        </p:nvSpPr>
        <p:spPr>
          <a:xfrm>
            <a:off x="3756660" y="6065520"/>
            <a:ext cx="292068" cy="327782"/>
          </a:xfrm>
          <a:prstGeom prst="rect">
            <a:avLst/>
          </a:prstGeom>
          <a:noFill/>
        </p:spPr>
        <p:txBody>
          <a:bodyPr wrap="none" rtlCol="0">
            <a:spAutoFit/>
          </a:bodyPr>
          <a:lstStyle/>
          <a:p>
            <a:r>
              <a:rPr lang="en-US" sz="1530" dirty="0">
                <a:solidFill>
                  <a:schemeClr val="bg1">
                    <a:lumMod val="50000"/>
                  </a:schemeClr>
                </a:solidFill>
              </a:rPr>
              <a:t>B</a:t>
            </a:r>
          </a:p>
        </p:txBody>
      </p:sp>
      <p:sp>
        <p:nvSpPr>
          <p:cNvPr id="14" name="TextBox 13"/>
          <p:cNvSpPr txBox="1"/>
          <p:nvPr/>
        </p:nvSpPr>
        <p:spPr>
          <a:xfrm>
            <a:off x="3821430" y="6454140"/>
            <a:ext cx="288862" cy="327782"/>
          </a:xfrm>
          <a:prstGeom prst="rect">
            <a:avLst/>
          </a:prstGeom>
          <a:noFill/>
        </p:spPr>
        <p:txBody>
          <a:bodyPr wrap="none" rtlCol="0">
            <a:spAutoFit/>
          </a:bodyPr>
          <a:lstStyle/>
          <a:p>
            <a:r>
              <a:rPr lang="en-US" sz="1530" dirty="0">
                <a:solidFill>
                  <a:schemeClr val="bg1">
                    <a:lumMod val="50000"/>
                  </a:schemeClr>
                </a:solidFill>
              </a:rPr>
              <a:t>C</a:t>
            </a:r>
          </a:p>
        </p:txBody>
      </p:sp>
      <p:sp>
        <p:nvSpPr>
          <p:cNvPr id="15" name="TextBox 14"/>
          <p:cNvSpPr txBox="1"/>
          <p:nvPr/>
        </p:nvSpPr>
        <p:spPr>
          <a:xfrm>
            <a:off x="3238500" y="6454140"/>
            <a:ext cx="304892" cy="327782"/>
          </a:xfrm>
          <a:prstGeom prst="rect">
            <a:avLst/>
          </a:prstGeom>
          <a:noFill/>
        </p:spPr>
        <p:txBody>
          <a:bodyPr wrap="none" rtlCol="0">
            <a:spAutoFit/>
          </a:bodyPr>
          <a:lstStyle/>
          <a:p>
            <a:r>
              <a:rPr lang="en-US" sz="1530" dirty="0">
                <a:solidFill>
                  <a:schemeClr val="bg1">
                    <a:lumMod val="50000"/>
                  </a:schemeClr>
                </a:solidFill>
              </a:rPr>
              <a:t>D</a:t>
            </a:r>
          </a:p>
        </p:txBody>
      </p:sp>
      <p:sp>
        <p:nvSpPr>
          <p:cNvPr id="16" name="TextBox 15"/>
          <p:cNvSpPr txBox="1"/>
          <p:nvPr/>
        </p:nvSpPr>
        <p:spPr>
          <a:xfrm>
            <a:off x="1700973" y="7296150"/>
            <a:ext cx="4301177" cy="275460"/>
          </a:xfrm>
          <a:prstGeom prst="rect">
            <a:avLst/>
          </a:prstGeom>
          <a:noFill/>
        </p:spPr>
        <p:txBody>
          <a:bodyPr wrap="none" rtlCol="0">
            <a:spAutoFit/>
          </a:bodyPr>
          <a:lstStyle/>
          <a:p>
            <a:r>
              <a:rPr lang="en-US" sz="1190" i="1" dirty="0"/>
              <a:t>The formula for the slope is different when you add more variables</a:t>
            </a:r>
          </a:p>
        </p:txBody>
      </p:sp>
    </p:spTree>
    <p:extLst>
      <p:ext uri="{BB962C8B-B14F-4D97-AF65-F5344CB8AC3E}">
        <p14:creationId xmlns:p14="http://schemas.microsoft.com/office/powerpoint/2010/main" val="3794601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Multiple Regression Mechanics: STANDARD ERRORS</a:t>
            </a:r>
          </a:p>
        </p:txBody>
      </p:sp>
      <p:graphicFrame>
        <p:nvGraphicFramePr>
          <p:cNvPr id="10242" name="Object 2"/>
          <p:cNvGraphicFramePr>
            <a:graphicFrameLocks noChangeAspect="1"/>
          </p:cNvGraphicFramePr>
          <p:nvPr/>
        </p:nvGraphicFramePr>
        <p:xfrm>
          <a:off x="5375910" y="4388697"/>
          <a:ext cx="2051050" cy="1295400"/>
        </p:xfrm>
        <a:graphic>
          <a:graphicData uri="http://schemas.openxmlformats.org/presentationml/2006/ole">
            <mc:AlternateContent xmlns:mc="http://schemas.openxmlformats.org/markup-compatibility/2006">
              <mc:Choice xmlns:v="urn:schemas-microsoft-com:vml" Requires="v">
                <p:oleObj spid="_x0000_s63500" name="Equation" r:id="rId3" imgW="1447560" imgH="914400" progId="Equation.3">
                  <p:embed/>
                </p:oleObj>
              </mc:Choice>
              <mc:Fallback>
                <p:oleObj name="Equation" r:id="rId3" imgW="1447560" imgH="914400" progId="Equation.3">
                  <p:embed/>
                  <p:pic>
                    <p:nvPicPr>
                      <p:cNvPr id="10242" name="Object 2"/>
                      <p:cNvPicPr>
                        <a:picLocks noChangeAspect="1" noChangeArrowheads="1"/>
                      </p:cNvPicPr>
                      <p:nvPr/>
                    </p:nvPicPr>
                    <p:blipFill>
                      <a:blip r:embed="rId4"/>
                      <a:srcRect/>
                      <a:stretch>
                        <a:fillRect/>
                      </a:stretch>
                    </p:blipFill>
                    <p:spPr bwMode="auto">
                      <a:xfrm>
                        <a:off x="5375910" y="4388697"/>
                        <a:ext cx="2051050"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3" name="Object 3"/>
          <p:cNvGraphicFramePr>
            <a:graphicFrameLocks noChangeAspect="1"/>
          </p:cNvGraphicFramePr>
          <p:nvPr/>
        </p:nvGraphicFramePr>
        <p:xfrm>
          <a:off x="712470" y="4380150"/>
          <a:ext cx="1404699" cy="1296750"/>
        </p:xfrm>
        <a:graphic>
          <a:graphicData uri="http://schemas.openxmlformats.org/presentationml/2006/ole">
            <mc:AlternateContent xmlns:mc="http://schemas.openxmlformats.org/markup-compatibility/2006">
              <mc:Choice xmlns:v="urn:schemas-microsoft-com:vml" Requires="v">
                <p:oleObj spid="_x0000_s63501" name="Equation" r:id="rId5" imgW="990360" imgH="914400" progId="Equation.3">
                  <p:embed/>
                </p:oleObj>
              </mc:Choice>
              <mc:Fallback>
                <p:oleObj name="Equation" r:id="rId5" imgW="990360" imgH="914400" progId="Equation.3">
                  <p:embed/>
                  <p:pic>
                    <p:nvPicPr>
                      <p:cNvPr id="10243" name="Object 3"/>
                      <p:cNvPicPr>
                        <a:picLocks noChangeAspect="1" noChangeArrowheads="1"/>
                      </p:cNvPicPr>
                      <p:nvPr/>
                    </p:nvPicPr>
                    <p:blipFill>
                      <a:blip r:embed="rId6"/>
                      <a:srcRect/>
                      <a:stretch>
                        <a:fillRect/>
                      </a:stretch>
                    </p:blipFill>
                    <p:spPr bwMode="auto">
                      <a:xfrm>
                        <a:off x="712470" y="4380150"/>
                        <a:ext cx="1404699" cy="129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Oval 5"/>
          <p:cNvSpPr/>
          <p:nvPr/>
        </p:nvSpPr>
        <p:spPr>
          <a:xfrm>
            <a:off x="2914650" y="5806440"/>
            <a:ext cx="1230630" cy="1230630"/>
          </a:xfrm>
          <a:prstGeom prst="ellipse">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7" name="Oval 6"/>
          <p:cNvSpPr/>
          <p:nvPr/>
        </p:nvSpPr>
        <p:spPr>
          <a:xfrm>
            <a:off x="3627120" y="5676900"/>
            <a:ext cx="1230630" cy="1230630"/>
          </a:xfrm>
          <a:prstGeom prst="ellipse">
            <a:avLst/>
          </a:prstGeom>
          <a:noFill/>
          <a:ln>
            <a:solidFill>
              <a:schemeClr val="accent6">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8" name="Oval 7"/>
          <p:cNvSpPr/>
          <p:nvPr/>
        </p:nvSpPr>
        <p:spPr>
          <a:xfrm>
            <a:off x="2849880" y="4640580"/>
            <a:ext cx="1878330" cy="18135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30"/>
          </a:p>
        </p:txBody>
      </p:sp>
      <p:sp>
        <p:nvSpPr>
          <p:cNvPr id="9" name="TextBox 8"/>
          <p:cNvSpPr txBox="1"/>
          <p:nvPr/>
        </p:nvSpPr>
        <p:spPr>
          <a:xfrm>
            <a:off x="3627081" y="4187190"/>
            <a:ext cx="287258" cy="327782"/>
          </a:xfrm>
          <a:prstGeom prst="rect">
            <a:avLst/>
          </a:prstGeom>
          <a:noFill/>
        </p:spPr>
        <p:txBody>
          <a:bodyPr wrap="none" rtlCol="0">
            <a:spAutoFit/>
          </a:bodyPr>
          <a:lstStyle/>
          <a:p>
            <a:r>
              <a:rPr lang="en-US" sz="1530" b="1" dirty="0"/>
              <a:t>Y</a:t>
            </a:r>
          </a:p>
        </p:txBody>
      </p:sp>
      <p:sp>
        <p:nvSpPr>
          <p:cNvPr id="10" name="TextBox 9"/>
          <p:cNvSpPr txBox="1"/>
          <p:nvPr/>
        </p:nvSpPr>
        <p:spPr>
          <a:xfrm>
            <a:off x="4906877" y="6416796"/>
            <a:ext cx="279244" cy="327782"/>
          </a:xfrm>
          <a:prstGeom prst="rect">
            <a:avLst/>
          </a:prstGeom>
          <a:noFill/>
        </p:spPr>
        <p:txBody>
          <a:bodyPr wrap="none" rtlCol="0">
            <a:spAutoFit/>
          </a:bodyPr>
          <a:lstStyle/>
          <a:p>
            <a:r>
              <a:rPr lang="en-US" sz="1530" b="1" dirty="0"/>
              <a:t>Z</a:t>
            </a:r>
          </a:p>
        </p:txBody>
      </p:sp>
      <p:sp>
        <p:nvSpPr>
          <p:cNvPr id="11" name="TextBox 10"/>
          <p:cNvSpPr txBox="1"/>
          <p:nvPr/>
        </p:nvSpPr>
        <p:spPr>
          <a:xfrm>
            <a:off x="2526030" y="6259830"/>
            <a:ext cx="292068" cy="327782"/>
          </a:xfrm>
          <a:prstGeom prst="rect">
            <a:avLst/>
          </a:prstGeom>
          <a:noFill/>
        </p:spPr>
        <p:txBody>
          <a:bodyPr wrap="none" rtlCol="0">
            <a:spAutoFit/>
          </a:bodyPr>
          <a:lstStyle/>
          <a:p>
            <a:r>
              <a:rPr lang="en-US" sz="1530" b="1" dirty="0"/>
              <a:t>X</a:t>
            </a:r>
          </a:p>
        </p:txBody>
      </p:sp>
      <p:sp>
        <p:nvSpPr>
          <p:cNvPr id="12" name="TextBox 11"/>
          <p:cNvSpPr txBox="1"/>
          <p:nvPr/>
        </p:nvSpPr>
        <p:spPr>
          <a:xfrm>
            <a:off x="3438299" y="5158740"/>
            <a:ext cx="298480" cy="327782"/>
          </a:xfrm>
          <a:prstGeom prst="rect">
            <a:avLst/>
          </a:prstGeom>
          <a:noFill/>
        </p:spPr>
        <p:txBody>
          <a:bodyPr wrap="none" rtlCol="0">
            <a:spAutoFit/>
          </a:bodyPr>
          <a:lstStyle/>
          <a:p>
            <a:r>
              <a:rPr lang="en-US" sz="1530" dirty="0">
                <a:solidFill>
                  <a:schemeClr val="bg1">
                    <a:lumMod val="50000"/>
                  </a:schemeClr>
                </a:solidFill>
              </a:rPr>
              <a:t>A</a:t>
            </a:r>
          </a:p>
        </p:txBody>
      </p:sp>
      <p:sp>
        <p:nvSpPr>
          <p:cNvPr id="13" name="TextBox 12"/>
          <p:cNvSpPr txBox="1"/>
          <p:nvPr/>
        </p:nvSpPr>
        <p:spPr>
          <a:xfrm>
            <a:off x="4156259" y="5816358"/>
            <a:ext cx="292068" cy="327782"/>
          </a:xfrm>
          <a:prstGeom prst="rect">
            <a:avLst/>
          </a:prstGeom>
          <a:noFill/>
        </p:spPr>
        <p:txBody>
          <a:bodyPr wrap="none" rtlCol="0">
            <a:spAutoFit/>
          </a:bodyPr>
          <a:lstStyle/>
          <a:p>
            <a:r>
              <a:rPr lang="en-US" sz="1530" dirty="0">
                <a:solidFill>
                  <a:schemeClr val="bg1">
                    <a:lumMod val="50000"/>
                  </a:schemeClr>
                </a:solidFill>
              </a:rPr>
              <a:t>B</a:t>
            </a:r>
          </a:p>
        </p:txBody>
      </p:sp>
      <p:sp>
        <p:nvSpPr>
          <p:cNvPr id="16" name="TextBox 15"/>
          <p:cNvSpPr txBox="1"/>
          <p:nvPr/>
        </p:nvSpPr>
        <p:spPr>
          <a:xfrm>
            <a:off x="1700973" y="7296150"/>
            <a:ext cx="4315605" cy="275460"/>
          </a:xfrm>
          <a:prstGeom prst="rect">
            <a:avLst/>
          </a:prstGeom>
          <a:noFill/>
        </p:spPr>
        <p:txBody>
          <a:bodyPr wrap="none" rtlCol="0">
            <a:spAutoFit/>
          </a:bodyPr>
          <a:lstStyle/>
          <a:p>
            <a:r>
              <a:rPr lang="en-US" sz="1190" i="1" dirty="0"/>
              <a:t>The unexplained variance is different when you add more variables</a:t>
            </a:r>
          </a:p>
        </p:txBody>
      </p:sp>
    </p:spTree>
    <p:extLst>
      <p:ext uri="{BB962C8B-B14F-4D97-AF65-F5344CB8AC3E}">
        <p14:creationId xmlns:p14="http://schemas.microsoft.com/office/powerpoint/2010/main" val="1449152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dirty="0">
                <a:solidFill>
                  <a:schemeClr val="tx1">
                    <a:lumMod val="50000"/>
                    <a:lumOff val="50000"/>
                  </a:schemeClr>
                </a:solidFill>
                <a:cs typeface="Arial" panose="020B0604020202020204" pitchFamily="34" charset="0"/>
              </a:rPr>
              <a:t>Bias correction through</a:t>
            </a:r>
            <a:br>
              <a:rPr lang="en-US" dirty="0">
                <a:solidFill>
                  <a:schemeClr val="tx1">
                    <a:lumMod val="50000"/>
                    <a:lumOff val="50000"/>
                  </a:schemeClr>
                </a:solidFill>
                <a:cs typeface="Arial" panose="020B0604020202020204" pitchFamily="34" charset="0"/>
              </a:rPr>
            </a:br>
            <a:r>
              <a:rPr lang="en-US" dirty="0">
                <a:cs typeface="Arial" panose="020B0604020202020204" pitchFamily="34" charset="0"/>
              </a:rPr>
              <a:t>instrumental</a:t>
            </a:r>
            <a:br>
              <a:rPr lang="en-US" dirty="0">
                <a:solidFill>
                  <a:schemeClr val="tx1">
                    <a:lumMod val="50000"/>
                    <a:lumOff val="50000"/>
                  </a:schemeClr>
                </a:solidFill>
                <a:cs typeface="Arial" panose="020B0604020202020204" pitchFamily="34" charset="0"/>
              </a:rPr>
            </a:br>
            <a:r>
              <a:rPr lang="en-US" dirty="0">
                <a:solidFill>
                  <a:schemeClr val="tx1">
                    <a:lumMod val="50000"/>
                    <a:lumOff val="50000"/>
                  </a:schemeClr>
                </a:solidFill>
                <a:cs typeface="Arial" panose="020B0604020202020204" pitchFamily="34" charset="0"/>
              </a:rPr>
              <a:t>variables</a:t>
            </a:r>
            <a:br>
              <a:rPr lang="en-US" dirty="0">
                <a:solidFill>
                  <a:schemeClr val="tx1">
                    <a:lumMod val="50000"/>
                    <a:lumOff val="50000"/>
                  </a:schemeClr>
                </a:solidFill>
                <a:cs typeface="Arial" panose="020B0604020202020204" pitchFamily="34" charset="0"/>
              </a:rPr>
            </a:br>
            <a:endParaRPr lang="en-US" dirty="0"/>
          </a:p>
        </p:txBody>
      </p:sp>
      <p:sp>
        <p:nvSpPr>
          <p:cNvPr id="3" name="Subtitle 2"/>
          <p:cNvSpPr>
            <a:spLocks noGrp="1"/>
          </p:cNvSpPr>
          <p:nvPr>
            <p:ph type="subTitle" idx="1"/>
          </p:nvPr>
        </p:nvSpPr>
        <p:spPr>
          <a:xfrm>
            <a:off x="1165860" y="6497320"/>
            <a:ext cx="5440680" cy="2570480"/>
          </a:xfrm>
        </p:spPr>
        <p:txBody>
          <a:bodyPr/>
          <a:lstStyle/>
          <a:p>
            <a:r>
              <a:rPr lang="en-US" sz="2000" dirty="0">
                <a:solidFill>
                  <a:schemeClr val="tx1">
                    <a:lumMod val="50000"/>
                    <a:lumOff val="50000"/>
                  </a:schemeClr>
                </a:solidFill>
                <a:latin typeface="Arial" panose="020B0604020202020204" pitchFamily="34" charset="0"/>
                <a:cs typeface="Arial" panose="020B0604020202020204" pitchFamily="34" charset="0"/>
              </a:rPr>
              <a:t>Fundamentals of</a:t>
            </a:r>
            <a:endParaRPr lang="en-US" sz="2400" b="1" dirty="0">
              <a:solidFill>
                <a:schemeClr val="accent6">
                  <a:lumMod val="75000"/>
                </a:schemeClr>
              </a:solidFill>
              <a:latin typeface="Arial" panose="020B0604020202020204" pitchFamily="34" charset="0"/>
              <a:cs typeface="Arial" panose="020B0604020202020204" pitchFamily="34" charset="0"/>
            </a:endParaRPr>
          </a:p>
          <a:p>
            <a:r>
              <a:rPr lang="en-US" sz="2400" b="1" dirty="0">
                <a:solidFill>
                  <a:schemeClr val="accent6">
                    <a:lumMod val="75000"/>
                  </a:schemeClr>
                </a:solidFill>
                <a:cs typeface="Arial" panose="020B0604020202020204" pitchFamily="34" charset="0"/>
              </a:rPr>
              <a:t>PROGRAM</a:t>
            </a:r>
            <a:r>
              <a:rPr lang="en-US" sz="2000" dirty="0">
                <a:solidFill>
                  <a:schemeClr val="accent6">
                    <a:lumMod val="75000"/>
                  </a:schemeClr>
                </a:solidFill>
                <a:cs typeface="Arial" panose="020B0604020202020204" pitchFamily="34" charset="0"/>
              </a:rPr>
              <a:t> </a:t>
            </a:r>
            <a:r>
              <a:rPr lang="en-US" sz="2000" dirty="0">
                <a:solidFill>
                  <a:schemeClr val="tx1">
                    <a:lumMod val="50000"/>
                    <a:lumOff val="50000"/>
                  </a:schemeClr>
                </a:solidFill>
                <a:latin typeface="Stencil" panose="040409050D0802020404" pitchFamily="82" charset="0"/>
                <a:cs typeface="Arial" panose="020B0604020202020204" pitchFamily="34" charset="0"/>
              </a:rPr>
              <a:t>EVALUATION</a:t>
            </a:r>
          </a:p>
          <a:p>
            <a:endParaRPr lang="en-US" sz="2800" dirty="0">
              <a:solidFill>
                <a:schemeClr val="tx1">
                  <a:lumMod val="50000"/>
                  <a:lumOff val="50000"/>
                </a:schemeClr>
              </a:solidFill>
              <a:latin typeface="Stencil" panose="040409050D0802020404" pitchFamily="82" charset="0"/>
              <a:cs typeface="Arial" panose="020B0604020202020204" pitchFamily="34" charset="0"/>
            </a:endParaRPr>
          </a:p>
          <a:p>
            <a:r>
              <a:rPr lang="en-US" sz="2000" dirty="0">
                <a:solidFill>
                  <a:schemeClr val="tx1">
                    <a:lumMod val="50000"/>
                    <a:lumOff val="50000"/>
                  </a:schemeClr>
                </a:solidFill>
                <a:latin typeface="Berlin Sans FB" panose="020E0602020502020306" pitchFamily="34" charset="0"/>
                <a:cs typeface="Arial" panose="020B0604020202020204" pitchFamily="34" charset="0"/>
              </a:rPr>
              <a:t>JESSE LECY</a:t>
            </a:r>
          </a:p>
          <a:p>
            <a:endParaRPr lang="en-US" sz="2800" dirty="0">
              <a:solidFill>
                <a:schemeClr val="tx1">
                  <a:lumMod val="50000"/>
                  <a:lumOff val="50000"/>
                </a:schemeClr>
              </a:solidFill>
              <a:latin typeface="Stencil" panose="040409050D0802020404" pitchFamily="82" charset="0"/>
              <a:cs typeface="Arial" panose="020B0604020202020204" pitchFamily="34" charset="0"/>
            </a:endParaRPr>
          </a:p>
        </p:txBody>
      </p:sp>
      <p:sp>
        <p:nvSpPr>
          <p:cNvPr id="4" name="Rectangle 3"/>
          <p:cNvSpPr/>
          <p:nvPr/>
        </p:nvSpPr>
        <p:spPr>
          <a:xfrm>
            <a:off x="2743200" y="152400"/>
            <a:ext cx="39624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19357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minute version:</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A2A4A19-B384-42F8-8C0D-94C30AAB39F2}"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380016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39</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00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We have an </a:t>
            </a:r>
            <a:r>
              <a:rPr kumimoji="0" lang="en-US" sz="4400" b="0" i="0" u="none" strike="noStrike" kern="1200" cap="none" spc="0" normalizeH="0" baseline="0" noProof="0" dirty="0" err="1">
                <a:ln>
                  <a:noFill/>
                </a:ln>
                <a:solidFill>
                  <a:srgbClr val="F79646">
                    <a:lumMod val="75000"/>
                  </a:srgbClr>
                </a:solidFill>
                <a:effectLst/>
                <a:uLnTx/>
                <a:uFillTx/>
                <a:latin typeface="Stencil" panose="040409050D0802020404" pitchFamily="82" charset="0"/>
                <a:ea typeface="+mj-ea"/>
                <a:cs typeface="+mj-cs"/>
              </a:rPr>
              <a:t>ovb</a:t>
            </a: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 problem:</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2" name="Oval 11"/>
          <p:cNvSpPr/>
          <p:nvPr/>
        </p:nvSpPr>
        <p:spPr>
          <a:xfrm>
            <a:off x="4150767" y="4289763"/>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3048000" y="4267200"/>
            <a:ext cx="1848261" cy="16701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3615896" y="6103578"/>
            <a:ext cx="74589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srgbClr val="FF0000"/>
                </a:solidFill>
                <a:effectLst/>
                <a:uLnTx/>
                <a:uFillTx/>
                <a:latin typeface="Calibri"/>
                <a:ea typeface="+mn-ea"/>
                <a:cs typeface="+mn-cs"/>
              </a:rPr>
              <a:t>(policy variable)</a:t>
            </a:r>
          </a:p>
        </p:txBody>
      </p:sp>
      <p:sp>
        <p:nvSpPr>
          <p:cNvPr id="20" name="TextBox 19"/>
          <p:cNvSpPr txBox="1"/>
          <p:nvPr/>
        </p:nvSpPr>
        <p:spPr>
          <a:xfrm>
            <a:off x="4565695" y="6103578"/>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7" name="Oval 26"/>
          <p:cNvSpPr/>
          <p:nvPr/>
        </p:nvSpPr>
        <p:spPr>
          <a:xfrm>
            <a:off x="3667373" y="3439366"/>
            <a:ext cx="1796643" cy="1855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4541025" y="2856948"/>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spTree>
    <p:extLst>
      <p:ext uri="{BB962C8B-B14F-4D97-AF65-F5344CB8AC3E}">
        <p14:creationId xmlns:p14="http://schemas.microsoft.com/office/powerpoint/2010/main" val="5215218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40</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0000" lnSpcReduction="200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We have an </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r>
              <a:rPr kumimoji="0" lang="en-US" sz="4400" b="0" i="0" u="none" strike="noStrike" kern="1200" cap="none" spc="0" normalizeH="0" baseline="0" noProof="0" dirty="0">
                <a:ln>
                  <a:noFill/>
                </a:ln>
                <a:solidFill>
                  <a:prstClr val="black">
                    <a:lumMod val="50000"/>
                    <a:lumOff val="50000"/>
                  </a:prstClr>
                </a:solidFill>
                <a:effectLst/>
                <a:uLnTx/>
                <a:uFillTx/>
                <a:latin typeface="Stencil" panose="040409050D0802020404" pitchFamily="82" charset="0"/>
                <a:ea typeface="+mj-ea"/>
                <a:cs typeface="+mj-cs"/>
              </a:rPr>
              <a:t>instrumental variable</a:t>
            </a: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2" name="Oval 11"/>
          <p:cNvSpPr/>
          <p:nvPr/>
        </p:nvSpPr>
        <p:spPr>
          <a:xfrm>
            <a:off x="4150767" y="4289763"/>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3048000" y="4267200"/>
            <a:ext cx="1848261" cy="16701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3615896" y="6103578"/>
            <a:ext cx="74589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srgbClr val="FF0000"/>
                </a:solidFill>
                <a:effectLst/>
                <a:uLnTx/>
                <a:uFillTx/>
                <a:latin typeface="Calibri"/>
                <a:ea typeface="+mn-ea"/>
                <a:cs typeface="+mn-cs"/>
              </a:rPr>
              <a:t>(policy variable)</a:t>
            </a:r>
          </a:p>
        </p:txBody>
      </p:sp>
      <p:sp>
        <p:nvSpPr>
          <p:cNvPr id="20" name="TextBox 19"/>
          <p:cNvSpPr txBox="1"/>
          <p:nvPr/>
        </p:nvSpPr>
        <p:spPr>
          <a:xfrm>
            <a:off x="4565695" y="6103578"/>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7" name="Oval 26"/>
          <p:cNvSpPr/>
          <p:nvPr/>
        </p:nvSpPr>
        <p:spPr>
          <a:xfrm>
            <a:off x="3667373" y="3439366"/>
            <a:ext cx="1796643" cy="1855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4541025" y="2856948"/>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13" name="Oval 12"/>
          <p:cNvSpPr/>
          <p:nvPr/>
        </p:nvSpPr>
        <p:spPr>
          <a:xfrm rot="19249230">
            <a:off x="1830511" y="4817031"/>
            <a:ext cx="2707420" cy="850998"/>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1294047" y="6195911"/>
            <a:ext cx="1144016"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Z</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prstClr val="black">
                    <a:lumMod val="50000"/>
                    <a:lumOff val="50000"/>
                  </a:prstClr>
                </a:solidFill>
                <a:effectLst/>
                <a:uLnTx/>
                <a:uFillTx/>
                <a:latin typeface="Calibri"/>
                <a:ea typeface="+mn-ea"/>
                <a:cs typeface="+mn-cs"/>
              </a:rPr>
              <a:t>(Instrument)</a:t>
            </a:r>
          </a:p>
        </p:txBody>
      </p:sp>
      <p:sp>
        <p:nvSpPr>
          <p:cNvPr id="3" name="TextBox 2"/>
          <p:cNvSpPr txBox="1"/>
          <p:nvPr/>
        </p:nvSpPr>
        <p:spPr>
          <a:xfrm>
            <a:off x="2008257" y="8142079"/>
            <a:ext cx="4285019"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Z is correlated with X1 (the policy variable),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uncorrelated with X2 (the omitted variable).</a:t>
            </a:r>
          </a:p>
        </p:txBody>
      </p:sp>
    </p:spTree>
    <p:extLst>
      <p:ext uri="{BB962C8B-B14F-4D97-AF65-F5344CB8AC3E}">
        <p14:creationId xmlns:p14="http://schemas.microsoft.com/office/powerpoint/2010/main" val="20737748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41</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0000" lnSpcReduction="200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We have an </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r>
              <a:rPr kumimoji="0" lang="en-US" sz="4400" b="0" i="0" u="none" strike="noStrike" kern="1200" cap="none" spc="0" normalizeH="0" baseline="0" noProof="0" dirty="0">
                <a:ln>
                  <a:noFill/>
                </a:ln>
                <a:solidFill>
                  <a:prstClr val="black">
                    <a:lumMod val="50000"/>
                    <a:lumOff val="50000"/>
                  </a:prstClr>
                </a:solidFill>
                <a:effectLst/>
                <a:uLnTx/>
                <a:uFillTx/>
                <a:latin typeface="Stencil" panose="040409050D0802020404" pitchFamily="82" charset="0"/>
                <a:ea typeface="+mj-ea"/>
                <a:cs typeface="+mj-cs"/>
              </a:rPr>
              <a:t>instrumental variable</a:t>
            </a: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2" name="Oval 11"/>
          <p:cNvSpPr/>
          <p:nvPr/>
        </p:nvSpPr>
        <p:spPr>
          <a:xfrm>
            <a:off x="4150767" y="4289763"/>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3048000" y="4267200"/>
            <a:ext cx="1848261" cy="16701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3615896" y="6103578"/>
            <a:ext cx="74589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srgbClr val="FF0000"/>
                </a:solidFill>
                <a:effectLst/>
                <a:uLnTx/>
                <a:uFillTx/>
                <a:latin typeface="Calibri"/>
                <a:ea typeface="+mn-ea"/>
                <a:cs typeface="+mn-cs"/>
              </a:rPr>
              <a:t>(policy variable)</a:t>
            </a:r>
          </a:p>
        </p:txBody>
      </p:sp>
      <p:sp>
        <p:nvSpPr>
          <p:cNvPr id="20" name="TextBox 19"/>
          <p:cNvSpPr txBox="1"/>
          <p:nvPr/>
        </p:nvSpPr>
        <p:spPr>
          <a:xfrm>
            <a:off x="4565695" y="6103578"/>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7" name="Oval 26"/>
          <p:cNvSpPr/>
          <p:nvPr/>
        </p:nvSpPr>
        <p:spPr>
          <a:xfrm>
            <a:off x="3667373" y="3439366"/>
            <a:ext cx="1796643" cy="1855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4541025" y="2856948"/>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13" name="Oval 12"/>
          <p:cNvSpPr/>
          <p:nvPr/>
        </p:nvSpPr>
        <p:spPr>
          <a:xfrm rot="19249230">
            <a:off x="1830511" y="4817031"/>
            <a:ext cx="2707420" cy="850998"/>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1294047" y="6195911"/>
            <a:ext cx="1144016"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Z</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prstClr val="black">
                    <a:lumMod val="50000"/>
                    <a:lumOff val="50000"/>
                  </a:prstClr>
                </a:solidFill>
                <a:effectLst/>
                <a:uLnTx/>
                <a:uFillTx/>
                <a:latin typeface="Calibri"/>
                <a:ea typeface="+mn-ea"/>
                <a:cs typeface="+mn-cs"/>
              </a:rPr>
              <a:t>(Instrument)</a:t>
            </a:r>
          </a:p>
        </p:txBody>
      </p:sp>
      <p:sp>
        <p:nvSpPr>
          <p:cNvPr id="3" name="TextBox 2"/>
          <p:cNvSpPr txBox="1"/>
          <p:nvPr/>
        </p:nvSpPr>
        <p:spPr>
          <a:xfrm>
            <a:off x="1866055" y="7935187"/>
            <a:ext cx="4634089"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Z is correlated with Y only THROUGH X1.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There is no causal relationship between Z and Y.</a:t>
            </a:r>
          </a:p>
        </p:txBody>
      </p:sp>
    </p:spTree>
    <p:extLst>
      <p:ext uri="{BB962C8B-B14F-4D97-AF65-F5344CB8AC3E}">
        <p14:creationId xmlns:p14="http://schemas.microsoft.com/office/powerpoint/2010/main" val="21910209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98270" y="2359967"/>
            <a:ext cx="32573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x</a:t>
            </a:r>
          </a:p>
        </p:txBody>
      </p:sp>
      <p:sp>
        <p:nvSpPr>
          <p:cNvPr id="4" name="TextBox 3"/>
          <p:cNvSpPr txBox="1"/>
          <p:nvPr/>
        </p:nvSpPr>
        <p:spPr>
          <a:xfrm>
            <a:off x="2160320" y="2359967"/>
            <a:ext cx="33054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y</a:t>
            </a:r>
          </a:p>
        </p:txBody>
      </p:sp>
      <p:cxnSp>
        <p:nvCxnSpPr>
          <p:cNvPr id="5" name="Straight Arrow Connector 4"/>
          <p:cNvCxnSpPr>
            <a:stCxn id="3" idx="3"/>
            <a:endCxn id="4" idx="1"/>
          </p:cNvCxnSpPr>
          <p:nvPr/>
        </p:nvCxnSpPr>
        <p:spPr>
          <a:xfrm>
            <a:off x="1524000" y="2590800"/>
            <a:ext cx="636320"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209209" y="3457261"/>
            <a:ext cx="30649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z</a:t>
            </a:r>
          </a:p>
        </p:txBody>
      </p:sp>
      <p:cxnSp>
        <p:nvCxnSpPr>
          <p:cNvPr id="7" name="Straight Arrow Connector 6"/>
          <p:cNvCxnSpPr>
            <a:stCxn id="6" idx="0"/>
            <a:endCxn id="3" idx="2"/>
          </p:cNvCxnSpPr>
          <p:nvPr/>
        </p:nvCxnSpPr>
        <p:spPr>
          <a:xfrm flipH="1" flipV="1">
            <a:off x="1361135" y="2821632"/>
            <a:ext cx="1321" cy="63562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14800" y="1447800"/>
            <a:ext cx="3048000" cy="7659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457200" y="4648200"/>
            <a:ext cx="3044923" cy="286232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Correlation between Y and Z is natural extension of this causal structure.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In this data, Y has no direct causal relationship with Z, but there will be a strong correlation in the data because of Y and Z are both correlated with X. </a:t>
            </a:r>
          </a:p>
        </p:txBody>
      </p:sp>
    </p:spTree>
    <p:extLst>
      <p:ext uri="{BB962C8B-B14F-4D97-AF65-F5344CB8AC3E}">
        <p14:creationId xmlns:p14="http://schemas.microsoft.com/office/powerpoint/2010/main" val="227168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43</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Step 1:</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7" name="Oval 16"/>
          <p:cNvSpPr/>
          <p:nvPr/>
        </p:nvSpPr>
        <p:spPr>
          <a:xfrm>
            <a:off x="3048000" y="4267200"/>
            <a:ext cx="1848261" cy="16701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3615896" y="6103578"/>
            <a:ext cx="74589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srgbClr val="FF0000"/>
                </a:solidFill>
                <a:effectLst/>
                <a:uLnTx/>
                <a:uFillTx/>
                <a:latin typeface="Calibri"/>
                <a:ea typeface="+mn-ea"/>
                <a:cs typeface="+mn-cs"/>
              </a:rPr>
              <a:t>(policy variable)</a:t>
            </a:r>
          </a:p>
        </p:txBody>
      </p:sp>
      <p:sp>
        <p:nvSpPr>
          <p:cNvPr id="13" name="Oval 12"/>
          <p:cNvSpPr/>
          <p:nvPr/>
        </p:nvSpPr>
        <p:spPr>
          <a:xfrm rot="19249230">
            <a:off x="1830511" y="4817031"/>
            <a:ext cx="2707420" cy="850998"/>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1294047" y="6195911"/>
            <a:ext cx="1144016"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Z</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prstClr val="black">
                    <a:lumMod val="50000"/>
                    <a:lumOff val="50000"/>
                  </a:prstClr>
                </a:solidFill>
                <a:effectLst/>
                <a:uLnTx/>
                <a:uFillTx/>
                <a:latin typeface="Calibri"/>
                <a:ea typeface="+mn-ea"/>
                <a:cs typeface="+mn-cs"/>
              </a:rPr>
              <a:t>(Instrument)</a:t>
            </a:r>
          </a:p>
        </p:txBody>
      </p:sp>
      <p:sp>
        <p:nvSpPr>
          <p:cNvPr id="3" name="TextBox 2"/>
          <p:cNvSpPr txBox="1"/>
          <p:nvPr/>
        </p:nvSpPr>
        <p:spPr>
          <a:xfrm>
            <a:off x="2745552" y="8001000"/>
            <a:ext cx="24865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X1 = a</a:t>
            </a:r>
            <a:r>
              <a:rPr kumimoji="0" lang="en-US" sz="2400" b="0" i="0" u="none" strike="noStrike" kern="1200" cap="none" spc="0" normalizeH="0" baseline="-25000" noProof="0" dirty="0">
                <a:ln>
                  <a:noFill/>
                </a:ln>
                <a:solidFill>
                  <a:prstClr val="black"/>
                </a:solidFill>
                <a:effectLst/>
                <a:uLnTx/>
                <a:uFillTx/>
                <a:latin typeface="Calibri"/>
                <a:ea typeface="+mn-ea"/>
                <a:cs typeface="+mn-cs"/>
              </a:rPr>
              <a:t>0</a:t>
            </a:r>
            <a:r>
              <a:rPr kumimoji="0" lang="en-US" sz="2400" b="0" i="0" u="none" strike="noStrike" kern="1200" cap="none" spc="0" normalizeH="0" baseline="0" noProof="0" dirty="0">
                <a:ln>
                  <a:noFill/>
                </a:ln>
                <a:solidFill>
                  <a:prstClr val="black"/>
                </a:solidFill>
                <a:effectLst/>
                <a:uLnTx/>
                <a:uFillTx/>
                <a:latin typeface="Calibri"/>
                <a:ea typeface="+mn-ea"/>
                <a:cs typeface="+mn-cs"/>
              </a:rPr>
              <a:t> + a</a:t>
            </a:r>
            <a:r>
              <a:rPr kumimoji="0" lang="en-US" sz="2400" b="0" i="0" u="none" strike="noStrike" kern="1200" cap="none" spc="0" normalizeH="0" baseline="-25000" noProof="0" dirty="0">
                <a:ln>
                  <a:noFill/>
                </a:ln>
                <a:solidFill>
                  <a:prstClr val="black"/>
                </a:solidFill>
                <a:effectLst/>
                <a:uLnTx/>
                <a:uFillTx/>
                <a:latin typeface="Calibri"/>
                <a:ea typeface="+mn-ea"/>
                <a:cs typeface="+mn-cs"/>
              </a:rPr>
              <a:t>1</a:t>
            </a:r>
            <a:r>
              <a:rPr kumimoji="0" lang="en-US" sz="2400" b="0" i="0" u="none" strike="noStrike" kern="1200" cap="none" spc="0" normalizeH="0" baseline="0" noProof="0" dirty="0">
                <a:ln>
                  <a:noFill/>
                </a:ln>
                <a:solidFill>
                  <a:prstClr val="black"/>
                </a:solidFill>
                <a:effectLst/>
                <a:uLnTx/>
                <a:uFillTx/>
                <a:latin typeface="Calibri"/>
                <a:ea typeface="+mn-ea"/>
                <a:cs typeface="+mn-cs"/>
              </a:rPr>
              <a:t>*Z + e</a:t>
            </a:r>
            <a:r>
              <a:rPr kumimoji="0" lang="en-US" sz="24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4" name="TextBox 3"/>
          <p:cNvSpPr txBox="1"/>
          <p:nvPr/>
        </p:nvSpPr>
        <p:spPr>
          <a:xfrm>
            <a:off x="840713" y="3273486"/>
            <a:ext cx="555036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Partition X1 into parts correlated and uncorrelated with Z</a:t>
            </a:r>
          </a:p>
        </p:txBody>
      </p:sp>
      <p:sp>
        <p:nvSpPr>
          <p:cNvPr id="5" name="TextBox 4"/>
          <p:cNvSpPr txBox="1"/>
          <p:nvPr/>
        </p:nvSpPr>
        <p:spPr>
          <a:xfrm rot="19505841">
            <a:off x="3217960" y="4677624"/>
            <a:ext cx="7997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X1-hat</a:t>
            </a:r>
          </a:p>
        </p:txBody>
      </p:sp>
      <p:sp>
        <p:nvSpPr>
          <p:cNvPr id="6" name="Rectangle 5"/>
          <p:cNvSpPr/>
          <p:nvPr/>
        </p:nvSpPr>
        <p:spPr>
          <a:xfrm>
            <a:off x="4136816" y="5132199"/>
            <a:ext cx="39946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e</a:t>
            </a:r>
            <a:r>
              <a:rPr kumimoji="0" lang="en-US" sz="2000" b="0" i="0" u="none" strike="noStrike" kern="1200" cap="none" spc="0" normalizeH="0" baseline="-25000" noProof="0" dirty="0">
                <a:ln>
                  <a:noFill/>
                </a:ln>
                <a:solidFill>
                  <a:prstClr val="black"/>
                </a:solidFill>
                <a:effectLst/>
                <a:uLnTx/>
                <a:uFillTx/>
                <a:latin typeface="Calibri"/>
                <a:ea typeface="+mn-ea"/>
                <a:cs typeface="+mn-cs"/>
              </a:rPr>
              <a:t>1</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58128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44</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Step 2:</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2" name="Oval 11"/>
          <p:cNvSpPr/>
          <p:nvPr/>
        </p:nvSpPr>
        <p:spPr>
          <a:xfrm>
            <a:off x="4150767" y="4289763"/>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rot="2472277">
            <a:off x="2921814" y="3854585"/>
            <a:ext cx="1102767" cy="2057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2395523" y="6089626"/>
            <a:ext cx="10851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X1-hat</a:t>
            </a:r>
            <a:endParaRPr kumimoji="0" lang="en-US" sz="1800" b="0" i="0" u="none" strike="noStrike" kern="1200" cap="none" spc="0" normalizeH="0" baseline="-25000" noProof="0" dirty="0">
              <a:ln>
                <a:noFill/>
              </a:ln>
              <a:solidFill>
                <a:srgbClr val="FF0000"/>
              </a:solidFill>
              <a:effectLst/>
              <a:uLnTx/>
              <a:uFillTx/>
              <a:latin typeface="Calibri"/>
              <a:ea typeface="+mn-ea"/>
              <a:cs typeface="+mn-cs"/>
            </a:endParaRPr>
          </a:p>
        </p:txBody>
      </p:sp>
      <p:sp>
        <p:nvSpPr>
          <p:cNvPr id="20" name="TextBox 19"/>
          <p:cNvSpPr txBox="1"/>
          <p:nvPr/>
        </p:nvSpPr>
        <p:spPr>
          <a:xfrm>
            <a:off x="4565695" y="6103578"/>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7" name="Oval 26"/>
          <p:cNvSpPr/>
          <p:nvPr/>
        </p:nvSpPr>
        <p:spPr>
          <a:xfrm>
            <a:off x="3667373" y="3439366"/>
            <a:ext cx="1796643" cy="1855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4541025" y="2856948"/>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15" name="TextBox 14"/>
          <p:cNvSpPr txBox="1"/>
          <p:nvPr/>
        </p:nvSpPr>
        <p:spPr>
          <a:xfrm>
            <a:off x="2380701" y="8077200"/>
            <a:ext cx="297421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Y = b</a:t>
            </a:r>
            <a:r>
              <a:rPr kumimoji="0" lang="en-US" sz="2400" b="0" i="0" u="none" strike="noStrike" kern="1200" cap="none" spc="0" normalizeH="0" baseline="-25000" noProof="0" dirty="0">
                <a:ln>
                  <a:noFill/>
                </a:ln>
                <a:solidFill>
                  <a:prstClr val="black"/>
                </a:solidFill>
                <a:effectLst/>
                <a:uLnTx/>
                <a:uFillTx/>
                <a:latin typeface="Calibri"/>
                <a:ea typeface="+mn-ea"/>
                <a:cs typeface="+mn-cs"/>
              </a:rPr>
              <a:t>0</a:t>
            </a:r>
            <a:r>
              <a:rPr kumimoji="0" lang="en-US" sz="2400" b="0" i="0" u="none" strike="noStrike" kern="1200" cap="none" spc="0" normalizeH="0" baseline="0" noProof="0" dirty="0">
                <a:ln>
                  <a:noFill/>
                </a:ln>
                <a:solidFill>
                  <a:prstClr val="black"/>
                </a:solidFill>
                <a:effectLst/>
                <a:uLnTx/>
                <a:uFillTx/>
                <a:latin typeface="Calibri"/>
                <a:ea typeface="+mn-ea"/>
                <a:cs typeface="+mn-cs"/>
              </a:rPr>
              <a:t> + b</a:t>
            </a:r>
            <a:r>
              <a:rPr kumimoji="0" lang="en-US" sz="2400" b="0" i="0" u="none" strike="noStrike" kern="1200" cap="none" spc="0" normalizeH="0" baseline="-25000" noProof="0" dirty="0">
                <a:ln>
                  <a:noFill/>
                </a:ln>
                <a:solidFill>
                  <a:prstClr val="black"/>
                </a:solidFill>
                <a:effectLst/>
                <a:uLnTx/>
                <a:uFillTx/>
                <a:latin typeface="Calibri"/>
                <a:ea typeface="+mn-ea"/>
                <a:cs typeface="+mn-cs"/>
              </a:rPr>
              <a:t>1</a:t>
            </a:r>
            <a:r>
              <a:rPr kumimoji="0" lang="en-US" sz="2400" b="0" i="0" u="none" strike="noStrike" kern="1200" cap="none" spc="0" normalizeH="0" baseline="0" noProof="0" dirty="0">
                <a:ln>
                  <a:noFill/>
                </a:ln>
                <a:solidFill>
                  <a:prstClr val="black"/>
                </a:solidFill>
                <a:effectLst/>
                <a:uLnTx/>
                <a:uFillTx/>
                <a:latin typeface="Calibri"/>
                <a:ea typeface="+mn-ea"/>
                <a:cs typeface="+mn-cs"/>
              </a:rPr>
              <a:t>*X1-hat + e</a:t>
            </a:r>
            <a:r>
              <a:rPr kumimoji="0" lang="en-US" sz="240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16" name="TextBox 15"/>
          <p:cNvSpPr txBox="1"/>
          <p:nvPr/>
        </p:nvSpPr>
        <p:spPr>
          <a:xfrm>
            <a:off x="1600200" y="9144000"/>
            <a:ext cx="49121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Keep only the part of X1 that is correlated with Z.</a:t>
            </a:r>
          </a:p>
        </p:txBody>
      </p:sp>
    </p:spTree>
    <p:extLst>
      <p:ext uri="{BB962C8B-B14F-4D97-AF65-F5344CB8AC3E}">
        <p14:creationId xmlns:p14="http://schemas.microsoft.com/office/powerpoint/2010/main" val="36522798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45</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err="1">
                <a:ln>
                  <a:noFill/>
                </a:ln>
                <a:solidFill>
                  <a:srgbClr val="F79646">
                    <a:lumMod val="75000"/>
                  </a:srgbClr>
                </a:solidFill>
                <a:effectLst/>
                <a:uLnTx/>
                <a:uFillTx/>
                <a:latin typeface="Stencil" panose="040409050D0802020404" pitchFamily="82" charset="0"/>
                <a:ea typeface="+mj-ea"/>
                <a:cs typeface="+mj-cs"/>
              </a:rPr>
              <a:t>Ovb</a:t>
            </a: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 mitigated:</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2" name="Oval 11"/>
          <p:cNvSpPr/>
          <p:nvPr/>
        </p:nvSpPr>
        <p:spPr>
          <a:xfrm>
            <a:off x="2019738" y="3896060"/>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rot="2472277">
            <a:off x="790785" y="3460882"/>
            <a:ext cx="1102767" cy="2057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451157" y="6705600"/>
            <a:ext cx="10851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X1-hat</a:t>
            </a:r>
            <a:endParaRPr kumimoji="0" lang="en-US" sz="1800" b="0" i="0" u="none" strike="noStrike" kern="1200" cap="none" spc="0" normalizeH="0" baseline="-25000" noProof="0" dirty="0">
              <a:ln>
                <a:noFill/>
              </a:ln>
              <a:solidFill>
                <a:srgbClr val="FF0000"/>
              </a:solidFill>
              <a:effectLst/>
              <a:uLnTx/>
              <a:uFillTx/>
              <a:latin typeface="Calibri"/>
              <a:ea typeface="+mn-ea"/>
              <a:cs typeface="+mn-cs"/>
            </a:endParaRPr>
          </a:p>
        </p:txBody>
      </p:sp>
      <p:sp>
        <p:nvSpPr>
          <p:cNvPr id="20" name="TextBox 19"/>
          <p:cNvSpPr txBox="1"/>
          <p:nvPr/>
        </p:nvSpPr>
        <p:spPr>
          <a:xfrm>
            <a:off x="2434666" y="5709875"/>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7" name="Oval 26"/>
          <p:cNvSpPr/>
          <p:nvPr/>
        </p:nvSpPr>
        <p:spPr>
          <a:xfrm>
            <a:off x="1536344" y="3045663"/>
            <a:ext cx="1796643" cy="1855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2409996" y="2463245"/>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15" name="TextBox 14"/>
          <p:cNvSpPr txBox="1"/>
          <p:nvPr/>
        </p:nvSpPr>
        <p:spPr>
          <a:xfrm>
            <a:off x="1628834" y="7391400"/>
            <a:ext cx="3408305" cy="18158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Y = B</a:t>
            </a:r>
            <a:r>
              <a:rPr kumimoji="0" lang="en-US" sz="2400" b="0" i="0" u="none" strike="noStrike" kern="1200" cap="none" spc="0" normalizeH="0" baseline="-25000" noProof="0" dirty="0">
                <a:ln>
                  <a:noFill/>
                </a:ln>
                <a:solidFill>
                  <a:prstClr val="black"/>
                </a:solidFill>
                <a:effectLst/>
                <a:uLnTx/>
                <a:uFillTx/>
                <a:latin typeface="Calibri"/>
                <a:ea typeface="+mn-ea"/>
                <a:cs typeface="+mn-cs"/>
              </a:rPr>
              <a:t>0</a:t>
            </a:r>
            <a:r>
              <a:rPr kumimoji="0" lang="en-US" sz="2400" b="0" i="0" u="none" strike="noStrike" kern="1200" cap="none" spc="0" normalizeH="0" baseline="0" noProof="0" dirty="0">
                <a:ln>
                  <a:noFill/>
                </a:ln>
                <a:solidFill>
                  <a:prstClr val="black"/>
                </a:solidFill>
                <a:effectLst/>
                <a:uLnTx/>
                <a:uFillTx/>
                <a:latin typeface="Calibri"/>
                <a:ea typeface="+mn-ea"/>
                <a:cs typeface="+mn-cs"/>
              </a:rPr>
              <a:t> + B</a:t>
            </a:r>
            <a:r>
              <a:rPr kumimoji="0" lang="en-US" sz="2400" b="0" i="0" u="none" strike="noStrike" kern="1200" cap="none" spc="0" normalizeH="0" baseline="-25000" noProof="0" dirty="0">
                <a:ln>
                  <a:noFill/>
                </a:ln>
                <a:solidFill>
                  <a:prstClr val="black"/>
                </a:solidFill>
                <a:effectLst/>
                <a:uLnTx/>
                <a:uFillTx/>
                <a:latin typeface="Calibri"/>
                <a:ea typeface="+mn-ea"/>
                <a:cs typeface="+mn-cs"/>
              </a:rPr>
              <a:t>1</a:t>
            </a:r>
            <a:r>
              <a:rPr kumimoji="0" lang="en-US" sz="2400" b="0" i="0" u="none" strike="noStrike" kern="1200" cap="none" spc="0" normalizeH="0" baseline="0" noProof="0" dirty="0">
                <a:ln>
                  <a:noFill/>
                </a:ln>
                <a:solidFill>
                  <a:prstClr val="black"/>
                </a:solidFill>
                <a:effectLst/>
                <a:uLnTx/>
                <a:uFillTx/>
                <a:latin typeface="Calibri"/>
                <a:ea typeface="+mn-ea"/>
                <a:cs typeface="+mn-cs"/>
              </a:rPr>
              <a:t>*X1 + B</a:t>
            </a:r>
            <a:r>
              <a:rPr kumimoji="0" lang="en-US" sz="2400" b="0" i="0" u="none" strike="noStrike" kern="1200" cap="none" spc="0" normalizeH="0" baseline="-25000" noProof="0" dirty="0">
                <a:ln>
                  <a:noFill/>
                </a:ln>
                <a:solidFill>
                  <a:prstClr val="black"/>
                </a:solidFill>
                <a:effectLst/>
                <a:uLnTx/>
                <a:uFillTx/>
                <a:latin typeface="Calibri"/>
                <a:ea typeface="+mn-ea"/>
                <a:cs typeface="+mn-cs"/>
              </a:rPr>
              <a:t>2</a:t>
            </a:r>
            <a:r>
              <a:rPr kumimoji="0" lang="en-US" sz="2400" b="0" i="0" u="none" strike="noStrike" kern="1200" cap="none" spc="0" normalizeH="0" baseline="0" noProof="0" dirty="0">
                <a:ln>
                  <a:noFill/>
                </a:ln>
                <a:solidFill>
                  <a:prstClr val="black"/>
                </a:solidFill>
                <a:effectLst/>
                <a:uLnTx/>
                <a:uFillTx/>
                <a:latin typeface="Calibri"/>
                <a:ea typeface="+mn-ea"/>
                <a:cs typeface="+mn-cs"/>
              </a:rPr>
              <a:t>*X2 + 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Y = b</a:t>
            </a:r>
            <a:r>
              <a:rPr kumimoji="0" lang="en-US" sz="2400" b="0" i="0" u="none" strike="noStrike" kern="1200" cap="none" spc="0" normalizeH="0" baseline="-25000" noProof="0" dirty="0">
                <a:ln>
                  <a:noFill/>
                </a:ln>
                <a:solidFill>
                  <a:prstClr val="black"/>
                </a:solidFill>
                <a:effectLst/>
                <a:uLnTx/>
                <a:uFillTx/>
                <a:latin typeface="Calibri"/>
                <a:ea typeface="+mn-ea"/>
                <a:cs typeface="+mn-cs"/>
              </a:rPr>
              <a:t>0</a:t>
            </a:r>
            <a:r>
              <a:rPr kumimoji="0" lang="en-US" sz="2400" b="0" i="0" u="none" strike="noStrike" kern="1200" cap="none" spc="0" normalizeH="0" baseline="0" noProof="0" dirty="0">
                <a:ln>
                  <a:noFill/>
                </a:ln>
                <a:solidFill>
                  <a:prstClr val="black"/>
                </a:solidFill>
                <a:effectLst/>
                <a:uLnTx/>
                <a:uFillTx/>
                <a:latin typeface="Calibri"/>
                <a:ea typeface="+mn-ea"/>
                <a:cs typeface="+mn-cs"/>
              </a:rPr>
              <a:t> + b</a:t>
            </a:r>
            <a:r>
              <a:rPr kumimoji="0" lang="en-US" sz="2400" b="0" i="0" u="none" strike="noStrike" kern="1200" cap="none" spc="0" normalizeH="0" baseline="-25000" noProof="0" dirty="0">
                <a:ln>
                  <a:noFill/>
                </a:ln>
                <a:solidFill>
                  <a:prstClr val="black"/>
                </a:solidFill>
                <a:effectLst/>
                <a:uLnTx/>
                <a:uFillTx/>
                <a:latin typeface="Calibri"/>
                <a:ea typeface="+mn-ea"/>
                <a:cs typeface="+mn-cs"/>
              </a:rPr>
              <a:t>1</a:t>
            </a:r>
            <a:r>
              <a:rPr kumimoji="0" lang="en-US" sz="2400" b="0" i="0" u="none" strike="noStrike" kern="1200" cap="none" spc="0" normalizeH="0" baseline="0" noProof="0" dirty="0">
                <a:ln>
                  <a:noFill/>
                </a:ln>
                <a:solidFill>
                  <a:prstClr val="black"/>
                </a:solidFill>
                <a:effectLst/>
                <a:uLnTx/>
                <a:uFillTx/>
                <a:latin typeface="Calibri"/>
                <a:ea typeface="+mn-ea"/>
                <a:cs typeface="+mn-cs"/>
              </a:rPr>
              <a:t>*X1-hat + e</a:t>
            </a:r>
            <a:r>
              <a:rPr kumimoji="0" lang="en-US" sz="2400" b="0" i="0" u="none" strike="noStrike" kern="1200" cap="none" spc="0" normalizeH="0" baseline="-25000" noProof="0" dirty="0">
                <a:ln>
                  <a:noFill/>
                </a:ln>
                <a:solidFill>
                  <a:prstClr val="black"/>
                </a:solidFill>
                <a:effectLst/>
                <a:uLnTx/>
                <a:uFillTx/>
                <a:latin typeface="Calibri"/>
                <a:ea typeface="+mn-ea"/>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2500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b</a:t>
            </a:r>
            <a:r>
              <a:rPr kumimoji="0" lang="en-US" sz="2400" b="0" i="0" u="none" strike="noStrike" kern="1200" cap="none" spc="0" normalizeH="0" baseline="-25000" noProof="0" dirty="0">
                <a:ln>
                  <a:noFill/>
                </a:ln>
                <a:solidFill>
                  <a:prstClr val="black"/>
                </a:solidFill>
                <a:effectLst/>
                <a:uLnTx/>
                <a:uFillTx/>
                <a:latin typeface="Calibri"/>
                <a:ea typeface="+mn-ea"/>
                <a:cs typeface="+mn-cs"/>
              </a:rPr>
              <a:t>1  </a:t>
            </a:r>
            <a:r>
              <a:rPr kumimoji="0" lang="en-US" sz="2400" b="0" i="0" u="none" strike="noStrike" kern="1200" cap="none" spc="0" normalizeH="0" baseline="0" noProof="0" dirty="0">
                <a:ln>
                  <a:noFill/>
                </a:ln>
                <a:solidFill>
                  <a:prstClr val="black"/>
                </a:solidFill>
                <a:effectLst/>
                <a:uLnTx/>
                <a:uFillTx/>
                <a:latin typeface="Calibri"/>
                <a:ea typeface="+mn-ea"/>
                <a:cs typeface="+mn-cs"/>
              </a:rPr>
              <a:t>≈ B</a:t>
            </a:r>
            <a:r>
              <a:rPr kumimoji="0" lang="en-US" sz="24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11" name="Oval 10"/>
          <p:cNvSpPr/>
          <p:nvPr/>
        </p:nvSpPr>
        <p:spPr>
          <a:xfrm>
            <a:off x="5603675" y="3861716"/>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Oval 12"/>
          <p:cNvSpPr/>
          <p:nvPr/>
        </p:nvSpPr>
        <p:spPr>
          <a:xfrm>
            <a:off x="4500908" y="3839153"/>
            <a:ext cx="1848261" cy="16701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5068804" y="5675531"/>
            <a:ext cx="74589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srgbClr val="FF0000"/>
                </a:solidFill>
                <a:effectLst/>
                <a:uLnTx/>
                <a:uFillTx/>
                <a:latin typeface="Calibri"/>
                <a:ea typeface="+mn-ea"/>
                <a:cs typeface="+mn-cs"/>
              </a:rPr>
              <a:t>(policy variable)</a:t>
            </a:r>
          </a:p>
        </p:txBody>
      </p:sp>
      <p:sp>
        <p:nvSpPr>
          <p:cNvPr id="16" name="TextBox 15"/>
          <p:cNvSpPr txBox="1"/>
          <p:nvPr/>
        </p:nvSpPr>
        <p:spPr>
          <a:xfrm>
            <a:off x="6018603" y="5675531"/>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1" name="Oval 20"/>
          <p:cNvSpPr/>
          <p:nvPr/>
        </p:nvSpPr>
        <p:spPr>
          <a:xfrm>
            <a:off x="5120281" y="3011319"/>
            <a:ext cx="1796643" cy="1855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5993933" y="2428901"/>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3" name="TextBox 2"/>
          <p:cNvSpPr txBox="1"/>
          <p:nvPr/>
        </p:nvSpPr>
        <p:spPr>
          <a:xfrm>
            <a:off x="5599408" y="7391400"/>
            <a:ext cx="11801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79646">
                    <a:lumMod val="75000"/>
                  </a:srgbClr>
                </a:solidFill>
                <a:effectLst/>
                <a:uLnTx/>
                <a:uFillTx/>
                <a:latin typeface="Calibri"/>
                <a:ea typeface="+mn-ea"/>
                <a:cs typeface="+mn-cs"/>
              </a:rPr>
              <a:t>Full Model</a:t>
            </a:r>
          </a:p>
        </p:txBody>
      </p:sp>
      <p:sp>
        <p:nvSpPr>
          <p:cNvPr id="4" name="TextBox 3"/>
          <p:cNvSpPr txBox="1"/>
          <p:nvPr/>
        </p:nvSpPr>
        <p:spPr>
          <a:xfrm>
            <a:off x="5650199" y="8111628"/>
            <a:ext cx="103586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79646">
                    <a:lumMod val="75000"/>
                  </a:srgbClr>
                </a:solidFill>
                <a:effectLst/>
                <a:uLnTx/>
                <a:uFillTx/>
                <a:latin typeface="Calibri"/>
                <a:ea typeface="+mn-ea"/>
                <a:cs typeface="+mn-cs"/>
              </a:rPr>
              <a:t>IV Model</a:t>
            </a:r>
          </a:p>
        </p:txBody>
      </p:sp>
      <p:sp>
        <p:nvSpPr>
          <p:cNvPr id="23" name="TextBox 22"/>
          <p:cNvSpPr txBox="1"/>
          <p:nvPr/>
        </p:nvSpPr>
        <p:spPr>
          <a:xfrm>
            <a:off x="3411159" y="8828732"/>
            <a:ext cx="341824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79646">
                    <a:lumMod val="75000"/>
                  </a:srgbClr>
                </a:solidFill>
                <a:effectLst/>
                <a:uLnTx/>
                <a:uFillTx/>
                <a:latin typeface="Calibri"/>
                <a:ea typeface="+mn-ea"/>
                <a:cs typeface="+mn-cs"/>
              </a:rPr>
              <a:t>Naïve slope close to the true slope</a:t>
            </a:r>
          </a:p>
        </p:txBody>
      </p:sp>
    </p:spTree>
    <p:extLst>
      <p:ext uri="{BB962C8B-B14F-4D97-AF65-F5344CB8AC3E}">
        <p14:creationId xmlns:p14="http://schemas.microsoft.com/office/powerpoint/2010/main" val="7613689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Full version:</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A2A4A19-B384-42F8-8C0D-94C30AAB39F2}"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46</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7422752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200" dirty="0"/>
              <a:t>We have used a correlation model to examine omitted variable bias</a:t>
            </a:r>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47</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nvSpPr>
        <p:spPr>
          <a:xfrm>
            <a:off x="3541537" y="5182371"/>
            <a:ext cx="1684020" cy="1489710"/>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3044190" y="4507245"/>
            <a:ext cx="1684020" cy="14897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11" name="Oval 10"/>
          <p:cNvSpPr/>
          <p:nvPr/>
        </p:nvSpPr>
        <p:spPr>
          <a:xfrm>
            <a:off x="2590800" y="5025405"/>
            <a:ext cx="1684020" cy="148971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3965120" y="4019872"/>
            <a:ext cx="30970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13" name="TextBox 12"/>
          <p:cNvSpPr txBox="1"/>
          <p:nvPr/>
        </p:nvSpPr>
        <p:spPr>
          <a:xfrm>
            <a:off x="1941862" y="6470044"/>
            <a:ext cx="1675267"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(policy variable)</a:t>
            </a:r>
          </a:p>
        </p:txBody>
      </p:sp>
      <p:sp>
        <p:nvSpPr>
          <p:cNvPr id="14" name="TextBox 13"/>
          <p:cNvSpPr txBox="1"/>
          <p:nvPr/>
        </p:nvSpPr>
        <p:spPr>
          <a:xfrm>
            <a:off x="5225557" y="6348915"/>
            <a:ext cx="119936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Omitted</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Variable X</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p:txBody>
      </p:sp>
    </p:spTree>
    <p:extLst>
      <p:ext uri="{BB962C8B-B14F-4D97-AF65-F5344CB8AC3E}">
        <p14:creationId xmlns:p14="http://schemas.microsoft.com/office/powerpoint/2010/main" val="2951940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But there are many possible causal models:</a:t>
            </a:r>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48</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2921385" y="4261878"/>
            <a:ext cx="30970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10" name="TextBox 9"/>
          <p:cNvSpPr txBox="1"/>
          <p:nvPr/>
        </p:nvSpPr>
        <p:spPr>
          <a:xfrm>
            <a:off x="1518353" y="4261878"/>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12" name="TextBox 11"/>
          <p:cNvSpPr txBox="1"/>
          <p:nvPr/>
        </p:nvSpPr>
        <p:spPr>
          <a:xfrm>
            <a:off x="1968544" y="5256420"/>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26" name="Straight Arrow Connector 25"/>
          <p:cNvCxnSpPr>
            <a:stCxn id="10" idx="3"/>
            <a:endCxn id="9" idx="1"/>
          </p:cNvCxnSpPr>
          <p:nvPr/>
        </p:nvCxnSpPr>
        <p:spPr>
          <a:xfrm>
            <a:off x="1922631" y="4461933"/>
            <a:ext cx="998754"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2" idx="0"/>
            <a:endCxn id="9" idx="2"/>
          </p:cNvCxnSpPr>
          <p:nvPr/>
        </p:nvCxnSpPr>
        <p:spPr>
          <a:xfrm flipV="1">
            <a:off x="2170683" y="4661988"/>
            <a:ext cx="905552" cy="594432"/>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1077761" y="3508823"/>
            <a:ext cx="268849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Calibri"/>
                <a:ea typeface="+mn-ea"/>
                <a:cs typeface="+mn-cs"/>
              </a:rPr>
              <a:t>Case 1: Not Problematic</a:t>
            </a:r>
          </a:p>
        </p:txBody>
      </p:sp>
      <p:sp>
        <p:nvSpPr>
          <p:cNvPr id="32" name="Oval 31"/>
          <p:cNvSpPr/>
          <p:nvPr/>
        </p:nvSpPr>
        <p:spPr>
          <a:xfrm>
            <a:off x="4959659" y="5274945"/>
            <a:ext cx="1684020" cy="1489710"/>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44" name="Oval 43"/>
          <p:cNvSpPr/>
          <p:nvPr/>
        </p:nvSpPr>
        <p:spPr>
          <a:xfrm>
            <a:off x="3884955" y="5501640"/>
            <a:ext cx="1684020" cy="148971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45" name="Oval 44"/>
          <p:cNvSpPr/>
          <p:nvPr/>
        </p:nvSpPr>
        <p:spPr>
          <a:xfrm>
            <a:off x="3431565" y="6019800"/>
            <a:ext cx="1684020" cy="148971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47" name="TextBox 46"/>
          <p:cNvSpPr txBox="1"/>
          <p:nvPr/>
        </p:nvSpPr>
        <p:spPr>
          <a:xfrm>
            <a:off x="4104175" y="5187707"/>
            <a:ext cx="280846"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48" name="TextBox 47"/>
          <p:cNvSpPr txBox="1"/>
          <p:nvPr/>
        </p:nvSpPr>
        <p:spPr>
          <a:xfrm>
            <a:off x="3301985" y="7383765"/>
            <a:ext cx="352982"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srgbClr val="FF0000"/>
                </a:solidFill>
                <a:effectLst/>
                <a:uLnTx/>
                <a:uFillTx/>
                <a:latin typeface="Calibri"/>
                <a:ea typeface="+mn-ea"/>
                <a:cs typeface="+mn-cs"/>
              </a:rPr>
              <a:t>X</a:t>
            </a:r>
            <a:r>
              <a:rPr kumimoji="0" lang="en-US" sz="1530" b="0" i="0" u="none" strike="noStrike" kern="1200" cap="none" spc="0" normalizeH="0" baseline="-25000" noProof="0" dirty="0">
                <a:ln>
                  <a:noFill/>
                </a:ln>
                <a:solidFill>
                  <a:srgbClr val="FF0000"/>
                </a:solidFill>
                <a:effectLst/>
                <a:uLnTx/>
                <a:uFillTx/>
                <a:latin typeface="Calibri"/>
                <a:ea typeface="+mn-ea"/>
                <a:cs typeface="+mn-cs"/>
              </a:rPr>
              <a:t>1</a:t>
            </a:r>
          </a:p>
        </p:txBody>
      </p:sp>
      <p:sp>
        <p:nvSpPr>
          <p:cNvPr id="49" name="TextBox 48"/>
          <p:cNvSpPr txBox="1"/>
          <p:nvPr/>
        </p:nvSpPr>
        <p:spPr>
          <a:xfrm>
            <a:off x="6449369" y="6606525"/>
            <a:ext cx="352982"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X</a:t>
            </a:r>
            <a:r>
              <a:rPr kumimoji="0" lang="en-US" sz="1530" b="0" i="0" u="none" strike="noStrike" kern="1200" cap="none" spc="0" normalizeH="0" baseline="-25000" noProof="0" dirty="0">
                <a:ln>
                  <a:noFill/>
                </a:ln>
                <a:solidFill>
                  <a:prstClr val="black"/>
                </a:solidFill>
                <a:effectLst/>
                <a:uLnTx/>
                <a:uFillTx/>
                <a:latin typeface="Calibri"/>
                <a:ea typeface="+mn-ea"/>
                <a:cs typeface="+mn-cs"/>
              </a:rPr>
              <a:t>2</a:t>
            </a:r>
          </a:p>
        </p:txBody>
      </p:sp>
    </p:spTree>
    <p:extLst>
      <p:ext uri="{BB962C8B-B14F-4D97-AF65-F5344CB8AC3E}">
        <p14:creationId xmlns:p14="http://schemas.microsoft.com/office/powerpoint/2010/main" val="35490574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49</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3" name="TextBox 32"/>
          <p:cNvSpPr txBox="1"/>
          <p:nvPr/>
        </p:nvSpPr>
        <p:spPr>
          <a:xfrm>
            <a:off x="3916870" y="4345864"/>
            <a:ext cx="30970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34" name="TextBox 33"/>
          <p:cNvSpPr txBox="1"/>
          <p:nvPr/>
        </p:nvSpPr>
        <p:spPr>
          <a:xfrm>
            <a:off x="3197665" y="4345864"/>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35" name="TextBox 34"/>
          <p:cNvSpPr txBox="1"/>
          <p:nvPr/>
        </p:nvSpPr>
        <p:spPr>
          <a:xfrm>
            <a:off x="3467567" y="4928794"/>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36" name="Straight Arrow Connector 35"/>
          <p:cNvCxnSpPr>
            <a:stCxn id="34" idx="3"/>
            <a:endCxn id="33" idx="1"/>
          </p:cNvCxnSpPr>
          <p:nvPr/>
        </p:nvCxnSpPr>
        <p:spPr>
          <a:xfrm>
            <a:off x="3601943" y="4545919"/>
            <a:ext cx="314927"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35" idx="0"/>
            <a:endCxn id="33" idx="2"/>
          </p:cNvCxnSpPr>
          <p:nvPr/>
        </p:nvCxnSpPr>
        <p:spPr>
          <a:xfrm flipV="1">
            <a:off x="3669706" y="4745974"/>
            <a:ext cx="402014" cy="18282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668503" y="4310566"/>
            <a:ext cx="30970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39" name="TextBox 38"/>
          <p:cNvSpPr txBox="1"/>
          <p:nvPr/>
        </p:nvSpPr>
        <p:spPr>
          <a:xfrm>
            <a:off x="949298" y="4310566"/>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40" name="TextBox 39"/>
          <p:cNvSpPr txBox="1"/>
          <p:nvPr/>
        </p:nvSpPr>
        <p:spPr>
          <a:xfrm>
            <a:off x="1219200" y="4893496"/>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41" name="Straight Arrow Connector 40"/>
          <p:cNvCxnSpPr>
            <a:stCxn id="39" idx="3"/>
            <a:endCxn id="38" idx="1"/>
          </p:cNvCxnSpPr>
          <p:nvPr/>
        </p:nvCxnSpPr>
        <p:spPr>
          <a:xfrm>
            <a:off x="1353576" y="4510621"/>
            <a:ext cx="314927"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8" idx="2"/>
          </p:cNvCxnSpPr>
          <p:nvPr/>
        </p:nvCxnSpPr>
        <p:spPr>
          <a:xfrm flipH="1">
            <a:off x="1471865" y="4710676"/>
            <a:ext cx="351488" cy="237672"/>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4" idx="2"/>
          </p:cNvCxnSpPr>
          <p:nvPr/>
        </p:nvCxnSpPr>
        <p:spPr>
          <a:xfrm>
            <a:off x="3399804" y="4745974"/>
            <a:ext cx="123784" cy="192738"/>
          </a:xfrm>
          <a:prstGeom prst="straightConnector1">
            <a:avLst/>
          </a:prstGeom>
          <a:ln w="15875">
            <a:solidFill>
              <a:srgbClr val="FF0000"/>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40" idx="0"/>
            <a:endCxn id="39" idx="2"/>
          </p:cNvCxnSpPr>
          <p:nvPr/>
        </p:nvCxnSpPr>
        <p:spPr>
          <a:xfrm flipH="1" flipV="1">
            <a:off x="1151437" y="4710676"/>
            <a:ext cx="269902" cy="18282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6144845" y="4365418"/>
            <a:ext cx="30970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56" name="TextBox 55"/>
          <p:cNvSpPr txBox="1"/>
          <p:nvPr/>
        </p:nvSpPr>
        <p:spPr>
          <a:xfrm>
            <a:off x="5425640" y="4365418"/>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57" name="TextBox 56"/>
          <p:cNvSpPr txBox="1"/>
          <p:nvPr/>
        </p:nvSpPr>
        <p:spPr>
          <a:xfrm>
            <a:off x="5695542" y="4948348"/>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58" name="Straight Arrow Connector 57"/>
          <p:cNvCxnSpPr>
            <a:stCxn id="56" idx="3"/>
            <a:endCxn id="55" idx="1"/>
          </p:cNvCxnSpPr>
          <p:nvPr/>
        </p:nvCxnSpPr>
        <p:spPr>
          <a:xfrm>
            <a:off x="5829918" y="4565473"/>
            <a:ext cx="314927"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57" idx="0"/>
            <a:endCxn id="55" idx="2"/>
          </p:cNvCxnSpPr>
          <p:nvPr/>
        </p:nvCxnSpPr>
        <p:spPr>
          <a:xfrm flipV="1">
            <a:off x="5897681" y="4765528"/>
            <a:ext cx="402014" cy="18282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56" idx="2"/>
          </p:cNvCxnSpPr>
          <p:nvPr/>
        </p:nvCxnSpPr>
        <p:spPr>
          <a:xfrm>
            <a:off x="5627779" y="4765528"/>
            <a:ext cx="123784" cy="192738"/>
          </a:xfrm>
          <a:prstGeom prst="straightConnector1">
            <a:avLst/>
          </a:prstGeom>
          <a:ln w="15875">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3364939" y="3987429"/>
            <a:ext cx="86113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Calibri"/>
                <a:ea typeface="+mn-ea"/>
                <a:cs typeface="+mn-cs"/>
              </a:rPr>
              <a:t>Case 3</a:t>
            </a:r>
          </a:p>
        </p:txBody>
      </p:sp>
      <p:sp>
        <p:nvSpPr>
          <p:cNvPr id="63" name="TextBox 62"/>
          <p:cNvSpPr txBox="1"/>
          <p:nvPr/>
        </p:nvSpPr>
        <p:spPr>
          <a:xfrm>
            <a:off x="1059346" y="3983569"/>
            <a:ext cx="86113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Calibri"/>
                <a:ea typeface="+mn-ea"/>
                <a:cs typeface="+mn-cs"/>
              </a:rPr>
              <a:t>Case 2</a:t>
            </a:r>
          </a:p>
        </p:txBody>
      </p:sp>
      <p:sp>
        <p:nvSpPr>
          <p:cNvPr id="64" name="TextBox 63"/>
          <p:cNvSpPr txBox="1"/>
          <p:nvPr/>
        </p:nvSpPr>
        <p:spPr>
          <a:xfrm>
            <a:off x="5592914" y="4018929"/>
            <a:ext cx="86113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lumMod val="50000"/>
                  </a:prstClr>
                </a:solidFill>
                <a:effectLst/>
                <a:uLnTx/>
                <a:uFillTx/>
                <a:latin typeface="Calibri"/>
                <a:ea typeface="+mn-ea"/>
                <a:cs typeface="+mn-cs"/>
              </a:rPr>
              <a:t>Case 4</a:t>
            </a:r>
          </a:p>
        </p:txBody>
      </p:sp>
      <p:sp>
        <p:nvSpPr>
          <p:cNvPr id="65" name="Oval 64"/>
          <p:cNvSpPr/>
          <p:nvPr/>
        </p:nvSpPr>
        <p:spPr>
          <a:xfrm>
            <a:off x="3946435" y="8165355"/>
            <a:ext cx="842010" cy="805829"/>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66" name="Oval 65"/>
          <p:cNvSpPr/>
          <p:nvPr/>
        </p:nvSpPr>
        <p:spPr>
          <a:xfrm>
            <a:off x="3646169" y="7837129"/>
            <a:ext cx="842010" cy="8058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67" name="Oval 66"/>
          <p:cNvSpPr/>
          <p:nvPr/>
        </p:nvSpPr>
        <p:spPr>
          <a:xfrm>
            <a:off x="3389133" y="8210872"/>
            <a:ext cx="842010" cy="805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68" name="TextBox 67"/>
          <p:cNvSpPr txBox="1"/>
          <p:nvPr/>
        </p:nvSpPr>
        <p:spPr>
          <a:xfrm>
            <a:off x="3893818" y="7523196"/>
            <a:ext cx="337324" cy="3277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69" name="TextBox 68"/>
          <p:cNvSpPr txBox="1"/>
          <p:nvPr/>
        </p:nvSpPr>
        <p:spPr>
          <a:xfrm>
            <a:off x="3099423" y="8642958"/>
            <a:ext cx="362273" cy="3277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srgbClr val="FF0000"/>
                </a:solidFill>
                <a:effectLst/>
                <a:uLnTx/>
                <a:uFillTx/>
                <a:latin typeface="Calibri"/>
                <a:ea typeface="+mn-ea"/>
                <a:cs typeface="+mn-cs"/>
              </a:rPr>
              <a:t>X</a:t>
            </a:r>
            <a:r>
              <a:rPr kumimoji="0" lang="en-US" sz="1530" b="0" i="0" u="none" strike="noStrike" kern="1200" cap="none" spc="0" normalizeH="0" baseline="-25000" noProof="0" dirty="0">
                <a:ln>
                  <a:noFill/>
                </a:ln>
                <a:solidFill>
                  <a:srgbClr val="FF0000"/>
                </a:solidFill>
                <a:effectLst/>
                <a:uLnTx/>
                <a:uFillTx/>
                <a:latin typeface="Calibri"/>
                <a:ea typeface="+mn-ea"/>
                <a:cs typeface="+mn-cs"/>
              </a:rPr>
              <a:t>1</a:t>
            </a:r>
          </a:p>
        </p:txBody>
      </p:sp>
      <p:sp>
        <p:nvSpPr>
          <p:cNvPr id="70" name="TextBox 69"/>
          <p:cNvSpPr txBox="1"/>
          <p:nvPr/>
        </p:nvSpPr>
        <p:spPr>
          <a:xfrm>
            <a:off x="4723675" y="8658193"/>
            <a:ext cx="388620" cy="3277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X</a:t>
            </a:r>
            <a:r>
              <a:rPr kumimoji="0" lang="en-US" sz="153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32" name="Title 4"/>
          <p:cNvSpPr txBox="1">
            <a:spLocks/>
          </p:cNvSpPr>
          <p:nvPr/>
        </p:nvSpPr>
        <p:spPr>
          <a:xfrm>
            <a:off x="397764" y="1157985"/>
            <a:ext cx="6995160" cy="1676400"/>
          </a:xfrm>
          <a:prstGeom prst="rect">
            <a:avLst/>
          </a:prstGeom>
        </p:spPr>
        <p:txBody>
          <a:bodyPr>
            <a:normAutofit fontScale="900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79646">
                    <a:lumMod val="75000"/>
                  </a:srgbClr>
                </a:solidFill>
                <a:effectLst/>
                <a:uLnTx/>
                <a:uFillTx/>
                <a:latin typeface="Stencil" panose="040409050D0802020404" pitchFamily="82" charset="0"/>
                <a:ea typeface="+mj-ea"/>
                <a:cs typeface="+mj-cs"/>
              </a:rPr>
              <a:t>But there are many possible causal models:</a:t>
            </a: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4" name="TextBox 3"/>
          <p:cNvSpPr txBox="1"/>
          <p:nvPr/>
        </p:nvSpPr>
        <p:spPr>
          <a:xfrm>
            <a:off x="1909785" y="6063627"/>
            <a:ext cx="463257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These are problematic when we omit X</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r>
              <a:rPr kumimoji="0" lang="en-US" sz="1800" b="0" i="0" u="none" strike="noStrike" kern="1200" cap="none" spc="0" normalizeH="0" baseline="0" noProof="0" dirty="0">
                <a:ln>
                  <a:noFill/>
                </a:ln>
                <a:solidFill>
                  <a:prstClr val="black"/>
                </a:solidFill>
                <a:effectLst/>
                <a:uLnTx/>
                <a:uFillTx/>
                <a:latin typeface="Calibri"/>
                <a:ea typeface="+mn-ea"/>
                <a:cs typeface="+mn-cs"/>
              </a:rPr>
              <a:t> because our slope on X</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r>
              <a:rPr kumimoji="0" lang="en-US" sz="1800" b="0" i="0" u="none" strike="noStrike" kern="1200" cap="none" spc="0" normalizeH="0" baseline="0" noProof="0" dirty="0">
                <a:ln>
                  <a:noFill/>
                </a:ln>
                <a:solidFill>
                  <a:prstClr val="black"/>
                </a:solidFill>
                <a:effectLst/>
                <a:uLnTx/>
                <a:uFillTx/>
                <a:latin typeface="Calibri"/>
                <a:ea typeface="+mn-ea"/>
                <a:cs typeface="+mn-cs"/>
              </a:rPr>
              <a:t> will not be biased</a:t>
            </a:r>
          </a:p>
        </p:txBody>
      </p:sp>
    </p:spTree>
    <p:extLst>
      <p:ext uri="{BB962C8B-B14F-4D97-AF65-F5344CB8AC3E}">
        <p14:creationId xmlns:p14="http://schemas.microsoft.com/office/powerpoint/2010/main" val="27623786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3600" dirty="0"/>
              <a:t>Lurking variables…</a:t>
            </a:r>
            <a:r>
              <a:rPr lang="en-US" sz="3600" dirty="0">
                <a:solidFill>
                  <a:schemeClr val="tx1">
                    <a:lumMod val="50000"/>
                    <a:lumOff val="50000"/>
                  </a:schemeClr>
                </a:solidFill>
              </a:rPr>
              <a:t>spurious correlations</a:t>
            </a:r>
            <a:br>
              <a:rPr lang="en-US" dirty="0"/>
            </a:br>
            <a:endParaRPr lang="en-US" dirty="0"/>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50</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2921385" y="4261878"/>
            <a:ext cx="280846"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Y</a:t>
            </a:r>
          </a:p>
        </p:txBody>
      </p:sp>
      <p:sp>
        <p:nvSpPr>
          <p:cNvPr id="10" name="TextBox 9"/>
          <p:cNvSpPr txBox="1"/>
          <p:nvPr/>
        </p:nvSpPr>
        <p:spPr>
          <a:xfrm>
            <a:off x="2202180" y="4261878"/>
            <a:ext cx="352982"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X</a:t>
            </a:r>
            <a:r>
              <a:rPr kumimoji="0" lang="en-US" sz="153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12" name="TextBox 11"/>
          <p:cNvSpPr txBox="1"/>
          <p:nvPr/>
        </p:nvSpPr>
        <p:spPr>
          <a:xfrm>
            <a:off x="2472082" y="4844808"/>
            <a:ext cx="352982"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X</a:t>
            </a:r>
            <a:r>
              <a:rPr kumimoji="0" lang="en-US" sz="153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26" name="Straight Arrow Connector 25"/>
          <p:cNvCxnSpPr>
            <a:stCxn id="12" idx="0"/>
            <a:endCxn id="10" idx="2"/>
          </p:cNvCxnSpPr>
          <p:nvPr/>
        </p:nvCxnSpPr>
        <p:spPr>
          <a:xfrm flipH="1" flipV="1">
            <a:off x="2378671" y="4589660"/>
            <a:ext cx="269902" cy="255148"/>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2" idx="0"/>
            <a:endCxn id="9" idx="2"/>
          </p:cNvCxnSpPr>
          <p:nvPr/>
        </p:nvCxnSpPr>
        <p:spPr>
          <a:xfrm flipV="1">
            <a:off x="2648573" y="4589660"/>
            <a:ext cx="413235" cy="255148"/>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382645" y="4251960"/>
            <a:ext cx="280846"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Y</a:t>
            </a:r>
          </a:p>
        </p:txBody>
      </p:sp>
      <p:sp>
        <p:nvSpPr>
          <p:cNvPr id="34" name="TextBox 33"/>
          <p:cNvSpPr txBox="1"/>
          <p:nvPr/>
        </p:nvSpPr>
        <p:spPr>
          <a:xfrm>
            <a:off x="4663440" y="4251960"/>
            <a:ext cx="352982"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X</a:t>
            </a:r>
            <a:r>
              <a:rPr kumimoji="0" lang="en-US" sz="153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35" name="TextBox 34"/>
          <p:cNvSpPr txBox="1"/>
          <p:nvPr/>
        </p:nvSpPr>
        <p:spPr>
          <a:xfrm>
            <a:off x="4933342" y="4834890"/>
            <a:ext cx="352982"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X</a:t>
            </a:r>
            <a:r>
              <a:rPr kumimoji="0" lang="en-US" sz="153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36" name="Straight Arrow Connector 35"/>
          <p:cNvCxnSpPr>
            <a:stCxn id="34" idx="3"/>
            <a:endCxn id="33" idx="1"/>
          </p:cNvCxnSpPr>
          <p:nvPr/>
        </p:nvCxnSpPr>
        <p:spPr>
          <a:xfrm>
            <a:off x="5016422" y="4415851"/>
            <a:ext cx="366223"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4" idx="2"/>
          </p:cNvCxnSpPr>
          <p:nvPr/>
        </p:nvCxnSpPr>
        <p:spPr>
          <a:xfrm>
            <a:off x="4839931" y="4579742"/>
            <a:ext cx="149432" cy="265066"/>
          </a:xfrm>
          <a:prstGeom prst="straightConnector1">
            <a:avLst/>
          </a:prstGeom>
          <a:ln w="15875">
            <a:solidFill>
              <a:srgbClr val="FF0000"/>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2372822" y="3900684"/>
            <a:ext cx="702436"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white">
                    <a:lumMod val="50000"/>
                  </a:prstClr>
                </a:solidFill>
                <a:effectLst/>
                <a:uLnTx/>
                <a:uFillTx/>
                <a:latin typeface="Calibri"/>
                <a:ea typeface="+mn-ea"/>
                <a:cs typeface="+mn-cs"/>
              </a:rPr>
              <a:t>Case 5</a:t>
            </a:r>
          </a:p>
        </p:txBody>
      </p:sp>
      <p:sp>
        <p:nvSpPr>
          <p:cNvPr id="62" name="TextBox 61"/>
          <p:cNvSpPr txBox="1"/>
          <p:nvPr/>
        </p:nvSpPr>
        <p:spPr>
          <a:xfrm>
            <a:off x="4830714" y="3893525"/>
            <a:ext cx="702436" cy="3277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white">
                    <a:lumMod val="50000"/>
                  </a:prstClr>
                </a:solidFill>
                <a:effectLst/>
                <a:uLnTx/>
                <a:uFillTx/>
                <a:latin typeface="Calibri"/>
                <a:ea typeface="+mn-ea"/>
                <a:cs typeface="+mn-cs"/>
              </a:rPr>
              <a:t>Case 6</a:t>
            </a:r>
          </a:p>
        </p:txBody>
      </p:sp>
      <p:sp>
        <p:nvSpPr>
          <p:cNvPr id="44" name="Oval 43"/>
          <p:cNvSpPr/>
          <p:nvPr/>
        </p:nvSpPr>
        <p:spPr>
          <a:xfrm>
            <a:off x="2364105" y="6128376"/>
            <a:ext cx="842010" cy="805829"/>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45" name="Oval 44"/>
          <p:cNvSpPr/>
          <p:nvPr/>
        </p:nvSpPr>
        <p:spPr>
          <a:xfrm>
            <a:off x="2785110" y="5926062"/>
            <a:ext cx="842010" cy="8058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47" name="Oval 46"/>
          <p:cNvSpPr/>
          <p:nvPr/>
        </p:nvSpPr>
        <p:spPr>
          <a:xfrm>
            <a:off x="1887160" y="5905065"/>
            <a:ext cx="842010" cy="805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48" name="TextBox 47"/>
          <p:cNvSpPr txBox="1"/>
          <p:nvPr/>
        </p:nvSpPr>
        <p:spPr>
          <a:xfrm>
            <a:off x="3248625" y="6128376"/>
            <a:ext cx="337324" cy="3277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49" name="TextBox 48"/>
          <p:cNvSpPr txBox="1"/>
          <p:nvPr/>
        </p:nvSpPr>
        <p:spPr>
          <a:xfrm>
            <a:off x="2022109" y="6097323"/>
            <a:ext cx="362273" cy="3277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srgbClr val="FF0000"/>
                </a:solidFill>
                <a:effectLst/>
                <a:uLnTx/>
                <a:uFillTx/>
                <a:latin typeface="Calibri"/>
                <a:ea typeface="+mn-ea"/>
                <a:cs typeface="+mn-cs"/>
              </a:rPr>
              <a:t>X</a:t>
            </a:r>
            <a:r>
              <a:rPr kumimoji="0" lang="en-US" sz="1530" b="0" i="0" u="none" strike="noStrike" kern="1200" cap="none" spc="0" normalizeH="0" baseline="-25000" noProof="0" dirty="0">
                <a:ln>
                  <a:noFill/>
                </a:ln>
                <a:solidFill>
                  <a:srgbClr val="FF0000"/>
                </a:solidFill>
                <a:effectLst/>
                <a:uLnTx/>
                <a:uFillTx/>
                <a:latin typeface="Calibri"/>
                <a:ea typeface="+mn-ea"/>
                <a:cs typeface="+mn-cs"/>
              </a:rPr>
              <a:t>1</a:t>
            </a:r>
          </a:p>
        </p:txBody>
      </p:sp>
      <p:sp>
        <p:nvSpPr>
          <p:cNvPr id="50" name="TextBox 49"/>
          <p:cNvSpPr txBox="1"/>
          <p:nvPr/>
        </p:nvSpPr>
        <p:spPr>
          <a:xfrm>
            <a:off x="2590800" y="6569744"/>
            <a:ext cx="388620" cy="3277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X</a:t>
            </a:r>
            <a:r>
              <a:rPr kumimoji="0" lang="en-US" sz="153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51" name="Oval 50"/>
          <p:cNvSpPr/>
          <p:nvPr/>
        </p:nvSpPr>
        <p:spPr>
          <a:xfrm>
            <a:off x="4488342" y="5871210"/>
            <a:ext cx="842010" cy="805829"/>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52" name="Oval 51"/>
          <p:cNvSpPr/>
          <p:nvPr/>
        </p:nvSpPr>
        <p:spPr>
          <a:xfrm>
            <a:off x="5382645" y="5871210"/>
            <a:ext cx="842010" cy="8058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53" name="Oval 52"/>
          <p:cNvSpPr/>
          <p:nvPr/>
        </p:nvSpPr>
        <p:spPr>
          <a:xfrm>
            <a:off x="5017920" y="6162675"/>
            <a:ext cx="842010" cy="805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30" b="0" i="0" u="none" strike="noStrike" kern="1200" cap="none" spc="0" normalizeH="0" baseline="0" noProof="0">
              <a:ln>
                <a:noFill/>
              </a:ln>
              <a:solidFill>
                <a:prstClr val="white"/>
              </a:solidFill>
              <a:effectLst/>
              <a:uLnTx/>
              <a:uFillTx/>
              <a:latin typeface="Calibri"/>
              <a:ea typeface="+mn-ea"/>
              <a:cs typeface="+mn-cs"/>
            </a:endParaRPr>
          </a:p>
        </p:txBody>
      </p:sp>
      <p:sp>
        <p:nvSpPr>
          <p:cNvPr id="54" name="TextBox 53"/>
          <p:cNvSpPr txBox="1"/>
          <p:nvPr/>
        </p:nvSpPr>
        <p:spPr>
          <a:xfrm>
            <a:off x="5866579" y="6098386"/>
            <a:ext cx="337324" cy="3277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65" name="TextBox 64"/>
          <p:cNvSpPr txBox="1"/>
          <p:nvPr/>
        </p:nvSpPr>
        <p:spPr>
          <a:xfrm>
            <a:off x="5257788" y="6585032"/>
            <a:ext cx="362273" cy="3277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srgbClr val="FF0000"/>
                </a:solidFill>
                <a:effectLst/>
                <a:uLnTx/>
                <a:uFillTx/>
                <a:latin typeface="Calibri"/>
                <a:ea typeface="+mn-ea"/>
                <a:cs typeface="+mn-cs"/>
              </a:rPr>
              <a:t>X</a:t>
            </a:r>
            <a:r>
              <a:rPr kumimoji="0" lang="en-US" sz="1530" b="0" i="0" u="none" strike="noStrike" kern="1200" cap="none" spc="0" normalizeH="0" baseline="-25000" noProof="0" dirty="0">
                <a:ln>
                  <a:noFill/>
                </a:ln>
                <a:solidFill>
                  <a:srgbClr val="FF0000"/>
                </a:solidFill>
                <a:effectLst/>
                <a:uLnTx/>
                <a:uFillTx/>
                <a:latin typeface="Calibri"/>
                <a:ea typeface="+mn-ea"/>
                <a:cs typeface="+mn-cs"/>
              </a:rPr>
              <a:t>1</a:t>
            </a:r>
          </a:p>
        </p:txBody>
      </p:sp>
      <p:sp>
        <p:nvSpPr>
          <p:cNvPr id="66" name="TextBox 65"/>
          <p:cNvSpPr txBox="1"/>
          <p:nvPr/>
        </p:nvSpPr>
        <p:spPr>
          <a:xfrm>
            <a:off x="4632091" y="6098386"/>
            <a:ext cx="388620" cy="3277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30" b="0" i="0" u="none" strike="noStrike" kern="1200" cap="none" spc="0" normalizeH="0" baseline="0" noProof="0" dirty="0">
                <a:ln>
                  <a:noFill/>
                </a:ln>
                <a:solidFill>
                  <a:prstClr val="black"/>
                </a:solidFill>
                <a:effectLst/>
                <a:uLnTx/>
                <a:uFillTx/>
                <a:latin typeface="Calibri"/>
                <a:ea typeface="+mn-ea"/>
                <a:cs typeface="+mn-cs"/>
              </a:rPr>
              <a:t>X</a:t>
            </a:r>
            <a:r>
              <a:rPr kumimoji="0" lang="en-US" sz="153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4" name="TextBox 3"/>
          <p:cNvSpPr txBox="1"/>
          <p:nvPr/>
        </p:nvSpPr>
        <p:spPr>
          <a:xfrm>
            <a:off x="2212400" y="8143513"/>
            <a:ext cx="382284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Don’t worry about these cases for now</a:t>
            </a:r>
          </a:p>
        </p:txBody>
      </p:sp>
    </p:spTree>
    <p:extLst>
      <p:ext uri="{BB962C8B-B14F-4D97-AF65-F5344CB8AC3E}">
        <p14:creationId xmlns:p14="http://schemas.microsoft.com/office/powerpoint/2010/main" val="3132082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how do we fix this?</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A2A4A19-B384-42F8-8C0D-94C30AAB39F2}"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51</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8546453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Instrumental variables exploit </a:t>
            </a:r>
            <a:r>
              <a:rPr lang="en-US" dirty="0" err="1"/>
              <a:t>exogeneity</a:t>
            </a:r>
            <a:r>
              <a:rPr lang="en-US" dirty="0"/>
              <a:t>:</a:t>
            </a:r>
            <a:br>
              <a:rPr lang="en-US" dirty="0"/>
            </a:br>
            <a:endParaRPr lang="en-US" dirty="0"/>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52</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3" name="TextBox 32"/>
          <p:cNvSpPr txBox="1"/>
          <p:nvPr/>
        </p:nvSpPr>
        <p:spPr>
          <a:xfrm>
            <a:off x="3894080" y="3780728"/>
            <a:ext cx="30970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34" name="TextBox 33"/>
          <p:cNvSpPr txBox="1"/>
          <p:nvPr/>
        </p:nvSpPr>
        <p:spPr>
          <a:xfrm>
            <a:off x="3174875" y="3780728"/>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35" name="TextBox 34"/>
          <p:cNvSpPr txBox="1"/>
          <p:nvPr/>
        </p:nvSpPr>
        <p:spPr>
          <a:xfrm>
            <a:off x="3444777" y="4363658"/>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36" name="Straight Arrow Connector 35"/>
          <p:cNvCxnSpPr>
            <a:stCxn id="34" idx="3"/>
            <a:endCxn id="33" idx="1"/>
          </p:cNvCxnSpPr>
          <p:nvPr/>
        </p:nvCxnSpPr>
        <p:spPr>
          <a:xfrm>
            <a:off x="3579153" y="3980783"/>
            <a:ext cx="314927"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35" idx="0"/>
            <a:endCxn id="33" idx="2"/>
          </p:cNvCxnSpPr>
          <p:nvPr/>
        </p:nvCxnSpPr>
        <p:spPr>
          <a:xfrm flipV="1">
            <a:off x="3646916" y="4180838"/>
            <a:ext cx="402014" cy="18282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34" idx="2"/>
          </p:cNvCxnSpPr>
          <p:nvPr/>
        </p:nvCxnSpPr>
        <p:spPr>
          <a:xfrm>
            <a:off x="3377014" y="4180838"/>
            <a:ext cx="123784" cy="192738"/>
          </a:xfrm>
          <a:prstGeom prst="straightConnector1">
            <a:avLst/>
          </a:prstGeom>
          <a:ln w="158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2527175" y="3466311"/>
            <a:ext cx="30649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B050"/>
                </a:solidFill>
                <a:effectLst/>
                <a:uLnTx/>
                <a:uFillTx/>
                <a:latin typeface="Calibri"/>
                <a:ea typeface="+mn-ea"/>
                <a:cs typeface="+mn-cs"/>
              </a:rPr>
              <a:t>Z</a:t>
            </a:r>
          </a:p>
        </p:txBody>
      </p:sp>
      <p:cxnSp>
        <p:nvCxnSpPr>
          <p:cNvPr id="44" name="Straight Arrow Connector 43"/>
          <p:cNvCxnSpPr>
            <a:stCxn id="3" idx="3"/>
          </p:cNvCxnSpPr>
          <p:nvPr/>
        </p:nvCxnSpPr>
        <p:spPr>
          <a:xfrm>
            <a:off x="2833669" y="3666366"/>
            <a:ext cx="341206" cy="179132"/>
          </a:xfrm>
          <a:prstGeom prst="straightConnector1">
            <a:avLst/>
          </a:prstGeom>
          <a:ln w="158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4599815" y="3943741"/>
            <a:ext cx="145520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B050"/>
                </a:solidFill>
                <a:effectLst/>
                <a:uLnTx/>
                <a:uFillTx/>
                <a:latin typeface="Calibri"/>
                <a:ea typeface="+mn-ea"/>
                <a:cs typeface="+mn-cs"/>
              </a:rPr>
              <a:t>Exogeneous</a:t>
            </a:r>
            <a:endParaRPr kumimoji="0" lang="en-US" sz="2000" b="1" i="0" u="none" strike="noStrike" kern="1200" cap="none" spc="0" normalizeH="0" baseline="0" noProof="0" dirty="0">
              <a:ln>
                <a:noFill/>
              </a:ln>
              <a:solidFill>
                <a:srgbClr val="00B050"/>
              </a:solidFill>
              <a:effectLst/>
              <a:uLnTx/>
              <a:uFillTx/>
              <a:latin typeface="Calibri"/>
              <a:ea typeface="+mn-ea"/>
              <a:cs typeface="+mn-cs"/>
            </a:endParaRPr>
          </a:p>
        </p:txBody>
      </p:sp>
      <p:sp>
        <p:nvSpPr>
          <p:cNvPr id="47" name="TextBox 46"/>
          <p:cNvSpPr txBox="1"/>
          <p:nvPr/>
        </p:nvSpPr>
        <p:spPr>
          <a:xfrm>
            <a:off x="3873383" y="6833639"/>
            <a:ext cx="30970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48" name="TextBox 47"/>
          <p:cNvSpPr txBox="1"/>
          <p:nvPr/>
        </p:nvSpPr>
        <p:spPr>
          <a:xfrm>
            <a:off x="3154178" y="6833639"/>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49" name="TextBox 48"/>
          <p:cNvSpPr txBox="1"/>
          <p:nvPr/>
        </p:nvSpPr>
        <p:spPr>
          <a:xfrm>
            <a:off x="3424080" y="7416569"/>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50" name="Straight Arrow Connector 49"/>
          <p:cNvCxnSpPr>
            <a:stCxn id="48" idx="3"/>
            <a:endCxn id="47" idx="1"/>
          </p:cNvCxnSpPr>
          <p:nvPr/>
        </p:nvCxnSpPr>
        <p:spPr>
          <a:xfrm>
            <a:off x="3558456" y="7033694"/>
            <a:ext cx="314927"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49" idx="0"/>
            <a:endCxn id="47" idx="2"/>
          </p:cNvCxnSpPr>
          <p:nvPr/>
        </p:nvCxnSpPr>
        <p:spPr>
          <a:xfrm flipV="1">
            <a:off x="3626219" y="7233749"/>
            <a:ext cx="402014" cy="18282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8" idx="2"/>
          </p:cNvCxnSpPr>
          <p:nvPr/>
        </p:nvCxnSpPr>
        <p:spPr>
          <a:xfrm>
            <a:off x="3356317" y="7233749"/>
            <a:ext cx="123784" cy="192738"/>
          </a:xfrm>
          <a:prstGeom prst="straightConnector1">
            <a:avLst/>
          </a:prstGeom>
          <a:ln w="158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506478" y="6519221"/>
            <a:ext cx="30649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B050"/>
                </a:solidFill>
                <a:effectLst/>
                <a:uLnTx/>
                <a:uFillTx/>
                <a:latin typeface="Calibri"/>
                <a:ea typeface="+mn-ea"/>
                <a:cs typeface="+mn-cs"/>
              </a:rPr>
              <a:t>Z</a:t>
            </a:r>
          </a:p>
        </p:txBody>
      </p:sp>
      <p:cxnSp>
        <p:nvCxnSpPr>
          <p:cNvPr id="54" name="Straight Arrow Connector 53"/>
          <p:cNvCxnSpPr>
            <a:stCxn id="53" idx="3"/>
          </p:cNvCxnSpPr>
          <p:nvPr/>
        </p:nvCxnSpPr>
        <p:spPr>
          <a:xfrm>
            <a:off x="2812972" y="6719276"/>
            <a:ext cx="341206" cy="179133"/>
          </a:xfrm>
          <a:prstGeom prst="straightConnector1">
            <a:avLst/>
          </a:prstGeom>
          <a:ln w="158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4028456" y="8408670"/>
            <a:ext cx="30970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66" name="TextBox 65"/>
          <p:cNvSpPr txBox="1"/>
          <p:nvPr/>
        </p:nvSpPr>
        <p:spPr>
          <a:xfrm>
            <a:off x="3309251" y="8408670"/>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67" name="TextBox 66"/>
          <p:cNvSpPr txBox="1"/>
          <p:nvPr/>
        </p:nvSpPr>
        <p:spPr>
          <a:xfrm>
            <a:off x="3579153" y="8991600"/>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68" name="Straight Arrow Connector 67"/>
          <p:cNvCxnSpPr>
            <a:stCxn id="66" idx="3"/>
            <a:endCxn id="65" idx="1"/>
          </p:cNvCxnSpPr>
          <p:nvPr/>
        </p:nvCxnSpPr>
        <p:spPr>
          <a:xfrm>
            <a:off x="3713529" y="8608725"/>
            <a:ext cx="314927"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67" idx="0"/>
            <a:endCxn id="65" idx="2"/>
          </p:cNvCxnSpPr>
          <p:nvPr/>
        </p:nvCxnSpPr>
        <p:spPr>
          <a:xfrm flipV="1">
            <a:off x="3781292" y="8808780"/>
            <a:ext cx="402014" cy="18282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66" idx="2"/>
          </p:cNvCxnSpPr>
          <p:nvPr/>
        </p:nvCxnSpPr>
        <p:spPr>
          <a:xfrm>
            <a:off x="3511390" y="8808780"/>
            <a:ext cx="123784" cy="192738"/>
          </a:xfrm>
          <a:prstGeom prst="straightConnector1">
            <a:avLst/>
          </a:prstGeom>
          <a:ln w="158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2661551" y="8094252"/>
            <a:ext cx="30649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B050"/>
                </a:solidFill>
                <a:effectLst/>
                <a:uLnTx/>
                <a:uFillTx/>
                <a:latin typeface="Calibri"/>
                <a:ea typeface="+mn-ea"/>
                <a:cs typeface="+mn-cs"/>
              </a:rPr>
              <a:t>Z</a:t>
            </a:r>
          </a:p>
        </p:txBody>
      </p:sp>
      <p:cxnSp>
        <p:nvCxnSpPr>
          <p:cNvPr id="72" name="Straight Arrow Connector 71"/>
          <p:cNvCxnSpPr>
            <a:stCxn id="71" idx="3"/>
          </p:cNvCxnSpPr>
          <p:nvPr/>
        </p:nvCxnSpPr>
        <p:spPr>
          <a:xfrm>
            <a:off x="2968045" y="8294307"/>
            <a:ext cx="341206" cy="179133"/>
          </a:xfrm>
          <a:prstGeom prst="straightConnector1">
            <a:avLst/>
          </a:prstGeom>
          <a:ln w="158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3" name="Right Brace 12"/>
          <p:cNvSpPr/>
          <p:nvPr/>
        </p:nvSpPr>
        <p:spPr>
          <a:xfrm>
            <a:off x="4612685" y="6878968"/>
            <a:ext cx="819988" cy="242251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73" name="TextBox 72"/>
          <p:cNvSpPr txBox="1"/>
          <p:nvPr/>
        </p:nvSpPr>
        <p:spPr>
          <a:xfrm>
            <a:off x="5608737" y="7308848"/>
            <a:ext cx="1455207"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B050"/>
                </a:solidFill>
                <a:effectLst/>
                <a:uLnTx/>
                <a:uFillTx/>
                <a:latin typeface="Calibri"/>
                <a:ea typeface="+mn-ea"/>
                <a:cs typeface="+mn-cs"/>
              </a:rPr>
              <a:t>NOT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B050"/>
                </a:solidFill>
                <a:effectLst/>
                <a:uLnTx/>
                <a:uFillTx/>
                <a:latin typeface="Calibri"/>
                <a:ea typeface="+mn-ea"/>
                <a:cs typeface="+mn-cs"/>
              </a:rPr>
              <a:t>Exogeneous</a:t>
            </a:r>
            <a:endParaRPr kumimoji="0" lang="en-US" sz="2000" b="1" i="0" u="none" strike="noStrike" kern="1200" cap="none" spc="0" normalizeH="0" baseline="0" noProof="0" dirty="0">
              <a:ln>
                <a:noFill/>
              </a:ln>
              <a:solidFill>
                <a:srgbClr val="00B050"/>
              </a:solidFill>
              <a:effectLst/>
              <a:uLnTx/>
              <a:uFillTx/>
              <a:latin typeface="Calibri"/>
              <a:ea typeface="+mn-ea"/>
              <a:cs typeface="+mn-cs"/>
            </a:endParaRPr>
          </a:p>
        </p:txBody>
      </p:sp>
      <p:cxnSp>
        <p:nvCxnSpPr>
          <p:cNvPr id="74" name="Straight Arrow Connector 73"/>
          <p:cNvCxnSpPr>
            <a:stCxn id="53" idx="3"/>
          </p:cNvCxnSpPr>
          <p:nvPr/>
        </p:nvCxnSpPr>
        <p:spPr>
          <a:xfrm>
            <a:off x="2812972" y="6719276"/>
            <a:ext cx="1060411" cy="179133"/>
          </a:xfrm>
          <a:prstGeom prst="straightConnector1">
            <a:avLst/>
          </a:prstGeom>
          <a:ln w="158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71" idx="3"/>
            <a:endCxn id="67" idx="1"/>
          </p:cNvCxnSpPr>
          <p:nvPr/>
        </p:nvCxnSpPr>
        <p:spPr>
          <a:xfrm>
            <a:off x="2968045" y="8294307"/>
            <a:ext cx="611108" cy="897348"/>
          </a:xfrm>
          <a:prstGeom prst="straightConnector1">
            <a:avLst/>
          </a:prstGeom>
          <a:ln w="158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1986894" y="7233749"/>
            <a:ext cx="30970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77" name="TextBox 76"/>
          <p:cNvSpPr txBox="1"/>
          <p:nvPr/>
        </p:nvSpPr>
        <p:spPr>
          <a:xfrm>
            <a:off x="1267689" y="7233749"/>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78" name="TextBox 77"/>
          <p:cNvSpPr txBox="1"/>
          <p:nvPr/>
        </p:nvSpPr>
        <p:spPr>
          <a:xfrm>
            <a:off x="1537591" y="7816679"/>
            <a:ext cx="40427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79" name="Straight Arrow Connector 78"/>
          <p:cNvCxnSpPr>
            <a:stCxn id="77" idx="3"/>
            <a:endCxn id="76" idx="1"/>
          </p:cNvCxnSpPr>
          <p:nvPr/>
        </p:nvCxnSpPr>
        <p:spPr>
          <a:xfrm>
            <a:off x="1671967" y="7433804"/>
            <a:ext cx="314927"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78" idx="0"/>
            <a:endCxn id="76" idx="2"/>
          </p:cNvCxnSpPr>
          <p:nvPr/>
        </p:nvCxnSpPr>
        <p:spPr>
          <a:xfrm flipV="1">
            <a:off x="1739730" y="7633859"/>
            <a:ext cx="402014" cy="18282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77" idx="2"/>
          </p:cNvCxnSpPr>
          <p:nvPr/>
        </p:nvCxnSpPr>
        <p:spPr>
          <a:xfrm>
            <a:off x="1469828" y="7633859"/>
            <a:ext cx="123784" cy="192738"/>
          </a:xfrm>
          <a:prstGeom prst="straightConnector1">
            <a:avLst/>
          </a:prstGeom>
          <a:ln w="158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619989" y="6919332"/>
            <a:ext cx="30649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B050"/>
                </a:solidFill>
                <a:effectLst/>
                <a:uLnTx/>
                <a:uFillTx/>
                <a:latin typeface="Calibri"/>
                <a:ea typeface="+mn-ea"/>
                <a:cs typeface="+mn-cs"/>
              </a:rPr>
              <a:t>Z</a:t>
            </a:r>
          </a:p>
        </p:txBody>
      </p:sp>
      <p:cxnSp>
        <p:nvCxnSpPr>
          <p:cNvPr id="83" name="Straight Arrow Connector 82"/>
          <p:cNvCxnSpPr>
            <a:stCxn id="82" idx="3"/>
          </p:cNvCxnSpPr>
          <p:nvPr/>
        </p:nvCxnSpPr>
        <p:spPr>
          <a:xfrm>
            <a:off x="926483" y="7119387"/>
            <a:ext cx="341206" cy="179132"/>
          </a:xfrm>
          <a:prstGeom prst="straightConnector1">
            <a:avLst/>
          </a:prstGeom>
          <a:ln w="158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endCxn id="78" idx="1"/>
          </p:cNvCxnSpPr>
          <p:nvPr/>
        </p:nvCxnSpPr>
        <p:spPr>
          <a:xfrm>
            <a:off x="870972" y="7233264"/>
            <a:ext cx="666619" cy="783470"/>
          </a:xfrm>
          <a:prstGeom prst="straightConnector1">
            <a:avLst/>
          </a:prstGeom>
          <a:ln w="15875">
            <a:solidFill>
              <a:srgbClr val="00B05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469828" y="5319488"/>
            <a:ext cx="502105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Exogenous: Variable that is correlated with the policy variable but NOT with the omitted variable.</a:t>
            </a:r>
          </a:p>
        </p:txBody>
      </p:sp>
    </p:spTree>
    <p:extLst>
      <p:ext uri="{BB962C8B-B14F-4D97-AF65-F5344CB8AC3E}">
        <p14:creationId xmlns:p14="http://schemas.microsoft.com/office/powerpoint/2010/main" val="5862500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53</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Text Placeholder 2"/>
          <p:cNvSpPr>
            <a:spLocks noGrp="1"/>
          </p:cNvSpPr>
          <p:nvPr>
            <p:ph type="body" sz="quarter" idx="13"/>
          </p:nvPr>
        </p:nvSpPr>
        <p:spPr>
          <a:xfrm>
            <a:off x="705671" y="2826250"/>
            <a:ext cx="6263698" cy="1880921"/>
          </a:xfrm>
        </p:spPr>
        <p:txBody>
          <a:bodyPr>
            <a:noAutofit/>
          </a:bodyPr>
          <a:lstStyle/>
          <a:p>
            <a:pPr algn="just"/>
            <a:r>
              <a:rPr lang="en-US" sz="1600" dirty="0"/>
              <a:t>Steven </a:t>
            </a:r>
            <a:r>
              <a:rPr lang="en-US" sz="1600" dirty="0" err="1"/>
              <a:t>Levitte</a:t>
            </a:r>
            <a:r>
              <a:rPr lang="en-US" sz="1600" dirty="0"/>
              <a:t> makes the claim that increasing policing only reduces crime slightly. </a:t>
            </a:r>
          </a:p>
        </p:txBody>
      </p:sp>
      <p:sp>
        <p:nvSpPr>
          <p:cNvPr id="7" name="Text Placeholder 6"/>
          <p:cNvSpPr>
            <a:spLocks noGrp="1"/>
          </p:cNvSpPr>
          <p:nvPr>
            <p:ph type="body" sz="quarter" idx="17"/>
          </p:nvPr>
        </p:nvSpPr>
        <p:spPr>
          <a:xfrm>
            <a:off x="625853" y="1791900"/>
            <a:ext cx="6593467" cy="1452880"/>
          </a:xfrm>
        </p:spPr>
        <p:txBody>
          <a:bodyPr/>
          <a:lstStyle/>
          <a:p>
            <a:r>
              <a:rPr lang="en-US" dirty="0"/>
              <a:t>Where have all the criminals gone?</a:t>
            </a:r>
          </a:p>
        </p:txBody>
      </p:sp>
      <p:sp>
        <p:nvSpPr>
          <p:cNvPr id="9" name="Oval 8"/>
          <p:cNvSpPr/>
          <p:nvPr/>
        </p:nvSpPr>
        <p:spPr>
          <a:xfrm>
            <a:off x="3757702" y="7726884"/>
            <a:ext cx="842010" cy="805829"/>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3457436" y="7398657"/>
            <a:ext cx="842010" cy="8058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Oval 10"/>
          <p:cNvSpPr/>
          <p:nvPr/>
        </p:nvSpPr>
        <p:spPr>
          <a:xfrm>
            <a:off x="3200400" y="7772400"/>
            <a:ext cx="842010" cy="805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3236817" y="6981382"/>
            <a:ext cx="12832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Crime Rate</a:t>
            </a:r>
          </a:p>
        </p:txBody>
      </p:sp>
      <p:sp>
        <p:nvSpPr>
          <p:cNvPr id="13" name="TextBox 12"/>
          <p:cNvSpPr txBox="1"/>
          <p:nvPr/>
        </p:nvSpPr>
        <p:spPr>
          <a:xfrm>
            <a:off x="2321344" y="8175314"/>
            <a:ext cx="74589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Patrol Hours</a:t>
            </a:r>
            <a:endParaRPr kumimoji="0" lang="en-US" sz="1800" b="0" i="0" u="none" strike="noStrike" kern="1200" cap="none" spc="0" normalizeH="0" baseline="-25000" noProof="0" dirty="0">
              <a:ln>
                <a:noFill/>
              </a:ln>
              <a:solidFill>
                <a:srgbClr val="FF0000"/>
              </a:solidFill>
              <a:effectLst/>
              <a:uLnTx/>
              <a:uFillTx/>
              <a:latin typeface="Calibri"/>
              <a:ea typeface="+mn-ea"/>
              <a:cs typeface="+mn-cs"/>
            </a:endParaRPr>
          </a:p>
        </p:txBody>
      </p:sp>
      <p:sp>
        <p:nvSpPr>
          <p:cNvPr id="14" name="TextBox 13"/>
          <p:cNvSpPr txBox="1"/>
          <p:nvPr/>
        </p:nvSpPr>
        <p:spPr>
          <a:xfrm>
            <a:off x="4677453" y="8207517"/>
            <a:ext cx="12954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Number of</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Criminals</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15"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Example:</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6" name="TextBox 5"/>
          <p:cNvSpPr txBox="1"/>
          <p:nvPr/>
        </p:nvSpPr>
        <p:spPr>
          <a:xfrm>
            <a:off x="1820581" y="5142053"/>
            <a:ext cx="4033878"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79646">
                    <a:lumMod val="75000"/>
                  </a:srgbClr>
                </a:solidFill>
                <a:effectLst/>
                <a:uLnTx/>
                <a:uFillTx/>
                <a:latin typeface="Calibri"/>
                <a:ea typeface="+mn-ea"/>
                <a:cs typeface="+mn-cs"/>
              </a:rPr>
              <a:t>Why will patrol hours and the number of criminals be correlated? Will there be a positive or negative relationship?</a:t>
            </a:r>
          </a:p>
        </p:txBody>
      </p:sp>
    </p:spTree>
    <p:extLst>
      <p:ext uri="{BB962C8B-B14F-4D97-AF65-F5344CB8AC3E}">
        <p14:creationId xmlns:p14="http://schemas.microsoft.com/office/powerpoint/2010/main" val="21961092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54</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Text Placeholder 2"/>
          <p:cNvSpPr>
            <a:spLocks noGrp="1"/>
          </p:cNvSpPr>
          <p:nvPr>
            <p:ph type="body" sz="quarter" idx="13"/>
          </p:nvPr>
        </p:nvSpPr>
        <p:spPr>
          <a:xfrm>
            <a:off x="625853" y="3863340"/>
            <a:ext cx="6263698" cy="1880921"/>
          </a:xfrm>
        </p:spPr>
        <p:txBody>
          <a:bodyPr>
            <a:noAutofit/>
          </a:bodyPr>
          <a:lstStyle/>
          <a:p>
            <a:pPr algn="just"/>
            <a:r>
              <a:rPr lang="en-US" sz="1600" dirty="0"/>
              <a:t>Steven </a:t>
            </a:r>
            <a:r>
              <a:rPr lang="en-US" sz="1600" dirty="0" err="1"/>
              <a:t>Levitte</a:t>
            </a:r>
            <a:r>
              <a:rPr lang="en-US" sz="1600" dirty="0"/>
              <a:t> makes the claim that increasing policing only reduces crime slightly. The problem with the estimation:</a:t>
            </a:r>
          </a:p>
          <a:p>
            <a:pPr algn="just"/>
            <a:endParaRPr lang="en-US" sz="1600" dirty="0"/>
          </a:p>
          <a:p>
            <a:pPr algn="just"/>
            <a:r>
              <a:rPr lang="en-US" sz="1600" dirty="0"/>
              <a:t>“Cities  with high crime rates, therefore, may tend to have large  police  forces,  even  if  police  reduce crime. Detroit has twice  as many police  officers per capita as Omaha, and a violent crime rate over four times as high, but it would be a mistake to  attribute the  differences in  crime rates to the presence of  the police.  Similarly, within  a  particular city,  if  more  police  are hired when crime is increasing, a positive correlation between police and crime can emerge, even if police reduce crime.”</a:t>
            </a:r>
          </a:p>
        </p:txBody>
      </p:sp>
      <p:sp>
        <p:nvSpPr>
          <p:cNvPr id="7" name="Text Placeholder 6"/>
          <p:cNvSpPr>
            <a:spLocks noGrp="1"/>
          </p:cNvSpPr>
          <p:nvPr>
            <p:ph type="body" sz="quarter" idx="17"/>
          </p:nvPr>
        </p:nvSpPr>
        <p:spPr>
          <a:xfrm>
            <a:off x="625853" y="1791900"/>
            <a:ext cx="6593467" cy="1452880"/>
          </a:xfrm>
        </p:spPr>
        <p:txBody>
          <a:bodyPr/>
          <a:lstStyle/>
          <a:p>
            <a:r>
              <a:rPr lang="en-US" dirty="0"/>
              <a:t>Where have all the criminals gone?</a:t>
            </a:r>
          </a:p>
        </p:txBody>
      </p:sp>
      <p:sp>
        <p:nvSpPr>
          <p:cNvPr id="9" name="Oval 8"/>
          <p:cNvSpPr/>
          <p:nvPr/>
        </p:nvSpPr>
        <p:spPr>
          <a:xfrm>
            <a:off x="3757702" y="7726884"/>
            <a:ext cx="842010" cy="805829"/>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3457436" y="7398657"/>
            <a:ext cx="842010" cy="8058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Oval 10"/>
          <p:cNvSpPr/>
          <p:nvPr/>
        </p:nvSpPr>
        <p:spPr>
          <a:xfrm>
            <a:off x="3200400" y="7772400"/>
            <a:ext cx="842010" cy="805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3236817" y="6981382"/>
            <a:ext cx="12832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Crime Rate</a:t>
            </a:r>
          </a:p>
        </p:txBody>
      </p:sp>
      <p:sp>
        <p:nvSpPr>
          <p:cNvPr id="13" name="TextBox 12"/>
          <p:cNvSpPr txBox="1"/>
          <p:nvPr/>
        </p:nvSpPr>
        <p:spPr>
          <a:xfrm>
            <a:off x="2321344" y="8175314"/>
            <a:ext cx="74589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Patrol Hours</a:t>
            </a:r>
            <a:endParaRPr kumimoji="0" lang="en-US" sz="1800" b="0" i="0" u="none" strike="noStrike" kern="1200" cap="none" spc="0" normalizeH="0" baseline="-25000" noProof="0" dirty="0">
              <a:ln>
                <a:noFill/>
              </a:ln>
              <a:solidFill>
                <a:srgbClr val="FF0000"/>
              </a:solidFill>
              <a:effectLst/>
              <a:uLnTx/>
              <a:uFillTx/>
              <a:latin typeface="Calibri"/>
              <a:ea typeface="+mn-ea"/>
              <a:cs typeface="+mn-cs"/>
            </a:endParaRPr>
          </a:p>
        </p:txBody>
      </p:sp>
      <p:sp>
        <p:nvSpPr>
          <p:cNvPr id="14" name="TextBox 13"/>
          <p:cNvSpPr txBox="1"/>
          <p:nvPr/>
        </p:nvSpPr>
        <p:spPr>
          <a:xfrm>
            <a:off x="4677453" y="8207517"/>
            <a:ext cx="12954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Number of</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Criminals</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15"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Example:</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Tree>
    <p:extLst>
      <p:ext uri="{BB962C8B-B14F-4D97-AF65-F5344CB8AC3E}">
        <p14:creationId xmlns:p14="http://schemas.microsoft.com/office/powerpoint/2010/main" val="29848364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55</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Text Placeholder 2"/>
          <p:cNvSpPr>
            <a:spLocks noGrp="1"/>
          </p:cNvSpPr>
          <p:nvPr>
            <p:ph type="body" sz="quarter" idx="13"/>
          </p:nvPr>
        </p:nvSpPr>
        <p:spPr>
          <a:xfrm>
            <a:off x="705671" y="2826250"/>
            <a:ext cx="6263698" cy="1880921"/>
          </a:xfrm>
        </p:spPr>
        <p:txBody>
          <a:bodyPr>
            <a:noAutofit/>
          </a:bodyPr>
          <a:lstStyle/>
          <a:p>
            <a:pPr algn="just"/>
            <a:r>
              <a:rPr lang="en-US" sz="1600" dirty="0"/>
              <a:t>Steven </a:t>
            </a:r>
            <a:r>
              <a:rPr lang="en-US" sz="1600" dirty="0" err="1"/>
              <a:t>Levitte</a:t>
            </a:r>
            <a:r>
              <a:rPr lang="en-US" sz="1600" dirty="0"/>
              <a:t> makes the claim that increasing policing only reduces crime slightly. </a:t>
            </a:r>
          </a:p>
        </p:txBody>
      </p:sp>
      <p:sp>
        <p:nvSpPr>
          <p:cNvPr id="7" name="Text Placeholder 6"/>
          <p:cNvSpPr>
            <a:spLocks noGrp="1"/>
          </p:cNvSpPr>
          <p:nvPr>
            <p:ph type="body" sz="quarter" idx="17"/>
          </p:nvPr>
        </p:nvSpPr>
        <p:spPr>
          <a:xfrm>
            <a:off x="625853" y="1791900"/>
            <a:ext cx="6593467" cy="1452880"/>
          </a:xfrm>
        </p:spPr>
        <p:txBody>
          <a:bodyPr/>
          <a:lstStyle/>
          <a:p>
            <a:r>
              <a:rPr lang="en-US" dirty="0"/>
              <a:t>Where have all the criminals gone?</a:t>
            </a:r>
          </a:p>
        </p:txBody>
      </p:sp>
      <p:sp>
        <p:nvSpPr>
          <p:cNvPr id="9" name="Oval 8"/>
          <p:cNvSpPr/>
          <p:nvPr/>
        </p:nvSpPr>
        <p:spPr>
          <a:xfrm>
            <a:off x="3757702" y="7726884"/>
            <a:ext cx="842010" cy="805829"/>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3457436" y="7398657"/>
            <a:ext cx="842010" cy="8058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Oval 10"/>
          <p:cNvSpPr/>
          <p:nvPr/>
        </p:nvSpPr>
        <p:spPr>
          <a:xfrm>
            <a:off x="3200400" y="7772400"/>
            <a:ext cx="842010" cy="805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3236817" y="6981382"/>
            <a:ext cx="12832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Crime Rate</a:t>
            </a:r>
          </a:p>
        </p:txBody>
      </p:sp>
      <p:sp>
        <p:nvSpPr>
          <p:cNvPr id="13" name="TextBox 12"/>
          <p:cNvSpPr txBox="1"/>
          <p:nvPr/>
        </p:nvSpPr>
        <p:spPr>
          <a:xfrm>
            <a:off x="2321344" y="8175314"/>
            <a:ext cx="74589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Patrol Hours</a:t>
            </a:r>
            <a:endParaRPr kumimoji="0" lang="en-US" sz="1800" b="0" i="0" u="none" strike="noStrike" kern="1200" cap="none" spc="0" normalizeH="0" baseline="-25000" noProof="0" dirty="0">
              <a:ln>
                <a:noFill/>
              </a:ln>
              <a:solidFill>
                <a:srgbClr val="FF0000"/>
              </a:solidFill>
              <a:effectLst/>
              <a:uLnTx/>
              <a:uFillTx/>
              <a:latin typeface="Calibri"/>
              <a:ea typeface="+mn-ea"/>
              <a:cs typeface="+mn-cs"/>
            </a:endParaRPr>
          </a:p>
        </p:txBody>
      </p:sp>
      <p:sp>
        <p:nvSpPr>
          <p:cNvPr id="14" name="TextBox 13"/>
          <p:cNvSpPr txBox="1"/>
          <p:nvPr/>
        </p:nvSpPr>
        <p:spPr>
          <a:xfrm>
            <a:off x="4677453" y="8207517"/>
            <a:ext cx="12954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Number of</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Criminals</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15"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Example:</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6" name="TextBox 5"/>
          <p:cNvSpPr txBox="1"/>
          <p:nvPr/>
        </p:nvSpPr>
        <p:spPr>
          <a:xfrm>
            <a:off x="1820581" y="5142053"/>
            <a:ext cx="403387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79646">
                    <a:lumMod val="75000"/>
                  </a:srgbClr>
                </a:solidFill>
                <a:effectLst/>
                <a:uLnTx/>
                <a:uFillTx/>
                <a:latin typeface="Calibri"/>
                <a:ea typeface="+mn-ea"/>
                <a:cs typeface="+mn-cs"/>
              </a:rPr>
              <a:t>Where would we find a measure of the number of criminals?</a:t>
            </a:r>
          </a:p>
        </p:txBody>
      </p:sp>
    </p:spTree>
    <p:extLst>
      <p:ext uri="{BB962C8B-B14F-4D97-AF65-F5344CB8AC3E}">
        <p14:creationId xmlns:p14="http://schemas.microsoft.com/office/powerpoint/2010/main" val="12884020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56</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7" name="Text Placeholder 6"/>
          <p:cNvSpPr>
            <a:spLocks noGrp="1"/>
          </p:cNvSpPr>
          <p:nvPr>
            <p:ph type="body" sz="quarter" idx="17"/>
          </p:nvPr>
        </p:nvSpPr>
        <p:spPr>
          <a:xfrm>
            <a:off x="625853" y="1791900"/>
            <a:ext cx="6593467" cy="1452880"/>
          </a:xfrm>
        </p:spPr>
        <p:txBody>
          <a:bodyPr/>
          <a:lstStyle/>
          <a:p>
            <a:r>
              <a:rPr lang="en-US" dirty="0"/>
              <a:t>Where have all the criminals gone?</a:t>
            </a:r>
          </a:p>
        </p:txBody>
      </p:sp>
      <p:sp>
        <p:nvSpPr>
          <p:cNvPr id="15"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The fix:</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6" name="Oval 15"/>
          <p:cNvSpPr/>
          <p:nvPr/>
        </p:nvSpPr>
        <p:spPr>
          <a:xfrm>
            <a:off x="4030476" y="7143740"/>
            <a:ext cx="842010" cy="805829"/>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3730210" y="6815513"/>
            <a:ext cx="842010" cy="8058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Oval 17"/>
          <p:cNvSpPr/>
          <p:nvPr/>
        </p:nvSpPr>
        <p:spPr>
          <a:xfrm>
            <a:off x="3473174" y="7189257"/>
            <a:ext cx="842010" cy="805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3486950" y="6384119"/>
            <a:ext cx="12832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Crime Rate</a:t>
            </a:r>
          </a:p>
        </p:txBody>
      </p:sp>
      <p:sp>
        <p:nvSpPr>
          <p:cNvPr id="20" name="TextBox 19"/>
          <p:cNvSpPr txBox="1"/>
          <p:nvPr/>
        </p:nvSpPr>
        <p:spPr>
          <a:xfrm>
            <a:off x="3405325" y="8077200"/>
            <a:ext cx="74589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Patrol Hours</a:t>
            </a:r>
            <a:endParaRPr kumimoji="0" lang="en-US" sz="1800" b="0" i="0" u="none" strike="noStrike" kern="1200" cap="none" spc="0" normalizeH="0" baseline="-25000" noProof="0" dirty="0">
              <a:ln>
                <a:noFill/>
              </a:ln>
              <a:solidFill>
                <a:srgbClr val="FF0000"/>
              </a:solidFill>
              <a:effectLst/>
              <a:uLnTx/>
              <a:uFillTx/>
              <a:latin typeface="Calibri"/>
              <a:ea typeface="+mn-ea"/>
              <a:cs typeface="+mn-cs"/>
            </a:endParaRPr>
          </a:p>
        </p:txBody>
      </p:sp>
      <p:sp>
        <p:nvSpPr>
          <p:cNvPr id="21" name="TextBox 20"/>
          <p:cNvSpPr txBox="1"/>
          <p:nvPr/>
        </p:nvSpPr>
        <p:spPr>
          <a:xfrm>
            <a:off x="4893504" y="7526436"/>
            <a:ext cx="12954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Number of</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Criminals</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2" name="Oval 21"/>
          <p:cNvSpPr/>
          <p:nvPr/>
        </p:nvSpPr>
        <p:spPr>
          <a:xfrm rot="19654784">
            <a:off x="3007703" y="7395222"/>
            <a:ext cx="1101090" cy="39389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p:cNvSpPr txBox="1"/>
          <p:nvPr/>
        </p:nvSpPr>
        <p:spPr>
          <a:xfrm>
            <a:off x="2317478" y="7664936"/>
            <a:ext cx="104191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a:ea typeface="+mn-ea"/>
                <a:cs typeface="+mn-cs"/>
              </a:rPr>
              <a:t>???</a:t>
            </a:r>
            <a:endParaRPr kumimoji="0" lang="en-US" sz="1800" b="0" i="0" u="none" strike="noStrike" kern="1200" cap="none" spc="0" normalizeH="0" baseline="-25000" noProof="0" dirty="0">
              <a:ln>
                <a:noFill/>
              </a:ln>
              <a:solidFill>
                <a:srgbClr val="00B050"/>
              </a:solidFill>
              <a:effectLst/>
              <a:uLnTx/>
              <a:uFillTx/>
              <a:latin typeface="Calibri"/>
              <a:ea typeface="+mn-ea"/>
              <a:cs typeface="+mn-cs"/>
            </a:endParaRPr>
          </a:p>
        </p:txBody>
      </p:sp>
      <p:sp>
        <p:nvSpPr>
          <p:cNvPr id="24" name="TextBox 23"/>
          <p:cNvSpPr txBox="1"/>
          <p:nvPr/>
        </p:nvSpPr>
        <p:spPr>
          <a:xfrm>
            <a:off x="2506703" y="4998781"/>
            <a:ext cx="29687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25" name="TextBox 24"/>
          <p:cNvSpPr txBox="1"/>
          <p:nvPr/>
        </p:nvSpPr>
        <p:spPr>
          <a:xfrm>
            <a:off x="1787498" y="4998781"/>
            <a:ext cx="38343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26" name="TextBox 25"/>
          <p:cNvSpPr txBox="1"/>
          <p:nvPr/>
        </p:nvSpPr>
        <p:spPr>
          <a:xfrm>
            <a:off x="2057400" y="5581711"/>
            <a:ext cx="38343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27" name="Straight Arrow Connector 26"/>
          <p:cNvCxnSpPr>
            <a:stCxn id="25" idx="3"/>
            <a:endCxn id="24" idx="1"/>
          </p:cNvCxnSpPr>
          <p:nvPr/>
        </p:nvCxnSpPr>
        <p:spPr>
          <a:xfrm>
            <a:off x="2170936" y="5183447"/>
            <a:ext cx="335767"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6" idx="0"/>
            <a:endCxn id="24" idx="2"/>
          </p:cNvCxnSpPr>
          <p:nvPr/>
        </p:nvCxnSpPr>
        <p:spPr>
          <a:xfrm flipV="1">
            <a:off x="2249119" y="5368113"/>
            <a:ext cx="406022" cy="213598"/>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5" idx="2"/>
          </p:cNvCxnSpPr>
          <p:nvPr/>
        </p:nvCxnSpPr>
        <p:spPr>
          <a:xfrm>
            <a:off x="1979217" y="5368113"/>
            <a:ext cx="134204" cy="223516"/>
          </a:xfrm>
          <a:prstGeom prst="straightConnector1">
            <a:avLst/>
          </a:prstGeom>
          <a:ln w="158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139798" y="4684363"/>
            <a:ext cx="2952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B050"/>
                </a:solidFill>
                <a:effectLst/>
                <a:uLnTx/>
                <a:uFillTx/>
                <a:latin typeface="Calibri"/>
                <a:ea typeface="+mn-ea"/>
                <a:cs typeface="+mn-cs"/>
              </a:rPr>
              <a:t>Z</a:t>
            </a:r>
          </a:p>
        </p:txBody>
      </p:sp>
      <p:cxnSp>
        <p:nvCxnSpPr>
          <p:cNvPr id="31" name="Straight Arrow Connector 30"/>
          <p:cNvCxnSpPr>
            <a:stCxn id="30" idx="3"/>
          </p:cNvCxnSpPr>
          <p:nvPr/>
        </p:nvCxnSpPr>
        <p:spPr>
          <a:xfrm>
            <a:off x="1435072" y="4869029"/>
            <a:ext cx="352426" cy="194522"/>
          </a:xfrm>
          <a:prstGeom prst="straightConnector1">
            <a:avLst/>
          </a:prstGeom>
          <a:ln w="158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3339823" y="4069863"/>
            <a:ext cx="387949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We need to find an exogenous variable correlated to policing intensity but uncorrelated with crime rates</a:t>
            </a:r>
          </a:p>
        </p:txBody>
      </p:sp>
    </p:spTree>
    <p:extLst>
      <p:ext uri="{BB962C8B-B14F-4D97-AF65-F5344CB8AC3E}">
        <p14:creationId xmlns:p14="http://schemas.microsoft.com/office/powerpoint/2010/main" val="32739969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57</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7" name="Text Placeholder 6"/>
          <p:cNvSpPr>
            <a:spLocks noGrp="1"/>
          </p:cNvSpPr>
          <p:nvPr>
            <p:ph type="body" sz="quarter" idx="17"/>
          </p:nvPr>
        </p:nvSpPr>
        <p:spPr>
          <a:xfrm>
            <a:off x="625853" y="1791900"/>
            <a:ext cx="6593467" cy="1452880"/>
          </a:xfrm>
        </p:spPr>
        <p:txBody>
          <a:bodyPr/>
          <a:lstStyle/>
          <a:p>
            <a:r>
              <a:rPr lang="en-US" dirty="0"/>
              <a:t>Where have all the criminals gone?</a:t>
            </a:r>
          </a:p>
        </p:txBody>
      </p:sp>
      <p:sp>
        <p:nvSpPr>
          <p:cNvPr id="15"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The fix:</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6" name="Oval 15"/>
          <p:cNvSpPr/>
          <p:nvPr/>
        </p:nvSpPr>
        <p:spPr>
          <a:xfrm>
            <a:off x="4708570" y="6901116"/>
            <a:ext cx="842010" cy="805829"/>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4408304" y="6572889"/>
            <a:ext cx="842010" cy="8058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Oval 17"/>
          <p:cNvSpPr/>
          <p:nvPr/>
        </p:nvSpPr>
        <p:spPr>
          <a:xfrm>
            <a:off x="4151268" y="6946633"/>
            <a:ext cx="842010" cy="805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4165044" y="6141495"/>
            <a:ext cx="12832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Crime Rate</a:t>
            </a:r>
          </a:p>
        </p:txBody>
      </p:sp>
      <p:sp>
        <p:nvSpPr>
          <p:cNvPr id="20" name="TextBox 19"/>
          <p:cNvSpPr txBox="1"/>
          <p:nvPr/>
        </p:nvSpPr>
        <p:spPr>
          <a:xfrm>
            <a:off x="4083419" y="7834576"/>
            <a:ext cx="74589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Patrol Hours</a:t>
            </a:r>
            <a:endParaRPr kumimoji="0" lang="en-US" sz="1800" b="0" i="0" u="none" strike="noStrike" kern="1200" cap="none" spc="0" normalizeH="0" baseline="-25000" noProof="0" dirty="0">
              <a:ln>
                <a:noFill/>
              </a:ln>
              <a:solidFill>
                <a:srgbClr val="FF0000"/>
              </a:solidFill>
              <a:effectLst/>
              <a:uLnTx/>
              <a:uFillTx/>
              <a:latin typeface="Calibri"/>
              <a:ea typeface="+mn-ea"/>
              <a:cs typeface="+mn-cs"/>
            </a:endParaRPr>
          </a:p>
        </p:txBody>
      </p:sp>
      <p:sp>
        <p:nvSpPr>
          <p:cNvPr id="21" name="TextBox 20"/>
          <p:cNvSpPr txBox="1"/>
          <p:nvPr/>
        </p:nvSpPr>
        <p:spPr>
          <a:xfrm>
            <a:off x="5571598" y="7283812"/>
            <a:ext cx="129540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Number of</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800" b="0" i="0" u="none" strike="noStrike" kern="1200" cap="none" spc="0" normalizeH="0" baseline="0" noProof="0" dirty="0">
                <a:ln>
                  <a:noFill/>
                </a:ln>
                <a:solidFill>
                  <a:prstClr val="black"/>
                </a:solidFill>
                <a:effectLst/>
                <a:uLnTx/>
                <a:uFillTx/>
                <a:latin typeface="Calibri"/>
                <a:ea typeface="+mn-ea"/>
                <a:cs typeface="+mn-cs"/>
              </a:rPr>
              <a:t>Criminals</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2" name="Oval 21"/>
          <p:cNvSpPr/>
          <p:nvPr/>
        </p:nvSpPr>
        <p:spPr>
          <a:xfrm rot="19654784">
            <a:off x="3685796" y="7152597"/>
            <a:ext cx="1101090" cy="39389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TextBox 22"/>
          <p:cNvSpPr txBox="1"/>
          <p:nvPr/>
        </p:nvSpPr>
        <p:spPr>
          <a:xfrm>
            <a:off x="2922748" y="7077422"/>
            <a:ext cx="104191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a:ea typeface="+mn-ea"/>
                <a:cs typeface="+mn-cs"/>
              </a:rPr>
              <a:t>Election cycle</a:t>
            </a:r>
            <a:endParaRPr kumimoji="0" lang="en-US" sz="1800" b="0" i="0" u="none" strike="noStrike" kern="1200" cap="none" spc="0" normalizeH="0" baseline="-25000" noProof="0" dirty="0">
              <a:ln>
                <a:noFill/>
              </a:ln>
              <a:solidFill>
                <a:srgbClr val="00B050"/>
              </a:solidFill>
              <a:effectLst/>
              <a:uLnTx/>
              <a:uFillTx/>
              <a:latin typeface="Calibri"/>
              <a:ea typeface="+mn-ea"/>
              <a:cs typeface="+mn-cs"/>
            </a:endParaRPr>
          </a:p>
        </p:txBody>
      </p:sp>
      <p:sp>
        <p:nvSpPr>
          <p:cNvPr id="24" name="TextBox 23"/>
          <p:cNvSpPr txBox="1"/>
          <p:nvPr/>
        </p:nvSpPr>
        <p:spPr>
          <a:xfrm>
            <a:off x="2430503" y="8162946"/>
            <a:ext cx="29687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Y</a:t>
            </a:r>
          </a:p>
        </p:txBody>
      </p:sp>
      <p:sp>
        <p:nvSpPr>
          <p:cNvPr id="25" name="TextBox 24"/>
          <p:cNvSpPr txBox="1"/>
          <p:nvPr/>
        </p:nvSpPr>
        <p:spPr>
          <a:xfrm>
            <a:off x="1711298" y="8162946"/>
            <a:ext cx="38343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a:t>
            </a:r>
            <a:r>
              <a:rPr kumimoji="0" lang="en-US" sz="1800" b="0" i="0" u="none" strike="noStrike" kern="1200" cap="none" spc="0" normalizeH="0" baseline="-25000" noProof="0" dirty="0">
                <a:ln>
                  <a:noFill/>
                </a:ln>
                <a:solidFill>
                  <a:prstClr val="black"/>
                </a:solidFill>
                <a:effectLst/>
                <a:uLnTx/>
                <a:uFillTx/>
                <a:latin typeface="Calibri"/>
                <a:ea typeface="+mn-ea"/>
                <a:cs typeface="+mn-cs"/>
              </a:rPr>
              <a:t>1</a:t>
            </a:r>
          </a:p>
        </p:txBody>
      </p:sp>
      <p:sp>
        <p:nvSpPr>
          <p:cNvPr id="26" name="TextBox 25"/>
          <p:cNvSpPr txBox="1"/>
          <p:nvPr/>
        </p:nvSpPr>
        <p:spPr>
          <a:xfrm>
            <a:off x="1981200" y="8745876"/>
            <a:ext cx="38343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a:t>
            </a:r>
            <a:r>
              <a:rPr kumimoji="0" lang="en-US" sz="1800" b="0" i="0" u="none" strike="noStrike" kern="1200" cap="none" spc="0" normalizeH="0" baseline="-25000" noProof="0" dirty="0">
                <a:ln>
                  <a:noFill/>
                </a:ln>
                <a:solidFill>
                  <a:prstClr val="black"/>
                </a:solidFill>
                <a:effectLst/>
                <a:uLnTx/>
                <a:uFillTx/>
                <a:latin typeface="Calibri"/>
                <a:ea typeface="+mn-ea"/>
                <a:cs typeface="+mn-cs"/>
              </a:rPr>
              <a:t>2</a:t>
            </a:r>
          </a:p>
        </p:txBody>
      </p:sp>
      <p:cxnSp>
        <p:nvCxnSpPr>
          <p:cNvPr id="27" name="Straight Arrow Connector 26"/>
          <p:cNvCxnSpPr>
            <a:stCxn id="25" idx="3"/>
            <a:endCxn id="24" idx="1"/>
          </p:cNvCxnSpPr>
          <p:nvPr/>
        </p:nvCxnSpPr>
        <p:spPr>
          <a:xfrm>
            <a:off x="2094736" y="8347612"/>
            <a:ext cx="335767"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6" idx="0"/>
            <a:endCxn id="24" idx="2"/>
          </p:cNvCxnSpPr>
          <p:nvPr/>
        </p:nvCxnSpPr>
        <p:spPr>
          <a:xfrm flipV="1">
            <a:off x="2172919" y="8532278"/>
            <a:ext cx="406022" cy="213598"/>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5" idx="2"/>
          </p:cNvCxnSpPr>
          <p:nvPr/>
        </p:nvCxnSpPr>
        <p:spPr>
          <a:xfrm>
            <a:off x="1903017" y="8532278"/>
            <a:ext cx="134204" cy="223516"/>
          </a:xfrm>
          <a:prstGeom prst="straightConnector1">
            <a:avLst/>
          </a:prstGeom>
          <a:ln w="158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063598" y="7848528"/>
            <a:ext cx="2952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B050"/>
                </a:solidFill>
                <a:effectLst/>
                <a:uLnTx/>
                <a:uFillTx/>
                <a:latin typeface="Calibri"/>
                <a:ea typeface="+mn-ea"/>
                <a:cs typeface="+mn-cs"/>
              </a:rPr>
              <a:t>Z</a:t>
            </a:r>
          </a:p>
        </p:txBody>
      </p:sp>
      <p:cxnSp>
        <p:nvCxnSpPr>
          <p:cNvPr id="31" name="Straight Arrow Connector 30"/>
          <p:cNvCxnSpPr>
            <a:stCxn id="30" idx="3"/>
          </p:cNvCxnSpPr>
          <p:nvPr/>
        </p:nvCxnSpPr>
        <p:spPr>
          <a:xfrm>
            <a:off x="1358872" y="8033194"/>
            <a:ext cx="352426" cy="194522"/>
          </a:xfrm>
          <a:prstGeom prst="straightConnector1">
            <a:avLst/>
          </a:prstGeom>
          <a:ln w="158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32" name="Text Placeholder 2"/>
          <p:cNvSpPr>
            <a:spLocks noGrp="1"/>
          </p:cNvSpPr>
          <p:nvPr>
            <p:ph type="body" sz="quarter" idx="13"/>
          </p:nvPr>
        </p:nvSpPr>
        <p:spPr>
          <a:xfrm>
            <a:off x="643025" y="4274135"/>
            <a:ext cx="6400800" cy="2109984"/>
          </a:xfrm>
        </p:spPr>
        <p:txBody>
          <a:bodyPr>
            <a:noAutofit/>
          </a:bodyPr>
          <a:lstStyle/>
          <a:p>
            <a:pPr algn="just"/>
            <a:r>
              <a:rPr lang="en-US" sz="1800" dirty="0">
                <a:latin typeface="+mn-lt"/>
              </a:rPr>
              <a:t>“The primary innovation of  the paper is  the approach used  to  break the  simultaneity between police  and crime. In order to identify the effect of police  on crime, a variable is required that affects the size of the police force, but does not belong directly in the crime "production function."  The instrument employed in this paper is  the timing of mayoral and gubernatorial elections.”                               </a:t>
            </a:r>
          </a:p>
          <a:p>
            <a:pPr algn="just"/>
            <a:endParaRPr lang="en-US" sz="1800" i="1" dirty="0">
              <a:latin typeface="+mn-lt"/>
            </a:endParaRPr>
          </a:p>
          <a:p>
            <a:pPr algn="just"/>
            <a:r>
              <a:rPr lang="en-US" sz="1800" i="1" dirty="0">
                <a:latin typeface="+mn-lt"/>
              </a:rPr>
              <a:t>Levitt, 1997</a:t>
            </a:r>
          </a:p>
          <a:p>
            <a:pPr algn="just"/>
            <a:endParaRPr lang="en-US" sz="1800" dirty="0">
              <a:latin typeface="+mn-lt"/>
            </a:endParaRPr>
          </a:p>
          <a:p>
            <a:pPr algn="just"/>
            <a:endParaRPr lang="en-US" sz="1800" dirty="0">
              <a:latin typeface="+mn-lt"/>
            </a:endParaRPr>
          </a:p>
          <a:p>
            <a:pPr algn="just"/>
            <a:endParaRPr lang="en-US" sz="1800" dirty="0">
              <a:latin typeface="+mn-lt"/>
            </a:endParaRPr>
          </a:p>
        </p:txBody>
      </p:sp>
    </p:spTree>
    <p:extLst>
      <p:ext uri="{BB962C8B-B14F-4D97-AF65-F5344CB8AC3E}">
        <p14:creationId xmlns:p14="http://schemas.microsoft.com/office/powerpoint/2010/main" val="20108911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58</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4483146" y="4970537"/>
            <a:ext cx="87716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Health</a:t>
            </a:r>
          </a:p>
        </p:txBody>
      </p:sp>
      <p:sp>
        <p:nvSpPr>
          <p:cNvPr id="18" name="TextBox 17"/>
          <p:cNvSpPr txBox="1"/>
          <p:nvPr/>
        </p:nvSpPr>
        <p:spPr>
          <a:xfrm>
            <a:off x="2993436" y="4970537"/>
            <a:ext cx="107433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Smoking</a:t>
            </a:r>
            <a:endParaRPr kumimoji="0" lang="en-US" sz="20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19" name="TextBox 18"/>
          <p:cNvSpPr txBox="1"/>
          <p:nvPr/>
        </p:nvSpPr>
        <p:spPr>
          <a:xfrm>
            <a:off x="3352800" y="5867400"/>
            <a:ext cx="189834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Other unhealthy</a:t>
            </a: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2000" b="0" i="0" u="none" strike="noStrike" kern="1200" cap="none" spc="0" normalizeH="0" baseline="0" noProof="0" dirty="0">
                <a:ln>
                  <a:noFill/>
                </a:ln>
                <a:solidFill>
                  <a:prstClr val="black"/>
                </a:solidFill>
                <a:effectLst/>
                <a:uLnTx/>
                <a:uFillTx/>
                <a:latin typeface="Calibri"/>
                <a:ea typeface="+mn-ea"/>
                <a:cs typeface="+mn-cs"/>
              </a:rPr>
              <a:t>behaviors</a:t>
            </a:r>
            <a:endParaRPr kumimoji="0" lang="en-US" sz="2000" b="0" i="0" u="none" strike="noStrike" kern="1200" cap="none" spc="0" normalizeH="0" baseline="-25000" noProof="0" dirty="0">
              <a:ln>
                <a:noFill/>
              </a:ln>
              <a:solidFill>
                <a:prstClr val="black"/>
              </a:solidFill>
              <a:effectLst/>
              <a:uLnTx/>
              <a:uFillTx/>
              <a:latin typeface="Calibri"/>
              <a:ea typeface="+mn-ea"/>
              <a:cs typeface="+mn-cs"/>
            </a:endParaRPr>
          </a:p>
        </p:txBody>
      </p:sp>
      <p:cxnSp>
        <p:nvCxnSpPr>
          <p:cNvPr id="20" name="Straight Arrow Connector 19"/>
          <p:cNvCxnSpPr>
            <a:stCxn id="18" idx="3"/>
            <a:endCxn id="17" idx="1"/>
          </p:cNvCxnSpPr>
          <p:nvPr/>
        </p:nvCxnSpPr>
        <p:spPr>
          <a:xfrm>
            <a:off x="4067769" y="5170592"/>
            <a:ext cx="415377"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9" idx="0"/>
            <a:endCxn id="17" idx="2"/>
          </p:cNvCxnSpPr>
          <p:nvPr/>
        </p:nvCxnSpPr>
        <p:spPr>
          <a:xfrm flipV="1">
            <a:off x="4301971" y="5370647"/>
            <a:ext cx="619757" cy="496753"/>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8" idx="2"/>
          </p:cNvCxnSpPr>
          <p:nvPr/>
        </p:nvCxnSpPr>
        <p:spPr>
          <a:xfrm>
            <a:off x="3530603" y="5370647"/>
            <a:ext cx="499153" cy="496753"/>
          </a:xfrm>
          <a:prstGeom prst="straightConnector1">
            <a:avLst/>
          </a:prstGeom>
          <a:ln w="158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244646" y="4397040"/>
            <a:ext cx="54053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B050"/>
                </a:solidFill>
                <a:effectLst/>
                <a:uLnTx/>
                <a:uFillTx/>
                <a:latin typeface="Calibri"/>
                <a:ea typeface="+mn-ea"/>
                <a:cs typeface="+mn-cs"/>
              </a:rPr>
              <a:t>???</a:t>
            </a:r>
          </a:p>
        </p:txBody>
      </p:sp>
      <p:cxnSp>
        <p:nvCxnSpPr>
          <p:cNvPr id="24" name="Straight Arrow Connector 23"/>
          <p:cNvCxnSpPr>
            <a:stCxn id="23" idx="2"/>
            <a:endCxn id="18" idx="1"/>
          </p:cNvCxnSpPr>
          <p:nvPr/>
        </p:nvCxnSpPr>
        <p:spPr>
          <a:xfrm>
            <a:off x="1514913" y="4797150"/>
            <a:ext cx="1478523" cy="373442"/>
          </a:xfrm>
          <a:prstGeom prst="straightConnector1">
            <a:avLst/>
          </a:prstGeom>
          <a:ln w="158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3"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Another example:</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Tree>
    <p:extLst>
      <p:ext uri="{BB962C8B-B14F-4D97-AF65-F5344CB8AC3E}">
        <p14:creationId xmlns:p14="http://schemas.microsoft.com/office/powerpoint/2010/main" val="21673055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59</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4483146" y="4970537"/>
            <a:ext cx="87716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Health</a:t>
            </a:r>
          </a:p>
        </p:txBody>
      </p:sp>
      <p:sp>
        <p:nvSpPr>
          <p:cNvPr id="18" name="TextBox 17"/>
          <p:cNvSpPr txBox="1"/>
          <p:nvPr/>
        </p:nvSpPr>
        <p:spPr>
          <a:xfrm>
            <a:off x="2993436" y="4970537"/>
            <a:ext cx="107433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Smoking</a:t>
            </a:r>
            <a:endParaRPr kumimoji="0" lang="en-US" sz="20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19" name="TextBox 18"/>
          <p:cNvSpPr txBox="1"/>
          <p:nvPr/>
        </p:nvSpPr>
        <p:spPr>
          <a:xfrm>
            <a:off x="3352800" y="5867400"/>
            <a:ext cx="1898341"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Other unhealthy</a:t>
            </a:r>
            <a:br>
              <a:rPr kumimoji="0" lang="en-US" sz="2000" b="0" i="0" u="none" strike="noStrike" kern="1200" cap="none" spc="0" normalizeH="0" baseline="0" noProof="0" dirty="0">
                <a:ln>
                  <a:noFill/>
                </a:ln>
                <a:solidFill>
                  <a:prstClr val="black"/>
                </a:solidFill>
                <a:effectLst/>
                <a:uLnTx/>
                <a:uFillTx/>
                <a:latin typeface="Calibri"/>
                <a:ea typeface="+mn-ea"/>
                <a:cs typeface="+mn-cs"/>
              </a:rPr>
            </a:br>
            <a:r>
              <a:rPr kumimoji="0" lang="en-US" sz="2000" b="0" i="0" u="none" strike="noStrike" kern="1200" cap="none" spc="0" normalizeH="0" baseline="0" noProof="0" dirty="0">
                <a:ln>
                  <a:noFill/>
                </a:ln>
                <a:solidFill>
                  <a:prstClr val="black"/>
                </a:solidFill>
                <a:effectLst/>
                <a:uLnTx/>
                <a:uFillTx/>
                <a:latin typeface="Calibri"/>
                <a:ea typeface="+mn-ea"/>
                <a:cs typeface="+mn-cs"/>
              </a:rPr>
              <a:t>behaviors</a:t>
            </a:r>
            <a:endParaRPr kumimoji="0" lang="en-US" sz="2000" b="0" i="0" u="none" strike="noStrike" kern="1200" cap="none" spc="0" normalizeH="0" baseline="-25000" noProof="0" dirty="0">
              <a:ln>
                <a:noFill/>
              </a:ln>
              <a:solidFill>
                <a:prstClr val="black"/>
              </a:solidFill>
              <a:effectLst/>
              <a:uLnTx/>
              <a:uFillTx/>
              <a:latin typeface="Calibri"/>
              <a:ea typeface="+mn-ea"/>
              <a:cs typeface="+mn-cs"/>
            </a:endParaRPr>
          </a:p>
        </p:txBody>
      </p:sp>
      <p:cxnSp>
        <p:nvCxnSpPr>
          <p:cNvPr id="20" name="Straight Arrow Connector 19"/>
          <p:cNvCxnSpPr>
            <a:stCxn id="18" idx="3"/>
            <a:endCxn id="17" idx="1"/>
          </p:cNvCxnSpPr>
          <p:nvPr/>
        </p:nvCxnSpPr>
        <p:spPr>
          <a:xfrm>
            <a:off x="4067769" y="5170592"/>
            <a:ext cx="415377" cy="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9" idx="0"/>
            <a:endCxn id="17" idx="2"/>
          </p:cNvCxnSpPr>
          <p:nvPr/>
        </p:nvCxnSpPr>
        <p:spPr>
          <a:xfrm flipV="1">
            <a:off x="4301971" y="5370647"/>
            <a:ext cx="619757" cy="496753"/>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8" idx="2"/>
          </p:cNvCxnSpPr>
          <p:nvPr/>
        </p:nvCxnSpPr>
        <p:spPr>
          <a:xfrm>
            <a:off x="3530603" y="5370647"/>
            <a:ext cx="499153" cy="496753"/>
          </a:xfrm>
          <a:prstGeom prst="straightConnector1">
            <a:avLst/>
          </a:prstGeom>
          <a:ln w="158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244646" y="4397040"/>
            <a:ext cx="167693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B050"/>
                </a:solidFill>
                <a:effectLst/>
                <a:uLnTx/>
                <a:uFillTx/>
                <a:latin typeface="Calibri"/>
                <a:ea typeface="+mn-ea"/>
                <a:cs typeface="+mn-cs"/>
              </a:rPr>
              <a:t>Tobacco Taxes</a:t>
            </a:r>
          </a:p>
        </p:txBody>
      </p:sp>
      <p:cxnSp>
        <p:nvCxnSpPr>
          <p:cNvPr id="24" name="Straight Arrow Connector 23"/>
          <p:cNvCxnSpPr>
            <a:stCxn id="23" idx="2"/>
            <a:endCxn id="18" idx="1"/>
          </p:cNvCxnSpPr>
          <p:nvPr/>
        </p:nvCxnSpPr>
        <p:spPr>
          <a:xfrm>
            <a:off x="2083113" y="4797150"/>
            <a:ext cx="910323" cy="373442"/>
          </a:xfrm>
          <a:prstGeom prst="straightConnector1">
            <a:avLst/>
          </a:prstGeom>
          <a:ln w="158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3"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Another example:</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Tree>
    <p:extLst>
      <p:ext uri="{BB962C8B-B14F-4D97-AF65-F5344CB8AC3E}">
        <p14:creationId xmlns:p14="http://schemas.microsoft.com/office/powerpoint/2010/main" val="24285158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60</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3" name="Oval 12"/>
          <p:cNvSpPr/>
          <p:nvPr/>
        </p:nvSpPr>
        <p:spPr>
          <a:xfrm>
            <a:off x="4062907" y="4963854"/>
            <a:ext cx="842010" cy="80582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Oval 13"/>
          <p:cNvSpPr/>
          <p:nvPr/>
        </p:nvSpPr>
        <p:spPr>
          <a:xfrm>
            <a:off x="3931051" y="5290171"/>
            <a:ext cx="842010" cy="805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4708291" y="4735830"/>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16" name="TextBox 15"/>
          <p:cNvSpPr txBox="1"/>
          <p:nvPr/>
        </p:nvSpPr>
        <p:spPr>
          <a:xfrm>
            <a:off x="3962400" y="6096000"/>
            <a:ext cx="74589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a:t>
            </a:r>
            <a:endParaRPr kumimoji="0" lang="en-US" sz="1800" b="0" i="0" u="none" strike="noStrike" kern="1200" cap="none" spc="0" normalizeH="0" baseline="-25000" noProof="0" dirty="0">
              <a:ln>
                <a:noFill/>
              </a:ln>
              <a:solidFill>
                <a:srgbClr val="FF0000"/>
              </a:solidFill>
              <a:effectLst/>
              <a:uLnTx/>
              <a:uFillTx/>
              <a:latin typeface="Calibri"/>
              <a:ea typeface="+mn-ea"/>
              <a:cs typeface="+mn-cs"/>
            </a:endParaRPr>
          </a:p>
        </p:txBody>
      </p:sp>
      <p:sp>
        <p:nvSpPr>
          <p:cNvPr id="25" name="TextBox 24"/>
          <p:cNvSpPr txBox="1"/>
          <p:nvPr/>
        </p:nvSpPr>
        <p:spPr>
          <a:xfrm>
            <a:off x="3477661" y="3699510"/>
            <a:ext cx="16063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Residuals   ( e )</a:t>
            </a:r>
          </a:p>
        </p:txBody>
      </p:sp>
      <p:sp>
        <p:nvSpPr>
          <p:cNvPr id="26" name="TextBox 25"/>
          <p:cNvSpPr txBox="1"/>
          <p:nvPr/>
        </p:nvSpPr>
        <p:spPr>
          <a:xfrm>
            <a:off x="1305217" y="4930141"/>
            <a:ext cx="219431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Predicted Values of Y</a:t>
            </a:r>
            <a:br>
              <a:rPr kumimoji="0" lang="en-US" sz="1800" b="1" i="0" u="none" strike="noStrike" kern="1200" cap="none" spc="0" normalizeH="0" baseline="0" noProof="0" dirty="0">
                <a:ln>
                  <a:noFill/>
                </a:ln>
                <a:solidFill>
                  <a:prstClr val="black"/>
                </a:solidFill>
                <a:effectLst/>
                <a:uLnTx/>
                <a:uFillTx/>
                <a:latin typeface="Calibri"/>
                <a:ea typeface="+mn-ea"/>
                <a:cs typeface="+mn-cs"/>
              </a:rPr>
            </a:br>
            <a:r>
              <a:rPr kumimoji="0" lang="en-US" sz="1800" b="1" i="0" u="none" strike="noStrike" kern="1200" cap="none" spc="0" normalizeH="0" baseline="0" noProof="0" dirty="0">
                <a:ln>
                  <a:noFill/>
                </a:ln>
                <a:solidFill>
                  <a:prstClr val="black"/>
                </a:solidFill>
                <a:effectLst/>
                <a:uLnTx/>
                <a:uFillTx/>
                <a:latin typeface="Calibri"/>
                <a:ea typeface="+mn-ea"/>
                <a:cs typeface="+mn-cs"/>
              </a:rPr>
              <a:t>( y-hat )</a:t>
            </a:r>
          </a:p>
        </p:txBody>
      </p:sp>
      <p:cxnSp>
        <p:nvCxnSpPr>
          <p:cNvPr id="28" name="Straight Arrow Connector 27"/>
          <p:cNvCxnSpPr/>
          <p:nvPr/>
        </p:nvCxnSpPr>
        <p:spPr>
          <a:xfrm>
            <a:off x="4060591" y="4088130"/>
            <a:ext cx="453390" cy="11010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26" idx="3"/>
          </p:cNvCxnSpPr>
          <p:nvPr/>
        </p:nvCxnSpPr>
        <p:spPr>
          <a:xfrm>
            <a:off x="3499536" y="5253307"/>
            <a:ext cx="820136" cy="25976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How does it work?</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4" name="TextBox 3"/>
          <p:cNvSpPr txBox="1"/>
          <p:nvPr/>
        </p:nvSpPr>
        <p:spPr>
          <a:xfrm>
            <a:off x="2361718" y="7772400"/>
            <a:ext cx="367604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Recall, Y is partitioned into explained and unexplained portions</a:t>
            </a:r>
          </a:p>
        </p:txBody>
      </p:sp>
    </p:spTree>
    <p:extLst>
      <p:ext uri="{BB962C8B-B14F-4D97-AF65-F5344CB8AC3E}">
        <p14:creationId xmlns:p14="http://schemas.microsoft.com/office/powerpoint/2010/main" val="28823320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61</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Exogenous Criteria:</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2" name="Oval 11"/>
          <p:cNvSpPr/>
          <p:nvPr/>
        </p:nvSpPr>
        <p:spPr>
          <a:xfrm>
            <a:off x="4150767" y="4289763"/>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3048000" y="4267200"/>
            <a:ext cx="1848261" cy="16701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3615896" y="6103578"/>
            <a:ext cx="74589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srgbClr val="FF0000"/>
                </a:solidFill>
                <a:effectLst/>
                <a:uLnTx/>
                <a:uFillTx/>
                <a:latin typeface="Calibri"/>
                <a:ea typeface="+mn-ea"/>
                <a:cs typeface="+mn-cs"/>
              </a:rPr>
              <a:t>(policy variable)</a:t>
            </a:r>
          </a:p>
        </p:txBody>
      </p:sp>
      <p:sp>
        <p:nvSpPr>
          <p:cNvPr id="20" name="TextBox 19"/>
          <p:cNvSpPr txBox="1"/>
          <p:nvPr/>
        </p:nvSpPr>
        <p:spPr>
          <a:xfrm>
            <a:off x="4565695" y="6103578"/>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1" name="Oval 20"/>
          <p:cNvSpPr/>
          <p:nvPr/>
        </p:nvSpPr>
        <p:spPr>
          <a:xfrm>
            <a:off x="2002159" y="4330602"/>
            <a:ext cx="1848261" cy="1670148"/>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21"/>
          <p:cNvSpPr txBox="1"/>
          <p:nvPr/>
        </p:nvSpPr>
        <p:spPr>
          <a:xfrm>
            <a:off x="2202191" y="6073065"/>
            <a:ext cx="1144016"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Z</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prstClr val="black">
                    <a:lumMod val="50000"/>
                    <a:lumOff val="50000"/>
                  </a:prstClr>
                </a:solidFill>
                <a:effectLst/>
                <a:uLnTx/>
                <a:uFillTx/>
                <a:latin typeface="Calibri"/>
                <a:ea typeface="+mn-ea"/>
                <a:cs typeface="+mn-cs"/>
              </a:rPr>
              <a:t>(Instrument)</a:t>
            </a:r>
          </a:p>
        </p:txBody>
      </p:sp>
      <p:sp>
        <p:nvSpPr>
          <p:cNvPr id="3" name="TextBox 2"/>
          <p:cNvSpPr txBox="1"/>
          <p:nvPr/>
        </p:nvSpPr>
        <p:spPr>
          <a:xfrm>
            <a:off x="2897026" y="8153400"/>
            <a:ext cx="25074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Z is uncorrelated with X2</a:t>
            </a:r>
          </a:p>
        </p:txBody>
      </p:sp>
    </p:spTree>
    <p:extLst>
      <p:ext uri="{BB962C8B-B14F-4D97-AF65-F5344CB8AC3E}">
        <p14:creationId xmlns:p14="http://schemas.microsoft.com/office/powerpoint/2010/main" val="3351873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62</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Exogenous Criteria:</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2" name="Oval 11"/>
          <p:cNvSpPr/>
          <p:nvPr/>
        </p:nvSpPr>
        <p:spPr>
          <a:xfrm>
            <a:off x="4150767" y="4289763"/>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3048000" y="4267200"/>
            <a:ext cx="1848261" cy="16701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3615896" y="6103578"/>
            <a:ext cx="74589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srgbClr val="FF0000"/>
                </a:solidFill>
                <a:effectLst/>
                <a:uLnTx/>
                <a:uFillTx/>
                <a:latin typeface="Calibri"/>
                <a:ea typeface="+mn-ea"/>
                <a:cs typeface="+mn-cs"/>
              </a:rPr>
              <a:t>(policy variable)</a:t>
            </a:r>
          </a:p>
        </p:txBody>
      </p:sp>
      <p:sp>
        <p:nvSpPr>
          <p:cNvPr id="20" name="TextBox 19"/>
          <p:cNvSpPr txBox="1"/>
          <p:nvPr/>
        </p:nvSpPr>
        <p:spPr>
          <a:xfrm>
            <a:off x="4565695" y="6103578"/>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3" name="TextBox 2"/>
          <p:cNvSpPr txBox="1"/>
          <p:nvPr/>
        </p:nvSpPr>
        <p:spPr>
          <a:xfrm>
            <a:off x="2397268" y="8001000"/>
            <a:ext cx="356001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 is a problematic omitted variable</a:t>
            </a:r>
          </a:p>
        </p:txBody>
      </p:sp>
      <p:sp>
        <p:nvSpPr>
          <p:cNvPr id="27" name="Oval 26"/>
          <p:cNvSpPr/>
          <p:nvPr/>
        </p:nvSpPr>
        <p:spPr>
          <a:xfrm>
            <a:off x="3667373" y="3439366"/>
            <a:ext cx="1796643" cy="1855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4541025" y="2856948"/>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cxnSp>
        <p:nvCxnSpPr>
          <p:cNvPr id="5" name="Straight Arrow Connector 4"/>
          <p:cNvCxnSpPr/>
          <p:nvPr/>
        </p:nvCxnSpPr>
        <p:spPr>
          <a:xfrm>
            <a:off x="2133600" y="3581400"/>
            <a:ext cx="2407425" cy="1295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475236" y="3254700"/>
            <a:ext cx="60625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BIAS</a:t>
            </a:r>
          </a:p>
        </p:txBody>
      </p:sp>
    </p:spTree>
    <p:extLst>
      <p:ext uri="{BB962C8B-B14F-4D97-AF65-F5344CB8AC3E}">
        <p14:creationId xmlns:p14="http://schemas.microsoft.com/office/powerpoint/2010/main" val="7222096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63</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Exogenous Criteria:</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2" name="Oval 11"/>
          <p:cNvSpPr/>
          <p:nvPr/>
        </p:nvSpPr>
        <p:spPr>
          <a:xfrm>
            <a:off x="4150767" y="4289763"/>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3048000" y="4267200"/>
            <a:ext cx="1848261" cy="16701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3615896" y="6103578"/>
            <a:ext cx="74589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srgbClr val="FF0000"/>
                </a:solidFill>
                <a:effectLst/>
                <a:uLnTx/>
                <a:uFillTx/>
                <a:latin typeface="Calibri"/>
                <a:ea typeface="+mn-ea"/>
                <a:cs typeface="+mn-cs"/>
              </a:rPr>
              <a:t>(policy variable)</a:t>
            </a:r>
          </a:p>
        </p:txBody>
      </p:sp>
      <p:sp>
        <p:nvSpPr>
          <p:cNvPr id="20" name="TextBox 19"/>
          <p:cNvSpPr txBox="1"/>
          <p:nvPr/>
        </p:nvSpPr>
        <p:spPr>
          <a:xfrm>
            <a:off x="4565695" y="6103578"/>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3" name="TextBox 2"/>
          <p:cNvSpPr txBox="1"/>
          <p:nvPr/>
        </p:nvSpPr>
        <p:spPr>
          <a:xfrm>
            <a:off x="1997036" y="7882952"/>
            <a:ext cx="430746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Z is correlated with Y, but only THROUGH X1</a:t>
            </a:r>
          </a:p>
        </p:txBody>
      </p:sp>
      <p:sp>
        <p:nvSpPr>
          <p:cNvPr id="27" name="Oval 26"/>
          <p:cNvSpPr/>
          <p:nvPr/>
        </p:nvSpPr>
        <p:spPr>
          <a:xfrm>
            <a:off x="3667373" y="3439366"/>
            <a:ext cx="1796643" cy="1855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4541025" y="2856948"/>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13" name="Oval 12"/>
          <p:cNvSpPr/>
          <p:nvPr/>
        </p:nvSpPr>
        <p:spPr>
          <a:xfrm rot="19249230">
            <a:off x="1830511" y="4817031"/>
            <a:ext cx="2707420" cy="850998"/>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1294047" y="6195911"/>
            <a:ext cx="1144016"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Z</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prstClr val="black">
                    <a:lumMod val="50000"/>
                    <a:lumOff val="50000"/>
                  </a:prstClr>
                </a:solidFill>
                <a:effectLst/>
                <a:uLnTx/>
                <a:uFillTx/>
                <a:latin typeface="Calibri"/>
                <a:ea typeface="+mn-ea"/>
                <a:cs typeface="+mn-cs"/>
              </a:rPr>
              <a:t>(Instrument)</a:t>
            </a:r>
          </a:p>
        </p:txBody>
      </p:sp>
    </p:spTree>
    <p:extLst>
      <p:ext uri="{BB962C8B-B14F-4D97-AF65-F5344CB8AC3E}">
        <p14:creationId xmlns:p14="http://schemas.microsoft.com/office/powerpoint/2010/main" val="30584734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Recall:</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64</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6981312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04360" y="2299166"/>
            <a:ext cx="2121218" cy="5432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606871" y="4201540"/>
            <a:ext cx="304892"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x</a:t>
            </a:r>
          </a:p>
        </p:txBody>
      </p:sp>
      <p:sp>
        <p:nvSpPr>
          <p:cNvPr id="8" name="TextBox 7"/>
          <p:cNvSpPr txBox="1"/>
          <p:nvPr/>
        </p:nvSpPr>
        <p:spPr>
          <a:xfrm>
            <a:off x="2319341" y="4201540"/>
            <a:ext cx="308098"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y</a:t>
            </a:r>
          </a:p>
        </p:txBody>
      </p:sp>
      <p:cxnSp>
        <p:nvCxnSpPr>
          <p:cNvPr id="9" name="Straight Arrow Connector 8"/>
          <p:cNvCxnSpPr>
            <a:stCxn id="7" idx="3"/>
            <a:endCxn id="8" idx="1"/>
          </p:cNvCxnSpPr>
          <p:nvPr/>
        </p:nvCxnSpPr>
        <p:spPr>
          <a:xfrm>
            <a:off x="1911763" y="4404673"/>
            <a:ext cx="407578"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695916" y="4960635"/>
            <a:ext cx="288862"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z</a:t>
            </a:r>
          </a:p>
        </p:txBody>
      </p:sp>
      <p:cxnSp>
        <p:nvCxnSpPr>
          <p:cNvPr id="12" name="Straight Arrow Connector 11"/>
          <p:cNvCxnSpPr>
            <a:stCxn id="10" idx="3"/>
            <a:endCxn id="8" idx="2"/>
          </p:cNvCxnSpPr>
          <p:nvPr/>
        </p:nvCxnSpPr>
        <p:spPr>
          <a:xfrm flipV="1">
            <a:off x="1984778" y="4607805"/>
            <a:ext cx="488612" cy="555963"/>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13335" y="2632710"/>
            <a:ext cx="1609030" cy="4585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80" b="0" i="0" u="none" strike="noStrike" kern="1200" cap="none" spc="0" normalizeH="0" baseline="0" noProof="0" dirty="0">
                <a:ln>
                  <a:noFill/>
                </a:ln>
                <a:solidFill>
                  <a:prstClr val="black"/>
                </a:solidFill>
                <a:effectLst/>
                <a:uLnTx/>
                <a:uFillTx/>
                <a:latin typeface="Calibri"/>
                <a:ea typeface="+mn-ea"/>
                <a:cs typeface="+mn-cs"/>
              </a:rPr>
              <a:t>Example #1</a:t>
            </a:r>
          </a:p>
        </p:txBody>
      </p:sp>
    </p:spTree>
    <p:extLst>
      <p:ext uri="{BB962C8B-B14F-4D97-AF65-F5344CB8AC3E}">
        <p14:creationId xmlns:p14="http://schemas.microsoft.com/office/powerpoint/2010/main" val="224371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60170" y="4053855"/>
            <a:ext cx="304892"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x</a:t>
            </a:r>
          </a:p>
        </p:txBody>
      </p:sp>
      <p:sp>
        <p:nvSpPr>
          <p:cNvPr id="4" name="TextBox 3"/>
          <p:cNvSpPr txBox="1"/>
          <p:nvPr/>
        </p:nvSpPr>
        <p:spPr>
          <a:xfrm>
            <a:off x="2568921" y="4053855"/>
            <a:ext cx="308098"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y</a:t>
            </a:r>
          </a:p>
        </p:txBody>
      </p:sp>
      <p:cxnSp>
        <p:nvCxnSpPr>
          <p:cNvPr id="5" name="Straight Arrow Connector 4"/>
          <p:cNvCxnSpPr>
            <a:stCxn id="6" idx="1"/>
            <a:endCxn id="3" idx="2"/>
          </p:cNvCxnSpPr>
          <p:nvPr/>
        </p:nvCxnSpPr>
        <p:spPr>
          <a:xfrm flipH="1" flipV="1">
            <a:off x="1512616" y="4460120"/>
            <a:ext cx="447321" cy="562263"/>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959937" y="4819250"/>
            <a:ext cx="288862"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z</a:t>
            </a:r>
          </a:p>
        </p:txBody>
      </p:sp>
      <p:cxnSp>
        <p:nvCxnSpPr>
          <p:cNvPr id="7" name="Straight Arrow Connector 6"/>
          <p:cNvCxnSpPr>
            <a:stCxn id="6" idx="3"/>
            <a:endCxn id="4" idx="2"/>
          </p:cNvCxnSpPr>
          <p:nvPr/>
        </p:nvCxnSpPr>
        <p:spPr>
          <a:xfrm flipV="1">
            <a:off x="2248799" y="4460120"/>
            <a:ext cx="474171" cy="562263"/>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512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68692" y="2314258"/>
            <a:ext cx="2161699" cy="5432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713335" y="2632710"/>
            <a:ext cx="1609030" cy="4585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80" b="0" i="0" u="none" strike="noStrike" kern="1200" cap="none" spc="0" normalizeH="0" baseline="0" noProof="0" dirty="0">
                <a:ln>
                  <a:noFill/>
                </a:ln>
                <a:solidFill>
                  <a:prstClr val="black"/>
                </a:solidFill>
                <a:effectLst/>
                <a:uLnTx/>
                <a:uFillTx/>
                <a:latin typeface="Calibri"/>
                <a:ea typeface="+mn-ea"/>
                <a:cs typeface="+mn-cs"/>
              </a:rPr>
              <a:t>Example #2</a:t>
            </a:r>
          </a:p>
        </p:txBody>
      </p:sp>
    </p:spTree>
    <p:extLst>
      <p:ext uri="{BB962C8B-B14F-4D97-AF65-F5344CB8AC3E}">
        <p14:creationId xmlns:p14="http://schemas.microsoft.com/office/powerpoint/2010/main" val="42696532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606871" y="3863341"/>
            <a:ext cx="304892"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x</a:t>
            </a:r>
          </a:p>
        </p:txBody>
      </p:sp>
      <p:sp>
        <p:nvSpPr>
          <p:cNvPr id="4" name="TextBox 3"/>
          <p:cNvSpPr txBox="1"/>
          <p:nvPr/>
        </p:nvSpPr>
        <p:spPr>
          <a:xfrm>
            <a:off x="2568921" y="3863341"/>
            <a:ext cx="308098"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y</a:t>
            </a:r>
          </a:p>
        </p:txBody>
      </p:sp>
      <p:cxnSp>
        <p:nvCxnSpPr>
          <p:cNvPr id="5" name="Straight Arrow Connector 4"/>
          <p:cNvCxnSpPr>
            <a:stCxn id="3" idx="3"/>
            <a:endCxn id="4" idx="1"/>
          </p:cNvCxnSpPr>
          <p:nvPr/>
        </p:nvCxnSpPr>
        <p:spPr>
          <a:xfrm>
            <a:off x="1911763" y="4066474"/>
            <a:ext cx="657158"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617810" y="4960635"/>
            <a:ext cx="288862"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z</a:t>
            </a:r>
          </a:p>
        </p:txBody>
      </p:sp>
      <p:cxnSp>
        <p:nvCxnSpPr>
          <p:cNvPr id="7" name="Straight Arrow Connector 6"/>
          <p:cNvCxnSpPr>
            <a:stCxn id="6" idx="0"/>
            <a:endCxn id="3" idx="2"/>
          </p:cNvCxnSpPr>
          <p:nvPr/>
        </p:nvCxnSpPr>
        <p:spPr>
          <a:xfrm flipH="1" flipV="1">
            <a:off x="1759317" y="4269606"/>
            <a:ext cx="2924" cy="69102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03922" y="2314258"/>
            <a:ext cx="2161699" cy="5432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713335" y="2632710"/>
            <a:ext cx="1609030" cy="4585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80" b="0" i="0" u="none" strike="noStrike" kern="1200" cap="none" spc="0" normalizeH="0" baseline="0" noProof="0" dirty="0">
                <a:ln>
                  <a:noFill/>
                </a:ln>
                <a:solidFill>
                  <a:prstClr val="black"/>
                </a:solidFill>
                <a:effectLst/>
                <a:uLnTx/>
                <a:uFillTx/>
                <a:latin typeface="Calibri"/>
                <a:ea typeface="+mn-ea"/>
                <a:cs typeface="+mn-cs"/>
              </a:rPr>
              <a:t>Example #3</a:t>
            </a:r>
          </a:p>
        </p:txBody>
      </p:sp>
    </p:spTree>
    <p:extLst>
      <p:ext uri="{BB962C8B-B14F-4D97-AF65-F5344CB8AC3E}">
        <p14:creationId xmlns:p14="http://schemas.microsoft.com/office/powerpoint/2010/main" val="5242813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68</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Exogenous Criteria:</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2" name="Oval 11"/>
          <p:cNvSpPr/>
          <p:nvPr/>
        </p:nvSpPr>
        <p:spPr>
          <a:xfrm>
            <a:off x="4150767" y="4289763"/>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3048000" y="4267200"/>
            <a:ext cx="1848261" cy="16701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3615896" y="6103578"/>
            <a:ext cx="74589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srgbClr val="FF0000"/>
                </a:solidFill>
                <a:effectLst/>
                <a:uLnTx/>
                <a:uFillTx/>
                <a:latin typeface="Calibri"/>
                <a:ea typeface="+mn-ea"/>
                <a:cs typeface="+mn-cs"/>
              </a:rPr>
              <a:t>(policy variable)</a:t>
            </a:r>
          </a:p>
        </p:txBody>
      </p:sp>
      <p:sp>
        <p:nvSpPr>
          <p:cNvPr id="20" name="TextBox 19"/>
          <p:cNvSpPr txBox="1"/>
          <p:nvPr/>
        </p:nvSpPr>
        <p:spPr>
          <a:xfrm>
            <a:off x="4565695" y="6103578"/>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7" name="Oval 26"/>
          <p:cNvSpPr/>
          <p:nvPr/>
        </p:nvSpPr>
        <p:spPr>
          <a:xfrm>
            <a:off x="3667373" y="3439366"/>
            <a:ext cx="1796643" cy="1855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4541025" y="2856948"/>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13" name="Oval 12"/>
          <p:cNvSpPr/>
          <p:nvPr/>
        </p:nvSpPr>
        <p:spPr>
          <a:xfrm rot="19249230">
            <a:off x="1830511" y="4817031"/>
            <a:ext cx="2707420" cy="850998"/>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1294047" y="6195911"/>
            <a:ext cx="1144016"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Z</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prstClr val="black">
                    <a:lumMod val="50000"/>
                    <a:lumOff val="50000"/>
                  </a:prstClr>
                </a:solidFill>
                <a:effectLst/>
                <a:uLnTx/>
                <a:uFillTx/>
                <a:latin typeface="Calibri"/>
                <a:ea typeface="+mn-ea"/>
                <a:cs typeface="+mn-cs"/>
              </a:rPr>
              <a:t>(Instrument)</a:t>
            </a:r>
          </a:p>
        </p:txBody>
      </p:sp>
      <p:sp>
        <p:nvSpPr>
          <p:cNvPr id="15" name="TextBox 14"/>
          <p:cNvSpPr txBox="1"/>
          <p:nvPr/>
        </p:nvSpPr>
        <p:spPr>
          <a:xfrm>
            <a:off x="3907554" y="7679819"/>
            <a:ext cx="304892"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x</a:t>
            </a:r>
          </a:p>
        </p:txBody>
      </p:sp>
      <p:sp>
        <p:nvSpPr>
          <p:cNvPr id="16" name="TextBox 15"/>
          <p:cNvSpPr txBox="1"/>
          <p:nvPr/>
        </p:nvSpPr>
        <p:spPr>
          <a:xfrm>
            <a:off x="4869604" y="7679819"/>
            <a:ext cx="308098"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y</a:t>
            </a:r>
          </a:p>
        </p:txBody>
      </p:sp>
      <p:cxnSp>
        <p:nvCxnSpPr>
          <p:cNvPr id="21" name="Straight Arrow Connector 20"/>
          <p:cNvCxnSpPr>
            <a:stCxn id="15" idx="3"/>
            <a:endCxn id="16" idx="1"/>
          </p:cNvCxnSpPr>
          <p:nvPr/>
        </p:nvCxnSpPr>
        <p:spPr>
          <a:xfrm>
            <a:off x="4212446" y="7882952"/>
            <a:ext cx="657158"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733380" y="7686258"/>
            <a:ext cx="288862"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z</a:t>
            </a:r>
          </a:p>
        </p:txBody>
      </p:sp>
      <p:cxnSp>
        <p:nvCxnSpPr>
          <p:cNvPr id="23" name="Straight Arrow Connector 22"/>
          <p:cNvCxnSpPr>
            <a:stCxn id="22" idx="3"/>
            <a:endCxn id="15" idx="1"/>
          </p:cNvCxnSpPr>
          <p:nvPr/>
        </p:nvCxnSpPr>
        <p:spPr>
          <a:xfrm flipV="1">
            <a:off x="3022242" y="7882952"/>
            <a:ext cx="885312" cy="643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46671" y="8395699"/>
            <a:ext cx="6697346"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This is a natural property of correlation structures.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We exploit this property to isolate the uncontaminated portion of X1!</a:t>
            </a:r>
          </a:p>
        </p:txBody>
      </p:sp>
    </p:spTree>
    <p:extLst>
      <p:ext uri="{BB962C8B-B14F-4D97-AF65-F5344CB8AC3E}">
        <p14:creationId xmlns:p14="http://schemas.microsoft.com/office/powerpoint/2010/main" val="26499417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69</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Exogenous Criteria:</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2" name="Oval 11"/>
          <p:cNvSpPr/>
          <p:nvPr/>
        </p:nvSpPr>
        <p:spPr>
          <a:xfrm>
            <a:off x="4150767" y="4289763"/>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3048000" y="4267200"/>
            <a:ext cx="1848261" cy="16701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3615896" y="6103578"/>
            <a:ext cx="74589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srgbClr val="FF0000"/>
                </a:solidFill>
                <a:effectLst/>
                <a:uLnTx/>
                <a:uFillTx/>
                <a:latin typeface="Calibri"/>
                <a:ea typeface="+mn-ea"/>
                <a:cs typeface="+mn-cs"/>
              </a:rPr>
              <a:t>(policy variable)</a:t>
            </a:r>
          </a:p>
        </p:txBody>
      </p:sp>
      <p:sp>
        <p:nvSpPr>
          <p:cNvPr id="20" name="TextBox 19"/>
          <p:cNvSpPr txBox="1"/>
          <p:nvPr/>
        </p:nvSpPr>
        <p:spPr>
          <a:xfrm>
            <a:off x="4565695" y="6103578"/>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7" name="Oval 26"/>
          <p:cNvSpPr/>
          <p:nvPr/>
        </p:nvSpPr>
        <p:spPr>
          <a:xfrm>
            <a:off x="3667373" y="3439366"/>
            <a:ext cx="1796643" cy="1855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4541025" y="2856948"/>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13" name="Oval 12"/>
          <p:cNvSpPr/>
          <p:nvPr/>
        </p:nvSpPr>
        <p:spPr>
          <a:xfrm rot="19249230">
            <a:off x="1830511" y="4817031"/>
            <a:ext cx="2707420" cy="850998"/>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1294047" y="6195911"/>
            <a:ext cx="1144016"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Z</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prstClr val="black">
                    <a:lumMod val="50000"/>
                    <a:lumOff val="50000"/>
                  </a:prstClr>
                </a:solidFill>
                <a:effectLst/>
                <a:uLnTx/>
                <a:uFillTx/>
                <a:latin typeface="Calibri"/>
                <a:ea typeface="+mn-ea"/>
                <a:cs typeface="+mn-cs"/>
              </a:rPr>
              <a:t>(Instrument)</a:t>
            </a:r>
          </a:p>
        </p:txBody>
      </p:sp>
      <p:sp>
        <p:nvSpPr>
          <p:cNvPr id="15" name="TextBox 14"/>
          <p:cNvSpPr txBox="1"/>
          <p:nvPr/>
        </p:nvSpPr>
        <p:spPr>
          <a:xfrm>
            <a:off x="3907554" y="8178867"/>
            <a:ext cx="304892"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x</a:t>
            </a:r>
          </a:p>
        </p:txBody>
      </p:sp>
      <p:sp>
        <p:nvSpPr>
          <p:cNvPr id="16" name="TextBox 15"/>
          <p:cNvSpPr txBox="1"/>
          <p:nvPr/>
        </p:nvSpPr>
        <p:spPr>
          <a:xfrm>
            <a:off x="4869604" y="8178867"/>
            <a:ext cx="308098"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y</a:t>
            </a:r>
          </a:p>
        </p:txBody>
      </p:sp>
      <p:cxnSp>
        <p:nvCxnSpPr>
          <p:cNvPr id="21" name="Straight Arrow Connector 20"/>
          <p:cNvCxnSpPr>
            <a:stCxn id="15" idx="3"/>
            <a:endCxn id="16" idx="1"/>
          </p:cNvCxnSpPr>
          <p:nvPr/>
        </p:nvCxnSpPr>
        <p:spPr>
          <a:xfrm>
            <a:off x="4212446" y="8382000"/>
            <a:ext cx="657158"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733380" y="8185306"/>
            <a:ext cx="288862" cy="4062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40" b="1" i="0" u="none" strike="noStrike" kern="1200" cap="none" spc="0" normalizeH="0" baseline="0" noProof="0" dirty="0">
                <a:ln>
                  <a:noFill/>
                </a:ln>
                <a:solidFill>
                  <a:prstClr val="black"/>
                </a:solidFill>
                <a:effectLst/>
                <a:uLnTx/>
                <a:uFillTx/>
                <a:latin typeface="Calibri"/>
                <a:ea typeface="+mn-ea"/>
                <a:cs typeface="+mn-cs"/>
              </a:rPr>
              <a:t>z</a:t>
            </a:r>
          </a:p>
        </p:txBody>
      </p:sp>
      <p:cxnSp>
        <p:nvCxnSpPr>
          <p:cNvPr id="23" name="Straight Arrow Connector 22"/>
          <p:cNvCxnSpPr>
            <a:stCxn id="22" idx="3"/>
            <a:endCxn id="15" idx="1"/>
          </p:cNvCxnSpPr>
          <p:nvPr/>
        </p:nvCxnSpPr>
        <p:spPr>
          <a:xfrm flipV="1">
            <a:off x="3022242" y="8382000"/>
            <a:ext cx="885312" cy="6439"/>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5128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t>This is how instrumental variables work:</a:t>
            </a:r>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70</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9" name="Object 8"/>
          <p:cNvGraphicFramePr>
            <a:graphicFrameLocks noChangeAspect="1"/>
          </p:cNvGraphicFramePr>
          <p:nvPr/>
        </p:nvGraphicFramePr>
        <p:xfrm>
          <a:off x="911061" y="3987244"/>
          <a:ext cx="5325737" cy="2460625"/>
        </p:xfrm>
        <a:graphic>
          <a:graphicData uri="http://schemas.openxmlformats.org/presentationml/2006/ole">
            <mc:AlternateContent xmlns:mc="http://schemas.openxmlformats.org/markup-compatibility/2006">
              <mc:Choice xmlns:v="urn:schemas-microsoft-com:vml" Requires="v">
                <p:oleObj spid="_x0000_s65538" name="Equation" r:id="rId3" imgW="4012920" imgH="1854000" progId="Equation.3">
                  <p:embed/>
                </p:oleObj>
              </mc:Choice>
              <mc:Fallback>
                <p:oleObj name="Equation" r:id="rId3" imgW="4012920" imgH="1854000" progId="Equation.3">
                  <p:embed/>
                  <p:pic>
                    <p:nvPicPr>
                      <p:cNvPr id="9"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061" y="3987244"/>
                        <a:ext cx="5325737" cy="2460625"/>
                      </a:xfrm>
                      <a:prstGeom prst="rect">
                        <a:avLst/>
                      </a:prstGeom>
                      <a:noFill/>
                    </p:spPr>
                  </p:pic>
                </p:oleObj>
              </mc:Fallback>
            </mc:AlternateContent>
          </a:graphicData>
        </a:graphic>
      </p:graphicFrame>
      <p:sp>
        <p:nvSpPr>
          <p:cNvPr id="10" name="Oval 9"/>
          <p:cNvSpPr/>
          <p:nvPr/>
        </p:nvSpPr>
        <p:spPr>
          <a:xfrm>
            <a:off x="4709098" y="7412054"/>
            <a:ext cx="842010" cy="805829"/>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a:ea typeface="+mn-ea"/>
              <a:cs typeface="+mn-cs"/>
            </a:endParaRPr>
          </a:p>
        </p:txBody>
      </p:sp>
      <p:sp>
        <p:nvSpPr>
          <p:cNvPr id="11" name="Oval 10"/>
          <p:cNvSpPr/>
          <p:nvPr/>
        </p:nvSpPr>
        <p:spPr>
          <a:xfrm>
            <a:off x="4267200" y="6856220"/>
            <a:ext cx="1098774" cy="96279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a:ea typeface="+mn-ea"/>
              <a:cs typeface="+mn-cs"/>
            </a:endParaRPr>
          </a:p>
        </p:txBody>
      </p:sp>
      <p:sp>
        <p:nvSpPr>
          <p:cNvPr id="12" name="Oval 11"/>
          <p:cNvSpPr/>
          <p:nvPr/>
        </p:nvSpPr>
        <p:spPr>
          <a:xfrm>
            <a:off x="4126168" y="7282514"/>
            <a:ext cx="842010" cy="805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12"/>
          <p:cNvSpPr txBox="1"/>
          <p:nvPr/>
        </p:nvSpPr>
        <p:spPr>
          <a:xfrm>
            <a:off x="3969255" y="6798650"/>
            <a:ext cx="518067"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14" name="TextBox 13"/>
          <p:cNvSpPr txBox="1"/>
          <p:nvPr/>
        </p:nvSpPr>
        <p:spPr>
          <a:xfrm>
            <a:off x="4267200" y="8162779"/>
            <a:ext cx="74589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Calibri"/>
                <a:ea typeface="+mn-ea"/>
                <a:cs typeface="+mn-cs"/>
              </a:rPr>
              <a:t>X</a:t>
            </a:r>
            <a:r>
              <a:rPr kumimoji="0" lang="en-US" sz="2000" b="0" i="0" u="none" strike="noStrike" kern="1200" cap="none" spc="0" normalizeH="0" baseline="-25000" noProof="0" dirty="0">
                <a:ln>
                  <a:noFill/>
                </a:ln>
                <a:solidFill>
                  <a:srgbClr val="FF0000"/>
                </a:solidFill>
                <a:effectLst/>
                <a:uLnTx/>
                <a:uFillTx/>
                <a:latin typeface="Calibri"/>
                <a:ea typeface="+mn-ea"/>
                <a:cs typeface="+mn-cs"/>
              </a:rPr>
              <a:t>1</a:t>
            </a:r>
          </a:p>
        </p:txBody>
      </p:sp>
      <p:sp>
        <p:nvSpPr>
          <p:cNvPr id="15" name="TextBox 14"/>
          <p:cNvSpPr txBox="1"/>
          <p:nvPr/>
        </p:nvSpPr>
        <p:spPr>
          <a:xfrm>
            <a:off x="5581438" y="7880299"/>
            <a:ext cx="12954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X</a:t>
            </a:r>
            <a:r>
              <a:rPr kumimoji="0" lang="en-US" sz="2000" b="0" i="0" u="none" strike="noStrike" kern="1200" cap="none" spc="0" normalizeH="0" baseline="-25000" noProof="0" dirty="0">
                <a:ln>
                  <a:noFill/>
                </a:ln>
                <a:solidFill>
                  <a:prstClr val="black"/>
                </a:solidFill>
                <a:effectLst/>
                <a:uLnTx/>
                <a:uFillTx/>
                <a:latin typeface="Calibri"/>
                <a:ea typeface="+mn-ea"/>
                <a:cs typeface="+mn-cs"/>
              </a:rPr>
              <a:t>2</a:t>
            </a:r>
          </a:p>
        </p:txBody>
      </p:sp>
      <p:sp>
        <p:nvSpPr>
          <p:cNvPr id="16" name="Oval 15"/>
          <p:cNvSpPr/>
          <p:nvPr/>
        </p:nvSpPr>
        <p:spPr>
          <a:xfrm rot="19654784">
            <a:off x="3716655" y="7578870"/>
            <a:ext cx="1101090" cy="39389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3502564" y="7573336"/>
            <a:ext cx="38862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B050"/>
                </a:solidFill>
                <a:effectLst/>
                <a:uLnTx/>
                <a:uFillTx/>
                <a:latin typeface="Calibri"/>
                <a:ea typeface="+mn-ea"/>
                <a:cs typeface="+mn-cs"/>
              </a:rPr>
              <a:t>Z</a:t>
            </a:r>
            <a:endParaRPr kumimoji="0" lang="en-US" sz="2000" b="0" i="0" u="none" strike="noStrike" kern="1200" cap="none" spc="0" normalizeH="0" baseline="-25000" noProof="0" dirty="0">
              <a:ln>
                <a:noFill/>
              </a:ln>
              <a:solidFill>
                <a:srgbClr val="00B050"/>
              </a:solidFill>
              <a:effectLst/>
              <a:uLnTx/>
              <a:uFillTx/>
              <a:latin typeface="Calibri"/>
              <a:ea typeface="+mn-ea"/>
              <a:cs typeface="+mn-cs"/>
            </a:endParaRPr>
          </a:p>
        </p:txBody>
      </p:sp>
      <p:sp>
        <p:nvSpPr>
          <p:cNvPr id="18" name="Oval 17"/>
          <p:cNvSpPr/>
          <p:nvPr/>
        </p:nvSpPr>
        <p:spPr>
          <a:xfrm>
            <a:off x="4481367" y="6531789"/>
            <a:ext cx="842010" cy="8058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5323377" y="6418892"/>
            <a:ext cx="74589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Calibri"/>
                <a:ea typeface="+mn-ea"/>
                <a:cs typeface="+mn-cs"/>
              </a:rPr>
              <a:t>X</a:t>
            </a:r>
            <a:r>
              <a:rPr kumimoji="0" lang="en-US" sz="2000" b="0" i="0" u="none" strike="noStrike" kern="1200" cap="none" spc="0" normalizeH="0" baseline="-25000" noProof="0" dirty="0">
                <a:ln>
                  <a:noFill/>
                </a:ln>
                <a:solidFill>
                  <a:srgbClr val="FF0000"/>
                </a:solidFill>
                <a:effectLst/>
                <a:uLnTx/>
                <a:uFillTx/>
                <a:latin typeface="Calibri"/>
                <a:ea typeface="+mn-ea"/>
                <a:cs typeface="+mn-cs"/>
              </a:rPr>
              <a:t>3</a:t>
            </a:r>
          </a:p>
        </p:txBody>
      </p:sp>
    </p:spTree>
    <p:extLst>
      <p:ext uri="{BB962C8B-B14F-4D97-AF65-F5344CB8AC3E}">
        <p14:creationId xmlns:p14="http://schemas.microsoft.com/office/powerpoint/2010/main" val="27138266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We use instrumental variables when:</a:t>
            </a:r>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71</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Text Placeholder 2"/>
          <p:cNvSpPr>
            <a:spLocks noGrp="1"/>
          </p:cNvSpPr>
          <p:nvPr>
            <p:ph type="body" sz="quarter" idx="4294967295"/>
          </p:nvPr>
        </p:nvSpPr>
        <p:spPr>
          <a:xfrm>
            <a:off x="1219200" y="3581400"/>
            <a:ext cx="5168900" cy="3368675"/>
          </a:xfrm>
        </p:spPr>
        <p:txBody>
          <a:bodyPr>
            <a:noAutofit/>
          </a:bodyPr>
          <a:lstStyle/>
          <a:p>
            <a:pPr marL="194310" indent="-194310">
              <a:buFont typeface="+mj-lt"/>
              <a:buAutoNum type="arabicPeriod"/>
            </a:pPr>
            <a:r>
              <a:rPr lang="en-US" sz="1800" b="1" dirty="0">
                <a:latin typeface="+mn-lt"/>
              </a:rPr>
              <a:t>We know that we have an omitted variable problem</a:t>
            </a:r>
            <a:br>
              <a:rPr lang="en-US" sz="1800" b="1" dirty="0">
                <a:latin typeface="+mn-lt"/>
              </a:rPr>
            </a:br>
            <a:endParaRPr lang="en-US" sz="1800" b="1" dirty="0">
              <a:latin typeface="+mn-lt"/>
            </a:endParaRPr>
          </a:p>
          <a:p>
            <a:pPr marL="194310" indent="-194310">
              <a:buFont typeface="+mj-lt"/>
              <a:buAutoNum type="arabicPeriod"/>
            </a:pPr>
            <a:r>
              <a:rPr lang="en-US" sz="1800" b="1" dirty="0">
                <a:latin typeface="+mn-lt"/>
              </a:rPr>
              <a:t>We don’t have a way to include the omitted variable</a:t>
            </a:r>
            <a:br>
              <a:rPr lang="en-US" sz="1800" b="1" dirty="0">
                <a:latin typeface="+mn-lt"/>
              </a:rPr>
            </a:br>
            <a:endParaRPr lang="en-US" sz="1800" b="1" dirty="0">
              <a:latin typeface="+mn-lt"/>
            </a:endParaRPr>
          </a:p>
          <a:p>
            <a:pPr marL="194310" indent="-194310">
              <a:buFont typeface="+mj-lt"/>
              <a:buAutoNum type="arabicPeriod"/>
            </a:pPr>
            <a:r>
              <a:rPr lang="en-US" sz="1800" b="1" dirty="0">
                <a:latin typeface="+mn-lt"/>
              </a:rPr>
              <a:t>We have an exogenous variable</a:t>
            </a:r>
          </a:p>
          <a:p>
            <a:endParaRPr lang="en-US" sz="1800" dirty="0">
              <a:latin typeface="+mn-lt"/>
            </a:endParaRPr>
          </a:p>
          <a:p>
            <a:r>
              <a:rPr lang="en-US" sz="1800" b="1" dirty="0">
                <a:solidFill>
                  <a:schemeClr val="accent6">
                    <a:lumMod val="75000"/>
                  </a:schemeClr>
                </a:solidFill>
                <a:latin typeface="+mn-lt"/>
              </a:rPr>
              <a:t>But how do we know that we have an exogenous variable???</a:t>
            </a:r>
          </a:p>
          <a:p>
            <a:endParaRPr lang="en-US" sz="1800" dirty="0">
              <a:latin typeface="+mn-lt"/>
              <a:sym typeface="Wingdings" pitchFamily="2" charset="2"/>
            </a:endParaRPr>
          </a:p>
          <a:p>
            <a:r>
              <a:rPr lang="en-US" sz="1800" dirty="0">
                <a:latin typeface="+mn-lt"/>
                <a:sym typeface="Wingdings" pitchFamily="2" charset="2"/>
              </a:rPr>
              <a:t>Instrumental variables are justified by assumption, i.e. </a:t>
            </a:r>
            <a:r>
              <a:rPr lang="en-US" sz="1800" u="sng" dirty="0">
                <a:latin typeface="+mn-lt"/>
                <a:sym typeface="Wingdings" pitchFamily="2" charset="2"/>
              </a:rPr>
              <a:t>a good story</a:t>
            </a:r>
            <a:r>
              <a:rPr lang="en-US" sz="1800" dirty="0">
                <a:latin typeface="+mn-lt"/>
                <a:sym typeface="Wingdings" pitchFamily="2" charset="2"/>
              </a:rPr>
              <a:t>. There is a test you can run if you have multiple instrumental variables, but often we rely on the story.</a:t>
            </a:r>
          </a:p>
          <a:p>
            <a:endParaRPr lang="en-US" sz="1800" dirty="0">
              <a:latin typeface="+mn-lt"/>
              <a:sym typeface="Wingdings" pitchFamily="2" charset="2"/>
            </a:endParaRPr>
          </a:p>
          <a:p>
            <a:endParaRPr lang="en-US" sz="1800" dirty="0">
              <a:latin typeface="+mn-lt"/>
            </a:endParaRPr>
          </a:p>
        </p:txBody>
      </p:sp>
    </p:spTree>
    <p:extLst>
      <p:ext uri="{BB962C8B-B14F-4D97-AF65-F5344CB8AC3E}">
        <p14:creationId xmlns:p14="http://schemas.microsoft.com/office/powerpoint/2010/main" val="4644178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sz="4000" dirty="0"/>
              <a:t>Procedure for IV approach:</a:t>
            </a:r>
            <a:br>
              <a:rPr lang="en-US" dirty="0"/>
            </a:br>
            <a:endParaRPr lang="en-US" dirty="0"/>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72</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Text Placeholder 2"/>
          <p:cNvSpPr>
            <a:spLocks noGrp="1"/>
          </p:cNvSpPr>
          <p:nvPr>
            <p:ph type="body" sz="quarter" idx="4294967295"/>
          </p:nvPr>
        </p:nvSpPr>
        <p:spPr>
          <a:xfrm>
            <a:off x="1143000" y="3200400"/>
            <a:ext cx="5665787" cy="3690938"/>
          </a:xfrm>
        </p:spPr>
        <p:txBody>
          <a:bodyPr>
            <a:noAutofit/>
          </a:bodyPr>
          <a:lstStyle/>
          <a:p>
            <a:pPr>
              <a:buFont typeface="+mj-lt"/>
              <a:buAutoNum type="arabicParenR"/>
            </a:pPr>
            <a:r>
              <a:rPr lang="en-US" sz="1800" dirty="0">
                <a:latin typeface="+mn-lt"/>
              </a:rPr>
              <a:t>X2 is the omitted variable – if it is omitted it means we don’t have it so we can’t include it in the model.</a:t>
            </a:r>
            <a:br>
              <a:rPr lang="en-US" sz="1800" dirty="0">
                <a:latin typeface="+mn-lt"/>
              </a:rPr>
            </a:br>
            <a:endParaRPr lang="en-US" sz="1800" dirty="0">
              <a:latin typeface="+mn-lt"/>
            </a:endParaRPr>
          </a:p>
          <a:p>
            <a:pPr>
              <a:buFont typeface="+mj-lt"/>
              <a:buAutoNum type="arabicParenR"/>
            </a:pPr>
            <a:r>
              <a:rPr lang="en-US" sz="1800" dirty="0">
                <a:latin typeface="+mn-lt"/>
              </a:rPr>
              <a:t>X1 is the policy variable.</a:t>
            </a:r>
            <a:br>
              <a:rPr lang="en-US" sz="1800" dirty="0">
                <a:latin typeface="+mn-lt"/>
              </a:rPr>
            </a:br>
            <a:endParaRPr lang="en-US" sz="1800" dirty="0">
              <a:latin typeface="+mn-lt"/>
            </a:endParaRPr>
          </a:p>
          <a:p>
            <a:pPr>
              <a:buFont typeface="+mj-lt"/>
              <a:buAutoNum type="arabicParenR"/>
            </a:pPr>
            <a:r>
              <a:rPr lang="en-US" sz="1800" dirty="0">
                <a:latin typeface="+mn-lt"/>
              </a:rPr>
              <a:t>Z is the </a:t>
            </a:r>
            <a:r>
              <a:rPr lang="en-US" sz="1800" dirty="0" err="1">
                <a:latin typeface="+mn-lt"/>
              </a:rPr>
              <a:t>exogeneous</a:t>
            </a:r>
            <a:r>
              <a:rPr lang="en-US" sz="1800" dirty="0">
                <a:latin typeface="+mn-lt"/>
              </a:rPr>
              <a:t> variable.</a:t>
            </a:r>
            <a:br>
              <a:rPr lang="en-US" sz="1800" dirty="0">
                <a:latin typeface="+mn-lt"/>
              </a:rPr>
            </a:br>
            <a:endParaRPr lang="en-US" sz="1800" dirty="0">
              <a:latin typeface="+mn-lt"/>
            </a:endParaRPr>
          </a:p>
          <a:p>
            <a:pPr>
              <a:buFont typeface="+mj-lt"/>
              <a:buAutoNum type="arabicParenR"/>
            </a:pPr>
            <a:r>
              <a:rPr lang="en-US" sz="1800" dirty="0">
                <a:latin typeface="+mn-lt"/>
              </a:rPr>
              <a:t> X3, X4, X5, etc. are all included in the model, but are not affected by the omitted variable in the same way that the policy variable is.</a:t>
            </a:r>
            <a:br>
              <a:rPr lang="en-US" sz="1800" dirty="0">
                <a:latin typeface="+mn-lt"/>
              </a:rPr>
            </a:br>
            <a:endParaRPr lang="en-US" sz="1800" dirty="0">
              <a:latin typeface="+mn-lt"/>
            </a:endParaRPr>
          </a:p>
          <a:p>
            <a:pPr>
              <a:buFont typeface="+mj-lt"/>
              <a:buAutoNum type="arabicParenR"/>
            </a:pPr>
            <a:r>
              <a:rPr lang="en-US" sz="1800" dirty="0">
                <a:latin typeface="+mn-lt"/>
                <a:sym typeface="Wingdings" pitchFamily="2" charset="2"/>
              </a:rPr>
              <a:t>In the first stage, we predict model X1 with the </a:t>
            </a:r>
            <a:r>
              <a:rPr lang="en-US" sz="1800" dirty="0" err="1">
                <a:latin typeface="+mn-lt"/>
                <a:sym typeface="Wingdings" pitchFamily="2" charset="2"/>
              </a:rPr>
              <a:t>exogeneous</a:t>
            </a:r>
            <a:r>
              <a:rPr lang="en-US" sz="1800" dirty="0">
                <a:latin typeface="+mn-lt"/>
                <a:sym typeface="Wingdings" pitchFamily="2" charset="2"/>
              </a:rPr>
              <a:t> variable and the other variables.</a:t>
            </a:r>
            <a:br>
              <a:rPr lang="en-US" sz="1800" dirty="0">
                <a:latin typeface="+mn-lt"/>
                <a:sym typeface="Wingdings" pitchFamily="2" charset="2"/>
              </a:rPr>
            </a:br>
            <a:endParaRPr lang="en-US" sz="1800" dirty="0">
              <a:latin typeface="+mn-lt"/>
              <a:sym typeface="Wingdings" pitchFamily="2" charset="2"/>
            </a:endParaRPr>
          </a:p>
          <a:p>
            <a:pPr>
              <a:buFont typeface="+mj-lt"/>
              <a:buAutoNum type="arabicParenR"/>
            </a:pPr>
            <a:r>
              <a:rPr lang="en-US" sz="1800" dirty="0">
                <a:latin typeface="+mn-lt"/>
                <a:sym typeface="Wingdings" pitchFamily="2" charset="2"/>
              </a:rPr>
              <a:t>In the second stage, we ONLY include predicted values of X1, because these predicted values will be independent of the influences of the omitted variable since Z and X2 are uncorrelated.</a:t>
            </a:r>
          </a:p>
          <a:p>
            <a:endParaRPr lang="en-US" sz="1800" dirty="0">
              <a:latin typeface="+mn-lt"/>
              <a:sym typeface="Wingdings" pitchFamily="2" charset="2"/>
            </a:endParaRPr>
          </a:p>
          <a:p>
            <a:endParaRPr lang="en-US" sz="1800" dirty="0">
              <a:latin typeface="+mn-lt"/>
            </a:endParaRPr>
          </a:p>
        </p:txBody>
      </p:sp>
    </p:spTree>
    <p:extLst>
      <p:ext uri="{BB962C8B-B14F-4D97-AF65-F5344CB8AC3E}">
        <p14:creationId xmlns:p14="http://schemas.microsoft.com/office/powerpoint/2010/main" val="33798008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73</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18" name="Title 3"/>
          <p:cNvSpPr txBox="1">
            <a:spLocks/>
          </p:cNvSpPr>
          <p:nvPr/>
        </p:nvSpPr>
        <p:spPr>
          <a:xfrm>
            <a:off x="397764" y="1157985"/>
            <a:ext cx="6995160" cy="1676400"/>
          </a:xfrm>
          <a:prstGeom prst="rect">
            <a:avLst/>
          </a:prstGeom>
        </p:spPr>
        <p:txBody>
          <a:bodyPr>
            <a:normAutofit fontScale="97500"/>
          </a:bodyPr>
          <a:lstStyle>
            <a:lvl1pPr algn="ctr" defTabSz="914400" rtl="0" eaLnBrk="1" latinLnBrk="0" hangingPunct="1">
              <a:spcBef>
                <a:spcPct val="0"/>
              </a:spcBef>
              <a:buNone/>
              <a:defRPr sz="4400" kern="1200">
                <a:solidFill>
                  <a:schemeClr val="accent6">
                    <a:lumMod val="75000"/>
                  </a:schemeClr>
                </a:solidFill>
                <a:latin typeface="Stencil" panose="040409050D0802020404" pitchFamily="82" charset="0"/>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t>Exogenous Criteria:</a:t>
            </a:r>
            <a:br>
              <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rPr>
            </a:br>
            <a:endParaRPr kumimoji="0" lang="en-US" sz="4400" b="0" i="0" u="none" strike="noStrike" kern="1200" cap="none" spc="0" normalizeH="0" baseline="0" noProof="0" dirty="0">
              <a:ln>
                <a:noFill/>
              </a:ln>
              <a:solidFill>
                <a:srgbClr val="F79646">
                  <a:lumMod val="75000"/>
                </a:srgbClr>
              </a:solidFill>
              <a:effectLst/>
              <a:uLnTx/>
              <a:uFillTx/>
              <a:latin typeface="Stencil" panose="040409050D0802020404" pitchFamily="82" charset="0"/>
              <a:ea typeface="+mj-ea"/>
              <a:cs typeface="+mj-cs"/>
            </a:endParaRPr>
          </a:p>
        </p:txBody>
      </p:sp>
      <p:sp>
        <p:nvSpPr>
          <p:cNvPr id="12" name="Oval 11"/>
          <p:cNvSpPr/>
          <p:nvPr/>
        </p:nvSpPr>
        <p:spPr>
          <a:xfrm>
            <a:off x="4150767" y="4289763"/>
            <a:ext cx="1790262" cy="1647585"/>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Oval 16"/>
          <p:cNvSpPr/>
          <p:nvPr/>
        </p:nvSpPr>
        <p:spPr>
          <a:xfrm>
            <a:off x="3048000" y="4267200"/>
            <a:ext cx="1848261" cy="16701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18"/>
          <p:cNvSpPr txBox="1"/>
          <p:nvPr/>
        </p:nvSpPr>
        <p:spPr>
          <a:xfrm>
            <a:off x="3615896" y="6103578"/>
            <a:ext cx="74589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a:ea typeface="+mn-ea"/>
                <a:cs typeface="+mn-cs"/>
              </a:rPr>
              <a:t>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srgbClr val="FF0000"/>
                </a:solidFill>
                <a:effectLst/>
                <a:uLnTx/>
                <a:uFillTx/>
                <a:latin typeface="Calibri"/>
                <a:ea typeface="+mn-ea"/>
                <a:cs typeface="+mn-cs"/>
              </a:rPr>
              <a:t>(policy variable)</a:t>
            </a:r>
          </a:p>
        </p:txBody>
      </p:sp>
      <p:sp>
        <p:nvSpPr>
          <p:cNvPr id="20" name="TextBox 19"/>
          <p:cNvSpPr txBox="1"/>
          <p:nvPr/>
        </p:nvSpPr>
        <p:spPr>
          <a:xfrm>
            <a:off x="4565695" y="6103578"/>
            <a:ext cx="1295400"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X2</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1200" b="0" i="0" u="none" strike="noStrike" kern="1200" cap="none" spc="0" normalizeH="0" baseline="0" noProof="0" dirty="0">
                <a:ln>
                  <a:noFill/>
                </a:ln>
                <a:solidFill>
                  <a:prstClr val="black"/>
                </a:solidFill>
                <a:effectLst/>
                <a:uLnTx/>
                <a:uFillTx/>
                <a:latin typeface="Calibri"/>
                <a:ea typeface="+mn-ea"/>
                <a:cs typeface="+mn-cs"/>
              </a:rPr>
              <a:t>(Omitted Variable)</a:t>
            </a:r>
            <a:endParaRPr kumimoji="0" lang="en-US" sz="1800" b="0" i="0" u="none" strike="noStrike" kern="1200" cap="none" spc="0" normalizeH="0" baseline="-25000" noProof="0" dirty="0">
              <a:ln>
                <a:noFill/>
              </a:ln>
              <a:solidFill>
                <a:prstClr val="black"/>
              </a:solidFill>
              <a:effectLst/>
              <a:uLnTx/>
              <a:uFillTx/>
              <a:latin typeface="Calibri"/>
              <a:ea typeface="+mn-ea"/>
              <a:cs typeface="+mn-cs"/>
            </a:endParaRPr>
          </a:p>
        </p:txBody>
      </p:sp>
      <p:sp>
        <p:nvSpPr>
          <p:cNvPr id="27" name="Oval 26"/>
          <p:cNvSpPr/>
          <p:nvPr/>
        </p:nvSpPr>
        <p:spPr>
          <a:xfrm>
            <a:off x="3667373" y="3439366"/>
            <a:ext cx="1796643" cy="185520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9" name="TextBox 28"/>
          <p:cNvSpPr txBox="1"/>
          <p:nvPr/>
        </p:nvSpPr>
        <p:spPr>
          <a:xfrm>
            <a:off x="4541025" y="2856948"/>
            <a:ext cx="44123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F497D"/>
                </a:solidFill>
                <a:effectLst/>
                <a:uLnTx/>
                <a:uFillTx/>
                <a:latin typeface="Calibri"/>
                <a:ea typeface="+mn-ea"/>
                <a:cs typeface="+mn-cs"/>
              </a:rPr>
              <a:t>Y</a:t>
            </a:r>
          </a:p>
        </p:txBody>
      </p:sp>
      <p:sp>
        <p:nvSpPr>
          <p:cNvPr id="13" name="Oval 12"/>
          <p:cNvSpPr/>
          <p:nvPr/>
        </p:nvSpPr>
        <p:spPr>
          <a:xfrm rot="19249230">
            <a:off x="1326064" y="5397944"/>
            <a:ext cx="2707420" cy="850998"/>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13"/>
          <p:cNvSpPr txBox="1"/>
          <p:nvPr/>
        </p:nvSpPr>
        <p:spPr>
          <a:xfrm>
            <a:off x="789600" y="6776824"/>
            <a:ext cx="1144016" cy="55399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Z</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25000" noProof="0" dirty="0">
                <a:ln>
                  <a:noFill/>
                </a:ln>
                <a:solidFill>
                  <a:prstClr val="black">
                    <a:lumMod val="50000"/>
                    <a:lumOff val="50000"/>
                  </a:prstClr>
                </a:solidFill>
                <a:effectLst/>
                <a:uLnTx/>
                <a:uFillTx/>
                <a:latin typeface="Calibri"/>
                <a:ea typeface="+mn-ea"/>
                <a:cs typeface="+mn-cs"/>
              </a:rPr>
              <a:t>(Instrument)</a:t>
            </a:r>
          </a:p>
        </p:txBody>
      </p:sp>
      <p:sp>
        <p:nvSpPr>
          <p:cNvPr id="10" name="TextBox 9"/>
          <p:cNvSpPr txBox="1"/>
          <p:nvPr/>
        </p:nvSpPr>
        <p:spPr>
          <a:xfrm>
            <a:off x="981822" y="8223582"/>
            <a:ext cx="6337889"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This case would result from a weak correlation between Z and X1.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Z will not work as an instrument here.</a:t>
            </a:r>
          </a:p>
        </p:txBody>
      </p:sp>
    </p:spTree>
    <p:extLst>
      <p:ext uri="{BB962C8B-B14F-4D97-AF65-F5344CB8AC3E}">
        <p14:creationId xmlns:p14="http://schemas.microsoft.com/office/powerpoint/2010/main" val="31883558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theory:</a:t>
            </a:r>
          </a:p>
        </p:txBody>
      </p:sp>
      <p:sp>
        <p:nvSpPr>
          <p:cNvPr id="2" name="Slide Number Placeholder 1"/>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400" b="1"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74</a:t>
            </a:fld>
            <a:endParaRPr kumimoji="0" lang="en-US" sz="1400" b="1" i="0" u="none" strike="noStrike" kern="1200" cap="none" spc="0" normalizeH="0" baseline="0" noProof="0">
              <a:ln>
                <a:noFill/>
              </a:ln>
              <a:solidFill>
                <a:prstClr val="white"/>
              </a:solidFill>
              <a:effectLst/>
              <a:uLnTx/>
              <a:uFillTx/>
              <a:latin typeface="Calibri"/>
              <a:ea typeface="+mn-ea"/>
              <a:cs typeface="+mn-cs"/>
            </a:endParaRPr>
          </a:p>
        </p:txBody>
      </p:sp>
      <p:sp>
        <p:nvSpPr>
          <p:cNvPr id="3" name="Text Placeholder 2"/>
          <p:cNvSpPr>
            <a:spLocks noGrp="1"/>
          </p:cNvSpPr>
          <p:nvPr>
            <p:ph type="body" sz="quarter" idx="4294967295"/>
          </p:nvPr>
        </p:nvSpPr>
        <p:spPr>
          <a:xfrm>
            <a:off x="999744" y="3505200"/>
            <a:ext cx="5791200" cy="2720975"/>
          </a:xfrm>
        </p:spPr>
        <p:txBody>
          <a:bodyPr>
            <a:noAutofit/>
          </a:bodyPr>
          <a:lstStyle/>
          <a:p>
            <a:r>
              <a:rPr lang="en-US" sz="1800" dirty="0">
                <a:latin typeface="+mn-lt"/>
              </a:rPr>
              <a:t>Using the instrument, we surgically remove the portion of X</a:t>
            </a:r>
            <a:r>
              <a:rPr lang="en-US" sz="1800" baseline="-25000" dirty="0">
                <a:latin typeface="+mn-lt"/>
              </a:rPr>
              <a:t>1</a:t>
            </a:r>
            <a:r>
              <a:rPr lang="en-US" sz="1800" dirty="0">
                <a:latin typeface="+mn-lt"/>
              </a:rPr>
              <a:t> that is “contaminated” by the omitted variable.</a:t>
            </a:r>
          </a:p>
          <a:p>
            <a:endParaRPr lang="en-US" sz="1800" dirty="0">
              <a:latin typeface="+mn-lt"/>
            </a:endParaRPr>
          </a:p>
          <a:p>
            <a:r>
              <a:rPr lang="en-US" sz="1800" dirty="0">
                <a:latin typeface="+mn-lt"/>
              </a:rPr>
              <a:t>Instrumental variables rely on the assumption of </a:t>
            </a:r>
            <a:r>
              <a:rPr lang="en-US" sz="1800" dirty="0" err="1">
                <a:latin typeface="+mn-lt"/>
              </a:rPr>
              <a:t>exogeneity</a:t>
            </a:r>
            <a:r>
              <a:rPr lang="en-US" sz="1800" dirty="0">
                <a:latin typeface="+mn-lt"/>
              </a:rPr>
              <a:t>, but this assumption can be tested statistically if there is more than one exogenous variable.</a:t>
            </a:r>
          </a:p>
          <a:p>
            <a:endParaRPr lang="en-US" sz="1800" dirty="0">
              <a:latin typeface="+mn-lt"/>
            </a:endParaRPr>
          </a:p>
          <a:p>
            <a:r>
              <a:rPr lang="en-US" sz="1800" dirty="0">
                <a:latin typeface="+mn-lt"/>
              </a:rPr>
              <a:t>The models needs at least on exogenous variable for every independent variable that is </a:t>
            </a:r>
            <a:r>
              <a:rPr lang="en-US" sz="1800" dirty="0" err="1">
                <a:latin typeface="+mn-lt"/>
              </a:rPr>
              <a:t>endogeneous</a:t>
            </a:r>
            <a:r>
              <a:rPr lang="en-US" sz="1800" dirty="0">
                <a:latin typeface="+mn-lt"/>
              </a:rPr>
              <a:t>.</a:t>
            </a:r>
          </a:p>
          <a:p>
            <a:endParaRPr lang="en-US" sz="1800" dirty="0">
              <a:latin typeface="+mn-lt"/>
            </a:endParaRPr>
          </a:p>
          <a:p>
            <a:r>
              <a:rPr lang="en-US" sz="1800" dirty="0">
                <a:latin typeface="+mn-lt"/>
              </a:rPr>
              <a:t>We need good predicted values for X</a:t>
            </a:r>
            <a:r>
              <a:rPr lang="en-US" sz="1800" baseline="-25000" dirty="0">
                <a:latin typeface="+mn-lt"/>
              </a:rPr>
              <a:t>1, </a:t>
            </a:r>
            <a:r>
              <a:rPr lang="en-US" sz="1800" dirty="0">
                <a:latin typeface="+mn-lt"/>
              </a:rPr>
              <a:t>so the R-square of the regression must be high (an F-stat of over 10 is the rule of thumb).</a:t>
            </a:r>
          </a:p>
        </p:txBody>
      </p:sp>
    </p:spTree>
    <p:extLst>
      <p:ext uri="{BB962C8B-B14F-4D97-AF65-F5344CB8AC3E}">
        <p14:creationId xmlns:p14="http://schemas.microsoft.com/office/powerpoint/2010/main" val="27647839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10522</TotalTime>
  <Words>2019</Words>
  <Application>Microsoft Office PowerPoint</Application>
  <PresentationFormat>Custom</PresentationFormat>
  <Paragraphs>684</Paragraphs>
  <Slides>74</Slides>
  <Notes>1</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74</vt:i4>
      </vt:variant>
    </vt:vector>
  </HeadingPairs>
  <TitlesOfParts>
    <vt:vector size="85" baseType="lpstr">
      <vt:lpstr>Batang</vt:lpstr>
      <vt:lpstr>Arial</vt:lpstr>
      <vt:lpstr>Arial Black</vt:lpstr>
      <vt:lpstr>Berlin Sans FB</vt:lpstr>
      <vt:lpstr>Calibri</vt:lpstr>
      <vt:lpstr>Cambria Math</vt:lpstr>
      <vt:lpstr>Stencil</vt:lpstr>
      <vt:lpstr>Times New Roman</vt:lpstr>
      <vt:lpstr>Office Theme</vt:lpstr>
      <vt:lpstr>1_Office Theme</vt:lpstr>
      <vt:lpstr>Equation</vt:lpstr>
      <vt:lpstr>partitioned regression  </vt:lpstr>
      <vt:lpstr>Example:  Classroom Size</vt:lpstr>
      <vt:lpstr>Example:  Classroom Size</vt:lpstr>
      <vt:lpstr>Partitioning the Variance of Y</vt:lpstr>
      <vt:lpstr>Standard Error in Regression</vt:lpstr>
      <vt:lpstr>PowerPoint Presentation</vt:lpstr>
      <vt:lpstr>Partitioned regression</vt:lpstr>
      <vt:lpstr>Ballentine venn diagram</vt:lpstr>
      <vt:lpstr>Ballentine venn diagram</vt:lpstr>
      <vt:lpstr>Ballentine venn diagram</vt:lpstr>
      <vt:lpstr>partitioned regression  </vt:lpstr>
      <vt:lpstr>PowerPoint Presentation</vt:lpstr>
      <vt:lpstr>PowerPoint Presentation</vt:lpstr>
      <vt:lpstr>PowerPoint Presentation</vt:lpstr>
      <vt:lpstr>PowerPoint Presentation</vt:lpstr>
      <vt:lpstr>Ballentine venn diagram</vt:lpstr>
      <vt:lpstr>Partitioned Regression</vt:lpstr>
      <vt:lpstr>PowerPoint Presentation</vt:lpstr>
      <vt:lpstr>Why can we do this?</vt:lpstr>
      <vt:lpstr>Note:  Multiple Regression Context</vt:lpstr>
      <vt:lpstr>Example 1:</vt:lpstr>
      <vt:lpstr>Auxiliary Regression #1</vt:lpstr>
      <vt:lpstr>Auxiliary Regression #1</vt:lpstr>
      <vt:lpstr>Auxiliary Regression #2</vt:lpstr>
      <vt:lpstr>Partitioned Regression</vt:lpstr>
      <vt:lpstr>Why is this important?</vt:lpstr>
      <vt:lpstr>Why we care:</vt:lpstr>
      <vt:lpstr>Effects of controls determined by their correlations with the outcome and policy variables</vt:lpstr>
      <vt:lpstr>Partitioning the Variance of Y</vt:lpstr>
      <vt:lpstr>Partitioning the Variance of Y</vt:lpstr>
      <vt:lpstr>Effects of the Control Variable</vt:lpstr>
      <vt:lpstr>Effects of the Control Variable</vt:lpstr>
      <vt:lpstr>Partitioning y with multiple variables</vt:lpstr>
      <vt:lpstr>What happens to slopes and standard errors when we add more variables?</vt:lpstr>
      <vt:lpstr>Multiple Regression Mechanics: SLOPE</vt:lpstr>
      <vt:lpstr>Multiple Regression Mechanics: STANDARD ERRORS</vt:lpstr>
      <vt:lpstr>Bias correction through instrumental variables </vt:lpstr>
      <vt:lpstr>Three minute version: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Full version:</vt:lpstr>
      <vt:lpstr>We have used a correlation model to examine omitted variable bias</vt:lpstr>
      <vt:lpstr>But there are many possible causal models:</vt:lpstr>
      <vt:lpstr>PowerPoint Presentation</vt:lpstr>
      <vt:lpstr>Lurking variables…spurious correlations </vt:lpstr>
      <vt:lpstr>So how do we fix this?</vt:lpstr>
      <vt:lpstr>Instrumental variables exploit exogeneity: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Recall:</vt:lpstr>
      <vt:lpstr>PowerPoint Presentation</vt:lpstr>
      <vt:lpstr>PowerPoint Presentation</vt:lpstr>
      <vt:lpstr>PowerPoint Presentation</vt:lpstr>
      <vt:lpstr>PowerPoint Presentation</vt:lpstr>
      <vt:lpstr>PowerPoint Presentation</vt:lpstr>
      <vt:lpstr>This is how instrumental variables work:</vt:lpstr>
      <vt:lpstr>We use instrumental variables when:</vt:lpstr>
      <vt:lpstr>Procedure for IV approach: </vt:lpstr>
      <vt:lpstr>PowerPoint Presentation</vt:lpstr>
      <vt:lpstr>The theory: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padjdl</dc:creator>
  <cp:lastModifiedBy>Jesse Lecy</cp:lastModifiedBy>
  <cp:revision>86</cp:revision>
  <cp:lastPrinted>2014-01-22T23:35:30Z</cp:lastPrinted>
  <dcterms:created xsi:type="dcterms:W3CDTF">2013-12-05T22:08:08Z</dcterms:created>
  <dcterms:modified xsi:type="dcterms:W3CDTF">2020-04-10T22:54:48Z</dcterms:modified>
</cp:coreProperties>
</file>