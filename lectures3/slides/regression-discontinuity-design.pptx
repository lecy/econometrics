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7" r:id="rId3"/>
    <p:sldMasterId id="2147483689" r:id="rId4"/>
  </p:sldMasterIdLst>
  <p:sldIdLst>
    <p:sldId id="681" r:id="rId5"/>
    <p:sldId id="462" r:id="rId6"/>
    <p:sldId id="288" r:id="rId7"/>
    <p:sldId id="683" r:id="rId8"/>
    <p:sldId id="682" r:id="rId9"/>
    <p:sldId id="463" r:id="rId10"/>
    <p:sldId id="257" r:id="rId11"/>
    <p:sldId id="258" r:id="rId12"/>
    <p:sldId id="259" r:id="rId13"/>
    <p:sldId id="261" r:id="rId14"/>
    <p:sldId id="263" r:id="rId15"/>
    <p:sldId id="262" r:id="rId16"/>
    <p:sldId id="260" r:id="rId17"/>
    <p:sldId id="264" r:id="rId18"/>
    <p:sldId id="265" r:id="rId19"/>
    <p:sldId id="266" r:id="rId20"/>
    <p:sldId id="464" r:id="rId21"/>
    <p:sldId id="271" r:id="rId22"/>
    <p:sldId id="684" r:id="rId23"/>
    <p:sldId id="272" r:id="rId24"/>
    <p:sldId id="273" r:id="rId25"/>
    <p:sldId id="298" r:id="rId26"/>
    <p:sldId id="300" r:id="rId27"/>
    <p:sldId id="281" r:id="rId28"/>
    <p:sldId id="680" r:id="rId29"/>
    <p:sldId id="679" r:id="rId30"/>
    <p:sldId id="465" r:id="rId31"/>
    <p:sldId id="332" r:id="rId32"/>
    <p:sldId id="488" r:id="rId33"/>
    <p:sldId id="380" r:id="rId34"/>
    <p:sldId id="67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3" d="100"/>
          <a:sy n="103" d="100"/>
        </p:scale>
        <p:origin x="138" y="3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8A5A9-4449-4F0F-B99D-5DF0C32D8B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1CB6B4-7E8F-4DB1-A23D-98C10DE046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CFFB51-1DB8-4631-ABCE-E5694AD19D3E}"/>
              </a:ext>
            </a:extLst>
          </p:cNvPr>
          <p:cNvSpPr>
            <a:spLocks noGrp="1"/>
          </p:cNvSpPr>
          <p:nvPr>
            <p:ph type="dt" sz="half" idx="10"/>
          </p:nvPr>
        </p:nvSpPr>
        <p:spPr/>
        <p:txBody>
          <a:bodyPr/>
          <a:lstStyle/>
          <a:p>
            <a:fld id="{43D54302-DFCC-4F1A-B412-F8FE6EAE657E}" type="datetimeFigureOut">
              <a:rPr lang="en-US" smtClean="0"/>
              <a:t>4/15/2020</a:t>
            </a:fld>
            <a:endParaRPr lang="en-US"/>
          </a:p>
        </p:txBody>
      </p:sp>
      <p:sp>
        <p:nvSpPr>
          <p:cNvPr id="5" name="Footer Placeholder 4">
            <a:extLst>
              <a:ext uri="{FF2B5EF4-FFF2-40B4-BE49-F238E27FC236}">
                <a16:creationId xmlns:a16="http://schemas.microsoft.com/office/drawing/2014/main" id="{DC8539D6-F703-4E32-867A-2B34F278AC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8CCB79-BA50-406F-A5D3-3BCD530A93C8}"/>
              </a:ext>
            </a:extLst>
          </p:cNvPr>
          <p:cNvSpPr>
            <a:spLocks noGrp="1"/>
          </p:cNvSpPr>
          <p:nvPr>
            <p:ph type="sldNum" sz="quarter" idx="12"/>
          </p:nvPr>
        </p:nvSpPr>
        <p:spPr/>
        <p:txBody>
          <a:bodyPr/>
          <a:lstStyle/>
          <a:p>
            <a:fld id="{C047D052-D9A3-4A55-8B52-16B518057B79}" type="slidenum">
              <a:rPr lang="en-US" smtClean="0"/>
              <a:t>‹#›</a:t>
            </a:fld>
            <a:endParaRPr lang="en-US"/>
          </a:p>
        </p:txBody>
      </p:sp>
    </p:spTree>
    <p:extLst>
      <p:ext uri="{BB962C8B-B14F-4D97-AF65-F5344CB8AC3E}">
        <p14:creationId xmlns:p14="http://schemas.microsoft.com/office/powerpoint/2010/main" val="416562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B8998-2D22-42EF-8E8C-007E9AC0B7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9DB915-5910-4D17-9A66-7DA701D7AC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87E4A0-EE82-4FA0-9CCE-8BDB5A9656C8}"/>
              </a:ext>
            </a:extLst>
          </p:cNvPr>
          <p:cNvSpPr>
            <a:spLocks noGrp="1"/>
          </p:cNvSpPr>
          <p:nvPr>
            <p:ph type="dt" sz="half" idx="10"/>
          </p:nvPr>
        </p:nvSpPr>
        <p:spPr/>
        <p:txBody>
          <a:bodyPr/>
          <a:lstStyle/>
          <a:p>
            <a:fld id="{43D54302-DFCC-4F1A-B412-F8FE6EAE657E}" type="datetimeFigureOut">
              <a:rPr lang="en-US" smtClean="0"/>
              <a:t>4/15/2020</a:t>
            </a:fld>
            <a:endParaRPr lang="en-US"/>
          </a:p>
        </p:txBody>
      </p:sp>
      <p:sp>
        <p:nvSpPr>
          <p:cNvPr id="5" name="Footer Placeholder 4">
            <a:extLst>
              <a:ext uri="{FF2B5EF4-FFF2-40B4-BE49-F238E27FC236}">
                <a16:creationId xmlns:a16="http://schemas.microsoft.com/office/drawing/2014/main" id="{5229344D-E36E-4ACD-AC3D-540927B26A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4EC250-51B7-409B-9420-DECB1A547497}"/>
              </a:ext>
            </a:extLst>
          </p:cNvPr>
          <p:cNvSpPr>
            <a:spLocks noGrp="1"/>
          </p:cNvSpPr>
          <p:nvPr>
            <p:ph type="sldNum" sz="quarter" idx="12"/>
          </p:nvPr>
        </p:nvSpPr>
        <p:spPr/>
        <p:txBody>
          <a:bodyPr/>
          <a:lstStyle/>
          <a:p>
            <a:fld id="{C047D052-D9A3-4A55-8B52-16B518057B79}" type="slidenum">
              <a:rPr lang="en-US" smtClean="0"/>
              <a:t>‹#›</a:t>
            </a:fld>
            <a:endParaRPr lang="en-US"/>
          </a:p>
        </p:txBody>
      </p:sp>
    </p:spTree>
    <p:extLst>
      <p:ext uri="{BB962C8B-B14F-4D97-AF65-F5344CB8AC3E}">
        <p14:creationId xmlns:p14="http://schemas.microsoft.com/office/powerpoint/2010/main" val="3607294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FD5F1-E483-4D79-B707-729AC47FF6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57F581-5681-44C2-BDA5-D991CEE0BF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3565BF-32D6-486B-85FA-496FE255EC7A}"/>
              </a:ext>
            </a:extLst>
          </p:cNvPr>
          <p:cNvSpPr>
            <a:spLocks noGrp="1"/>
          </p:cNvSpPr>
          <p:nvPr>
            <p:ph type="dt" sz="half" idx="10"/>
          </p:nvPr>
        </p:nvSpPr>
        <p:spPr/>
        <p:txBody>
          <a:bodyPr/>
          <a:lstStyle/>
          <a:p>
            <a:fld id="{43D54302-DFCC-4F1A-B412-F8FE6EAE657E}" type="datetimeFigureOut">
              <a:rPr lang="en-US" smtClean="0"/>
              <a:t>4/15/2020</a:t>
            </a:fld>
            <a:endParaRPr lang="en-US"/>
          </a:p>
        </p:txBody>
      </p:sp>
      <p:sp>
        <p:nvSpPr>
          <p:cNvPr id="5" name="Footer Placeholder 4">
            <a:extLst>
              <a:ext uri="{FF2B5EF4-FFF2-40B4-BE49-F238E27FC236}">
                <a16:creationId xmlns:a16="http://schemas.microsoft.com/office/drawing/2014/main" id="{9B050E1E-2EB9-4CE3-B8A5-765413BF6C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EC1E72-276F-4ED9-A0EA-EFC683F85255}"/>
              </a:ext>
            </a:extLst>
          </p:cNvPr>
          <p:cNvSpPr>
            <a:spLocks noGrp="1"/>
          </p:cNvSpPr>
          <p:nvPr>
            <p:ph type="sldNum" sz="quarter" idx="12"/>
          </p:nvPr>
        </p:nvSpPr>
        <p:spPr/>
        <p:txBody>
          <a:bodyPr/>
          <a:lstStyle/>
          <a:p>
            <a:fld id="{C047D052-D9A3-4A55-8B52-16B518057B79}" type="slidenum">
              <a:rPr lang="en-US" smtClean="0"/>
              <a:t>‹#›</a:t>
            </a:fld>
            <a:endParaRPr lang="en-US"/>
          </a:p>
        </p:txBody>
      </p:sp>
    </p:spTree>
    <p:extLst>
      <p:ext uri="{BB962C8B-B14F-4D97-AF65-F5344CB8AC3E}">
        <p14:creationId xmlns:p14="http://schemas.microsoft.com/office/powerpoint/2010/main" val="113985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144C7-1846-42CA-B6D0-AF0C8800E1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81EAB7-58EB-48DB-AA80-0A6F3D909D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D177B5-BCD4-4EF0-B378-92582E8E5A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6EDE66-C0B3-4093-9E9D-7DA7CCEF37FC}"/>
              </a:ext>
            </a:extLst>
          </p:cNvPr>
          <p:cNvSpPr>
            <a:spLocks noGrp="1"/>
          </p:cNvSpPr>
          <p:nvPr>
            <p:ph type="dt" sz="half" idx="10"/>
          </p:nvPr>
        </p:nvSpPr>
        <p:spPr/>
        <p:txBody>
          <a:bodyPr/>
          <a:lstStyle/>
          <a:p>
            <a:fld id="{43D54302-DFCC-4F1A-B412-F8FE6EAE657E}" type="datetimeFigureOut">
              <a:rPr lang="en-US" smtClean="0"/>
              <a:t>4/15/2020</a:t>
            </a:fld>
            <a:endParaRPr lang="en-US"/>
          </a:p>
        </p:txBody>
      </p:sp>
      <p:sp>
        <p:nvSpPr>
          <p:cNvPr id="6" name="Footer Placeholder 5">
            <a:extLst>
              <a:ext uri="{FF2B5EF4-FFF2-40B4-BE49-F238E27FC236}">
                <a16:creationId xmlns:a16="http://schemas.microsoft.com/office/drawing/2014/main" id="{1458315A-67C0-4CC9-923D-4E7BB6AC3C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815978-766A-4191-9B7A-9BFB7706F609}"/>
              </a:ext>
            </a:extLst>
          </p:cNvPr>
          <p:cNvSpPr>
            <a:spLocks noGrp="1"/>
          </p:cNvSpPr>
          <p:nvPr>
            <p:ph type="sldNum" sz="quarter" idx="12"/>
          </p:nvPr>
        </p:nvSpPr>
        <p:spPr/>
        <p:txBody>
          <a:bodyPr/>
          <a:lstStyle/>
          <a:p>
            <a:fld id="{C047D052-D9A3-4A55-8B52-16B518057B79}" type="slidenum">
              <a:rPr lang="en-US" smtClean="0"/>
              <a:t>‹#›</a:t>
            </a:fld>
            <a:endParaRPr lang="en-US"/>
          </a:p>
        </p:txBody>
      </p:sp>
    </p:spTree>
    <p:extLst>
      <p:ext uri="{BB962C8B-B14F-4D97-AF65-F5344CB8AC3E}">
        <p14:creationId xmlns:p14="http://schemas.microsoft.com/office/powerpoint/2010/main" val="1544618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5931E-87E9-4B37-A198-67E1EF0534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4D9C99-D294-4F08-8A9A-D6CA070264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2F1D91-2860-4A09-825B-38F40A7739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C5B184-307E-42C3-A4B6-0F12EC730F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0D565D-E2DC-43BB-B887-8F42FCC926F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96AF06-FD4C-4411-A140-BD009B904BFD}"/>
              </a:ext>
            </a:extLst>
          </p:cNvPr>
          <p:cNvSpPr>
            <a:spLocks noGrp="1"/>
          </p:cNvSpPr>
          <p:nvPr>
            <p:ph type="dt" sz="half" idx="10"/>
          </p:nvPr>
        </p:nvSpPr>
        <p:spPr/>
        <p:txBody>
          <a:bodyPr/>
          <a:lstStyle/>
          <a:p>
            <a:fld id="{43D54302-DFCC-4F1A-B412-F8FE6EAE657E}" type="datetimeFigureOut">
              <a:rPr lang="en-US" smtClean="0"/>
              <a:t>4/15/2020</a:t>
            </a:fld>
            <a:endParaRPr lang="en-US"/>
          </a:p>
        </p:txBody>
      </p:sp>
      <p:sp>
        <p:nvSpPr>
          <p:cNvPr id="8" name="Footer Placeholder 7">
            <a:extLst>
              <a:ext uri="{FF2B5EF4-FFF2-40B4-BE49-F238E27FC236}">
                <a16:creationId xmlns:a16="http://schemas.microsoft.com/office/drawing/2014/main" id="{431AB356-8A1E-4F3B-A0E5-D612AFCD4A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07A43B-622C-4EBB-8CDD-CADE05F67CFB}"/>
              </a:ext>
            </a:extLst>
          </p:cNvPr>
          <p:cNvSpPr>
            <a:spLocks noGrp="1"/>
          </p:cNvSpPr>
          <p:nvPr>
            <p:ph type="sldNum" sz="quarter" idx="12"/>
          </p:nvPr>
        </p:nvSpPr>
        <p:spPr/>
        <p:txBody>
          <a:bodyPr/>
          <a:lstStyle/>
          <a:p>
            <a:fld id="{C047D052-D9A3-4A55-8B52-16B518057B79}" type="slidenum">
              <a:rPr lang="en-US" smtClean="0"/>
              <a:t>‹#›</a:t>
            </a:fld>
            <a:endParaRPr lang="en-US"/>
          </a:p>
        </p:txBody>
      </p:sp>
    </p:spTree>
    <p:extLst>
      <p:ext uri="{BB962C8B-B14F-4D97-AF65-F5344CB8AC3E}">
        <p14:creationId xmlns:p14="http://schemas.microsoft.com/office/powerpoint/2010/main" val="3950640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D6BAB-66D2-41F3-8D99-956EBA0D9A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B8C83F0-3A0F-479A-B1C4-661A3402A220}"/>
              </a:ext>
            </a:extLst>
          </p:cNvPr>
          <p:cNvSpPr>
            <a:spLocks noGrp="1"/>
          </p:cNvSpPr>
          <p:nvPr>
            <p:ph type="dt" sz="half" idx="10"/>
          </p:nvPr>
        </p:nvSpPr>
        <p:spPr/>
        <p:txBody>
          <a:bodyPr/>
          <a:lstStyle/>
          <a:p>
            <a:fld id="{43D54302-DFCC-4F1A-B412-F8FE6EAE657E}" type="datetimeFigureOut">
              <a:rPr lang="en-US" smtClean="0"/>
              <a:t>4/15/2020</a:t>
            </a:fld>
            <a:endParaRPr lang="en-US"/>
          </a:p>
        </p:txBody>
      </p:sp>
      <p:sp>
        <p:nvSpPr>
          <p:cNvPr id="4" name="Footer Placeholder 3">
            <a:extLst>
              <a:ext uri="{FF2B5EF4-FFF2-40B4-BE49-F238E27FC236}">
                <a16:creationId xmlns:a16="http://schemas.microsoft.com/office/drawing/2014/main" id="{1B3F767A-6945-41E7-8FB6-EEE2EE97D2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F9DCCA-7DFB-4E64-80AB-421A8DADB2FD}"/>
              </a:ext>
            </a:extLst>
          </p:cNvPr>
          <p:cNvSpPr>
            <a:spLocks noGrp="1"/>
          </p:cNvSpPr>
          <p:nvPr>
            <p:ph type="sldNum" sz="quarter" idx="12"/>
          </p:nvPr>
        </p:nvSpPr>
        <p:spPr/>
        <p:txBody>
          <a:bodyPr/>
          <a:lstStyle/>
          <a:p>
            <a:fld id="{C047D052-D9A3-4A55-8B52-16B518057B79}" type="slidenum">
              <a:rPr lang="en-US" smtClean="0"/>
              <a:t>‹#›</a:t>
            </a:fld>
            <a:endParaRPr lang="en-US"/>
          </a:p>
        </p:txBody>
      </p:sp>
    </p:spTree>
    <p:extLst>
      <p:ext uri="{BB962C8B-B14F-4D97-AF65-F5344CB8AC3E}">
        <p14:creationId xmlns:p14="http://schemas.microsoft.com/office/powerpoint/2010/main" val="2743419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430C5F-F9B0-43C4-B43B-2C26AF4568B7}"/>
              </a:ext>
            </a:extLst>
          </p:cNvPr>
          <p:cNvSpPr>
            <a:spLocks noGrp="1"/>
          </p:cNvSpPr>
          <p:nvPr>
            <p:ph type="dt" sz="half" idx="10"/>
          </p:nvPr>
        </p:nvSpPr>
        <p:spPr/>
        <p:txBody>
          <a:bodyPr/>
          <a:lstStyle/>
          <a:p>
            <a:fld id="{43D54302-DFCC-4F1A-B412-F8FE6EAE657E}" type="datetimeFigureOut">
              <a:rPr lang="en-US" smtClean="0"/>
              <a:t>4/15/2020</a:t>
            </a:fld>
            <a:endParaRPr lang="en-US"/>
          </a:p>
        </p:txBody>
      </p:sp>
      <p:sp>
        <p:nvSpPr>
          <p:cNvPr id="3" name="Footer Placeholder 2">
            <a:extLst>
              <a:ext uri="{FF2B5EF4-FFF2-40B4-BE49-F238E27FC236}">
                <a16:creationId xmlns:a16="http://schemas.microsoft.com/office/drawing/2014/main" id="{4D557396-5DA6-48CA-BDE5-0F6424A6EB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AD2BA1-4BF1-4A3E-95A5-E05093853A69}"/>
              </a:ext>
            </a:extLst>
          </p:cNvPr>
          <p:cNvSpPr>
            <a:spLocks noGrp="1"/>
          </p:cNvSpPr>
          <p:nvPr>
            <p:ph type="sldNum" sz="quarter" idx="12"/>
          </p:nvPr>
        </p:nvSpPr>
        <p:spPr/>
        <p:txBody>
          <a:bodyPr/>
          <a:lstStyle/>
          <a:p>
            <a:fld id="{C047D052-D9A3-4A55-8B52-16B518057B79}" type="slidenum">
              <a:rPr lang="en-US" smtClean="0"/>
              <a:t>‹#›</a:t>
            </a:fld>
            <a:endParaRPr lang="en-US"/>
          </a:p>
        </p:txBody>
      </p:sp>
    </p:spTree>
    <p:extLst>
      <p:ext uri="{BB962C8B-B14F-4D97-AF65-F5344CB8AC3E}">
        <p14:creationId xmlns:p14="http://schemas.microsoft.com/office/powerpoint/2010/main" val="1976386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117A4-AB16-4B00-9359-F36F324DC9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55BA87-4FD1-41E7-92E6-F4DBDD10F8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88AF5E-DDB3-4A28-A8A1-906C24BD65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1A2516-4145-4FBF-BEB7-9A2965E646A9}"/>
              </a:ext>
            </a:extLst>
          </p:cNvPr>
          <p:cNvSpPr>
            <a:spLocks noGrp="1"/>
          </p:cNvSpPr>
          <p:nvPr>
            <p:ph type="dt" sz="half" idx="10"/>
          </p:nvPr>
        </p:nvSpPr>
        <p:spPr/>
        <p:txBody>
          <a:bodyPr/>
          <a:lstStyle/>
          <a:p>
            <a:fld id="{43D54302-DFCC-4F1A-B412-F8FE6EAE657E}" type="datetimeFigureOut">
              <a:rPr lang="en-US" smtClean="0"/>
              <a:t>4/15/2020</a:t>
            </a:fld>
            <a:endParaRPr lang="en-US"/>
          </a:p>
        </p:txBody>
      </p:sp>
      <p:sp>
        <p:nvSpPr>
          <p:cNvPr id="6" name="Footer Placeholder 5">
            <a:extLst>
              <a:ext uri="{FF2B5EF4-FFF2-40B4-BE49-F238E27FC236}">
                <a16:creationId xmlns:a16="http://schemas.microsoft.com/office/drawing/2014/main" id="{25DAAEC6-E188-4B5F-B90F-0756D8B6CE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40F14B-A270-4ACB-8176-37A6CFE7DE01}"/>
              </a:ext>
            </a:extLst>
          </p:cNvPr>
          <p:cNvSpPr>
            <a:spLocks noGrp="1"/>
          </p:cNvSpPr>
          <p:nvPr>
            <p:ph type="sldNum" sz="quarter" idx="12"/>
          </p:nvPr>
        </p:nvSpPr>
        <p:spPr/>
        <p:txBody>
          <a:bodyPr/>
          <a:lstStyle/>
          <a:p>
            <a:fld id="{C047D052-D9A3-4A55-8B52-16B518057B79}" type="slidenum">
              <a:rPr lang="en-US" smtClean="0"/>
              <a:t>‹#›</a:t>
            </a:fld>
            <a:endParaRPr lang="en-US"/>
          </a:p>
        </p:txBody>
      </p:sp>
    </p:spTree>
    <p:extLst>
      <p:ext uri="{BB962C8B-B14F-4D97-AF65-F5344CB8AC3E}">
        <p14:creationId xmlns:p14="http://schemas.microsoft.com/office/powerpoint/2010/main" val="95886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B99A8-0E77-4F59-A8AD-5A416D7A0C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252D68F-5B8C-4BBC-9DE1-DACCAA6954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DA5B05-6E77-4D90-9CD0-A2E905A763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E889D4-E669-4265-BC58-29A2B72671F0}"/>
              </a:ext>
            </a:extLst>
          </p:cNvPr>
          <p:cNvSpPr>
            <a:spLocks noGrp="1"/>
          </p:cNvSpPr>
          <p:nvPr>
            <p:ph type="dt" sz="half" idx="10"/>
          </p:nvPr>
        </p:nvSpPr>
        <p:spPr/>
        <p:txBody>
          <a:bodyPr/>
          <a:lstStyle/>
          <a:p>
            <a:fld id="{43D54302-DFCC-4F1A-B412-F8FE6EAE657E}" type="datetimeFigureOut">
              <a:rPr lang="en-US" smtClean="0"/>
              <a:t>4/15/2020</a:t>
            </a:fld>
            <a:endParaRPr lang="en-US"/>
          </a:p>
        </p:txBody>
      </p:sp>
      <p:sp>
        <p:nvSpPr>
          <p:cNvPr id="6" name="Footer Placeholder 5">
            <a:extLst>
              <a:ext uri="{FF2B5EF4-FFF2-40B4-BE49-F238E27FC236}">
                <a16:creationId xmlns:a16="http://schemas.microsoft.com/office/drawing/2014/main" id="{6992B2FF-B68B-4CAE-AC0E-8FDAF4D28B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A7D259-B09A-4088-9D69-31EE74567714}"/>
              </a:ext>
            </a:extLst>
          </p:cNvPr>
          <p:cNvSpPr>
            <a:spLocks noGrp="1"/>
          </p:cNvSpPr>
          <p:nvPr>
            <p:ph type="sldNum" sz="quarter" idx="12"/>
          </p:nvPr>
        </p:nvSpPr>
        <p:spPr/>
        <p:txBody>
          <a:bodyPr/>
          <a:lstStyle/>
          <a:p>
            <a:fld id="{C047D052-D9A3-4A55-8B52-16B518057B79}" type="slidenum">
              <a:rPr lang="en-US" smtClean="0"/>
              <a:t>‹#›</a:t>
            </a:fld>
            <a:endParaRPr lang="en-US"/>
          </a:p>
        </p:txBody>
      </p:sp>
    </p:spTree>
    <p:extLst>
      <p:ext uri="{BB962C8B-B14F-4D97-AF65-F5344CB8AC3E}">
        <p14:creationId xmlns:p14="http://schemas.microsoft.com/office/powerpoint/2010/main" val="1373300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5412A-F1F0-4979-A9F7-BA87052C85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7C4B9E-1396-4AD7-BEED-30156BB934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908ADA-1AA0-42FD-9434-D46E9C4AA8A3}"/>
              </a:ext>
            </a:extLst>
          </p:cNvPr>
          <p:cNvSpPr>
            <a:spLocks noGrp="1"/>
          </p:cNvSpPr>
          <p:nvPr>
            <p:ph type="dt" sz="half" idx="10"/>
          </p:nvPr>
        </p:nvSpPr>
        <p:spPr/>
        <p:txBody>
          <a:bodyPr/>
          <a:lstStyle/>
          <a:p>
            <a:fld id="{43D54302-DFCC-4F1A-B412-F8FE6EAE657E}" type="datetimeFigureOut">
              <a:rPr lang="en-US" smtClean="0"/>
              <a:t>4/15/2020</a:t>
            </a:fld>
            <a:endParaRPr lang="en-US"/>
          </a:p>
        </p:txBody>
      </p:sp>
      <p:sp>
        <p:nvSpPr>
          <p:cNvPr id="5" name="Footer Placeholder 4">
            <a:extLst>
              <a:ext uri="{FF2B5EF4-FFF2-40B4-BE49-F238E27FC236}">
                <a16:creationId xmlns:a16="http://schemas.microsoft.com/office/drawing/2014/main" id="{6487E865-BE29-424F-A6F8-249FD034B8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476F49-5312-4D71-9F4F-2BD0B75B5F28}"/>
              </a:ext>
            </a:extLst>
          </p:cNvPr>
          <p:cNvSpPr>
            <a:spLocks noGrp="1"/>
          </p:cNvSpPr>
          <p:nvPr>
            <p:ph type="sldNum" sz="quarter" idx="12"/>
          </p:nvPr>
        </p:nvSpPr>
        <p:spPr/>
        <p:txBody>
          <a:bodyPr/>
          <a:lstStyle/>
          <a:p>
            <a:fld id="{C047D052-D9A3-4A55-8B52-16B518057B79}" type="slidenum">
              <a:rPr lang="en-US" smtClean="0"/>
              <a:t>‹#›</a:t>
            </a:fld>
            <a:endParaRPr lang="en-US"/>
          </a:p>
        </p:txBody>
      </p:sp>
    </p:spTree>
    <p:extLst>
      <p:ext uri="{BB962C8B-B14F-4D97-AF65-F5344CB8AC3E}">
        <p14:creationId xmlns:p14="http://schemas.microsoft.com/office/powerpoint/2010/main" val="13059708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FCA528-3BA0-4FC3-87CD-DE1D70BD1A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989FEA-7FCC-4E5C-B32F-7F7E71535F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E61E12-9FC0-4727-ACF1-CCEA9814F620}"/>
              </a:ext>
            </a:extLst>
          </p:cNvPr>
          <p:cNvSpPr>
            <a:spLocks noGrp="1"/>
          </p:cNvSpPr>
          <p:nvPr>
            <p:ph type="dt" sz="half" idx="10"/>
          </p:nvPr>
        </p:nvSpPr>
        <p:spPr/>
        <p:txBody>
          <a:bodyPr/>
          <a:lstStyle/>
          <a:p>
            <a:fld id="{43D54302-DFCC-4F1A-B412-F8FE6EAE657E}" type="datetimeFigureOut">
              <a:rPr lang="en-US" smtClean="0"/>
              <a:t>4/15/2020</a:t>
            </a:fld>
            <a:endParaRPr lang="en-US"/>
          </a:p>
        </p:txBody>
      </p:sp>
      <p:sp>
        <p:nvSpPr>
          <p:cNvPr id="5" name="Footer Placeholder 4">
            <a:extLst>
              <a:ext uri="{FF2B5EF4-FFF2-40B4-BE49-F238E27FC236}">
                <a16:creationId xmlns:a16="http://schemas.microsoft.com/office/drawing/2014/main" id="{39D9559D-1B8B-4F5F-941B-08F1F3261B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5EE629-39C1-436E-91CC-3496B5D7DAAC}"/>
              </a:ext>
            </a:extLst>
          </p:cNvPr>
          <p:cNvSpPr>
            <a:spLocks noGrp="1"/>
          </p:cNvSpPr>
          <p:nvPr>
            <p:ph type="sldNum" sz="quarter" idx="12"/>
          </p:nvPr>
        </p:nvSpPr>
        <p:spPr/>
        <p:txBody>
          <a:bodyPr/>
          <a:lstStyle/>
          <a:p>
            <a:fld id="{C047D052-D9A3-4A55-8B52-16B518057B79}" type="slidenum">
              <a:rPr lang="en-US" smtClean="0"/>
              <a:t>‹#›</a:t>
            </a:fld>
            <a:endParaRPr lang="en-US"/>
          </a:p>
        </p:txBody>
      </p:sp>
    </p:spTree>
    <p:extLst>
      <p:ext uri="{BB962C8B-B14F-4D97-AF65-F5344CB8AC3E}">
        <p14:creationId xmlns:p14="http://schemas.microsoft.com/office/powerpoint/2010/main" val="3036800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EF3C9D5-948D-45BF-A43A-BC1C8F177659}" type="datetime1">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41584902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DE1747-153E-4BA7-845E-5E7975F88D66}" type="datetime1">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2035122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1ECA1C-BCD9-4C21-9BC5-BB94294F1269}" type="datetime1">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16170590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4D56A4-68C4-40CF-99B1-A59BBC130E54}" type="datetime1">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6708227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E4250C-EECC-464A-9F01-39097C0C28CA}" type="datetime1">
              <a:rPr lang="en-US" smtClean="0"/>
              <a:pPr/>
              <a:t>4/15/2020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360387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A953BAF0-9579-42B3-B979-30EFD986705E}" type="slidenum">
              <a:rPr lang="en-US" smtClean="0"/>
              <a:pPr/>
              <a:t>‹#›</a:t>
            </a:fld>
            <a:endParaRPr lang="en-US"/>
          </a:p>
        </p:txBody>
      </p:sp>
      <p:sp>
        <p:nvSpPr>
          <p:cNvPr id="6" name="Text Placeholder 14"/>
          <p:cNvSpPr>
            <a:spLocks noGrp="1"/>
          </p:cNvSpPr>
          <p:nvPr>
            <p:ph type="body" sz="quarter" idx="13" hasCustomPrompt="1"/>
          </p:nvPr>
        </p:nvSpPr>
        <p:spPr>
          <a:xfrm>
            <a:off x="2946400" y="1828800"/>
            <a:ext cx="4169664" cy="2212848"/>
          </a:xfrm>
        </p:spPr>
        <p:txBody>
          <a:bodyPr anchor="ctr">
            <a:normAutofit/>
          </a:bodyPr>
          <a:lstStyle>
            <a:lvl1pPr marL="0" indent="0">
              <a:buNone/>
              <a:defRPr sz="1200" baseline="0">
                <a:latin typeface="Batang" pitchFamily="18" charset="-127"/>
                <a:ea typeface="Batang" pitchFamily="18" charset="-127"/>
              </a:defRPr>
            </a:lvl1pPr>
          </a:lstStyle>
          <a:p>
            <a:pPr lvl="0"/>
            <a:r>
              <a:rPr lang="en-US" sz="1200" dirty="0">
                <a:latin typeface="Batang" pitchFamily="18" charset="-127"/>
                <a:ea typeface="Batang" pitchFamily="18" charset="-127"/>
              </a:rPr>
              <a:t>Text style</a:t>
            </a:r>
            <a:endParaRPr lang="en-US" dirty="0"/>
          </a:p>
        </p:txBody>
      </p:sp>
      <p:sp>
        <p:nvSpPr>
          <p:cNvPr id="11" name="Text Placeholder 14"/>
          <p:cNvSpPr>
            <a:spLocks noGrp="1"/>
          </p:cNvSpPr>
          <p:nvPr>
            <p:ph type="body" sz="quarter" idx="14" hasCustomPrompt="1"/>
          </p:nvPr>
        </p:nvSpPr>
        <p:spPr>
          <a:xfrm>
            <a:off x="2946400" y="4191000"/>
            <a:ext cx="4169664" cy="2212848"/>
          </a:xfrm>
        </p:spPr>
        <p:txBody>
          <a:bodyPr anchor="ctr">
            <a:normAutofit/>
          </a:bodyPr>
          <a:lstStyle>
            <a:lvl1pPr marL="0" indent="0">
              <a:buNone/>
              <a:defRPr sz="1200" baseline="0">
                <a:latin typeface="Batang" pitchFamily="18" charset="-127"/>
                <a:ea typeface="Batang" pitchFamily="18" charset="-127"/>
              </a:defRPr>
            </a:lvl1pPr>
          </a:lstStyle>
          <a:p>
            <a:pPr lvl="0"/>
            <a:r>
              <a:rPr lang="en-US" sz="1200" dirty="0">
                <a:latin typeface="Batang" pitchFamily="18" charset="-127"/>
                <a:ea typeface="Batang" pitchFamily="18" charset="-127"/>
              </a:rPr>
              <a:t>Text style</a:t>
            </a:r>
            <a:endParaRPr lang="en-US" dirty="0"/>
          </a:p>
        </p:txBody>
      </p:sp>
      <p:sp>
        <p:nvSpPr>
          <p:cNvPr id="12" name="Text Placeholder 14"/>
          <p:cNvSpPr>
            <a:spLocks noGrp="1"/>
          </p:cNvSpPr>
          <p:nvPr>
            <p:ph type="body" sz="quarter" idx="15" hasCustomPrompt="1"/>
          </p:nvPr>
        </p:nvSpPr>
        <p:spPr>
          <a:xfrm>
            <a:off x="7311136" y="4191000"/>
            <a:ext cx="4169664" cy="2212848"/>
          </a:xfrm>
        </p:spPr>
        <p:txBody>
          <a:bodyPr anchor="ctr">
            <a:normAutofit/>
          </a:bodyPr>
          <a:lstStyle>
            <a:lvl1pPr marL="0" indent="0">
              <a:buNone/>
              <a:defRPr sz="1200" baseline="0">
                <a:latin typeface="Batang" pitchFamily="18" charset="-127"/>
                <a:ea typeface="Batang" pitchFamily="18" charset="-127"/>
              </a:defRPr>
            </a:lvl1pPr>
          </a:lstStyle>
          <a:p>
            <a:pPr lvl="0"/>
            <a:r>
              <a:rPr lang="en-US" sz="1200" dirty="0">
                <a:latin typeface="Batang" pitchFamily="18" charset="-127"/>
                <a:ea typeface="Batang" pitchFamily="18" charset="-127"/>
              </a:rPr>
              <a:t>Text style</a:t>
            </a:r>
            <a:endParaRPr lang="en-US" dirty="0"/>
          </a:p>
        </p:txBody>
      </p:sp>
      <p:sp>
        <p:nvSpPr>
          <p:cNvPr id="13" name="Text Placeholder 14"/>
          <p:cNvSpPr>
            <a:spLocks noGrp="1"/>
          </p:cNvSpPr>
          <p:nvPr>
            <p:ph type="body" sz="quarter" idx="16" hasCustomPrompt="1"/>
          </p:nvPr>
        </p:nvSpPr>
        <p:spPr>
          <a:xfrm>
            <a:off x="7315200" y="1828800"/>
            <a:ext cx="4169664" cy="2212848"/>
          </a:xfrm>
        </p:spPr>
        <p:txBody>
          <a:bodyPr anchor="ctr">
            <a:normAutofit/>
          </a:bodyPr>
          <a:lstStyle>
            <a:lvl1pPr marL="0" indent="0">
              <a:buNone/>
              <a:defRPr sz="1200" baseline="0">
                <a:latin typeface="Batang" pitchFamily="18" charset="-127"/>
                <a:ea typeface="Batang" pitchFamily="18" charset="-127"/>
              </a:defRPr>
            </a:lvl1pPr>
          </a:lstStyle>
          <a:p>
            <a:pPr lvl="0"/>
            <a:r>
              <a:rPr lang="en-US" sz="1200" dirty="0">
                <a:latin typeface="Batang" pitchFamily="18" charset="-127"/>
                <a:ea typeface="Batang" pitchFamily="18" charset="-127"/>
              </a:rPr>
              <a:t>Text style</a:t>
            </a:r>
            <a:endParaRPr lang="en-US" dirty="0"/>
          </a:p>
        </p:txBody>
      </p:sp>
      <p:pic>
        <p:nvPicPr>
          <p:cNvPr id="15" name="Picture 2" descr="http://www.biobus.gsu.edu/biobushome_files/gsulogo.gif"/>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325" y="74124"/>
            <a:ext cx="2133600" cy="1526076"/>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userDrawn="1"/>
        </p:nvSpPr>
        <p:spPr>
          <a:xfrm>
            <a:off x="213783" y="1828800"/>
            <a:ext cx="2020143" cy="47244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schemeClr val="tx2"/>
              </a:solidFill>
            </a:endParaRPr>
          </a:p>
        </p:txBody>
      </p:sp>
      <p:sp>
        <p:nvSpPr>
          <p:cNvPr id="18" name="Text Placeholder 17"/>
          <p:cNvSpPr>
            <a:spLocks noGrp="1"/>
          </p:cNvSpPr>
          <p:nvPr>
            <p:ph type="body" sz="quarter" idx="17"/>
          </p:nvPr>
        </p:nvSpPr>
        <p:spPr>
          <a:xfrm>
            <a:off x="2722693" y="533400"/>
            <a:ext cx="8331200" cy="990600"/>
          </a:xfrm>
        </p:spPr>
        <p:txBody>
          <a:bodyPr anchor="b">
            <a:normAutofit/>
          </a:bodyPr>
          <a:lstStyle>
            <a:lvl1pPr marL="0" indent="0">
              <a:buNone/>
              <a:defRPr sz="2400" b="1" cap="all" baseline="0">
                <a:solidFill>
                  <a:schemeClr val="tx2"/>
                </a:solidFill>
                <a:latin typeface="Euphemia"/>
                <a:ea typeface="Segoe UI Symbol" pitchFamily="34" charset="0"/>
              </a:defRPr>
            </a:lvl1pPr>
          </a:lstStyle>
          <a:p>
            <a:pPr lvl="0"/>
            <a:r>
              <a:rPr lang="en-US" dirty="0"/>
              <a:t>Click to edit Master text styles</a:t>
            </a:r>
          </a:p>
        </p:txBody>
      </p:sp>
      <p:sp>
        <p:nvSpPr>
          <p:cNvPr id="20" name="Text Placeholder 19"/>
          <p:cNvSpPr>
            <a:spLocks noGrp="1"/>
          </p:cNvSpPr>
          <p:nvPr>
            <p:ph type="body" sz="quarter" idx="18"/>
          </p:nvPr>
        </p:nvSpPr>
        <p:spPr>
          <a:xfrm>
            <a:off x="213785" y="2133600"/>
            <a:ext cx="2019300" cy="4419600"/>
          </a:xfrm>
        </p:spPr>
        <p:txBody>
          <a:bodyPr>
            <a:normAutofit/>
          </a:bodyPr>
          <a:lstStyle>
            <a:lvl1pPr>
              <a:lnSpc>
                <a:spcPct val="100000"/>
              </a:lnSpc>
              <a:spcAft>
                <a:spcPts val="1200"/>
              </a:spcAft>
              <a:buFont typeface="+mj-lt"/>
              <a:buAutoNum type="arabicPeriod"/>
              <a:defRPr sz="1200">
                <a:solidFill>
                  <a:schemeClr val="tx2"/>
                </a:solidFill>
              </a:defRPr>
            </a:lvl1pPr>
          </a:lstStyle>
          <a:p>
            <a:pPr lvl="0"/>
            <a:endParaRPr lang="en-US" dirty="0"/>
          </a:p>
          <a:p>
            <a:pPr lvl="0"/>
            <a:r>
              <a:rPr lang="en-US" dirty="0"/>
              <a:t>Click to edit</a:t>
            </a:r>
          </a:p>
        </p:txBody>
      </p:sp>
    </p:spTree>
    <p:extLst>
      <p:ext uri="{BB962C8B-B14F-4D97-AF65-F5344CB8AC3E}">
        <p14:creationId xmlns:p14="http://schemas.microsoft.com/office/powerpoint/2010/main" val="15487383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A953BAF0-9579-42B3-B979-30EFD986705E}" type="slidenum">
              <a:rPr lang="en-US" smtClean="0"/>
              <a:pPr/>
              <a:t>‹#›</a:t>
            </a:fld>
            <a:endParaRPr lang="en-US"/>
          </a:p>
        </p:txBody>
      </p:sp>
      <p:pic>
        <p:nvPicPr>
          <p:cNvPr id="15" name="Picture 2" descr="http://www.biobus.gsu.edu/biobushome_files/gsulogo.gif"/>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325" y="74124"/>
            <a:ext cx="2133600" cy="1526076"/>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userDrawn="1"/>
        </p:nvSpPr>
        <p:spPr>
          <a:xfrm>
            <a:off x="213783" y="1828800"/>
            <a:ext cx="2020143" cy="4724400"/>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1200" dirty="0">
              <a:solidFill>
                <a:schemeClr val="tx2"/>
              </a:solidFill>
            </a:endParaRPr>
          </a:p>
        </p:txBody>
      </p:sp>
      <p:sp>
        <p:nvSpPr>
          <p:cNvPr id="18" name="Text Placeholder 17"/>
          <p:cNvSpPr>
            <a:spLocks noGrp="1"/>
          </p:cNvSpPr>
          <p:nvPr>
            <p:ph type="body" sz="quarter" idx="17"/>
          </p:nvPr>
        </p:nvSpPr>
        <p:spPr>
          <a:xfrm>
            <a:off x="2722693" y="533400"/>
            <a:ext cx="8331200" cy="990600"/>
          </a:xfrm>
        </p:spPr>
        <p:txBody>
          <a:bodyPr anchor="b">
            <a:normAutofit/>
          </a:bodyPr>
          <a:lstStyle>
            <a:lvl1pPr marL="0" indent="0">
              <a:buNone/>
              <a:defRPr sz="2400" b="1" cap="all" baseline="0">
                <a:solidFill>
                  <a:schemeClr val="tx2"/>
                </a:solidFill>
                <a:latin typeface="Euphemia"/>
                <a:ea typeface="Segoe UI Symbol" pitchFamily="34" charset="0"/>
              </a:defRPr>
            </a:lvl1pPr>
          </a:lstStyle>
          <a:p>
            <a:pPr lvl="0"/>
            <a:r>
              <a:rPr lang="en-US" dirty="0"/>
              <a:t>Click to edit Master text styles</a:t>
            </a:r>
          </a:p>
        </p:txBody>
      </p:sp>
      <p:sp>
        <p:nvSpPr>
          <p:cNvPr id="20" name="Text Placeholder 19"/>
          <p:cNvSpPr>
            <a:spLocks noGrp="1"/>
          </p:cNvSpPr>
          <p:nvPr>
            <p:ph type="body" sz="quarter" idx="18"/>
          </p:nvPr>
        </p:nvSpPr>
        <p:spPr>
          <a:xfrm>
            <a:off x="213785" y="2133600"/>
            <a:ext cx="2019300" cy="4419600"/>
          </a:xfrm>
        </p:spPr>
        <p:txBody>
          <a:bodyPr>
            <a:normAutofit/>
          </a:bodyPr>
          <a:lstStyle>
            <a:lvl1pPr>
              <a:lnSpc>
                <a:spcPct val="100000"/>
              </a:lnSpc>
              <a:spcAft>
                <a:spcPts val="1200"/>
              </a:spcAft>
              <a:buFont typeface="+mj-lt"/>
              <a:buAutoNum type="arabicPeriod"/>
              <a:defRPr sz="1200">
                <a:solidFill>
                  <a:schemeClr val="tx2"/>
                </a:solidFill>
              </a:defRPr>
            </a:lvl1pPr>
          </a:lstStyle>
          <a:p>
            <a:pPr lvl="0"/>
            <a:endParaRPr lang="en-US" dirty="0"/>
          </a:p>
          <a:p>
            <a:pPr lvl="0"/>
            <a:r>
              <a:rPr lang="en-US" dirty="0"/>
              <a:t>Click to edit</a:t>
            </a:r>
          </a:p>
        </p:txBody>
      </p:sp>
      <p:sp>
        <p:nvSpPr>
          <p:cNvPr id="14" name="Content Placeholder 2"/>
          <p:cNvSpPr>
            <a:spLocks noGrp="1"/>
          </p:cNvSpPr>
          <p:nvPr>
            <p:ph idx="1"/>
          </p:nvPr>
        </p:nvSpPr>
        <p:spPr>
          <a:xfrm>
            <a:off x="2946400" y="2057401"/>
            <a:ext cx="8636000" cy="4068763"/>
          </a:xfrm>
        </p:spPr>
        <p:txBody>
          <a:bodyPr/>
          <a:lstStyle>
            <a:lvl1pPr>
              <a:defRPr sz="2400"/>
            </a:lvl1pPr>
            <a:lvl2pPr>
              <a:defRPr sz="2000"/>
            </a:lvl2pPr>
            <a:lvl3pPr>
              <a:defRPr sz="18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504487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1400">
                <a:latin typeface="Segoe UI Symbol" pitchFamily="34" charset="0"/>
                <a:ea typeface="Segoe UI Symbol" pitchFamily="34"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EE38F263-8F67-4EB6-A377-0FB965046360}" type="datetime1">
              <a:rPr lang="en-US" smtClean="0"/>
              <a:pPr/>
              <a:t>4/15/2020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22951534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37051650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59461F-53CE-4F0D-8C52-0E69A5D463FE}" type="datetime1">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14017653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95868E-B978-4568-9431-F5759F396BAA}" type="datetime1">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38683238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E74B5A-09BF-4687-B57D-3DB82197D943}" type="datetime1">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41479728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A3F927-E985-4A56-9013-78D3FFC3EF4C}" type="datetime1">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1373170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E38F263-8F67-4EB6-A377-0FB965046360}" type="datetime1">
              <a:rPr lang="en-US" smtClean="0"/>
              <a:pPr/>
              <a:t>4/15/2020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20766404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A5EA0D-0DFA-4FB3-91EC-F80588E7F6C0}" type="datetimeFigureOut">
              <a:rPr lang="en-US" smtClean="0"/>
              <a:t>4/15/2020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2D56601-A6AE-43F6-8003-C5CDC0FC8AC6}" type="slidenum">
              <a:rPr lang="en-US" smtClean="0"/>
              <a:t>‹#›</a:t>
            </a:fld>
            <a:endParaRPr lang="en-US"/>
          </a:p>
        </p:txBody>
      </p:sp>
    </p:spTree>
    <p:extLst>
      <p:ext uri="{BB962C8B-B14F-4D97-AF65-F5344CB8AC3E}">
        <p14:creationId xmlns:p14="http://schemas.microsoft.com/office/powerpoint/2010/main" val="32182693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A953BAF0-9579-42B3-B979-30EFD986705E}" type="slidenum">
              <a:rPr lang="en-US" smtClean="0"/>
              <a:pPr/>
              <a:t>‹#›</a:t>
            </a:fld>
            <a:endParaRPr lang="en-US"/>
          </a:p>
        </p:txBody>
      </p:sp>
      <p:sp>
        <p:nvSpPr>
          <p:cNvPr id="6" name="Text Placeholder 14"/>
          <p:cNvSpPr>
            <a:spLocks noGrp="1"/>
          </p:cNvSpPr>
          <p:nvPr>
            <p:ph type="body" sz="quarter" idx="13" hasCustomPrompt="1"/>
          </p:nvPr>
        </p:nvSpPr>
        <p:spPr>
          <a:xfrm>
            <a:off x="1646107" y="1828800"/>
            <a:ext cx="4169664" cy="2212848"/>
          </a:xfrm>
        </p:spPr>
        <p:txBody>
          <a:bodyPr anchor="ctr">
            <a:normAutofit/>
          </a:bodyPr>
          <a:lstStyle>
            <a:lvl1pPr marL="0" indent="0">
              <a:buNone/>
              <a:defRPr sz="1200" baseline="0">
                <a:latin typeface="Batang" pitchFamily="18" charset="-127"/>
                <a:ea typeface="Batang" pitchFamily="18" charset="-127"/>
              </a:defRPr>
            </a:lvl1pPr>
          </a:lstStyle>
          <a:p>
            <a:pPr lvl="0"/>
            <a:r>
              <a:rPr lang="en-US" sz="1200" dirty="0">
                <a:latin typeface="Batang" pitchFamily="18" charset="-127"/>
                <a:ea typeface="Batang" pitchFamily="18" charset="-127"/>
              </a:rPr>
              <a:t>Text style</a:t>
            </a:r>
            <a:endParaRPr lang="en-US" dirty="0"/>
          </a:p>
        </p:txBody>
      </p:sp>
      <p:sp>
        <p:nvSpPr>
          <p:cNvPr id="11" name="Text Placeholder 14"/>
          <p:cNvSpPr>
            <a:spLocks noGrp="1"/>
          </p:cNvSpPr>
          <p:nvPr>
            <p:ph type="body" sz="quarter" idx="14" hasCustomPrompt="1"/>
          </p:nvPr>
        </p:nvSpPr>
        <p:spPr>
          <a:xfrm>
            <a:off x="1646107" y="4191000"/>
            <a:ext cx="4169664" cy="2212848"/>
          </a:xfrm>
        </p:spPr>
        <p:txBody>
          <a:bodyPr anchor="ctr">
            <a:normAutofit/>
          </a:bodyPr>
          <a:lstStyle>
            <a:lvl1pPr marL="0" indent="0">
              <a:buNone/>
              <a:defRPr sz="1200" baseline="0">
                <a:latin typeface="Batang" pitchFamily="18" charset="-127"/>
                <a:ea typeface="Batang" pitchFamily="18" charset="-127"/>
              </a:defRPr>
            </a:lvl1pPr>
          </a:lstStyle>
          <a:p>
            <a:pPr lvl="0"/>
            <a:r>
              <a:rPr lang="en-US" sz="1200" dirty="0">
                <a:latin typeface="Batang" pitchFamily="18" charset="-127"/>
                <a:ea typeface="Batang" pitchFamily="18" charset="-127"/>
              </a:rPr>
              <a:t>Text style</a:t>
            </a:r>
            <a:endParaRPr lang="en-US" dirty="0"/>
          </a:p>
        </p:txBody>
      </p:sp>
      <p:sp>
        <p:nvSpPr>
          <p:cNvPr id="12" name="Text Placeholder 14"/>
          <p:cNvSpPr>
            <a:spLocks noGrp="1"/>
          </p:cNvSpPr>
          <p:nvPr>
            <p:ph type="body" sz="quarter" idx="15" hasCustomPrompt="1"/>
          </p:nvPr>
        </p:nvSpPr>
        <p:spPr>
          <a:xfrm>
            <a:off x="6010843" y="4191000"/>
            <a:ext cx="4169664" cy="2212848"/>
          </a:xfrm>
        </p:spPr>
        <p:txBody>
          <a:bodyPr anchor="ctr">
            <a:normAutofit/>
          </a:bodyPr>
          <a:lstStyle>
            <a:lvl1pPr marL="0" indent="0">
              <a:buNone/>
              <a:defRPr sz="1200" baseline="0">
                <a:latin typeface="Batang" pitchFamily="18" charset="-127"/>
                <a:ea typeface="Batang" pitchFamily="18" charset="-127"/>
              </a:defRPr>
            </a:lvl1pPr>
          </a:lstStyle>
          <a:p>
            <a:pPr lvl="0"/>
            <a:r>
              <a:rPr lang="en-US" sz="1200" dirty="0">
                <a:latin typeface="Batang" pitchFamily="18" charset="-127"/>
                <a:ea typeface="Batang" pitchFamily="18" charset="-127"/>
              </a:rPr>
              <a:t>Text style</a:t>
            </a:r>
            <a:endParaRPr lang="en-US" dirty="0"/>
          </a:p>
        </p:txBody>
      </p:sp>
      <p:sp>
        <p:nvSpPr>
          <p:cNvPr id="13" name="Text Placeholder 14"/>
          <p:cNvSpPr>
            <a:spLocks noGrp="1"/>
          </p:cNvSpPr>
          <p:nvPr>
            <p:ph type="body" sz="quarter" idx="16" hasCustomPrompt="1"/>
          </p:nvPr>
        </p:nvSpPr>
        <p:spPr>
          <a:xfrm>
            <a:off x="6014907" y="1828800"/>
            <a:ext cx="4169664" cy="2212848"/>
          </a:xfrm>
        </p:spPr>
        <p:txBody>
          <a:bodyPr anchor="ctr">
            <a:normAutofit/>
          </a:bodyPr>
          <a:lstStyle>
            <a:lvl1pPr marL="0" indent="0">
              <a:buNone/>
              <a:defRPr sz="1200" baseline="0">
                <a:latin typeface="Batang" pitchFamily="18" charset="-127"/>
                <a:ea typeface="Batang" pitchFamily="18" charset="-127"/>
              </a:defRPr>
            </a:lvl1pPr>
          </a:lstStyle>
          <a:p>
            <a:pPr lvl="0"/>
            <a:r>
              <a:rPr lang="en-US" sz="1200" dirty="0">
                <a:latin typeface="Batang" pitchFamily="18" charset="-127"/>
                <a:ea typeface="Batang" pitchFamily="18" charset="-127"/>
              </a:rPr>
              <a:t>Text style</a:t>
            </a:r>
            <a:endParaRPr lang="en-US" dirty="0"/>
          </a:p>
        </p:txBody>
      </p:sp>
      <p:sp>
        <p:nvSpPr>
          <p:cNvPr id="18" name="Text Placeholder 17"/>
          <p:cNvSpPr>
            <a:spLocks noGrp="1"/>
          </p:cNvSpPr>
          <p:nvPr>
            <p:ph type="body" sz="quarter" idx="17"/>
          </p:nvPr>
        </p:nvSpPr>
        <p:spPr>
          <a:xfrm>
            <a:off x="1422400" y="533400"/>
            <a:ext cx="8331200" cy="990600"/>
          </a:xfrm>
        </p:spPr>
        <p:txBody>
          <a:bodyPr anchor="b">
            <a:normAutofit/>
          </a:bodyPr>
          <a:lstStyle>
            <a:lvl1pPr marL="0" indent="0">
              <a:buNone/>
              <a:defRPr sz="3200" b="1">
                <a:latin typeface="Times New Roman" panose="02020603050405020304" pitchFamily="18" charset="0"/>
                <a:ea typeface="Segoe UI Symbol" pitchFamily="34"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10500449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A12170-606B-4B55-B3CF-FA08CB79B490}" type="datetimeFigureOut">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30BEC-4FA8-434D-9C46-FFE6BD2E7044}" type="slidenum">
              <a:rPr lang="en-US" smtClean="0"/>
              <a:pPr/>
              <a:t>‹#›</a:t>
            </a:fld>
            <a:endParaRPr lang="en-US"/>
          </a:p>
        </p:txBody>
      </p:sp>
    </p:spTree>
    <p:extLst>
      <p:ext uri="{BB962C8B-B14F-4D97-AF65-F5344CB8AC3E}">
        <p14:creationId xmlns:p14="http://schemas.microsoft.com/office/powerpoint/2010/main" val="9179838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A12170-606B-4B55-B3CF-FA08CB79B490}" type="datetimeFigureOut">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30BEC-4FA8-434D-9C46-FFE6BD2E7044}" type="slidenum">
              <a:rPr lang="en-US" smtClean="0"/>
              <a:pPr/>
              <a:t>‹#›</a:t>
            </a:fld>
            <a:endParaRPr lang="en-US"/>
          </a:p>
        </p:txBody>
      </p:sp>
    </p:spTree>
    <p:extLst>
      <p:ext uri="{BB962C8B-B14F-4D97-AF65-F5344CB8AC3E}">
        <p14:creationId xmlns:p14="http://schemas.microsoft.com/office/powerpoint/2010/main" val="39969019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A12170-606B-4B55-B3CF-FA08CB79B490}" type="datetimeFigureOut">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30BEC-4FA8-434D-9C46-FFE6BD2E7044}" type="slidenum">
              <a:rPr lang="en-US" smtClean="0"/>
              <a:pPr/>
              <a:t>‹#›</a:t>
            </a:fld>
            <a:endParaRPr lang="en-US"/>
          </a:p>
        </p:txBody>
      </p:sp>
    </p:spTree>
    <p:extLst>
      <p:ext uri="{BB962C8B-B14F-4D97-AF65-F5344CB8AC3E}">
        <p14:creationId xmlns:p14="http://schemas.microsoft.com/office/powerpoint/2010/main" val="30198631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3A12170-606B-4B55-B3CF-FA08CB79B490}" type="datetimeFigureOut">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F30BEC-4FA8-434D-9C46-FFE6BD2E7044}" type="slidenum">
              <a:rPr lang="en-US" smtClean="0"/>
              <a:pPr/>
              <a:t>‹#›</a:t>
            </a:fld>
            <a:endParaRPr lang="en-US"/>
          </a:p>
        </p:txBody>
      </p:sp>
    </p:spTree>
    <p:extLst>
      <p:ext uri="{BB962C8B-B14F-4D97-AF65-F5344CB8AC3E}">
        <p14:creationId xmlns:p14="http://schemas.microsoft.com/office/powerpoint/2010/main" val="33230954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3A12170-606B-4B55-B3CF-FA08CB79B490}" type="datetimeFigureOut">
              <a:rPr lang="en-US" smtClean="0"/>
              <a:pPr/>
              <a:t>4/15/2020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F30BEC-4FA8-434D-9C46-FFE6BD2E7044}" type="slidenum">
              <a:rPr lang="en-US" smtClean="0"/>
              <a:pPr/>
              <a:t>‹#›</a:t>
            </a:fld>
            <a:endParaRPr lang="en-US"/>
          </a:p>
        </p:txBody>
      </p:sp>
    </p:spTree>
    <p:extLst>
      <p:ext uri="{BB962C8B-B14F-4D97-AF65-F5344CB8AC3E}">
        <p14:creationId xmlns:p14="http://schemas.microsoft.com/office/powerpoint/2010/main" val="42825562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3A12170-606B-4B55-B3CF-FA08CB79B490}" type="datetimeFigureOut">
              <a:rPr lang="en-US" smtClean="0"/>
              <a:pPr/>
              <a:t>4/15/2020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F30BEC-4FA8-434D-9C46-FFE6BD2E7044}" type="slidenum">
              <a:rPr lang="en-US" smtClean="0"/>
              <a:pPr/>
              <a:t>‹#›</a:t>
            </a:fld>
            <a:endParaRPr lang="en-US"/>
          </a:p>
        </p:txBody>
      </p:sp>
    </p:spTree>
    <p:extLst>
      <p:ext uri="{BB962C8B-B14F-4D97-AF65-F5344CB8AC3E}">
        <p14:creationId xmlns:p14="http://schemas.microsoft.com/office/powerpoint/2010/main" val="24008387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A12170-606B-4B55-B3CF-FA08CB79B490}" type="datetimeFigureOut">
              <a:rPr lang="en-US" smtClean="0"/>
              <a:pPr/>
              <a:t>4/15/2020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F30BEC-4FA8-434D-9C46-FFE6BD2E7044}" type="slidenum">
              <a:rPr lang="en-US" smtClean="0"/>
              <a:pPr/>
              <a:t>‹#›</a:t>
            </a:fld>
            <a:endParaRPr lang="en-US"/>
          </a:p>
        </p:txBody>
      </p:sp>
    </p:spTree>
    <p:extLst>
      <p:ext uri="{BB962C8B-B14F-4D97-AF65-F5344CB8AC3E}">
        <p14:creationId xmlns:p14="http://schemas.microsoft.com/office/powerpoint/2010/main" val="18549422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A12170-606B-4B55-B3CF-FA08CB79B490}" type="datetimeFigureOut">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F30BEC-4FA8-434D-9C46-FFE6BD2E7044}" type="slidenum">
              <a:rPr lang="en-US" smtClean="0"/>
              <a:pPr/>
              <a:t>‹#›</a:t>
            </a:fld>
            <a:endParaRPr lang="en-US"/>
          </a:p>
        </p:txBody>
      </p:sp>
    </p:spTree>
    <p:extLst>
      <p:ext uri="{BB962C8B-B14F-4D97-AF65-F5344CB8AC3E}">
        <p14:creationId xmlns:p14="http://schemas.microsoft.com/office/powerpoint/2010/main" val="5224755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A12170-606B-4B55-B3CF-FA08CB79B490}" type="datetimeFigureOut">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F30BEC-4FA8-434D-9C46-FFE6BD2E7044}" type="slidenum">
              <a:rPr lang="en-US" smtClean="0"/>
              <a:pPr/>
              <a:t>‹#›</a:t>
            </a:fld>
            <a:endParaRPr lang="en-US"/>
          </a:p>
        </p:txBody>
      </p:sp>
    </p:spTree>
    <p:extLst>
      <p:ext uri="{BB962C8B-B14F-4D97-AF65-F5344CB8AC3E}">
        <p14:creationId xmlns:p14="http://schemas.microsoft.com/office/powerpoint/2010/main" val="29988499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A12170-606B-4B55-B3CF-FA08CB79B490}" type="datetimeFigureOut">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30BEC-4FA8-434D-9C46-FFE6BD2E7044}" type="slidenum">
              <a:rPr lang="en-US" smtClean="0"/>
              <a:pPr/>
              <a:t>‹#›</a:t>
            </a:fld>
            <a:endParaRPr lang="en-US"/>
          </a:p>
        </p:txBody>
      </p:sp>
    </p:spTree>
    <p:extLst>
      <p:ext uri="{BB962C8B-B14F-4D97-AF65-F5344CB8AC3E}">
        <p14:creationId xmlns:p14="http://schemas.microsoft.com/office/powerpoint/2010/main" val="22750345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A12170-606B-4B55-B3CF-FA08CB79B490}" type="datetimeFigureOut">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F30BEC-4FA8-434D-9C46-FFE6BD2E7044}" type="slidenum">
              <a:rPr lang="en-US" smtClean="0"/>
              <a:pPr/>
              <a:t>‹#›</a:t>
            </a:fld>
            <a:endParaRPr lang="en-US"/>
          </a:p>
        </p:txBody>
      </p:sp>
    </p:spTree>
    <p:extLst>
      <p:ext uri="{BB962C8B-B14F-4D97-AF65-F5344CB8AC3E}">
        <p14:creationId xmlns:p14="http://schemas.microsoft.com/office/powerpoint/2010/main" val="31540367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EF3C9D5-948D-45BF-A43A-BC1C8F177659}" type="datetime1">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24044842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DE1747-153E-4BA7-845E-5E7975F88D66}" type="datetime1">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333964126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1ECA1C-BCD9-4C21-9BC5-BB94294F1269}" type="datetime1">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409946144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4D56A4-68C4-40CF-99B1-A59BBC130E54}" type="datetime1">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215688187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E4250C-EECC-464A-9F01-39097C0C28CA}" type="datetime1">
              <a:rPr lang="en-US" smtClean="0"/>
              <a:pPr/>
              <a:t>4/15/2020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22098888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A953BAF0-9579-42B3-B979-30EFD986705E}" type="slidenum">
              <a:rPr lang="en-US" smtClean="0"/>
              <a:pPr/>
              <a:t>‹#›</a:t>
            </a:fld>
            <a:endParaRPr lang="en-US"/>
          </a:p>
        </p:txBody>
      </p:sp>
      <p:sp>
        <p:nvSpPr>
          <p:cNvPr id="6" name="Text Placeholder 14"/>
          <p:cNvSpPr>
            <a:spLocks noGrp="1"/>
          </p:cNvSpPr>
          <p:nvPr>
            <p:ph type="body" sz="quarter" idx="13" hasCustomPrompt="1"/>
          </p:nvPr>
        </p:nvSpPr>
        <p:spPr>
          <a:xfrm>
            <a:off x="1646107" y="1828800"/>
            <a:ext cx="4169664" cy="2212848"/>
          </a:xfrm>
        </p:spPr>
        <p:txBody>
          <a:bodyPr anchor="ctr">
            <a:normAutofit/>
          </a:bodyPr>
          <a:lstStyle>
            <a:lvl1pPr marL="0" indent="0">
              <a:buNone/>
              <a:defRPr sz="1200" baseline="0">
                <a:latin typeface="Batang" pitchFamily="18" charset="-127"/>
                <a:ea typeface="Batang" pitchFamily="18" charset="-127"/>
              </a:defRPr>
            </a:lvl1pPr>
          </a:lstStyle>
          <a:p>
            <a:pPr lvl="0"/>
            <a:r>
              <a:rPr lang="en-US" sz="1200" dirty="0">
                <a:latin typeface="Batang" pitchFamily="18" charset="-127"/>
                <a:ea typeface="Batang" pitchFamily="18" charset="-127"/>
              </a:rPr>
              <a:t>Text style</a:t>
            </a:r>
            <a:endParaRPr lang="en-US" dirty="0"/>
          </a:p>
        </p:txBody>
      </p:sp>
      <p:sp>
        <p:nvSpPr>
          <p:cNvPr id="11" name="Text Placeholder 14"/>
          <p:cNvSpPr>
            <a:spLocks noGrp="1"/>
          </p:cNvSpPr>
          <p:nvPr>
            <p:ph type="body" sz="quarter" idx="14" hasCustomPrompt="1"/>
          </p:nvPr>
        </p:nvSpPr>
        <p:spPr>
          <a:xfrm>
            <a:off x="1646107" y="4191000"/>
            <a:ext cx="4169664" cy="2212848"/>
          </a:xfrm>
        </p:spPr>
        <p:txBody>
          <a:bodyPr anchor="ctr">
            <a:normAutofit/>
          </a:bodyPr>
          <a:lstStyle>
            <a:lvl1pPr marL="0" indent="0">
              <a:buNone/>
              <a:defRPr sz="1200" baseline="0">
                <a:latin typeface="Batang" pitchFamily="18" charset="-127"/>
                <a:ea typeface="Batang" pitchFamily="18" charset="-127"/>
              </a:defRPr>
            </a:lvl1pPr>
          </a:lstStyle>
          <a:p>
            <a:pPr lvl="0"/>
            <a:r>
              <a:rPr lang="en-US" sz="1200" dirty="0">
                <a:latin typeface="Batang" pitchFamily="18" charset="-127"/>
                <a:ea typeface="Batang" pitchFamily="18" charset="-127"/>
              </a:rPr>
              <a:t>Text style</a:t>
            </a:r>
            <a:endParaRPr lang="en-US" dirty="0"/>
          </a:p>
        </p:txBody>
      </p:sp>
      <p:sp>
        <p:nvSpPr>
          <p:cNvPr id="12" name="Text Placeholder 14"/>
          <p:cNvSpPr>
            <a:spLocks noGrp="1"/>
          </p:cNvSpPr>
          <p:nvPr>
            <p:ph type="body" sz="quarter" idx="15" hasCustomPrompt="1"/>
          </p:nvPr>
        </p:nvSpPr>
        <p:spPr>
          <a:xfrm>
            <a:off x="6010843" y="4191000"/>
            <a:ext cx="4169664" cy="2212848"/>
          </a:xfrm>
        </p:spPr>
        <p:txBody>
          <a:bodyPr anchor="ctr">
            <a:normAutofit/>
          </a:bodyPr>
          <a:lstStyle>
            <a:lvl1pPr marL="0" indent="0">
              <a:buNone/>
              <a:defRPr sz="1200" baseline="0">
                <a:latin typeface="Batang" pitchFamily="18" charset="-127"/>
                <a:ea typeface="Batang" pitchFamily="18" charset="-127"/>
              </a:defRPr>
            </a:lvl1pPr>
          </a:lstStyle>
          <a:p>
            <a:pPr lvl="0"/>
            <a:r>
              <a:rPr lang="en-US" sz="1200" dirty="0">
                <a:latin typeface="Batang" pitchFamily="18" charset="-127"/>
                <a:ea typeface="Batang" pitchFamily="18" charset="-127"/>
              </a:rPr>
              <a:t>Text style</a:t>
            </a:r>
            <a:endParaRPr lang="en-US" dirty="0"/>
          </a:p>
        </p:txBody>
      </p:sp>
      <p:sp>
        <p:nvSpPr>
          <p:cNvPr id="13" name="Text Placeholder 14"/>
          <p:cNvSpPr>
            <a:spLocks noGrp="1"/>
          </p:cNvSpPr>
          <p:nvPr>
            <p:ph type="body" sz="quarter" idx="16" hasCustomPrompt="1"/>
          </p:nvPr>
        </p:nvSpPr>
        <p:spPr>
          <a:xfrm>
            <a:off x="6014907" y="1828800"/>
            <a:ext cx="4169664" cy="2212848"/>
          </a:xfrm>
        </p:spPr>
        <p:txBody>
          <a:bodyPr anchor="ctr">
            <a:normAutofit/>
          </a:bodyPr>
          <a:lstStyle>
            <a:lvl1pPr marL="0" indent="0">
              <a:buNone/>
              <a:defRPr sz="1200" baseline="0">
                <a:latin typeface="Batang" pitchFamily="18" charset="-127"/>
                <a:ea typeface="Batang" pitchFamily="18" charset="-127"/>
              </a:defRPr>
            </a:lvl1pPr>
          </a:lstStyle>
          <a:p>
            <a:pPr lvl="0"/>
            <a:r>
              <a:rPr lang="en-US" sz="1200" dirty="0">
                <a:latin typeface="Batang" pitchFamily="18" charset="-127"/>
                <a:ea typeface="Batang" pitchFamily="18" charset="-127"/>
              </a:rPr>
              <a:t>Text style</a:t>
            </a:r>
            <a:endParaRPr lang="en-US" dirty="0"/>
          </a:p>
        </p:txBody>
      </p:sp>
      <p:sp>
        <p:nvSpPr>
          <p:cNvPr id="18" name="Text Placeholder 17"/>
          <p:cNvSpPr>
            <a:spLocks noGrp="1"/>
          </p:cNvSpPr>
          <p:nvPr>
            <p:ph type="body" sz="quarter" idx="17"/>
          </p:nvPr>
        </p:nvSpPr>
        <p:spPr>
          <a:xfrm>
            <a:off x="1422400" y="533400"/>
            <a:ext cx="8331200" cy="990600"/>
          </a:xfrm>
        </p:spPr>
        <p:txBody>
          <a:bodyPr anchor="b">
            <a:normAutofit/>
          </a:bodyPr>
          <a:lstStyle>
            <a:lvl1pPr marL="0" indent="0">
              <a:buNone/>
              <a:defRPr sz="3200" b="1">
                <a:latin typeface="Times New Roman" panose="02020603050405020304" pitchFamily="18" charset="0"/>
                <a:ea typeface="Segoe UI Symbol" pitchFamily="34"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25615238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1400">
                <a:latin typeface="Segoe UI Symbol" pitchFamily="34" charset="0"/>
                <a:ea typeface="Segoe UI Symbol" pitchFamily="34" charset="0"/>
              </a:defRPr>
            </a:lvl1pPr>
          </a:lstStyle>
          <a:p>
            <a:r>
              <a:rPr lang="en-US" dirty="0"/>
              <a:t>Click to edit Master title style</a:t>
            </a:r>
          </a:p>
        </p:txBody>
      </p:sp>
      <p:sp>
        <p:nvSpPr>
          <p:cNvPr id="3" name="Date Placeholder 2"/>
          <p:cNvSpPr>
            <a:spLocks noGrp="1"/>
          </p:cNvSpPr>
          <p:nvPr>
            <p:ph type="dt" sz="half" idx="10"/>
          </p:nvPr>
        </p:nvSpPr>
        <p:spPr/>
        <p:txBody>
          <a:bodyPr/>
          <a:lstStyle/>
          <a:p>
            <a:fld id="{EE38F263-8F67-4EB6-A377-0FB965046360}" type="datetime1">
              <a:rPr lang="en-US" smtClean="0"/>
              <a:pPr/>
              <a:t>4/15/2020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337884104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25468474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59461F-53CE-4F0D-8C52-0E69A5D463FE}" type="datetime1">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22605549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95868E-B978-4568-9431-F5759F396BAA}" type="datetime1">
              <a:rPr lang="en-US" smtClean="0"/>
              <a:pPr/>
              <a:t>4/15/2020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22697714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E74B5A-09BF-4687-B57D-3DB82197D943}" type="datetime1">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534552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A3F927-E985-4A56-9013-78D3FFC3EF4C}" type="datetime1">
              <a:rPr lang="en-US" smtClean="0"/>
              <a:pPr/>
              <a:t>4/15/2020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163639052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E38F263-8F67-4EB6-A377-0FB965046360}" type="datetime1">
              <a:rPr lang="en-US" smtClean="0"/>
              <a:pPr/>
              <a:t>4/15/2020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53BAF0-9579-42B3-B979-30EFD986705E}" type="slidenum">
              <a:rPr lang="en-US" smtClean="0"/>
              <a:pPr/>
              <a:t>‹#›</a:t>
            </a:fld>
            <a:endParaRPr lang="en-US"/>
          </a:p>
        </p:txBody>
      </p:sp>
    </p:spTree>
    <p:extLst>
      <p:ext uri="{BB962C8B-B14F-4D97-AF65-F5344CB8AC3E}">
        <p14:creationId xmlns:p14="http://schemas.microsoft.com/office/powerpoint/2010/main" val="22970205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F8CB659-BAAB-4DA9-8080-ED588401F2FB}" type="datetimeFigureOut">
              <a:rPr lang="en-US" smtClean="0"/>
              <a:t>4/15/2020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36893B-9070-4648-9A95-A4B056A20E1C}" type="slidenum">
              <a:rPr lang="en-US" smtClean="0"/>
              <a:t>‹#›</a:t>
            </a:fld>
            <a:endParaRPr lang="en-US"/>
          </a:p>
        </p:txBody>
      </p:sp>
    </p:spTree>
    <p:extLst>
      <p:ext uri="{BB962C8B-B14F-4D97-AF65-F5344CB8AC3E}">
        <p14:creationId xmlns:p14="http://schemas.microsoft.com/office/powerpoint/2010/main" val="2972217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theme" Target="../theme/theme4.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1755BC-011F-41D1-9900-F1EC1283B3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E496BF-990B-4C6E-BB4A-4AF804CF7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67D9D1-9466-4C5C-A2DA-31F6FD3635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54302-DFCC-4F1A-B412-F8FE6EAE657E}" type="datetimeFigureOut">
              <a:rPr lang="en-US" smtClean="0"/>
              <a:t>4/15/2020</a:t>
            </a:fld>
            <a:endParaRPr lang="en-US"/>
          </a:p>
        </p:txBody>
      </p:sp>
      <p:sp>
        <p:nvSpPr>
          <p:cNvPr id="5" name="Footer Placeholder 4">
            <a:extLst>
              <a:ext uri="{FF2B5EF4-FFF2-40B4-BE49-F238E27FC236}">
                <a16:creationId xmlns:a16="http://schemas.microsoft.com/office/drawing/2014/main" id="{BB3C97D1-68BA-4071-B1F7-43591AD4EC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9D3A714-ACD9-4E07-96AC-A02F23DB3A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47D052-D9A3-4A55-8B52-16B518057B79}" type="slidenum">
              <a:rPr lang="en-US" smtClean="0"/>
              <a:t>‹#›</a:t>
            </a:fld>
            <a:endParaRPr lang="en-US"/>
          </a:p>
        </p:txBody>
      </p:sp>
    </p:spTree>
    <p:extLst>
      <p:ext uri="{BB962C8B-B14F-4D97-AF65-F5344CB8AC3E}">
        <p14:creationId xmlns:p14="http://schemas.microsoft.com/office/powerpoint/2010/main" val="2355614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38F263-8F67-4EB6-A377-0FB965046360}" type="datetime1">
              <a:rPr lang="en-US" smtClean="0"/>
              <a:pPr/>
              <a:t>4/15/2020</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53BAF0-9579-42B3-B979-30EFD986705E}" type="slidenum">
              <a:rPr lang="en-US" smtClean="0"/>
              <a:pPr/>
              <a:t>‹#›</a:t>
            </a:fld>
            <a:endParaRPr lang="en-US"/>
          </a:p>
        </p:txBody>
      </p:sp>
    </p:spTree>
    <p:extLst>
      <p:ext uri="{BB962C8B-B14F-4D97-AF65-F5344CB8AC3E}">
        <p14:creationId xmlns:p14="http://schemas.microsoft.com/office/powerpoint/2010/main" val="17723074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ctr" defTabSz="914400" rtl="0" eaLnBrk="1" latinLnBrk="0" hangingPunct="1">
        <a:spcBef>
          <a:spcPct val="0"/>
        </a:spcBef>
        <a:buNone/>
        <a:defRPr sz="4400" kern="1200" cap="all" baseline="0">
          <a:solidFill>
            <a:schemeClr val="accent1">
              <a:lumMod val="50000"/>
            </a:schemeClr>
          </a:solidFill>
          <a:latin typeface="Euphemia"/>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A12170-606B-4B55-B3CF-FA08CB79B490}" type="datetimeFigureOut">
              <a:rPr lang="en-US" smtClean="0"/>
              <a:pPr/>
              <a:t>4/15/2020</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F30BEC-4FA8-434D-9C46-FFE6BD2E7044}" type="slidenum">
              <a:rPr lang="en-US" smtClean="0"/>
              <a:pPr/>
              <a:t>‹#›</a:t>
            </a:fld>
            <a:endParaRPr lang="en-US"/>
          </a:p>
        </p:txBody>
      </p:sp>
    </p:spTree>
    <p:extLst>
      <p:ext uri="{BB962C8B-B14F-4D97-AF65-F5344CB8AC3E}">
        <p14:creationId xmlns:p14="http://schemas.microsoft.com/office/powerpoint/2010/main" val="392888225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38F263-8F67-4EB6-A377-0FB965046360}" type="datetime1">
              <a:rPr lang="en-US" smtClean="0"/>
              <a:pPr/>
              <a:t>4/15/2020</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53BAF0-9579-42B3-B979-30EFD986705E}" type="slidenum">
              <a:rPr lang="en-US" smtClean="0"/>
              <a:pPr/>
              <a:t>‹#›</a:t>
            </a:fld>
            <a:endParaRPr lang="en-US"/>
          </a:p>
        </p:txBody>
      </p:sp>
    </p:spTree>
    <p:extLst>
      <p:ext uri="{BB962C8B-B14F-4D97-AF65-F5344CB8AC3E}">
        <p14:creationId xmlns:p14="http://schemas.microsoft.com/office/powerpoint/2010/main" val="281181510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3.xml"/><Relationship Id="rId1" Type="http://schemas.openxmlformats.org/officeDocument/2006/relationships/vmlDrawing" Target="../drawings/vmlDrawing1.vml"/><Relationship Id="rId4" Type="http://schemas.openxmlformats.org/officeDocument/2006/relationships/image" Target="../media/image14.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3.xml"/><Relationship Id="rId1" Type="http://schemas.openxmlformats.org/officeDocument/2006/relationships/vmlDrawing" Target="../drawings/vmlDrawing2.vml"/><Relationship Id="rId5" Type="http://schemas.openxmlformats.org/officeDocument/2006/relationships/image" Target="../media/image15.png"/><Relationship Id="rId4" Type="http://schemas.openxmlformats.org/officeDocument/2006/relationships/image" Target="../media/image14.wmf"/></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3.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A3A39-F2B6-4AED-A0BD-C36910F49912}"/>
              </a:ext>
            </a:extLst>
          </p:cNvPr>
          <p:cNvSpPr>
            <a:spLocks noGrp="1"/>
          </p:cNvSpPr>
          <p:nvPr>
            <p:ph type="title"/>
          </p:nvPr>
        </p:nvSpPr>
        <p:spPr/>
        <p:txBody>
          <a:bodyPr/>
          <a:lstStyle/>
          <a:p>
            <a:r>
              <a:rPr lang="en-US" dirty="0">
                <a:solidFill>
                  <a:schemeClr val="bg1"/>
                </a:solidFill>
              </a:rPr>
              <a:t>REGRESSION DISCONTINUITY DESIGN</a:t>
            </a:r>
          </a:p>
        </p:txBody>
      </p:sp>
      <p:sp>
        <p:nvSpPr>
          <p:cNvPr id="3" name="Text Placeholder 2">
            <a:extLst>
              <a:ext uri="{FF2B5EF4-FFF2-40B4-BE49-F238E27FC236}">
                <a16:creationId xmlns:a16="http://schemas.microsoft.com/office/drawing/2014/main" id="{3E64E064-999A-4072-9BD5-3132D5B67E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A43F84-7849-47EE-A6F4-C6603DAD41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53BAF0-9579-42B3-B979-30EFD986705E}"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12639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9B79234-C588-4162-81C8-D84B3C5DE574}"/>
              </a:ext>
            </a:extLst>
          </p:cNvPr>
          <p:cNvSpPr/>
          <p:nvPr/>
        </p:nvSpPr>
        <p:spPr>
          <a:xfrm>
            <a:off x="0" y="-180"/>
            <a:ext cx="12191998" cy="1287573"/>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7" name="Rectangle 76">
            <a:extLst>
              <a:ext uri="{FF2B5EF4-FFF2-40B4-BE49-F238E27FC236}">
                <a16:creationId xmlns:a16="http://schemas.microsoft.com/office/drawing/2014/main" id="{D684360B-43F5-4D08-A696-BBD98F533D06}"/>
              </a:ext>
            </a:extLst>
          </p:cNvPr>
          <p:cNvSpPr/>
          <p:nvPr/>
        </p:nvSpPr>
        <p:spPr>
          <a:xfrm>
            <a:off x="7338" y="5873530"/>
            <a:ext cx="12191998" cy="996801"/>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p:cNvSpPr>
            <a:spLocks noGrp="1"/>
          </p:cNvSpPr>
          <p:nvPr>
            <p:ph type="title"/>
          </p:nvPr>
        </p:nvSpPr>
        <p:spPr>
          <a:xfrm>
            <a:off x="316156" y="-121481"/>
            <a:ext cx="11479876" cy="1143000"/>
          </a:xfrm>
        </p:spPr>
        <p:txBody>
          <a:bodyPr>
            <a:normAutofit/>
          </a:bodyPr>
          <a:lstStyle/>
          <a:p>
            <a:r>
              <a:rPr lang="en-US" sz="3600" dirty="0"/>
              <a:t>3 valid counterfactuals:</a:t>
            </a:r>
          </a:p>
        </p:txBody>
      </p:sp>
      <p:cxnSp>
        <p:nvCxnSpPr>
          <p:cNvPr id="4" name="Straight Connector 3"/>
          <p:cNvCxnSpPr/>
          <p:nvPr/>
        </p:nvCxnSpPr>
        <p:spPr>
          <a:xfrm>
            <a:off x="940840" y="3189955"/>
            <a:ext cx="0" cy="1752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788440" y="4790155"/>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1474240" y="4256755"/>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Oval 7"/>
          <p:cNvSpPr/>
          <p:nvPr/>
        </p:nvSpPr>
        <p:spPr>
          <a:xfrm>
            <a:off x="2541040" y="4034445"/>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Oval 8"/>
          <p:cNvSpPr/>
          <p:nvPr/>
        </p:nvSpPr>
        <p:spPr>
          <a:xfrm>
            <a:off x="1474240" y="38376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p:cNvSpPr/>
          <p:nvPr/>
        </p:nvSpPr>
        <p:spPr>
          <a:xfrm>
            <a:off x="2541040" y="32661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 name="Straight Connector 11"/>
          <p:cNvCxnSpPr/>
          <p:nvPr/>
        </p:nvCxnSpPr>
        <p:spPr>
          <a:xfrm>
            <a:off x="1550440"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332192"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t=1</a:t>
            </a:r>
          </a:p>
        </p:txBody>
      </p:sp>
      <p:cxnSp>
        <p:nvCxnSpPr>
          <p:cNvPr id="14" name="Straight Connector 13"/>
          <p:cNvCxnSpPr/>
          <p:nvPr/>
        </p:nvCxnSpPr>
        <p:spPr>
          <a:xfrm>
            <a:off x="2642400"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424152"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t=2</a:t>
            </a:r>
          </a:p>
        </p:txBody>
      </p:sp>
      <p:cxnSp>
        <p:nvCxnSpPr>
          <p:cNvPr id="17" name="Straight Arrow Connector 16"/>
          <p:cNvCxnSpPr/>
          <p:nvPr/>
        </p:nvCxnSpPr>
        <p:spPr>
          <a:xfrm flipV="1">
            <a:off x="2083840" y="4806859"/>
            <a:ext cx="0" cy="457200"/>
          </a:xfrm>
          <a:prstGeom prst="straightConnector1">
            <a:avLst/>
          </a:prstGeom>
          <a:ln w="38100">
            <a:solidFill>
              <a:schemeClr val="bg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720023" y="5287305"/>
            <a:ext cx="7276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lumMod val="50000"/>
                  </a:prstClr>
                </a:solidFill>
                <a:effectLst/>
                <a:uLnTx/>
                <a:uFillTx/>
                <a:latin typeface="Calibri"/>
                <a:ea typeface="+mn-ea"/>
                <a:cs typeface="+mn-cs"/>
              </a:rPr>
              <a:t>Program</a:t>
            </a:r>
          </a:p>
        </p:txBody>
      </p:sp>
      <p:cxnSp>
        <p:nvCxnSpPr>
          <p:cNvPr id="19" name="Straight Connector 18"/>
          <p:cNvCxnSpPr/>
          <p:nvPr/>
        </p:nvCxnSpPr>
        <p:spPr>
          <a:xfrm>
            <a:off x="4853475" y="3189955"/>
            <a:ext cx="0" cy="1752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701075" y="4790155"/>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5386875" y="4256755"/>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Oval 21"/>
          <p:cNvSpPr/>
          <p:nvPr/>
        </p:nvSpPr>
        <p:spPr>
          <a:xfrm>
            <a:off x="6453675" y="3990055"/>
            <a:ext cx="152400" cy="152400"/>
          </a:xfrm>
          <a:prstGeom prst="ellipse">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Oval 22"/>
          <p:cNvSpPr/>
          <p:nvPr/>
        </p:nvSpPr>
        <p:spPr>
          <a:xfrm>
            <a:off x="5386875" y="38376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Oval 23"/>
          <p:cNvSpPr/>
          <p:nvPr/>
        </p:nvSpPr>
        <p:spPr>
          <a:xfrm>
            <a:off x="6453675" y="32661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5" name="Straight Connector 24"/>
          <p:cNvCxnSpPr/>
          <p:nvPr/>
        </p:nvCxnSpPr>
        <p:spPr>
          <a:xfrm>
            <a:off x="5463075"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244827"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t=1</a:t>
            </a:r>
          </a:p>
        </p:txBody>
      </p:sp>
      <p:cxnSp>
        <p:nvCxnSpPr>
          <p:cNvPr id="27" name="Straight Connector 26"/>
          <p:cNvCxnSpPr/>
          <p:nvPr/>
        </p:nvCxnSpPr>
        <p:spPr>
          <a:xfrm>
            <a:off x="6555035"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336787"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t=2</a:t>
            </a:r>
          </a:p>
        </p:txBody>
      </p:sp>
      <p:cxnSp>
        <p:nvCxnSpPr>
          <p:cNvPr id="29" name="Straight Arrow Connector 28"/>
          <p:cNvCxnSpPr/>
          <p:nvPr/>
        </p:nvCxnSpPr>
        <p:spPr>
          <a:xfrm flipV="1">
            <a:off x="5996475" y="4806859"/>
            <a:ext cx="0" cy="457200"/>
          </a:xfrm>
          <a:prstGeom prst="straightConnector1">
            <a:avLst/>
          </a:prstGeom>
          <a:ln w="38100">
            <a:solidFill>
              <a:schemeClr val="bg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632658" y="5287305"/>
            <a:ext cx="7276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lumMod val="50000"/>
                  </a:prstClr>
                </a:solidFill>
                <a:effectLst/>
                <a:uLnTx/>
                <a:uFillTx/>
                <a:latin typeface="Calibri"/>
                <a:ea typeface="+mn-ea"/>
                <a:cs typeface="+mn-cs"/>
              </a:rPr>
              <a:t>Program</a:t>
            </a:r>
          </a:p>
        </p:txBody>
      </p:sp>
      <p:sp>
        <p:nvSpPr>
          <p:cNvPr id="43" name="TextBox 42"/>
          <p:cNvSpPr txBox="1"/>
          <p:nvPr/>
        </p:nvSpPr>
        <p:spPr>
          <a:xfrm>
            <a:off x="1168073" y="1865120"/>
            <a:ext cx="1904304" cy="95410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small" spc="0" normalizeH="0" baseline="0" noProof="0" dirty="0">
                <a:ln>
                  <a:noFill/>
                </a:ln>
                <a:solidFill>
                  <a:srgbClr val="4F81BD">
                    <a:lumMod val="50000"/>
                  </a:srgbClr>
                </a:solidFill>
                <a:effectLst/>
                <a:uLnTx/>
                <a:uFillTx/>
                <a:latin typeface="Calibri"/>
                <a:ea typeface="+mn-ea"/>
                <a:cs typeface="+mn-cs"/>
              </a:rPr>
              <a:t>Pre-Post Reflexive</a:t>
            </a:r>
            <a:b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br>
            <a: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t>Estimator </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20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Arial" panose="020B0604020202020204" pitchFamily="34" charset="0"/>
              </a:rPr>
              <a:t>effect</a:t>
            </a:r>
            <a:r>
              <a:rPr kumimoji="0" lang="en-US" sz="2000" b="0" i="0" u="none" strike="noStrike" kern="1200" cap="none" spc="0" normalizeH="0" baseline="0" noProof="0" dirty="0">
                <a:ln>
                  <a:noFill/>
                </a:ln>
                <a:solidFill>
                  <a:srgbClr val="C00000"/>
                </a:solidFill>
                <a:effectLst/>
                <a:uLnTx/>
                <a:uFillTx/>
                <a:latin typeface="Candara" panose="020E0502030303020204" pitchFamily="34" charset="0"/>
                <a:ea typeface="+mn-ea"/>
                <a:cs typeface="Arial" panose="020B0604020202020204" pitchFamily="34" charset="0"/>
              </a:rPr>
              <a:t> </a:t>
            </a:r>
            <a:r>
              <a:rPr kumimoji="0" lang="en-US" sz="2000" b="1" i="0" u="none" strike="noStrike" kern="1200" cap="none" spc="0" normalizeH="0" baseline="0" noProof="0" dirty="0">
                <a:ln>
                  <a:noFill/>
                </a:ln>
                <a:solidFill>
                  <a:srgbClr val="EEECE1">
                    <a:lumMod val="25000"/>
                  </a:srgbClr>
                </a:solidFill>
                <a:effectLst/>
                <a:uLnTx/>
                <a:uFillTx/>
                <a:latin typeface="Candara" panose="020E0502030303020204" pitchFamily="34" charset="0"/>
                <a:ea typeface="+mn-ea"/>
                <a:cs typeface="Arial" panose="020B0604020202020204" pitchFamily="34" charset="0"/>
              </a:rPr>
              <a:t>= </a:t>
            </a:r>
            <a:r>
              <a:rPr kumimoji="0" lang="en-US" sz="20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Arial" panose="020B0604020202020204" pitchFamily="34" charset="0"/>
              </a:rPr>
              <a:t>T2-T1</a:t>
            </a:r>
            <a:endParaRPr kumimoji="0" lang="en-US" sz="18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Arial" panose="020B0604020202020204" pitchFamily="34" charset="0"/>
            </a:endParaRPr>
          </a:p>
        </p:txBody>
      </p:sp>
      <p:cxnSp>
        <p:nvCxnSpPr>
          <p:cNvPr id="45" name="Straight Connector 44"/>
          <p:cNvCxnSpPr/>
          <p:nvPr/>
        </p:nvCxnSpPr>
        <p:spPr>
          <a:xfrm>
            <a:off x="1666754" y="3913855"/>
            <a:ext cx="1049618"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6" name="Right Brace 45"/>
          <p:cNvSpPr/>
          <p:nvPr/>
        </p:nvSpPr>
        <p:spPr>
          <a:xfrm>
            <a:off x="2769640" y="3329775"/>
            <a:ext cx="228600" cy="571500"/>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6"/>
          <p:cNvSpPr txBox="1"/>
          <p:nvPr/>
        </p:nvSpPr>
        <p:spPr>
          <a:xfrm>
            <a:off x="3028867" y="3415004"/>
            <a:ext cx="7665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p>
        </p:txBody>
      </p:sp>
      <p:sp>
        <p:nvSpPr>
          <p:cNvPr id="48" name="TextBox 47"/>
          <p:cNvSpPr txBox="1"/>
          <p:nvPr/>
        </p:nvSpPr>
        <p:spPr>
          <a:xfrm>
            <a:off x="5117869" y="1865120"/>
            <a:ext cx="1757211" cy="95410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small" spc="0" normalizeH="0" baseline="0" noProof="0" dirty="0">
                <a:ln>
                  <a:noFill/>
                </a:ln>
                <a:solidFill>
                  <a:srgbClr val="4F81BD">
                    <a:lumMod val="50000"/>
                  </a:srgbClr>
                </a:solidFill>
                <a:effectLst/>
                <a:uLnTx/>
                <a:uFillTx/>
                <a:latin typeface="Calibri"/>
                <a:ea typeface="+mn-ea"/>
                <a:cs typeface="+mn-cs"/>
              </a:rPr>
              <a:t>Post-Only</a:t>
            </a:r>
            <a:b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br>
            <a: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t>Estimator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Arial" panose="020B0604020202020204" pitchFamily="34" charset="0"/>
              </a:rPr>
              <a:t>effect</a:t>
            </a:r>
            <a:r>
              <a:rPr kumimoji="0" lang="en-US" sz="2000" b="1" i="0" u="none" strike="noStrike" kern="1200" cap="none" spc="0" normalizeH="0" baseline="0" noProof="0" dirty="0">
                <a:ln>
                  <a:noFill/>
                </a:ln>
                <a:solidFill>
                  <a:srgbClr val="4F81BD">
                    <a:lumMod val="75000"/>
                  </a:srgbClr>
                </a:solidFill>
                <a:effectLst/>
                <a:uLnTx/>
                <a:uFillTx/>
                <a:latin typeface="Candara" panose="020E0502030303020204" pitchFamily="34" charset="0"/>
                <a:ea typeface="+mn-ea"/>
                <a:cs typeface="Arial" panose="020B0604020202020204" pitchFamily="34" charset="0"/>
              </a:rPr>
              <a:t> </a:t>
            </a:r>
            <a:r>
              <a:rPr kumimoji="0" lang="en-US" sz="2000" b="1" i="0" u="none" strike="noStrike" kern="1200" cap="none" spc="0" normalizeH="0" baseline="0" noProof="0" dirty="0">
                <a:ln>
                  <a:noFill/>
                </a:ln>
                <a:solidFill>
                  <a:srgbClr val="EEECE1">
                    <a:lumMod val="25000"/>
                  </a:srgbClr>
                </a:solidFill>
                <a:effectLst/>
                <a:uLnTx/>
                <a:uFillTx/>
                <a:latin typeface="Candara" panose="020E0502030303020204" pitchFamily="34" charset="0"/>
                <a:ea typeface="+mn-ea"/>
                <a:cs typeface="Arial" panose="020B0604020202020204" pitchFamily="34" charset="0"/>
              </a:rPr>
              <a:t>= </a:t>
            </a:r>
            <a:r>
              <a:rPr kumimoji="0" lang="en-US" sz="20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mn-cs"/>
              </a:rPr>
              <a:t>T2-C2</a:t>
            </a:r>
          </a:p>
        </p:txBody>
      </p:sp>
      <p:sp>
        <p:nvSpPr>
          <p:cNvPr id="49" name="TextBox 48"/>
          <p:cNvSpPr txBox="1"/>
          <p:nvPr/>
        </p:nvSpPr>
        <p:spPr>
          <a:xfrm>
            <a:off x="8508266" y="1895897"/>
            <a:ext cx="2864887" cy="95410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small" spc="0" normalizeH="0" baseline="0" noProof="0" dirty="0">
                <a:ln>
                  <a:noFill/>
                </a:ln>
                <a:solidFill>
                  <a:srgbClr val="4F81BD">
                    <a:lumMod val="50000"/>
                  </a:srgbClr>
                </a:solidFill>
                <a:effectLst/>
                <a:uLnTx/>
                <a:uFillTx/>
                <a:latin typeface="Calibri"/>
                <a:ea typeface="+mn-ea"/>
                <a:cs typeface="+mn-cs"/>
              </a:rPr>
              <a:t>Pre-Post w Comparison </a:t>
            </a:r>
            <a:b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br>
            <a: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t>Estimator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r>
              <a:rPr kumimoji="0" lang="en-US" sz="1800" b="1" i="0" u="none" strike="noStrike" kern="1200" cap="none" spc="0" normalizeH="0" baseline="0" noProof="0" dirty="0">
                <a:ln>
                  <a:noFill/>
                </a:ln>
                <a:solidFill>
                  <a:srgbClr val="4F81BD">
                    <a:lumMod val="75000"/>
                  </a:srgbClr>
                </a:solidFill>
                <a:effectLst/>
                <a:uLnTx/>
                <a:uFillTx/>
                <a:latin typeface="Candara" panose="020E0502030303020204" pitchFamily="34" charset="0"/>
                <a:ea typeface="+mn-ea"/>
                <a:cs typeface="+mn-cs"/>
              </a:rPr>
              <a:t> </a:t>
            </a:r>
            <a:r>
              <a:rPr kumimoji="0" lang="en-US" sz="1800" b="1" i="0" u="none" strike="noStrike" kern="1200" cap="none" spc="0" normalizeH="0" baseline="0" noProof="0" dirty="0">
                <a:ln>
                  <a:noFill/>
                </a:ln>
                <a:solidFill>
                  <a:srgbClr val="EEECE1">
                    <a:lumMod val="25000"/>
                  </a:srgbClr>
                </a:solidFill>
                <a:effectLst/>
                <a:uLnTx/>
                <a:uFillTx/>
                <a:latin typeface="Candara" panose="020E0502030303020204" pitchFamily="34" charset="0"/>
                <a:ea typeface="+mn-ea"/>
                <a:cs typeface="+mn-cs"/>
              </a:rPr>
              <a:t>= </a:t>
            </a:r>
            <a:r>
              <a:rPr kumimoji="0" lang="en-US" sz="18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mn-cs"/>
              </a:rPr>
              <a:t>(T2-T1) – (C2-C1)</a:t>
            </a:r>
          </a:p>
        </p:txBody>
      </p:sp>
      <p:sp>
        <p:nvSpPr>
          <p:cNvPr id="50" name="Right Brace 49"/>
          <p:cNvSpPr/>
          <p:nvPr/>
        </p:nvSpPr>
        <p:spPr>
          <a:xfrm>
            <a:off x="6755246" y="3320897"/>
            <a:ext cx="228600" cy="745358"/>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0000"/>
              </a:solidFill>
              <a:effectLst/>
              <a:uLnTx/>
              <a:uFillTx/>
              <a:latin typeface="Calibri"/>
              <a:ea typeface="+mn-ea"/>
              <a:cs typeface="+mn-cs"/>
            </a:endParaRPr>
          </a:p>
        </p:txBody>
      </p:sp>
      <p:sp>
        <p:nvSpPr>
          <p:cNvPr id="3" name="Rectangle 2"/>
          <p:cNvSpPr/>
          <p:nvPr/>
        </p:nvSpPr>
        <p:spPr>
          <a:xfrm>
            <a:off x="1332193" y="4016689"/>
            <a:ext cx="1717367" cy="6096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5" name="Group 4">
            <a:extLst>
              <a:ext uri="{FF2B5EF4-FFF2-40B4-BE49-F238E27FC236}">
                <a16:creationId xmlns:a16="http://schemas.microsoft.com/office/drawing/2014/main" id="{85DFE1B0-A455-4F1B-B9E7-1E2947228EAB}"/>
              </a:ext>
            </a:extLst>
          </p:cNvPr>
          <p:cNvGrpSpPr/>
          <p:nvPr/>
        </p:nvGrpSpPr>
        <p:grpSpPr>
          <a:xfrm>
            <a:off x="2998240" y="6018521"/>
            <a:ext cx="6284237" cy="691899"/>
            <a:chOff x="1181044" y="1171583"/>
            <a:chExt cx="6284237" cy="691899"/>
          </a:xfrm>
        </p:grpSpPr>
        <p:sp>
          <p:nvSpPr>
            <p:cNvPr id="99" name="Oval 98"/>
            <p:cNvSpPr/>
            <p:nvPr/>
          </p:nvSpPr>
          <p:spPr>
            <a:xfrm>
              <a:off x="1181044" y="1268303"/>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entury Gothic" panose="020B0502020202020204" pitchFamily="34" charset="0"/>
                <a:ea typeface="+mn-ea"/>
                <a:cs typeface="+mn-cs"/>
              </a:endParaRPr>
            </a:p>
          </p:txBody>
        </p:sp>
        <p:sp>
          <p:nvSpPr>
            <p:cNvPr id="16" name="TextBox 15"/>
            <p:cNvSpPr txBox="1"/>
            <p:nvPr/>
          </p:nvSpPr>
          <p:spPr>
            <a:xfrm>
              <a:off x="1433689" y="1171583"/>
              <a:ext cx="59955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mn-cs"/>
                </a:rPr>
                <a:t>Treatment Groups</a:t>
              </a:r>
              <a:r>
                <a:rPr kumimoji="0" lang="en-US" sz="16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t>
              </a:r>
              <a:r>
                <a:rPr kumimoji="0" lang="en-US" sz="16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t>
              </a:r>
              <a:r>
                <a:rPr kumimoji="0" lang="en-US" sz="1800" b="1" i="0" u="none" strike="noStrike" kern="1200" cap="none" spc="0" normalizeH="0" baseline="0" noProof="0" dirty="0">
                  <a:ln>
                    <a:noFill/>
                  </a:ln>
                  <a:solidFill>
                    <a:srgbClr val="EEECE1">
                      <a:lumMod val="50000"/>
                    </a:srgbClr>
                  </a:solidFill>
                  <a:effectLst/>
                  <a:uLnTx/>
                  <a:uFillTx/>
                  <a:latin typeface="Century Gothic" panose="020B0502020202020204" pitchFamily="34" charset="0"/>
                  <a:ea typeface="+mn-ea"/>
                  <a:cs typeface="+mn-cs"/>
                </a:rPr>
                <a:t>T1</a:t>
              </a:r>
              <a:r>
                <a:rPr kumimoji="0" lang="en-US" sz="16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=before,  </a:t>
              </a:r>
              <a:r>
                <a:rPr kumimoji="0" lang="en-US" sz="1800" b="1" i="0" u="none" strike="noStrike" kern="1200" cap="none" spc="0" normalizeH="0" baseline="0" noProof="0" dirty="0">
                  <a:ln>
                    <a:noFill/>
                  </a:ln>
                  <a:solidFill>
                    <a:srgbClr val="EEECE1">
                      <a:lumMod val="50000"/>
                    </a:srgbClr>
                  </a:solidFill>
                  <a:effectLst/>
                  <a:uLnTx/>
                  <a:uFillTx/>
                  <a:latin typeface="Century Gothic" panose="020B0502020202020204" pitchFamily="34" charset="0"/>
                  <a:ea typeface="+mn-ea"/>
                  <a:cs typeface="+mn-cs"/>
                </a:rPr>
                <a:t>T2</a:t>
              </a:r>
              <a:r>
                <a:rPr kumimoji="0" lang="en-US" sz="16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=post-program measure</a:t>
              </a:r>
            </a:p>
          </p:txBody>
        </p:sp>
        <p:sp>
          <p:nvSpPr>
            <p:cNvPr id="106" name="TextBox 105"/>
            <p:cNvSpPr txBox="1"/>
            <p:nvPr/>
          </p:nvSpPr>
          <p:spPr>
            <a:xfrm>
              <a:off x="1456905" y="1524928"/>
              <a:ext cx="600837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497D"/>
                  </a:solidFill>
                  <a:effectLst/>
                  <a:uLnTx/>
                  <a:uFillTx/>
                  <a:latin typeface="Century Gothic" panose="020B0502020202020204" pitchFamily="34" charset="0"/>
                  <a:ea typeface="+mn-ea"/>
                  <a:cs typeface="+mn-cs"/>
                </a:rPr>
                <a:t>Control Groups</a:t>
              </a:r>
              <a:r>
                <a:rPr kumimoji="0" lang="en-US" sz="16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t>
              </a:r>
              <a:r>
                <a:rPr kumimoji="0" lang="en-US" sz="1600" b="1" i="0" u="none" strike="noStrike" kern="1200" cap="none" spc="0" normalizeH="0" baseline="0" noProof="0" dirty="0">
                  <a:ln>
                    <a:noFill/>
                  </a:ln>
                  <a:solidFill>
                    <a:srgbClr val="4F81BD">
                      <a:lumMod val="75000"/>
                    </a:srgbClr>
                  </a:solidFill>
                  <a:effectLst/>
                  <a:uLnTx/>
                  <a:uFillTx/>
                  <a:latin typeface="Century Gothic" panose="020B0502020202020204" pitchFamily="34" charset="0"/>
                  <a:ea typeface="+mn-ea"/>
                  <a:cs typeface="+mn-cs"/>
                </a:rPr>
                <a:t>C1</a:t>
              </a:r>
              <a:r>
                <a:rPr kumimoji="0" lang="en-US" sz="16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=before, </a:t>
              </a:r>
              <a:r>
                <a:rPr kumimoji="0" lang="en-US" sz="1600" b="1" i="0" u="none" strike="noStrike" kern="1200" cap="none" spc="0" normalizeH="0" baseline="0" noProof="0" dirty="0">
                  <a:ln>
                    <a:noFill/>
                  </a:ln>
                  <a:solidFill>
                    <a:srgbClr val="4F81BD">
                      <a:lumMod val="75000"/>
                    </a:srgbClr>
                  </a:solidFill>
                  <a:effectLst/>
                  <a:uLnTx/>
                  <a:uFillTx/>
                  <a:latin typeface="Century Gothic" panose="020B0502020202020204" pitchFamily="34" charset="0"/>
                  <a:ea typeface="+mn-ea"/>
                  <a:cs typeface="+mn-cs"/>
                </a:rPr>
                <a:t>C2</a:t>
              </a:r>
              <a:r>
                <a:rPr kumimoji="0" lang="en-US" sz="16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=post-program measure</a:t>
              </a:r>
            </a:p>
          </p:txBody>
        </p:sp>
        <p:sp>
          <p:nvSpPr>
            <p:cNvPr id="107" name="Oval 106"/>
            <p:cNvSpPr/>
            <p:nvPr/>
          </p:nvSpPr>
          <p:spPr>
            <a:xfrm>
              <a:off x="1181044" y="1614732"/>
              <a:ext cx="152400" cy="1524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entury Gothic" panose="020B0502020202020204" pitchFamily="34" charset="0"/>
                <a:ea typeface="+mn-ea"/>
                <a:cs typeface="+mn-cs"/>
              </a:endParaRPr>
            </a:p>
          </p:txBody>
        </p:sp>
      </p:grpSp>
      <p:sp>
        <p:nvSpPr>
          <p:cNvPr id="31" name="TextBox 30"/>
          <p:cNvSpPr txBox="1"/>
          <p:nvPr/>
        </p:nvSpPr>
        <p:spPr>
          <a:xfrm>
            <a:off x="788440" y="815602"/>
            <a:ext cx="1062979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F81BD">
                    <a:lumMod val="50000"/>
                  </a:srgbClr>
                </a:solidFill>
                <a:effectLst/>
                <a:uLnTx/>
                <a:uFillTx/>
                <a:latin typeface="Century Gothic" panose="020B0502020202020204" pitchFamily="34" charset="0"/>
                <a:ea typeface="+mn-ea"/>
                <a:cs typeface="+mn-cs"/>
              </a:rPr>
              <a:t>Each variety of counterfactual has a different formula for the </a:t>
            </a:r>
            <a:r>
              <a:rPr kumimoji="0" lang="en-US" sz="1600" b="0" i="0" u="none" strike="noStrike" kern="1200" cap="none" spc="0" normalizeH="0" baseline="0" noProof="0" dirty="0">
                <a:ln>
                  <a:noFill/>
                </a:ln>
                <a:solidFill>
                  <a:srgbClr val="1F497D">
                    <a:lumMod val="75000"/>
                  </a:srgbClr>
                </a:solidFill>
                <a:effectLst/>
                <a:uLnTx/>
                <a:uFillTx/>
                <a:latin typeface="Century Gothic" panose="020B0502020202020204" pitchFamily="34" charset="0"/>
                <a:ea typeface="+mn-ea"/>
                <a:cs typeface="+mn-cs"/>
              </a:rPr>
              <a:t>program effect estimate</a:t>
            </a:r>
            <a:r>
              <a:rPr kumimoji="0" lang="en-US" sz="1600" b="1" i="0" u="none" strike="noStrike" kern="1200" cap="none" spc="0" normalizeH="0" baseline="0" noProof="0" dirty="0">
                <a:ln>
                  <a:noFill/>
                </a:ln>
                <a:solidFill>
                  <a:srgbClr val="1F497D">
                    <a:lumMod val="75000"/>
                  </a:srgbClr>
                </a:solidFill>
                <a:effectLst/>
                <a:uLnTx/>
                <a:uFillTx/>
                <a:latin typeface="Century Gothic" panose="020B0502020202020204" pitchFamily="34" charset="0"/>
                <a:ea typeface="+mn-ea"/>
                <a:cs typeface="+mn-cs"/>
              </a:rPr>
              <a:t>.</a:t>
            </a:r>
          </a:p>
        </p:txBody>
      </p:sp>
      <p:sp>
        <p:nvSpPr>
          <p:cNvPr id="78" name="TextBox 77">
            <a:extLst>
              <a:ext uri="{FF2B5EF4-FFF2-40B4-BE49-F238E27FC236}">
                <a16:creationId xmlns:a16="http://schemas.microsoft.com/office/drawing/2014/main" id="{1C9B8779-A6F7-47A5-9567-7A1A7FAC715A}"/>
              </a:ext>
            </a:extLst>
          </p:cNvPr>
          <p:cNvSpPr txBox="1"/>
          <p:nvPr/>
        </p:nvSpPr>
        <p:spPr>
          <a:xfrm>
            <a:off x="7007006" y="3493521"/>
            <a:ext cx="7665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p>
        </p:txBody>
      </p:sp>
      <p:grpSp>
        <p:nvGrpSpPr>
          <p:cNvPr id="33" name="Group 32">
            <a:extLst>
              <a:ext uri="{FF2B5EF4-FFF2-40B4-BE49-F238E27FC236}">
                <a16:creationId xmlns:a16="http://schemas.microsoft.com/office/drawing/2014/main" id="{C635AAA6-DDBE-48A5-8411-DDE3395FC9ED}"/>
              </a:ext>
            </a:extLst>
          </p:cNvPr>
          <p:cNvGrpSpPr/>
          <p:nvPr/>
        </p:nvGrpSpPr>
        <p:grpSpPr>
          <a:xfrm>
            <a:off x="8545917" y="3189955"/>
            <a:ext cx="3344901" cy="2374349"/>
            <a:chOff x="8545917" y="3189955"/>
            <a:chExt cx="3344901" cy="2374349"/>
          </a:xfrm>
        </p:grpSpPr>
        <p:cxnSp>
          <p:nvCxnSpPr>
            <p:cNvPr id="52" name="Straight Connector 51"/>
            <p:cNvCxnSpPr/>
            <p:nvPr/>
          </p:nvCxnSpPr>
          <p:spPr>
            <a:xfrm>
              <a:off x="8748877" y="3189955"/>
              <a:ext cx="0" cy="1752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8545917" y="4790155"/>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9231717" y="4256755"/>
              <a:ext cx="152400" cy="152400"/>
            </a:xfrm>
            <a:prstGeom prst="ellipse">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Oval 54"/>
            <p:cNvSpPr/>
            <p:nvPr/>
          </p:nvSpPr>
          <p:spPr>
            <a:xfrm>
              <a:off x="10298517" y="3990055"/>
              <a:ext cx="152400" cy="152400"/>
            </a:xfrm>
            <a:prstGeom prst="ellipse">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Oval 55"/>
            <p:cNvSpPr/>
            <p:nvPr/>
          </p:nvSpPr>
          <p:spPr>
            <a:xfrm>
              <a:off x="9231717" y="38376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7" name="Oval 56"/>
            <p:cNvSpPr/>
            <p:nvPr/>
          </p:nvSpPr>
          <p:spPr>
            <a:xfrm>
              <a:off x="10298517" y="32661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8" name="Straight Connector 57"/>
            <p:cNvCxnSpPr/>
            <p:nvPr/>
          </p:nvCxnSpPr>
          <p:spPr>
            <a:xfrm>
              <a:off x="9307917"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9089669"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t=1</a:t>
              </a:r>
            </a:p>
          </p:txBody>
        </p:sp>
        <p:cxnSp>
          <p:nvCxnSpPr>
            <p:cNvPr id="60" name="Straight Connector 59"/>
            <p:cNvCxnSpPr/>
            <p:nvPr/>
          </p:nvCxnSpPr>
          <p:spPr>
            <a:xfrm>
              <a:off x="10399877"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10181629"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t=2</a:t>
              </a:r>
            </a:p>
          </p:txBody>
        </p:sp>
        <p:cxnSp>
          <p:nvCxnSpPr>
            <p:cNvPr id="62" name="Straight Arrow Connector 61"/>
            <p:cNvCxnSpPr/>
            <p:nvPr/>
          </p:nvCxnSpPr>
          <p:spPr>
            <a:xfrm flipV="1">
              <a:off x="9850648" y="4806859"/>
              <a:ext cx="0" cy="457200"/>
            </a:xfrm>
            <a:prstGeom prst="straightConnector1">
              <a:avLst/>
            </a:prstGeom>
            <a:ln w="38100">
              <a:solidFill>
                <a:schemeClr val="bg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9486831" y="5287305"/>
              <a:ext cx="7276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lumMod val="50000"/>
                    </a:prstClr>
                  </a:solidFill>
                  <a:effectLst/>
                  <a:uLnTx/>
                  <a:uFillTx/>
                  <a:latin typeface="Calibri"/>
                  <a:ea typeface="+mn-ea"/>
                  <a:cs typeface="+mn-cs"/>
                </a:rPr>
                <a:t>Program</a:t>
              </a:r>
            </a:p>
          </p:txBody>
        </p:sp>
        <p:cxnSp>
          <p:nvCxnSpPr>
            <p:cNvPr id="64" name="Straight Connector 63"/>
            <p:cNvCxnSpPr/>
            <p:nvPr/>
          </p:nvCxnSpPr>
          <p:spPr>
            <a:xfrm>
              <a:off x="9424231" y="3913855"/>
              <a:ext cx="1049618"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5" name="Right Brace 64"/>
            <p:cNvSpPr/>
            <p:nvPr/>
          </p:nvSpPr>
          <p:spPr>
            <a:xfrm>
              <a:off x="10527117" y="3329775"/>
              <a:ext cx="228600" cy="571500"/>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EECE1">
                    <a:lumMod val="25000"/>
                  </a:srgbClr>
                </a:solidFill>
                <a:effectLst/>
                <a:uLnTx/>
                <a:uFillTx/>
                <a:latin typeface="Calibri"/>
                <a:ea typeface="+mn-ea"/>
                <a:cs typeface="+mn-cs"/>
              </a:endParaRPr>
            </a:p>
          </p:txBody>
        </p:sp>
        <p:sp>
          <p:nvSpPr>
            <p:cNvPr id="66" name="TextBox 65"/>
            <p:cNvSpPr txBox="1"/>
            <p:nvPr/>
          </p:nvSpPr>
          <p:spPr>
            <a:xfrm>
              <a:off x="10733683" y="3441791"/>
              <a:ext cx="30970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EECE1">
                      <a:lumMod val="25000"/>
                    </a:srgbClr>
                  </a:solidFill>
                  <a:effectLst/>
                  <a:uLnTx/>
                  <a:uFillTx/>
                  <a:latin typeface="Calibri"/>
                  <a:ea typeface="+mn-ea"/>
                  <a:cs typeface="+mn-cs"/>
                </a:rPr>
                <a:t>A</a:t>
              </a:r>
            </a:p>
          </p:txBody>
        </p:sp>
        <p:cxnSp>
          <p:nvCxnSpPr>
            <p:cNvPr id="67" name="Straight Connector 66"/>
            <p:cNvCxnSpPr/>
            <p:nvPr/>
          </p:nvCxnSpPr>
          <p:spPr>
            <a:xfrm>
              <a:off x="9424736" y="4332955"/>
              <a:ext cx="1049618"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8" name="Right Brace 67"/>
            <p:cNvSpPr/>
            <p:nvPr/>
          </p:nvSpPr>
          <p:spPr>
            <a:xfrm>
              <a:off x="10553682" y="4025197"/>
              <a:ext cx="228600" cy="307759"/>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EECE1">
                    <a:lumMod val="25000"/>
                  </a:srgbClr>
                </a:solidFill>
                <a:effectLst/>
                <a:uLnTx/>
                <a:uFillTx/>
                <a:latin typeface="Calibri"/>
                <a:ea typeface="+mn-ea"/>
                <a:cs typeface="+mn-cs"/>
              </a:endParaRPr>
            </a:p>
          </p:txBody>
        </p:sp>
        <p:sp>
          <p:nvSpPr>
            <p:cNvPr id="69" name="TextBox 68"/>
            <p:cNvSpPr txBox="1"/>
            <p:nvPr/>
          </p:nvSpPr>
          <p:spPr>
            <a:xfrm>
              <a:off x="10749996" y="4004265"/>
              <a:ext cx="30008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EECE1">
                      <a:lumMod val="25000"/>
                    </a:srgbClr>
                  </a:solidFill>
                  <a:effectLst/>
                  <a:uLnTx/>
                  <a:uFillTx/>
                  <a:latin typeface="Calibri"/>
                  <a:ea typeface="+mn-ea"/>
                  <a:cs typeface="+mn-cs"/>
                </a:rPr>
                <a:t>B</a:t>
              </a:r>
            </a:p>
          </p:txBody>
        </p:sp>
        <p:sp>
          <p:nvSpPr>
            <p:cNvPr id="11" name="TextBox 10"/>
            <p:cNvSpPr txBox="1"/>
            <p:nvPr/>
          </p:nvSpPr>
          <p:spPr>
            <a:xfrm>
              <a:off x="8880035" y="3249151"/>
              <a:ext cx="106067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65000"/>
                      <a:lumOff val="35000"/>
                    </a:prstClr>
                  </a:solidFill>
                  <a:effectLst/>
                  <a:uLnTx/>
                  <a:uFillTx/>
                  <a:latin typeface="Calibri"/>
                  <a:ea typeface="+mn-ea"/>
                  <a:cs typeface="+mn-cs"/>
                </a:rPr>
                <a:t>(Diff-in-Diff)</a:t>
              </a:r>
            </a:p>
          </p:txBody>
        </p:sp>
        <p:sp>
          <p:nvSpPr>
            <p:cNvPr id="79" name="TextBox 78">
              <a:extLst>
                <a:ext uri="{FF2B5EF4-FFF2-40B4-BE49-F238E27FC236}">
                  <a16:creationId xmlns:a16="http://schemas.microsoft.com/office/drawing/2014/main" id="{588BCB43-281E-4701-BF31-0ED15F63C5F1}"/>
                </a:ext>
              </a:extLst>
            </p:cNvPr>
            <p:cNvSpPr txBox="1"/>
            <p:nvPr/>
          </p:nvSpPr>
          <p:spPr>
            <a:xfrm>
              <a:off x="11066553" y="3415004"/>
              <a:ext cx="824265"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A-B</a:t>
              </a:r>
            </a:p>
          </p:txBody>
        </p:sp>
      </p:grpSp>
      <p:sp>
        <p:nvSpPr>
          <p:cNvPr id="75" name="Rectangle 74"/>
          <p:cNvSpPr/>
          <p:nvPr/>
        </p:nvSpPr>
        <p:spPr>
          <a:xfrm>
            <a:off x="5244827" y="3723355"/>
            <a:ext cx="453970" cy="795914"/>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119644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p:cNvSpPr/>
          <p:nvPr/>
        </p:nvSpPr>
        <p:spPr>
          <a:xfrm>
            <a:off x="5222692" y="2891502"/>
            <a:ext cx="1981200" cy="1752600"/>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 name="Slide Number Placeholder 1"/>
          <p:cNvSpPr>
            <a:spLocks noGrp="1"/>
          </p:cNvSpPr>
          <p:nvPr>
            <p:ph type="sldNum" sz="quarter" idx="12"/>
          </p:nvPr>
        </p:nvSpPr>
        <p:spPr/>
        <p:txBody>
          <a:bodyPr/>
          <a:lstStyle/>
          <a:p>
            <a:fld id="{A953BAF0-9579-42B3-B979-30EFD986705E}" type="slidenum">
              <a:rPr lang="en-US">
                <a:solidFill>
                  <a:prstClr val="black">
                    <a:tint val="75000"/>
                  </a:prstClr>
                </a:solidFill>
                <a:latin typeface="Calibri"/>
              </a:rPr>
              <a:pPr/>
              <a:t>3</a:t>
            </a:fld>
            <a:endParaRPr lang="en-US">
              <a:solidFill>
                <a:prstClr val="black">
                  <a:tint val="75000"/>
                </a:prstClr>
              </a:solidFill>
              <a:latin typeface="Calibri"/>
            </a:endParaRPr>
          </a:p>
        </p:txBody>
      </p:sp>
      <p:sp>
        <p:nvSpPr>
          <p:cNvPr id="7" name="Text Placeholder 6"/>
          <p:cNvSpPr>
            <a:spLocks noGrp="1"/>
          </p:cNvSpPr>
          <p:nvPr>
            <p:ph type="body" sz="quarter" idx="17"/>
          </p:nvPr>
        </p:nvSpPr>
        <p:spPr>
          <a:xfrm>
            <a:off x="3474098" y="479167"/>
            <a:ext cx="6248400" cy="990600"/>
          </a:xfrm>
        </p:spPr>
        <p:txBody>
          <a:bodyPr/>
          <a:lstStyle/>
          <a:p>
            <a:r>
              <a:rPr lang="en-US" dirty="0">
                <a:latin typeface="Times New Roman" panose="02020603050405020304" pitchFamily="18" charset="0"/>
                <a:cs typeface="Times New Roman" panose="02020603050405020304" pitchFamily="18" charset="0"/>
              </a:rPr>
              <a:t>The “selection” problem</a:t>
            </a:r>
          </a:p>
        </p:txBody>
      </p:sp>
      <p:sp>
        <p:nvSpPr>
          <p:cNvPr id="9" name="Oval 8"/>
          <p:cNvSpPr/>
          <p:nvPr/>
        </p:nvSpPr>
        <p:spPr>
          <a:xfrm>
            <a:off x="4172340" y="3036759"/>
            <a:ext cx="1981200" cy="1752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0" name="Oval 9"/>
          <p:cNvSpPr/>
          <p:nvPr/>
        </p:nvSpPr>
        <p:spPr>
          <a:xfrm>
            <a:off x="4684661" y="2095073"/>
            <a:ext cx="1981200" cy="1752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1" name="TextBox 10"/>
          <p:cNvSpPr txBox="1"/>
          <p:nvPr/>
        </p:nvSpPr>
        <p:spPr>
          <a:xfrm>
            <a:off x="4172340" y="4789359"/>
            <a:ext cx="980910" cy="369332"/>
          </a:xfrm>
          <a:prstGeom prst="rect">
            <a:avLst/>
          </a:prstGeom>
          <a:noFill/>
        </p:spPr>
        <p:txBody>
          <a:bodyPr wrap="none" rtlCol="0">
            <a:spAutoFit/>
          </a:bodyPr>
          <a:lstStyle/>
          <a:p>
            <a:r>
              <a:rPr lang="en-US" dirty="0">
                <a:solidFill>
                  <a:srgbClr val="1F497D"/>
                </a:solidFill>
                <a:latin typeface="Calibri"/>
              </a:rPr>
              <a:t>Program</a:t>
            </a:r>
          </a:p>
        </p:txBody>
      </p:sp>
      <p:sp>
        <p:nvSpPr>
          <p:cNvPr id="12" name="TextBox 11"/>
          <p:cNvSpPr txBox="1"/>
          <p:nvPr/>
        </p:nvSpPr>
        <p:spPr>
          <a:xfrm>
            <a:off x="5162940" y="1633621"/>
            <a:ext cx="1050352" cy="369332"/>
          </a:xfrm>
          <a:prstGeom prst="rect">
            <a:avLst/>
          </a:prstGeom>
          <a:noFill/>
        </p:spPr>
        <p:txBody>
          <a:bodyPr wrap="none" rtlCol="0">
            <a:spAutoFit/>
          </a:bodyPr>
          <a:lstStyle/>
          <a:p>
            <a:r>
              <a:rPr lang="en-US" dirty="0">
                <a:solidFill>
                  <a:srgbClr val="FF0000"/>
                </a:solidFill>
                <a:latin typeface="Calibri"/>
              </a:rPr>
              <a:t>Outcome</a:t>
            </a:r>
          </a:p>
        </p:txBody>
      </p:sp>
      <p:sp>
        <p:nvSpPr>
          <p:cNvPr id="14" name="TextBox 13"/>
          <p:cNvSpPr txBox="1"/>
          <p:nvPr/>
        </p:nvSpPr>
        <p:spPr>
          <a:xfrm>
            <a:off x="7178181" y="4387335"/>
            <a:ext cx="1197957" cy="646331"/>
          </a:xfrm>
          <a:prstGeom prst="rect">
            <a:avLst/>
          </a:prstGeom>
          <a:noFill/>
        </p:spPr>
        <p:txBody>
          <a:bodyPr wrap="none" rtlCol="0">
            <a:spAutoFit/>
          </a:bodyPr>
          <a:lstStyle/>
          <a:p>
            <a:r>
              <a:rPr lang="en-US" dirty="0">
                <a:solidFill>
                  <a:prstClr val="black"/>
                </a:solidFill>
                <a:latin typeface="Calibri"/>
              </a:rPr>
              <a:t>Choice to </a:t>
            </a:r>
          </a:p>
          <a:p>
            <a:r>
              <a:rPr lang="en-US" dirty="0">
                <a:solidFill>
                  <a:prstClr val="black"/>
                </a:solidFill>
                <a:latin typeface="Calibri"/>
              </a:rPr>
              <a:t>participate</a:t>
            </a:r>
          </a:p>
        </p:txBody>
      </p:sp>
      <p:sp>
        <p:nvSpPr>
          <p:cNvPr id="15" name="TextBox 14"/>
          <p:cNvSpPr txBox="1"/>
          <p:nvPr/>
        </p:nvSpPr>
        <p:spPr>
          <a:xfrm>
            <a:off x="3113143" y="5440531"/>
            <a:ext cx="5486400" cy="923330"/>
          </a:xfrm>
          <a:prstGeom prst="rect">
            <a:avLst/>
          </a:prstGeom>
          <a:noFill/>
        </p:spPr>
        <p:txBody>
          <a:bodyPr wrap="square" rtlCol="0">
            <a:spAutoFit/>
          </a:bodyPr>
          <a:lstStyle/>
          <a:p>
            <a:pPr algn="ctr"/>
            <a:r>
              <a:rPr lang="en-US" dirty="0">
                <a:solidFill>
                  <a:prstClr val="black"/>
                </a:solidFill>
                <a:latin typeface="Calibri"/>
              </a:rPr>
              <a:t>When happens when people are given the choice to participate in a program?  When do problems arise?  How do we estimate program impact in this case?</a:t>
            </a:r>
          </a:p>
        </p:txBody>
      </p:sp>
    </p:spTree>
    <p:extLst>
      <p:ext uri="{BB962C8B-B14F-4D97-AF65-F5344CB8AC3E}">
        <p14:creationId xmlns:p14="http://schemas.microsoft.com/office/powerpoint/2010/main" val="4054933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p:cNvSpPr/>
          <p:nvPr/>
        </p:nvSpPr>
        <p:spPr>
          <a:xfrm>
            <a:off x="5856343" y="1725741"/>
            <a:ext cx="1981200" cy="1752600"/>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 name="Slide Number Placeholder 1"/>
          <p:cNvSpPr>
            <a:spLocks noGrp="1"/>
          </p:cNvSpPr>
          <p:nvPr>
            <p:ph type="sldNum" sz="quarter" idx="12"/>
          </p:nvPr>
        </p:nvSpPr>
        <p:spPr/>
        <p:txBody>
          <a:bodyPr/>
          <a:lstStyle/>
          <a:p>
            <a:fld id="{A953BAF0-9579-42B3-B979-30EFD986705E}" type="slidenum">
              <a:rPr lang="en-US">
                <a:solidFill>
                  <a:prstClr val="black">
                    <a:tint val="75000"/>
                  </a:prstClr>
                </a:solidFill>
                <a:latin typeface="Calibri"/>
              </a:rPr>
              <a:pPr/>
              <a:t>4</a:t>
            </a:fld>
            <a:endParaRPr lang="en-US">
              <a:solidFill>
                <a:prstClr val="black">
                  <a:tint val="75000"/>
                </a:prstClr>
              </a:solidFill>
              <a:latin typeface="Calibri"/>
            </a:endParaRPr>
          </a:p>
        </p:txBody>
      </p:sp>
      <p:sp>
        <p:nvSpPr>
          <p:cNvPr id="7" name="Text Placeholder 6"/>
          <p:cNvSpPr>
            <a:spLocks noGrp="1"/>
          </p:cNvSpPr>
          <p:nvPr>
            <p:ph type="body" sz="quarter" idx="17"/>
          </p:nvPr>
        </p:nvSpPr>
        <p:spPr>
          <a:xfrm>
            <a:off x="3380792" y="102089"/>
            <a:ext cx="6248400" cy="990600"/>
          </a:xfrm>
        </p:spPr>
        <p:txBody>
          <a:bodyPr/>
          <a:lstStyle/>
          <a:p>
            <a:pPr algn="ctr"/>
            <a:r>
              <a:rPr lang="en-US" dirty="0">
                <a:latin typeface="Times New Roman" panose="02020603050405020304" pitchFamily="18" charset="0"/>
                <a:cs typeface="Times New Roman" panose="02020603050405020304" pitchFamily="18" charset="0"/>
              </a:rPr>
              <a:t>Solution: randomization</a:t>
            </a:r>
          </a:p>
        </p:txBody>
      </p:sp>
      <p:sp>
        <p:nvSpPr>
          <p:cNvPr id="9" name="Oval 8"/>
          <p:cNvSpPr/>
          <p:nvPr/>
        </p:nvSpPr>
        <p:spPr>
          <a:xfrm>
            <a:off x="4172340" y="3036759"/>
            <a:ext cx="1981200" cy="1752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0" name="Oval 9"/>
          <p:cNvSpPr/>
          <p:nvPr/>
        </p:nvSpPr>
        <p:spPr>
          <a:xfrm>
            <a:off x="4684661" y="2095073"/>
            <a:ext cx="1981200" cy="1752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1" name="TextBox 10"/>
          <p:cNvSpPr txBox="1"/>
          <p:nvPr/>
        </p:nvSpPr>
        <p:spPr>
          <a:xfrm>
            <a:off x="4172340" y="4789359"/>
            <a:ext cx="1156983" cy="369332"/>
          </a:xfrm>
          <a:prstGeom prst="rect">
            <a:avLst/>
          </a:prstGeom>
          <a:noFill/>
        </p:spPr>
        <p:txBody>
          <a:bodyPr wrap="none" rtlCol="0">
            <a:spAutoFit/>
          </a:bodyPr>
          <a:lstStyle/>
          <a:p>
            <a:r>
              <a:rPr lang="en-US" dirty="0">
                <a:solidFill>
                  <a:srgbClr val="1F497D"/>
                </a:solidFill>
                <a:latin typeface="Calibri"/>
              </a:rPr>
              <a:t>Treatment</a:t>
            </a:r>
          </a:p>
        </p:txBody>
      </p:sp>
      <p:sp>
        <p:nvSpPr>
          <p:cNvPr id="12" name="TextBox 11"/>
          <p:cNvSpPr txBox="1"/>
          <p:nvPr/>
        </p:nvSpPr>
        <p:spPr>
          <a:xfrm>
            <a:off x="4369838" y="1712198"/>
            <a:ext cx="1050352" cy="369332"/>
          </a:xfrm>
          <a:prstGeom prst="rect">
            <a:avLst/>
          </a:prstGeom>
          <a:noFill/>
        </p:spPr>
        <p:txBody>
          <a:bodyPr wrap="none" rtlCol="0">
            <a:spAutoFit/>
          </a:bodyPr>
          <a:lstStyle/>
          <a:p>
            <a:r>
              <a:rPr lang="en-US" dirty="0">
                <a:solidFill>
                  <a:srgbClr val="FF0000"/>
                </a:solidFill>
                <a:latin typeface="Calibri"/>
              </a:rPr>
              <a:t>Outcome</a:t>
            </a:r>
          </a:p>
        </p:txBody>
      </p:sp>
      <p:sp>
        <p:nvSpPr>
          <p:cNvPr id="14" name="TextBox 13"/>
          <p:cNvSpPr txBox="1"/>
          <p:nvPr/>
        </p:nvSpPr>
        <p:spPr>
          <a:xfrm>
            <a:off x="7978187" y="2031566"/>
            <a:ext cx="1242712" cy="923330"/>
          </a:xfrm>
          <a:prstGeom prst="rect">
            <a:avLst/>
          </a:prstGeom>
          <a:noFill/>
        </p:spPr>
        <p:txBody>
          <a:bodyPr wrap="none" rtlCol="0">
            <a:spAutoFit/>
          </a:bodyPr>
          <a:lstStyle/>
          <a:p>
            <a:pPr algn="ctr"/>
            <a:r>
              <a:rPr lang="en-US" dirty="0">
                <a:solidFill>
                  <a:prstClr val="black"/>
                </a:solidFill>
                <a:latin typeface="Calibri"/>
              </a:rPr>
              <a:t>Choice to </a:t>
            </a:r>
          </a:p>
          <a:p>
            <a:pPr algn="ctr"/>
            <a:r>
              <a:rPr lang="en-US" dirty="0">
                <a:solidFill>
                  <a:prstClr val="black"/>
                </a:solidFill>
                <a:latin typeface="Calibri"/>
              </a:rPr>
              <a:t>Participate </a:t>
            </a:r>
            <a:br>
              <a:rPr lang="en-US" dirty="0">
                <a:solidFill>
                  <a:prstClr val="black"/>
                </a:solidFill>
                <a:latin typeface="Calibri"/>
              </a:rPr>
            </a:br>
            <a:r>
              <a:rPr lang="en-US" dirty="0">
                <a:solidFill>
                  <a:prstClr val="black"/>
                </a:solidFill>
                <a:latin typeface="Calibri"/>
              </a:rPr>
              <a:t>in RCTs</a:t>
            </a:r>
          </a:p>
        </p:txBody>
      </p:sp>
    </p:spTree>
    <p:extLst>
      <p:ext uri="{BB962C8B-B14F-4D97-AF65-F5344CB8AC3E}">
        <p14:creationId xmlns:p14="http://schemas.microsoft.com/office/powerpoint/2010/main" val="2229388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p:cNvSpPr/>
          <p:nvPr/>
        </p:nvSpPr>
        <p:spPr>
          <a:xfrm>
            <a:off x="7933204" y="2860593"/>
            <a:ext cx="1981200" cy="1752600"/>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 name="Slide Number Placeholder 1"/>
          <p:cNvSpPr>
            <a:spLocks noGrp="1"/>
          </p:cNvSpPr>
          <p:nvPr>
            <p:ph type="sldNum" sz="quarter" idx="12"/>
          </p:nvPr>
        </p:nvSpPr>
        <p:spPr/>
        <p:txBody>
          <a:bodyPr/>
          <a:lstStyle/>
          <a:p>
            <a:fld id="{A953BAF0-9579-42B3-B979-30EFD986705E}" type="slidenum">
              <a:rPr lang="en-US">
                <a:solidFill>
                  <a:prstClr val="black">
                    <a:tint val="75000"/>
                  </a:prstClr>
                </a:solidFill>
                <a:latin typeface="Calibri"/>
              </a:rPr>
              <a:pPr/>
              <a:t>5</a:t>
            </a:fld>
            <a:endParaRPr lang="en-US">
              <a:solidFill>
                <a:prstClr val="black">
                  <a:tint val="75000"/>
                </a:prstClr>
              </a:solidFill>
              <a:latin typeface="Calibri"/>
            </a:endParaRPr>
          </a:p>
        </p:txBody>
      </p:sp>
      <p:sp>
        <p:nvSpPr>
          <p:cNvPr id="7" name="Text Placeholder 6"/>
          <p:cNvSpPr>
            <a:spLocks noGrp="1"/>
          </p:cNvSpPr>
          <p:nvPr>
            <p:ph type="body" sz="quarter" idx="17"/>
          </p:nvPr>
        </p:nvSpPr>
        <p:spPr>
          <a:xfrm>
            <a:off x="1773954" y="33525"/>
            <a:ext cx="8644092" cy="990600"/>
          </a:xfrm>
        </p:spPr>
        <p:txBody>
          <a:bodyPr>
            <a:normAutofit fontScale="92500" lnSpcReduction="10000"/>
          </a:bodyPr>
          <a:lstStyle/>
          <a:p>
            <a:pPr algn="ctr"/>
            <a:r>
              <a:rPr lang="en-US" dirty="0">
                <a:latin typeface="Times New Roman" panose="02020603050405020304" pitchFamily="18" charset="0"/>
                <a:cs typeface="Times New Roman" panose="02020603050405020304" pitchFamily="18" charset="0"/>
              </a:rPr>
              <a:t>The “selection” problem when participation is mandatory but you need to qualify</a:t>
            </a:r>
          </a:p>
        </p:txBody>
      </p:sp>
      <p:sp>
        <p:nvSpPr>
          <p:cNvPr id="9" name="Oval 8"/>
          <p:cNvSpPr/>
          <p:nvPr/>
        </p:nvSpPr>
        <p:spPr>
          <a:xfrm>
            <a:off x="6795602" y="3018099"/>
            <a:ext cx="1981200" cy="1752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0" name="Oval 9"/>
          <p:cNvSpPr/>
          <p:nvPr/>
        </p:nvSpPr>
        <p:spPr>
          <a:xfrm>
            <a:off x="7307923" y="2076413"/>
            <a:ext cx="1981200" cy="1752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1" name="TextBox 10"/>
          <p:cNvSpPr txBox="1"/>
          <p:nvPr/>
        </p:nvSpPr>
        <p:spPr>
          <a:xfrm>
            <a:off x="6795602" y="4770699"/>
            <a:ext cx="980910" cy="369332"/>
          </a:xfrm>
          <a:prstGeom prst="rect">
            <a:avLst/>
          </a:prstGeom>
          <a:noFill/>
        </p:spPr>
        <p:txBody>
          <a:bodyPr wrap="none" rtlCol="0">
            <a:spAutoFit/>
          </a:bodyPr>
          <a:lstStyle/>
          <a:p>
            <a:r>
              <a:rPr lang="en-US" dirty="0">
                <a:solidFill>
                  <a:srgbClr val="1F497D"/>
                </a:solidFill>
                <a:latin typeface="Calibri"/>
              </a:rPr>
              <a:t>Program</a:t>
            </a:r>
          </a:p>
        </p:txBody>
      </p:sp>
      <p:sp>
        <p:nvSpPr>
          <p:cNvPr id="12" name="TextBox 11"/>
          <p:cNvSpPr txBox="1"/>
          <p:nvPr/>
        </p:nvSpPr>
        <p:spPr>
          <a:xfrm>
            <a:off x="7786202" y="1614961"/>
            <a:ext cx="1050352" cy="369332"/>
          </a:xfrm>
          <a:prstGeom prst="rect">
            <a:avLst/>
          </a:prstGeom>
          <a:noFill/>
        </p:spPr>
        <p:txBody>
          <a:bodyPr wrap="none" rtlCol="0">
            <a:spAutoFit/>
          </a:bodyPr>
          <a:lstStyle/>
          <a:p>
            <a:r>
              <a:rPr lang="en-US" dirty="0">
                <a:solidFill>
                  <a:srgbClr val="FF0000"/>
                </a:solidFill>
                <a:latin typeface="Calibri"/>
              </a:rPr>
              <a:t>Outcome</a:t>
            </a:r>
          </a:p>
        </p:txBody>
      </p:sp>
      <p:sp>
        <p:nvSpPr>
          <p:cNvPr id="14" name="TextBox 13"/>
          <p:cNvSpPr txBox="1"/>
          <p:nvPr/>
        </p:nvSpPr>
        <p:spPr>
          <a:xfrm>
            <a:off x="9994604" y="2722957"/>
            <a:ext cx="1381597" cy="923330"/>
          </a:xfrm>
          <a:prstGeom prst="rect">
            <a:avLst/>
          </a:prstGeom>
          <a:noFill/>
        </p:spPr>
        <p:txBody>
          <a:bodyPr wrap="none" rtlCol="0">
            <a:spAutoFit/>
          </a:bodyPr>
          <a:lstStyle/>
          <a:p>
            <a:r>
              <a:rPr lang="en-US" strike="sngStrike" dirty="0">
                <a:solidFill>
                  <a:prstClr val="black"/>
                </a:solidFill>
                <a:latin typeface="Calibri"/>
              </a:rPr>
              <a:t>Choice to</a:t>
            </a:r>
          </a:p>
          <a:p>
            <a:r>
              <a:rPr lang="en-US" dirty="0">
                <a:solidFill>
                  <a:prstClr val="black"/>
                </a:solidFill>
                <a:latin typeface="Calibri"/>
              </a:rPr>
              <a:t>Program </a:t>
            </a:r>
          </a:p>
          <a:p>
            <a:r>
              <a:rPr lang="en-US" dirty="0">
                <a:solidFill>
                  <a:prstClr val="black"/>
                </a:solidFill>
                <a:latin typeface="Calibri"/>
              </a:rPr>
              <a:t>participation</a:t>
            </a:r>
          </a:p>
        </p:txBody>
      </p:sp>
      <p:sp>
        <p:nvSpPr>
          <p:cNvPr id="15" name="TextBox 14"/>
          <p:cNvSpPr txBox="1"/>
          <p:nvPr/>
        </p:nvSpPr>
        <p:spPr>
          <a:xfrm>
            <a:off x="2824978" y="5574185"/>
            <a:ext cx="5486400" cy="923330"/>
          </a:xfrm>
          <a:prstGeom prst="rect">
            <a:avLst/>
          </a:prstGeom>
          <a:noFill/>
        </p:spPr>
        <p:txBody>
          <a:bodyPr wrap="square" rtlCol="0">
            <a:spAutoFit/>
          </a:bodyPr>
          <a:lstStyle/>
          <a:p>
            <a:pPr algn="ctr"/>
            <a:r>
              <a:rPr lang="en-US" dirty="0">
                <a:solidFill>
                  <a:schemeClr val="tx1">
                    <a:lumMod val="50000"/>
                    <a:lumOff val="50000"/>
                  </a:schemeClr>
                </a:solidFill>
                <a:latin typeface="Calibri"/>
              </a:rPr>
              <a:t>What about means-tested programs? </a:t>
            </a:r>
            <a:br>
              <a:rPr lang="en-US" dirty="0">
                <a:solidFill>
                  <a:schemeClr val="tx1">
                    <a:lumMod val="50000"/>
                    <a:lumOff val="50000"/>
                  </a:schemeClr>
                </a:solidFill>
                <a:latin typeface="Calibri"/>
              </a:rPr>
            </a:br>
            <a:r>
              <a:rPr lang="en-US" dirty="0">
                <a:solidFill>
                  <a:schemeClr val="tx1">
                    <a:lumMod val="50000"/>
                    <a:lumOff val="50000"/>
                  </a:schemeClr>
                </a:solidFill>
                <a:latin typeface="Calibri"/>
              </a:rPr>
              <a:t>E.g. Medicare, housing vouchers, food stamps, </a:t>
            </a:r>
          </a:p>
          <a:p>
            <a:pPr algn="ctr"/>
            <a:r>
              <a:rPr lang="en-US" dirty="0">
                <a:solidFill>
                  <a:schemeClr val="tx1">
                    <a:lumMod val="50000"/>
                    <a:lumOff val="50000"/>
                  </a:schemeClr>
                </a:solidFill>
                <a:latin typeface="Calibri"/>
              </a:rPr>
              <a:t>honors classes, college scholarships, summer school</a:t>
            </a:r>
          </a:p>
        </p:txBody>
      </p:sp>
      <p:sp>
        <p:nvSpPr>
          <p:cNvPr id="18" name="Oval 17">
            <a:extLst>
              <a:ext uri="{FF2B5EF4-FFF2-40B4-BE49-F238E27FC236}">
                <a16:creationId xmlns:a16="http://schemas.microsoft.com/office/drawing/2014/main" id="{A97B6534-E3F2-4D24-9564-38BE91193EEE}"/>
              </a:ext>
            </a:extLst>
          </p:cNvPr>
          <p:cNvSpPr/>
          <p:nvPr/>
        </p:nvSpPr>
        <p:spPr>
          <a:xfrm>
            <a:off x="3083416" y="1650594"/>
            <a:ext cx="1981200" cy="1752600"/>
          </a:xfrm>
          <a:prstGeom prst="ellipse">
            <a:avLst/>
          </a:prstGeom>
          <a:solidFill>
            <a:schemeClr val="bg1">
              <a:lumMod val="95000"/>
            </a:schemeClr>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9" name="Oval 18">
            <a:extLst>
              <a:ext uri="{FF2B5EF4-FFF2-40B4-BE49-F238E27FC236}">
                <a16:creationId xmlns:a16="http://schemas.microsoft.com/office/drawing/2014/main" id="{4421BB2C-FD74-4E96-A5FE-FADFE0132E8B}"/>
              </a:ext>
            </a:extLst>
          </p:cNvPr>
          <p:cNvSpPr/>
          <p:nvPr/>
        </p:nvSpPr>
        <p:spPr>
          <a:xfrm>
            <a:off x="1402346" y="3018099"/>
            <a:ext cx="1981200" cy="17526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0" name="Oval 19">
            <a:extLst>
              <a:ext uri="{FF2B5EF4-FFF2-40B4-BE49-F238E27FC236}">
                <a16:creationId xmlns:a16="http://schemas.microsoft.com/office/drawing/2014/main" id="{2AA1E063-6889-41A5-8463-90AF350FE3E0}"/>
              </a:ext>
            </a:extLst>
          </p:cNvPr>
          <p:cNvSpPr/>
          <p:nvPr/>
        </p:nvSpPr>
        <p:spPr>
          <a:xfrm>
            <a:off x="1914667" y="2076413"/>
            <a:ext cx="1981200" cy="1752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1" name="TextBox 20">
            <a:extLst>
              <a:ext uri="{FF2B5EF4-FFF2-40B4-BE49-F238E27FC236}">
                <a16:creationId xmlns:a16="http://schemas.microsoft.com/office/drawing/2014/main" id="{CABDCFAE-E65A-46E8-AA29-077632270FDE}"/>
              </a:ext>
            </a:extLst>
          </p:cNvPr>
          <p:cNvSpPr txBox="1"/>
          <p:nvPr/>
        </p:nvSpPr>
        <p:spPr>
          <a:xfrm>
            <a:off x="1402346" y="4770699"/>
            <a:ext cx="980910" cy="369332"/>
          </a:xfrm>
          <a:prstGeom prst="rect">
            <a:avLst/>
          </a:prstGeom>
          <a:noFill/>
        </p:spPr>
        <p:txBody>
          <a:bodyPr wrap="none" rtlCol="0">
            <a:spAutoFit/>
          </a:bodyPr>
          <a:lstStyle/>
          <a:p>
            <a:r>
              <a:rPr lang="en-US" dirty="0">
                <a:solidFill>
                  <a:srgbClr val="1F497D"/>
                </a:solidFill>
                <a:latin typeface="Calibri"/>
              </a:rPr>
              <a:t>Program</a:t>
            </a:r>
          </a:p>
        </p:txBody>
      </p:sp>
      <p:sp>
        <p:nvSpPr>
          <p:cNvPr id="22" name="TextBox 21">
            <a:extLst>
              <a:ext uri="{FF2B5EF4-FFF2-40B4-BE49-F238E27FC236}">
                <a16:creationId xmlns:a16="http://schemas.microsoft.com/office/drawing/2014/main" id="{3FA5CF02-0215-465A-8B0C-6F6A08560A4A}"/>
              </a:ext>
            </a:extLst>
          </p:cNvPr>
          <p:cNvSpPr txBox="1"/>
          <p:nvPr/>
        </p:nvSpPr>
        <p:spPr>
          <a:xfrm>
            <a:off x="2392946" y="1614961"/>
            <a:ext cx="1050352" cy="369332"/>
          </a:xfrm>
          <a:prstGeom prst="rect">
            <a:avLst/>
          </a:prstGeom>
          <a:noFill/>
        </p:spPr>
        <p:txBody>
          <a:bodyPr wrap="none" rtlCol="0">
            <a:spAutoFit/>
          </a:bodyPr>
          <a:lstStyle/>
          <a:p>
            <a:r>
              <a:rPr lang="en-US" dirty="0">
                <a:solidFill>
                  <a:srgbClr val="FF0000"/>
                </a:solidFill>
                <a:latin typeface="Calibri"/>
              </a:rPr>
              <a:t>Outcome</a:t>
            </a:r>
          </a:p>
        </p:txBody>
      </p:sp>
      <p:sp>
        <p:nvSpPr>
          <p:cNvPr id="23" name="TextBox 22">
            <a:extLst>
              <a:ext uri="{FF2B5EF4-FFF2-40B4-BE49-F238E27FC236}">
                <a16:creationId xmlns:a16="http://schemas.microsoft.com/office/drawing/2014/main" id="{24CEA47A-466E-410B-B6B4-98654273E369}"/>
              </a:ext>
            </a:extLst>
          </p:cNvPr>
          <p:cNvSpPr txBox="1"/>
          <p:nvPr/>
        </p:nvSpPr>
        <p:spPr>
          <a:xfrm>
            <a:off x="5064616" y="1513611"/>
            <a:ext cx="1381597" cy="923330"/>
          </a:xfrm>
          <a:prstGeom prst="rect">
            <a:avLst/>
          </a:prstGeom>
          <a:noFill/>
        </p:spPr>
        <p:txBody>
          <a:bodyPr wrap="none" rtlCol="0">
            <a:spAutoFit/>
          </a:bodyPr>
          <a:lstStyle/>
          <a:p>
            <a:r>
              <a:rPr lang="en-US" strike="sngStrike" dirty="0">
                <a:solidFill>
                  <a:prstClr val="black"/>
                </a:solidFill>
                <a:latin typeface="Calibri"/>
              </a:rPr>
              <a:t>Choice to</a:t>
            </a:r>
          </a:p>
          <a:p>
            <a:r>
              <a:rPr lang="en-US" dirty="0">
                <a:solidFill>
                  <a:prstClr val="black"/>
                </a:solidFill>
                <a:latin typeface="Calibri"/>
              </a:rPr>
              <a:t>Program </a:t>
            </a:r>
          </a:p>
          <a:p>
            <a:r>
              <a:rPr lang="en-US" dirty="0">
                <a:solidFill>
                  <a:prstClr val="black"/>
                </a:solidFill>
                <a:latin typeface="Calibri"/>
              </a:rPr>
              <a:t>participation</a:t>
            </a:r>
          </a:p>
        </p:txBody>
      </p:sp>
    </p:spTree>
    <p:extLst>
      <p:ext uri="{BB962C8B-B14F-4D97-AF65-F5344CB8AC3E}">
        <p14:creationId xmlns:p14="http://schemas.microsoft.com/office/powerpoint/2010/main" val="3597580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A3A39-F2B6-4AED-A0BD-C36910F49912}"/>
              </a:ext>
            </a:extLst>
          </p:cNvPr>
          <p:cNvSpPr>
            <a:spLocks noGrp="1"/>
          </p:cNvSpPr>
          <p:nvPr>
            <p:ph type="title"/>
          </p:nvPr>
        </p:nvSpPr>
        <p:spPr/>
        <p:txBody>
          <a:bodyPr/>
          <a:lstStyle/>
          <a:p>
            <a:r>
              <a:rPr lang="en-US" dirty="0">
                <a:solidFill>
                  <a:schemeClr val="bg1"/>
                </a:solidFill>
              </a:rPr>
              <a:t>REGRESSION DISCONTINUITY DESIGN</a:t>
            </a:r>
          </a:p>
        </p:txBody>
      </p:sp>
      <p:sp>
        <p:nvSpPr>
          <p:cNvPr id="3" name="Text Placeholder 2">
            <a:extLst>
              <a:ext uri="{FF2B5EF4-FFF2-40B4-BE49-F238E27FC236}">
                <a16:creationId xmlns:a16="http://schemas.microsoft.com/office/drawing/2014/main" id="{3E64E064-999A-4072-9BD5-3132D5B67E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A43F84-7849-47EE-A6F4-C6603DAD413F}"/>
              </a:ext>
            </a:extLst>
          </p:cNvPr>
          <p:cNvSpPr>
            <a:spLocks noGrp="1"/>
          </p:cNvSpPr>
          <p:nvPr>
            <p:ph type="sldNum" sz="quarter" idx="12"/>
          </p:nvPr>
        </p:nvSpPr>
        <p:spPr/>
        <p:txBody>
          <a:bodyPr/>
          <a:lstStyle/>
          <a:p>
            <a:fld id="{A953BAF0-9579-42B3-B979-30EFD986705E}" type="slidenum">
              <a:rPr lang="en-US" smtClean="0"/>
              <a:pPr/>
              <a:t>6</a:t>
            </a:fld>
            <a:endParaRPr lang="en-US"/>
          </a:p>
        </p:txBody>
      </p:sp>
    </p:spTree>
    <p:extLst>
      <p:ext uri="{BB962C8B-B14F-4D97-AF65-F5344CB8AC3E}">
        <p14:creationId xmlns:p14="http://schemas.microsoft.com/office/powerpoint/2010/main" val="2952591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ogram participants score above the threshold">
            <a:extLst>
              <a:ext uri="{FF2B5EF4-FFF2-40B4-BE49-F238E27FC236}">
                <a16:creationId xmlns:a16="http://schemas.microsoft.com/office/drawing/2014/main" id="{EF5E4A27-DCCA-4151-B4B6-48D404297E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7415" y="1028295"/>
            <a:ext cx="6302692" cy="4560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264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rogram participants score below the threshold">
            <a:extLst>
              <a:ext uri="{FF2B5EF4-FFF2-40B4-BE49-F238E27FC236}">
                <a16:creationId xmlns:a16="http://schemas.microsoft.com/office/drawing/2014/main" id="{2271E784-6861-4111-BBED-C295A47B2C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7028" y="772308"/>
            <a:ext cx="7133544" cy="5161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608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ntrol and treatment group based on the cutoff">
            <a:extLst>
              <a:ext uri="{FF2B5EF4-FFF2-40B4-BE49-F238E27FC236}">
                <a16:creationId xmlns:a16="http://schemas.microsoft.com/office/drawing/2014/main" id="{D0700EDE-475F-4215-94D0-A89BE59B9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1437" y="278818"/>
            <a:ext cx="7984995" cy="573009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146E30F-8BD8-4B56-8DD3-A6D2DCD2F883}"/>
              </a:ext>
            </a:extLst>
          </p:cNvPr>
          <p:cNvSpPr txBox="1"/>
          <p:nvPr/>
        </p:nvSpPr>
        <p:spPr>
          <a:xfrm rot="16200000">
            <a:off x="630175" y="1683817"/>
            <a:ext cx="3372959" cy="369332"/>
          </a:xfrm>
          <a:prstGeom prst="rect">
            <a:avLst/>
          </a:prstGeom>
          <a:solidFill>
            <a:schemeClr val="bg1"/>
          </a:solidFill>
        </p:spPr>
        <p:txBody>
          <a:bodyPr wrap="square" rtlCol="0">
            <a:spAutoFit/>
          </a:bodyPr>
          <a:lstStyle/>
          <a:p>
            <a:pPr algn="ctr"/>
            <a:r>
              <a:rPr lang="en-US" dirty="0"/>
              <a:t>Outcome</a:t>
            </a:r>
          </a:p>
        </p:txBody>
      </p:sp>
      <p:sp>
        <p:nvSpPr>
          <p:cNvPr id="4" name="TextBox 3">
            <a:extLst>
              <a:ext uri="{FF2B5EF4-FFF2-40B4-BE49-F238E27FC236}">
                <a16:creationId xmlns:a16="http://schemas.microsoft.com/office/drawing/2014/main" id="{19D6D85D-6C9E-48F1-B355-B3DEF83F748F}"/>
              </a:ext>
            </a:extLst>
          </p:cNvPr>
          <p:cNvSpPr txBox="1"/>
          <p:nvPr/>
        </p:nvSpPr>
        <p:spPr>
          <a:xfrm>
            <a:off x="2723041" y="5419172"/>
            <a:ext cx="6486273" cy="369332"/>
          </a:xfrm>
          <a:prstGeom prst="rect">
            <a:avLst/>
          </a:prstGeom>
          <a:solidFill>
            <a:schemeClr val="bg1"/>
          </a:solidFill>
        </p:spPr>
        <p:txBody>
          <a:bodyPr wrap="square" rtlCol="0">
            <a:spAutoFit/>
          </a:bodyPr>
          <a:lstStyle/>
          <a:p>
            <a:pPr algn="ctr"/>
            <a:r>
              <a:rPr lang="en-US" dirty="0"/>
              <a:t>Criteria for Program Participation</a:t>
            </a:r>
          </a:p>
        </p:txBody>
      </p:sp>
    </p:spTree>
    <p:extLst>
      <p:ext uri="{BB962C8B-B14F-4D97-AF65-F5344CB8AC3E}">
        <p14:creationId xmlns:p14="http://schemas.microsoft.com/office/powerpoint/2010/main" val="3561498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Treatment effect">
            <a:extLst>
              <a:ext uri="{FF2B5EF4-FFF2-40B4-BE49-F238E27FC236}">
                <a16:creationId xmlns:a16="http://schemas.microsoft.com/office/drawing/2014/main" id="{8A01859D-113E-4D2F-9BB9-1337993BB2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1988" y="587812"/>
            <a:ext cx="7194291" cy="520069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146E30F-8BD8-4B56-8DD3-A6D2DCD2F883}"/>
              </a:ext>
            </a:extLst>
          </p:cNvPr>
          <p:cNvSpPr txBox="1"/>
          <p:nvPr/>
        </p:nvSpPr>
        <p:spPr>
          <a:xfrm rot="16200000">
            <a:off x="732813" y="2252985"/>
            <a:ext cx="3372959" cy="369332"/>
          </a:xfrm>
          <a:prstGeom prst="rect">
            <a:avLst/>
          </a:prstGeom>
          <a:solidFill>
            <a:schemeClr val="bg1"/>
          </a:solidFill>
        </p:spPr>
        <p:txBody>
          <a:bodyPr wrap="square" rtlCol="0">
            <a:spAutoFit/>
          </a:bodyPr>
          <a:lstStyle/>
          <a:p>
            <a:pPr algn="ctr"/>
            <a:r>
              <a:rPr lang="en-US" dirty="0"/>
              <a:t>Outcome</a:t>
            </a:r>
          </a:p>
        </p:txBody>
      </p:sp>
      <p:sp>
        <p:nvSpPr>
          <p:cNvPr id="4" name="TextBox 3">
            <a:extLst>
              <a:ext uri="{FF2B5EF4-FFF2-40B4-BE49-F238E27FC236}">
                <a16:creationId xmlns:a16="http://schemas.microsoft.com/office/drawing/2014/main" id="{19D6D85D-6C9E-48F1-B355-B3DEF83F748F}"/>
              </a:ext>
            </a:extLst>
          </p:cNvPr>
          <p:cNvSpPr txBox="1"/>
          <p:nvPr/>
        </p:nvSpPr>
        <p:spPr>
          <a:xfrm>
            <a:off x="2676388" y="5204568"/>
            <a:ext cx="6486273" cy="369332"/>
          </a:xfrm>
          <a:prstGeom prst="rect">
            <a:avLst/>
          </a:prstGeom>
          <a:solidFill>
            <a:schemeClr val="bg1"/>
          </a:solidFill>
        </p:spPr>
        <p:txBody>
          <a:bodyPr wrap="square" rtlCol="0">
            <a:spAutoFit/>
          </a:bodyPr>
          <a:lstStyle/>
          <a:p>
            <a:pPr algn="ctr"/>
            <a:r>
              <a:rPr lang="en-US" dirty="0"/>
              <a:t>Criteria for Program Participation</a:t>
            </a:r>
          </a:p>
        </p:txBody>
      </p:sp>
    </p:spTree>
    <p:extLst>
      <p:ext uri="{BB962C8B-B14F-4D97-AF65-F5344CB8AC3E}">
        <p14:creationId xmlns:p14="http://schemas.microsoft.com/office/powerpoint/2010/main" val="939149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15E3E19F-E407-4EE9-94F3-F2B4DDDEB3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623" y="1569156"/>
            <a:ext cx="5751688" cy="287584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21ADD931-960E-45B8-81C2-F87A59CA1D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4846" y="1569156"/>
            <a:ext cx="5751687" cy="2875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9244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B6F3E49-8A4B-4899-9A5F-F21604D7AC5D}"/>
              </a:ext>
            </a:extLst>
          </p:cNvPr>
          <p:cNvPicPr>
            <a:picLocks noChangeAspect="1"/>
          </p:cNvPicPr>
          <p:nvPr/>
        </p:nvPicPr>
        <p:blipFill>
          <a:blip r:embed="rId2"/>
          <a:stretch>
            <a:fillRect/>
          </a:stretch>
        </p:blipFill>
        <p:spPr>
          <a:xfrm>
            <a:off x="1638300" y="1709737"/>
            <a:ext cx="8915400" cy="3438525"/>
          </a:xfrm>
          <a:prstGeom prst="rect">
            <a:avLst/>
          </a:prstGeom>
        </p:spPr>
      </p:pic>
    </p:spTree>
    <p:extLst>
      <p:ext uri="{BB962C8B-B14F-4D97-AF65-F5344CB8AC3E}">
        <p14:creationId xmlns:p14="http://schemas.microsoft.com/office/powerpoint/2010/main" val="2885374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5A5F28-6544-42E7-BA6B-50DF97E896D4}"/>
              </a:ext>
            </a:extLst>
          </p:cNvPr>
          <p:cNvPicPr>
            <a:picLocks noChangeAspect="1"/>
          </p:cNvPicPr>
          <p:nvPr/>
        </p:nvPicPr>
        <p:blipFill>
          <a:blip r:embed="rId2"/>
          <a:stretch>
            <a:fillRect/>
          </a:stretch>
        </p:blipFill>
        <p:spPr>
          <a:xfrm>
            <a:off x="391787" y="1833854"/>
            <a:ext cx="6257925" cy="3619500"/>
          </a:xfrm>
          <a:prstGeom prst="rect">
            <a:avLst/>
          </a:prstGeom>
        </p:spPr>
      </p:pic>
      <p:cxnSp>
        <p:nvCxnSpPr>
          <p:cNvPr id="4" name="Straight Arrow Connector 3">
            <a:extLst>
              <a:ext uri="{FF2B5EF4-FFF2-40B4-BE49-F238E27FC236}">
                <a16:creationId xmlns:a16="http://schemas.microsoft.com/office/drawing/2014/main" id="{ACD9443F-15AF-4128-AAC4-A74328E831E0}"/>
              </a:ext>
            </a:extLst>
          </p:cNvPr>
          <p:cNvCxnSpPr/>
          <p:nvPr/>
        </p:nvCxnSpPr>
        <p:spPr>
          <a:xfrm>
            <a:off x="5299788" y="1446245"/>
            <a:ext cx="0" cy="38760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2" descr="Control and treatment group based on the cutoff">
            <a:extLst>
              <a:ext uri="{FF2B5EF4-FFF2-40B4-BE49-F238E27FC236}">
                <a16:creationId xmlns:a16="http://schemas.microsoft.com/office/drawing/2014/main" id="{CB5C7D28-47B3-4639-9265-53D9420E67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7960" y="1961432"/>
            <a:ext cx="4688275" cy="336434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CBF9478-2664-4545-8086-0293C9A190F0}"/>
              </a:ext>
            </a:extLst>
          </p:cNvPr>
          <p:cNvSpPr/>
          <p:nvPr/>
        </p:nvSpPr>
        <p:spPr>
          <a:xfrm rot="16200000">
            <a:off x="6172878" y="2765195"/>
            <a:ext cx="2008744" cy="298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F0DD32E-7309-40F8-9A9A-59FB94CDF9E8}"/>
              </a:ext>
            </a:extLst>
          </p:cNvPr>
          <p:cNvSpPr/>
          <p:nvPr/>
        </p:nvSpPr>
        <p:spPr>
          <a:xfrm>
            <a:off x="7383625" y="4989873"/>
            <a:ext cx="1231640" cy="2985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BBB5F38-9BB0-449B-8FCF-92FACD472F0A}"/>
              </a:ext>
            </a:extLst>
          </p:cNvPr>
          <p:cNvSpPr txBox="1"/>
          <p:nvPr/>
        </p:nvSpPr>
        <p:spPr>
          <a:xfrm>
            <a:off x="4749605" y="670553"/>
            <a:ext cx="1100366" cy="646331"/>
          </a:xfrm>
          <a:prstGeom prst="rect">
            <a:avLst/>
          </a:prstGeom>
          <a:noFill/>
        </p:spPr>
        <p:txBody>
          <a:bodyPr wrap="none" rtlCol="0">
            <a:spAutoFit/>
          </a:bodyPr>
          <a:lstStyle/>
          <a:p>
            <a:pPr algn="ctr"/>
            <a:r>
              <a:rPr lang="en-US" dirty="0">
                <a:solidFill>
                  <a:srgbClr val="FF0000"/>
                </a:solidFill>
              </a:rPr>
              <a:t>Centered </a:t>
            </a:r>
          </a:p>
          <a:p>
            <a:pPr algn="ctr"/>
            <a:r>
              <a:rPr lang="en-US" dirty="0">
                <a:solidFill>
                  <a:srgbClr val="FF0000"/>
                </a:solidFill>
              </a:rPr>
              <a:t>On Cutoff</a:t>
            </a:r>
          </a:p>
        </p:txBody>
      </p:sp>
      <p:sp>
        <p:nvSpPr>
          <p:cNvPr id="10" name="TextBox 9">
            <a:extLst>
              <a:ext uri="{FF2B5EF4-FFF2-40B4-BE49-F238E27FC236}">
                <a16:creationId xmlns:a16="http://schemas.microsoft.com/office/drawing/2014/main" id="{0EDF2360-0DDA-4634-9FF4-EDDC1707FB63}"/>
              </a:ext>
            </a:extLst>
          </p:cNvPr>
          <p:cNvSpPr txBox="1"/>
          <p:nvPr/>
        </p:nvSpPr>
        <p:spPr>
          <a:xfrm>
            <a:off x="9144083" y="4945166"/>
            <a:ext cx="418704" cy="369332"/>
          </a:xfrm>
          <a:prstGeom prst="rect">
            <a:avLst/>
          </a:prstGeom>
          <a:solidFill>
            <a:schemeClr val="bg1"/>
          </a:solidFill>
        </p:spPr>
        <p:txBody>
          <a:bodyPr wrap="none" rtlCol="0">
            <a:spAutoFit/>
          </a:bodyPr>
          <a:lstStyle/>
          <a:p>
            <a:r>
              <a:rPr lang="en-US" dirty="0"/>
              <a:t>20</a:t>
            </a:r>
          </a:p>
        </p:txBody>
      </p:sp>
    </p:spTree>
    <p:extLst>
      <p:ext uri="{BB962C8B-B14F-4D97-AF65-F5344CB8AC3E}">
        <p14:creationId xmlns:p14="http://schemas.microsoft.com/office/powerpoint/2010/main" val="29784286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87D1DBD3-A490-4555-871B-5EA5F06B7F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2175" y="1500188"/>
            <a:ext cx="7867650" cy="3857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510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8788F1F9-042F-4D86-84A3-B9D5104C66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7900" y="1519238"/>
            <a:ext cx="7696200" cy="381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1165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0" name="Picture 4" descr="Introduction to Econometrics with R">
            <a:extLst>
              <a:ext uri="{FF2B5EF4-FFF2-40B4-BE49-F238E27FC236}">
                <a16:creationId xmlns:a16="http://schemas.microsoft.com/office/drawing/2014/main" id="{790A35DD-C869-40B8-B6AE-3E8758549F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0"/>
            <a:ext cx="96012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6324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929D7-A6DE-4C28-9046-F7B060D9D262}"/>
              </a:ext>
            </a:extLst>
          </p:cNvPr>
          <p:cNvSpPr>
            <a:spLocks noGrp="1"/>
          </p:cNvSpPr>
          <p:nvPr>
            <p:ph type="title"/>
          </p:nvPr>
        </p:nvSpPr>
        <p:spPr/>
        <p:txBody>
          <a:bodyPr/>
          <a:lstStyle/>
          <a:p>
            <a:r>
              <a:rPr lang="en-US" dirty="0">
                <a:solidFill>
                  <a:schemeClr val="bg1"/>
                </a:solidFill>
              </a:rPr>
              <a:t>COMPARISON OF METHODS</a:t>
            </a:r>
          </a:p>
        </p:txBody>
      </p:sp>
      <p:sp>
        <p:nvSpPr>
          <p:cNvPr id="3" name="Text Placeholder 2">
            <a:extLst>
              <a:ext uri="{FF2B5EF4-FFF2-40B4-BE49-F238E27FC236}">
                <a16:creationId xmlns:a16="http://schemas.microsoft.com/office/drawing/2014/main" id="{8AF3A0A7-2062-4E7F-8C2E-18B5F1372C4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6385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Regression discontinuity and time series</a:t>
            </a:r>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17352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22B23F73-A1B3-4143-8BF9-6686987E1A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121920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4646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Pay attention to the axis:</a:t>
            </a:r>
          </a:p>
        </p:txBody>
      </p:sp>
      <p:cxnSp>
        <p:nvCxnSpPr>
          <p:cNvPr id="6" name="Straight Connector 5"/>
          <p:cNvCxnSpPr/>
          <p:nvPr/>
        </p:nvCxnSpPr>
        <p:spPr>
          <a:xfrm>
            <a:off x="2743200" y="3124200"/>
            <a:ext cx="0" cy="1981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590800" y="4876800"/>
            <a:ext cx="30480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3116802" y="4476565"/>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0" name="Oval 9"/>
          <p:cNvSpPr/>
          <p:nvPr/>
        </p:nvSpPr>
        <p:spPr>
          <a:xfrm>
            <a:off x="3505200" y="4324165"/>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1" name="Oval 10"/>
          <p:cNvSpPr/>
          <p:nvPr/>
        </p:nvSpPr>
        <p:spPr>
          <a:xfrm>
            <a:off x="3802602" y="4200617"/>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2" name="Oval 11"/>
          <p:cNvSpPr/>
          <p:nvPr/>
        </p:nvSpPr>
        <p:spPr>
          <a:xfrm>
            <a:off x="4107402" y="4124417"/>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3" name="Oval 12"/>
          <p:cNvSpPr/>
          <p:nvPr/>
        </p:nvSpPr>
        <p:spPr>
          <a:xfrm>
            <a:off x="4495800" y="35052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4" name="Oval 13"/>
          <p:cNvSpPr/>
          <p:nvPr/>
        </p:nvSpPr>
        <p:spPr>
          <a:xfrm>
            <a:off x="4800600" y="33528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5" name="Oval 14"/>
          <p:cNvSpPr/>
          <p:nvPr/>
        </p:nvSpPr>
        <p:spPr>
          <a:xfrm>
            <a:off x="5181600" y="3272901"/>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6" name="Oval 15"/>
          <p:cNvSpPr/>
          <p:nvPr/>
        </p:nvSpPr>
        <p:spPr>
          <a:xfrm>
            <a:off x="5410200" y="3120501"/>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18" name="Straight Arrow Connector 17"/>
          <p:cNvCxnSpPr/>
          <p:nvPr/>
        </p:nvCxnSpPr>
        <p:spPr>
          <a:xfrm flipV="1">
            <a:off x="4419600" y="4400366"/>
            <a:ext cx="0" cy="78123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6858000" y="3127899"/>
            <a:ext cx="0" cy="1981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705600" y="4880499"/>
            <a:ext cx="304800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7231602" y="4480264"/>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2" name="Oval 21"/>
          <p:cNvSpPr/>
          <p:nvPr/>
        </p:nvSpPr>
        <p:spPr>
          <a:xfrm>
            <a:off x="7620000" y="4327864"/>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3" name="Oval 22"/>
          <p:cNvSpPr/>
          <p:nvPr/>
        </p:nvSpPr>
        <p:spPr>
          <a:xfrm>
            <a:off x="7917402" y="4204316"/>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4" name="Oval 23"/>
          <p:cNvSpPr/>
          <p:nvPr/>
        </p:nvSpPr>
        <p:spPr>
          <a:xfrm>
            <a:off x="8222202" y="4128116"/>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5" name="Oval 24"/>
          <p:cNvSpPr/>
          <p:nvPr/>
        </p:nvSpPr>
        <p:spPr>
          <a:xfrm>
            <a:off x="8610600" y="3508899"/>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6" name="Oval 25"/>
          <p:cNvSpPr/>
          <p:nvPr/>
        </p:nvSpPr>
        <p:spPr>
          <a:xfrm>
            <a:off x="8915400" y="3356499"/>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7" name="Oval 26"/>
          <p:cNvSpPr/>
          <p:nvPr/>
        </p:nvSpPr>
        <p:spPr>
          <a:xfrm>
            <a:off x="9296400" y="32766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8" name="Oval 27"/>
          <p:cNvSpPr/>
          <p:nvPr/>
        </p:nvSpPr>
        <p:spPr>
          <a:xfrm>
            <a:off x="9525000" y="31242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9" name="Straight Arrow Connector 28"/>
          <p:cNvCxnSpPr/>
          <p:nvPr/>
        </p:nvCxnSpPr>
        <p:spPr>
          <a:xfrm flipV="1">
            <a:off x="8534400" y="4404065"/>
            <a:ext cx="0" cy="78123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929145" y="5416573"/>
            <a:ext cx="980910" cy="369332"/>
          </a:xfrm>
          <a:prstGeom prst="rect">
            <a:avLst/>
          </a:prstGeom>
          <a:noFill/>
        </p:spPr>
        <p:txBody>
          <a:bodyPr wrap="none" rtlCol="0">
            <a:spAutoFit/>
          </a:bodyPr>
          <a:lstStyle/>
          <a:p>
            <a:r>
              <a:rPr lang="en-US" dirty="0">
                <a:solidFill>
                  <a:srgbClr val="FF0000"/>
                </a:solidFill>
                <a:latin typeface="Calibri"/>
              </a:rPr>
              <a:t>Program</a:t>
            </a:r>
          </a:p>
        </p:txBody>
      </p:sp>
      <p:sp>
        <p:nvSpPr>
          <p:cNvPr id="31" name="TextBox 30"/>
          <p:cNvSpPr txBox="1"/>
          <p:nvPr/>
        </p:nvSpPr>
        <p:spPr>
          <a:xfrm>
            <a:off x="7993602" y="5451228"/>
            <a:ext cx="980910" cy="369332"/>
          </a:xfrm>
          <a:prstGeom prst="rect">
            <a:avLst/>
          </a:prstGeom>
          <a:noFill/>
        </p:spPr>
        <p:txBody>
          <a:bodyPr wrap="none" rtlCol="0">
            <a:spAutoFit/>
          </a:bodyPr>
          <a:lstStyle/>
          <a:p>
            <a:r>
              <a:rPr lang="en-US" dirty="0">
                <a:solidFill>
                  <a:srgbClr val="FF0000"/>
                </a:solidFill>
                <a:latin typeface="Calibri"/>
              </a:rPr>
              <a:t>Program</a:t>
            </a:r>
          </a:p>
        </p:txBody>
      </p:sp>
      <p:sp>
        <p:nvSpPr>
          <p:cNvPr id="32" name="TextBox 31"/>
          <p:cNvSpPr txBox="1"/>
          <p:nvPr/>
        </p:nvSpPr>
        <p:spPr>
          <a:xfrm>
            <a:off x="3004502" y="2209800"/>
            <a:ext cx="2481898" cy="369332"/>
          </a:xfrm>
          <a:prstGeom prst="rect">
            <a:avLst/>
          </a:prstGeom>
          <a:noFill/>
        </p:spPr>
        <p:txBody>
          <a:bodyPr wrap="none" rtlCol="0">
            <a:spAutoFit/>
          </a:bodyPr>
          <a:lstStyle/>
          <a:p>
            <a:r>
              <a:rPr lang="en-US" dirty="0">
                <a:solidFill>
                  <a:prstClr val="black"/>
                </a:solidFill>
                <a:latin typeface="Calibri"/>
              </a:rPr>
              <a:t>Regression Discontinuity</a:t>
            </a:r>
          </a:p>
        </p:txBody>
      </p:sp>
      <p:sp>
        <p:nvSpPr>
          <p:cNvPr id="33" name="TextBox 32"/>
          <p:cNvSpPr txBox="1"/>
          <p:nvPr/>
        </p:nvSpPr>
        <p:spPr>
          <a:xfrm>
            <a:off x="7729716" y="2221468"/>
            <a:ext cx="1261884" cy="369332"/>
          </a:xfrm>
          <a:prstGeom prst="rect">
            <a:avLst/>
          </a:prstGeom>
          <a:noFill/>
        </p:spPr>
        <p:txBody>
          <a:bodyPr wrap="none" rtlCol="0">
            <a:spAutoFit/>
          </a:bodyPr>
          <a:lstStyle/>
          <a:p>
            <a:r>
              <a:rPr lang="en-US" dirty="0">
                <a:solidFill>
                  <a:prstClr val="black"/>
                </a:solidFill>
                <a:latin typeface="Calibri"/>
              </a:rPr>
              <a:t>Time Series</a:t>
            </a:r>
          </a:p>
        </p:txBody>
      </p:sp>
    </p:spTree>
    <p:extLst>
      <p:ext uri="{BB962C8B-B14F-4D97-AF65-F5344CB8AC3E}">
        <p14:creationId xmlns:p14="http://schemas.microsoft.com/office/powerpoint/2010/main" val="4044698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Pay attention to the axis:</a:t>
            </a:r>
          </a:p>
        </p:txBody>
      </p:sp>
      <p:cxnSp>
        <p:nvCxnSpPr>
          <p:cNvPr id="6" name="Straight Connector 5"/>
          <p:cNvCxnSpPr/>
          <p:nvPr/>
        </p:nvCxnSpPr>
        <p:spPr>
          <a:xfrm>
            <a:off x="2743200" y="3124200"/>
            <a:ext cx="0" cy="1981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590800" y="4876800"/>
            <a:ext cx="30480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3116802" y="4476565"/>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0" name="Oval 9"/>
          <p:cNvSpPr/>
          <p:nvPr/>
        </p:nvSpPr>
        <p:spPr>
          <a:xfrm>
            <a:off x="3505200" y="4324165"/>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1" name="Oval 10"/>
          <p:cNvSpPr/>
          <p:nvPr/>
        </p:nvSpPr>
        <p:spPr>
          <a:xfrm>
            <a:off x="3802602" y="4200617"/>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2" name="Oval 11"/>
          <p:cNvSpPr/>
          <p:nvPr/>
        </p:nvSpPr>
        <p:spPr>
          <a:xfrm>
            <a:off x="4107402" y="4124417"/>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3" name="Oval 12"/>
          <p:cNvSpPr/>
          <p:nvPr/>
        </p:nvSpPr>
        <p:spPr>
          <a:xfrm>
            <a:off x="4495800" y="35052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4" name="Oval 13"/>
          <p:cNvSpPr/>
          <p:nvPr/>
        </p:nvSpPr>
        <p:spPr>
          <a:xfrm>
            <a:off x="4800600" y="33528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5" name="Oval 14"/>
          <p:cNvSpPr/>
          <p:nvPr/>
        </p:nvSpPr>
        <p:spPr>
          <a:xfrm>
            <a:off x="5181600" y="3272901"/>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16" name="Oval 15"/>
          <p:cNvSpPr/>
          <p:nvPr/>
        </p:nvSpPr>
        <p:spPr>
          <a:xfrm>
            <a:off x="5410200" y="3120501"/>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18" name="Straight Arrow Connector 17"/>
          <p:cNvCxnSpPr/>
          <p:nvPr/>
        </p:nvCxnSpPr>
        <p:spPr>
          <a:xfrm flipV="1">
            <a:off x="4419600" y="4400366"/>
            <a:ext cx="0" cy="78123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6858000" y="3127899"/>
            <a:ext cx="0" cy="1981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6705600" y="4880499"/>
            <a:ext cx="304800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7231602" y="4480264"/>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2" name="Oval 21"/>
          <p:cNvSpPr/>
          <p:nvPr/>
        </p:nvSpPr>
        <p:spPr>
          <a:xfrm>
            <a:off x="7620000" y="4327864"/>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3" name="Oval 22"/>
          <p:cNvSpPr/>
          <p:nvPr/>
        </p:nvSpPr>
        <p:spPr>
          <a:xfrm>
            <a:off x="7917402" y="4204316"/>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4" name="Oval 23"/>
          <p:cNvSpPr/>
          <p:nvPr/>
        </p:nvSpPr>
        <p:spPr>
          <a:xfrm>
            <a:off x="8222202" y="4128116"/>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5" name="Oval 24"/>
          <p:cNvSpPr/>
          <p:nvPr/>
        </p:nvSpPr>
        <p:spPr>
          <a:xfrm>
            <a:off x="8610600" y="3508899"/>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6" name="Oval 25"/>
          <p:cNvSpPr/>
          <p:nvPr/>
        </p:nvSpPr>
        <p:spPr>
          <a:xfrm>
            <a:off x="8915400" y="3356499"/>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7" name="Oval 26"/>
          <p:cNvSpPr/>
          <p:nvPr/>
        </p:nvSpPr>
        <p:spPr>
          <a:xfrm>
            <a:off x="9296400" y="32766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sp>
        <p:nvSpPr>
          <p:cNvPr id="28" name="Oval 27"/>
          <p:cNvSpPr/>
          <p:nvPr/>
        </p:nvSpPr>
        <p:spPr>
          <a:xfrm>
            <a:off x="9525000" y="3124200"/>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29" name="Straight Arrow Connector 28"/>
          <p:cNvCxnSpPr/>
          <p:nvPr/>
        </p:nvCxnSpPr>
        <p:spPr>
          <a:xfrm flipV="1">
            <a:off x="8534400" y="4404065"/>
            <a:ext cx="0" cy="781235"/>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4953001" y="4920735"/>
            <a:ext cx="1026243" cy="646331"/>
          </a:xfrm>
          <a:prstGeom prst="rect">
            <a:avLst/>
          </a:prstGeom>
          <a:noFill/>
        </p:spPr>
        <p:txBody>
          <a:bodyPr wrap="none" rtlCol="0">
            <a:spAutoFit/>
          </a:bodyPr>
          <a:lstStyle/>
          <a:p>
            <a:r>
              <a:rPr lang="en-US" dirty="0">
                <a:solidFill>
                  <a:prstClr val="black"/>
                </a:solidFill>
                <a:latin typeface="Calibri"/>
              </a:rPr>
              <a:t>Eligibility</a:t>
            </a:r>
            <a:br>
              <a:rPr lang="en-US" dirty="0">
                <a:solidFill>
                  <a:prstClr val="black"/>
                </a:solidFill>
                <a:latin typeface="Calibri"/>
              </a:rPr>
            </a:br>
            <a:r>
              <a:rPr lang="en-US" dirty="0">
                <a:solidFill>
                  <a:prstClr val="black"/>
                </a:solidFill>
                <a:latin typeface="Calibri"/>
              </a:rPr>
              <a:t>Criteria</a:t>
            </a:r>
          </a:p>
        </p:txBody>
      </p:sp>
      <p:sp>
        <p:nvSpPr>
          <p:cNvPr id="31" name="TextBox 30"/>
          <p:cNvSpPr txBox="1"/>
          <p:nvPr/>
        </p:nvSpPr>
        <p:spPr>
          <a:xfrm>
            <a:off x="9068653" y="4996934"/>
            <a:ext cx="649537" cy="369332"/>
          </a:xfrm>
          <a:prstGeom prst="rect">
            <a:avLst/>
          </a:prstGeom>
          <a:noFill/>
        </p:spPr>
        <p:txBody>
          <a:bodyPr wrap="none" rtlCol="0">
            <a:spAutoFit/>
          </a:bodyPr>
          <a:lstStyle/>
          <a:p>
            <a:r>
              <a:rPr lang="en-US" dirty="0">
                <a:solidFill>
                  <a:prstClr val="black"/>
                </a:solidFill>
                <a:latin typeface="Calibri"/>
              </a:rPr>
              <a:t>Time</a:t>
            </a:r>
          </a:p>
        </p:txBody>
      </p:sp>
      <p:sp>
        <p:nvSpPr>
          <p:cNvPr id="32" name="TextBox 31"/>
          <p:cNvSpPr txBox="1"/>
          <p:nvPr/>
        </p:nvSpPr>
        <p:spPr>
          <a:xfrm>
            <a:off x="3004502" y="2209800"/>
            <a:ext cx="2481898" cy="369332"/>
          </a:xfrm>
          <a:prstGeom prst="rect">
            <a:avLst/>
          </a:prstGeom>
          <a:noFill/>
        </p:spPr>
        <p:txBody>
          <a:bodyPr wrap="none" rtlCol="0">
            <a:spAutoFit/>
          </a:bodyPr>
          <a:lstStyle/>
          <a:p>
            <a:r>
              <a:rPr lang="en-US" dirty="0">
                <a:solidFill>
                  <a:prstClr val="black"/>
                </a:solidFill>
                <a:latin typeface="Calibri"/>
              </a:rPr>
              <a:t>Regression Discontinuity</a:t>
            </a:r>
          </a:p>
        </p:txBody>
      </p:sp>
      <p:sp>
        <p:nvSpPr>
          <p:cNvPr id="33" name="TextBox 32"/>
          <p:cNvSpPr txBox="1"/>
          <p:nvPr/>
        </p:nvSpPr>
        <p:spPr>
          <a:xfrm>
            <a:off x="7729716" y="2221468"/>
            <a:ext cx="1261884" cy="369332"/>
          </a:xfrm>
          <a:prstGeom prst="rect">
            <a:avLst/>
          </a:prstGeom>
          <a:noFill/>
        </p:spPr>
        <p:txBody>
          <a:bodyPr wrap="none" rtlCol="0">
            <a:spAutoFit/>
          </a:bodyPr>
          <a:lstStyle/>
          <a:p>
            <a:r>
              <a:rPr lang="en-US" dirty="0">
                <a:solidFill>
                  <a:prstClr val="black"/>
                </a:solidFill>
                <a:latin typeface="Calibri"/>
              </a:rPr>
              <a:t>Time Series</a:t>
            </a:r>
          </a:p>
        </p:txBody>
      </p:sp>
    </p:spTree>
    <p:extLst>
      <p:ext uri="{BB962C8B-B14F-4D97-AF65-F5344CB8AC3E}">
        <p14:creationId xmlns:p14="http://schemas.microsoft.com/office/powerpoint/2010/main" val="1972839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Interrupted Time Series Regression Models:</a:t>
            </a:r>
          </a:p>
        </p:txBody>
      </p:sp>
      <p:graphicFrame>
        <p:nvGraphicFramePr>
          <p:cNvPr id="4" name="Object 3"/>
          <p:cNvGraphicFramePr>
            <a:graphicFrameLocks noChangeAspect="1"/>
          </p:cNvGraphicFramePr>
          <p:nvPr/>
        </p:nvGraphicFramePr>
        <p:xfrm>
          <a:off x="3886200" y="1295400"/>
          <a:ext cx="4470400" cy="609600"/>
        </p:xfrm>
        <a:graphic>
          <a:graphicData uri="http://schemas.openxmlformats.org/presentationml/2006/ole">
            <mc:AlternateContent xmlns:mc="http://schemas.openxmlformats.org/markup-compatibility/2006">
              <mc:Choice xmlns:v="urn:schemas-microsoft-com:vml" Requires="v">
                <p:oleObj spid="_x0000_s10245" name="Equation" r:id="rId3" imgW="1676160" imgH="228600" progId="Equation.3">
                  <p:embed/>
                </p:oleObj>
              </mc:Choice>
              <mc:Fallback>
                <p:oleObj name="Equation" r:id="rId3" imgW="1676160" imgH="228600" progId="Equation.3">
                  <p:embed/>
                  <p:pic>
                    <p:nvPicPr>
                      <p:cNvPr id="4" name="Object 3"/>
                      <p:cNvPicPr/>
                      <p:nvPr/>
                    </p:nvPicPr>
                    <p:blipFill>
                      <a:blip r:embed="rId4"/>
                      <a:stretch>
                        <a:fillRect/>
                      </a:stretch>
                    </p:blipFill>
                    <p:spPr>
                      <a:xfrm>
                        <a:off x="3886200" y="1295400"/>
                        <a:ext cx="4470400" cy="609600"/>
                      </a:xfrm>
                      <a:prstGeom prst="rect">
                        <a:avLst/>
                      </a:prstGeom>
                    </p:spPr>
                  </p:pic>
                </p:oleObj>
              </mc:Fallback>
            </mc:AlternateContent>
          </a:graphicData>
        </a:graphic>
      </p:graphicFrame>
      <p:graphicFrame>
        <p:nvGraphicFramePr>
          <p:cNvPr id="6" name="Table 5"/>
          <p:cNvGraphicFramePr>
            <a:graphicFrameLocks noGrp="1"/>
          </p:cNvGraphicFramePr>
          <p:nvPr/>
        </p:nvGraphicFramePr>
        <p:xfrm>
          <a:off x="3505200" y="3429000"/>
          <a:ext cx="5257800" cy="2926080"/>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20000"/>
                    </a:ext>
                  </a:extLst>
                </a:gridCol>
                <a:gridCol w="1314450">
                  <a:extLst>
                    <a:ext uri="{9D8B030D-6E8A-4147-A177-3AD203B41FA5}">
                      <a16:colId xmlns:a16="http://schemas.microsoft.com/office/drawing/2014/main" val="20001"/>
                    </a:ext>
                  </a:extLst>
                </a:gridCol>
                <a:gridCol w="1314450">
                  <a:extLst>
                    <a:ext uri="{9D8B030D-6E8A-4147-A177-3AD203B41FA5}">
                      <a16:colId xmlns:a16="http://schemas.microsoft.com/office/drawing/2014/main" val="20002"/>
                    </a:ext>
                  </a:extLst>
                </a:gridCol>
                <a:gridCol w="1314450">
                  <a:extLst>
                    <a:ext uri="{9D8B030D-6E8A-4147-A177-3AD203B41FA5}">
                      <a16:colId xmlns:a16="http://schemas.microsoft.com/office/drawing/2014/main" val="20003"/>
                    </a:ext>
                  </a:extLst>
                </a:gridCol>
              </a:tblGrid>
              <a:tr h="304800">
                <a:tc>
                  <a:txBody>
                    <a:bodyPr/>
                    <a:lstStyle/>
                    <a:p>
                      <a:pPr algn="ctr"/>
                      <a:r>
                        <a:rPr lang="en-US" dirty="0"/>
                        <a:t>Y</a:t>
                      </a:r>
                    </a:p>
                  </a:txBody>
                  <a:tcPr/>
                </a:tc>
                <a:tc>
                  <a:txBody>
                    <a:bodyPr/>
                    <a:lstStyle/>
                    <a:p>
                      <a:pPr algn="ctr"/>
                      <a:r>
                        <a:rPr lang="en-US" dirty="0"/>
                        <a:t>T</a:t>
                      </a:r>
                    </a:p>
                  </a:txBody>
                  <a:tcPr/>
                </a:tc>
                <a:tc>
                  <a:txBody>
                    <a:bodyPr/>
                    <a:lstStyle/>
                    <a:p>
                      <a:pPr algn="ctr"/>
                      <a:r>
                        <a:rPr lang="en-US" dirty="0"/>
                        <a:t>D</a:t>
                      </a:r>
                    </a:p>
                  </a:txBody>
                  <a:tcPr/>
                </a:tc>
                <a:tc>
                  <a:txBody>
                    <a:bodyPr/>
                    <a:lstStyle/>
                    <a:p>
                      <a:pPr algn="ctr"/>
                      <a:r>
                        <a:rPr lang="en-US" dirty="0"/>
                        <a:t>P</a:t>
                      </a:r>
                    </a:p>
                  </a:txBody>
                  <a:tcPr/>
                </a:tc>
                <a:extLst>
                  <a:ext uri="{0D108BD9-81ED-4DB2-BD59-A6C34878D82A}">
                    <a16:rowId xmlns:a16="http://schemas.microsoft.com/office/drawing/2014/main" val="10000"/>
                  </a:ext>
                </a:extLst>
              </a:tr>
              <a:tr h="304800">
                <a:tc>
                  <a:txBody>
                    <a:bodyPr/>
                    <a:lstStyle/>
                    <a:p>
                      <a:pPr algn="ctr"/>
                      <a:r>
                        <a:rPr lang="en-US" dirty="0"/>
                        <a:t>17</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0001"/>
                  </a:ext>
                </a:extLst>
              </a:tr>
              <a:tr h="304800">
                <a:tc>
                  <a:txBody>
                    <a:bodyPr/>
                    <a:lstStyle/>
                    <a:p>
                      <a:pPr algn="ctr"/>
                      <a:r>
                        <a:rPr lang="en-US" dirty="0"/>
                        <a:t>19</a:t>
                      </a:r>
                    </a:p>
                  </a:txBody>
                  <a:tcPr/>
                </a:tc>
                <a:tc>
                  <a:txBody>
                    <a:bodyPr/>
                    <a:lstStyle/>
                    <a:p>
                      <a:pPr algn="ctr"/>
                      <a:r>
                        <a:rPr lang="en-US" dirty="0"/>
                        <a:t>2</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0002"/>
                  </a:ext>
                </a:extLst>
              </a:tr>
              <a:tr h="304800">
                <a:tc>
                  <a:txBody>
                    <a:bodyPr/>
                    <a:lstStyle/>
                    <a:p>
                      <a:pPr algn="ctr"/>
                      <a:r>
                        <a:rPr lang="en-US" dirty="0"/>
                        <a:t>22</a:t>
                      </a:r>
                    </a:p>
                  </a:txBody>
                  <a:tcPr/>
                </a:tc>
                <a:tc>
                  <a:txBody>
                    <a:bodyPr/>
                    <a:lstStyle/>
                    <a:p>
                      <a:pPr algn="ctr"/>
                      <a:r>
                        <a:rPr lang="en-US" dirty="0"/>
                        <a:t>3</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0003"/>
                  </a:ext>
                </a:extLst>
              </a:tr>
              <a:tr h="304800">
                <a:tc>
                  <a:txBody>
                    <a:bodyPr/>
                    <a:lstStyle/>
                    <a:p>
                      <a:pPr algn="ctr"/>
                      <a:r>
                        <a:rPr lang="en-US" dirty="0"/>
                        <a:t>24</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0004"/>
                  </a:ext>
                </a:extLst>
              </a:tr>
              <a:tr h="304800">
                <a:tc>
                  <a:txBody>
                    <a:bodyPr/>
                    <a:lstStyle/>
                    <a:p>
                      <a:pPr algn="ctr"/>
                      <a:r>
                        <a:rPr lang="en-US" dirty="0"/>
                        <a:t>27</a:t>
                      </a:r>
                    </a:p>
                  </a:txBody>
                  <a:tcPr/>
                </a:tc>
                <a:tc>
                  <a:txBody>
                    <a:bodyPr/>
                    <a:lstStyle/>
                    <a:p>
                      <a:pPr algn="ctr"/>
                      <a:r>
                        <a:rPr lang="en-US" dirty="0"/>
                        <a:t>5</a:t>
                      </a:r>
                    </a:p>
                  </a:txBody>
                  <a:tcPr/>
                </a:tc>
                <a:tc>
                  <a:txBody>
                    <a:bodyPr/>
                    <a:lstStyle/>
                    <a:p>
                      <a:pPr algn="ctr"/>
                      <a:r>
                        <a:rPr lang="en-US" dirty="0"/>
                        <a:t>1</a:t>
                      </a:r>
                    </a:p>
                  </a:txBody>
                  <a:tcPr/>
                </a:tc>
                <a:tc>
                  <a:txBody>
                    <a:bodyPr/>
                    <a:lstStyle/>
                    <a:p>
                      <a:pPr algn="ctr"/>
                      <a:r>
                        <a:rPr lang="en-US" dirty="0"/>
                        <a:t>2</a:t>
                      </a:r>
                    </a:p>
                  </a:txBody>
                  <a:tcPr/>
                </a:tc>
                <a:extLst>
                  <a:ext uri="{0D108BD9-81ED-4DB2-BD59-A6C34878D82A}">
                    <a16:rowId xmlns:a16="http://schemas.microsoft.com/office/drawing/2014/main" val="10005"/>
                  </a:ext>
                </a:extLst>
              </a:tr>
              <a:tr h="304800">
                <a:tc>
                  <a:txBody>
                    <a:bodyPr/>
                    <a:lstStyle/>
                    <a:p>
                      <a:pPr algn="ctr"/>
                      <a:r>
                        <a:rPr lang="en-US" dirty="0"/>
                        <a:t>27</a:t>
                      </a:r>
                    </a:p>
                  </a:txBody>
                  <a:tcPr/>
                </a:tc>
                <a:tc>
                  <a:txBody>
                    <a:bodyPr/>
                    <a:lstStyle/>
                    <a:p>
                      <a:pPr algn="ctr"/>
                      <a:r>
                        <a:rPr lang="en-US" dirty="0"/>
                        <a:t>6</a:t>
                      </a:r>
                    </a:p>
                  </a:txBody>
                  <a:tcPr/>
                </a:tc>
                <a:tc>
                  <a:txBody>
                    <a:bodyPr/>
                    <a:lstStyle/>
                    <a:p>
                      <a:pPr algn="ctr"/>
                      <a:r>
                        <a:rPr lang="en-US" dirty="0"/>
                        <a:t>1</a:t>
                      </a:r>
                    </a:p>
                  </a:txBody>
                  <a:tcPr/>
                </a:tc>
                <a:tc>
                  <a:txBody>
                    <a:bodyPr/>
                    <a:lstStyle/>
                    <a:p>
                      <a:pPr algn="ctr"/>
                      <a:r>
                        <a:rPr lang="en-US" dirty="0"/>
                        <a:t>3</a:t>
                      </a:r>
                    </a:p>
                  </a:txBody>
                  <a:tcPr/>
                </a:tc>
                <a:extLst>
                  <a:ext uri="{0D108BD9-81ED-4DB2-BD59-A6C34878D82A}">
                    <a16:rowId xmlns:a16="http://schemas.microsoft.com/office/drawing/2014/main" val="10006"/>
                  </a:ext>
                </a:extLst>
              </a:tr>
              <a:tr h="304800">
                <a:tc>
                  <a:txBody>
                    <a:bodyPr/>
                    <a:lstStyle/>
                    <a:p>
                      <a:pPr algn="ctr"/>
                      <a:r>
                        <a:rPr lang="en-US" dirty="0"/>
                        <a:t>30</a:t>
                      </a:r>
                    </a:p>
                  </a:txBody>
                  <a:tcPr/>
                </a:tc>
                <a:tc>
                  <a:txBody>
                    <a:bodyPr/>
                    <a:lstStyle/>
                    <a:p>
                      <a:pPr algn="ctr"/>
                      <a:r>
                        <a:rPr lang="en-US" dirty="0"/>
                        <a:t>7</a:t>
                      </a:r>
                    </a:p>
                  </a:txBody>
                  <a:tcPr/>
                </a:tc>
                <a:tc>
                  <a:txBody>
                    <a:bodyPr/>
                    <a:lstStyle/>
                    <a:p>
                      <a:pPr algn="ctr"/>
                      <a:r>
                        <a:rPr lang="en-US" dirty="0"/>
                        <a:t>1</a:t>
                      </a:r>
                    </a:p>
                  </a:txBody>
                  <a:tcPr/>
                </a:tc>
                <a:tc>
                  <a:txBody>
                    <a:bodyPr/>
                    <a:lstStyle/>
                    <a:p>
                      <a:pPr algn="ctr"/>
                      <a:r>
                        <a:rPr lang="en-US" dirty="0"/>
                        <a:t>4</a:t>
                      </a:r>
                    </a:p>
                  </a:txBody>
                  <a:tcPr/>
                </a:tc>
                <a:extLst>
                  <a:ext uri="{0D108BD9-81ED-4DB2-BD59-A6C34878D82A}">
                    <a16:rowId xmlns:a16="http://schemas.microsoft.com/office/drawing/2014/main" val="10007"/>
                  </a:ext>
                </a:extLst>
              </a:tr>
            </a:tbl>
          </a:graphicData>
        </a:graphic>
      </p:graphicFrame>
      <p:sp>
        <p:nvSpPr>
          <p:cNvPr id="3" name="TextBox 2"/>
          <p:cNvSpPr txBox="1"/>
          <p:nvPr/>
        </p:nvSpPr>
        <p:spPr>
          <a:xfrm>
            <a:off x="4572001" y="1981201"/>
            <a:ext cx="2880853" cy="1200329"/>
          </a:xfrm>
          <a:prstGeom prst="rect">
            <a:avLst/>
          </a:prstGeom>
          <a:noFill/>
        </p:spPr>
        <p:txBody>
          <a:bodyPr wrap="none" rtlCol="0">
            <a:spAutoFit/>
          </a:bodyPr>
          <a:lstStyle/>
          <a:p>
            <a:r>
              <a:rPr lang="en-US" dirty="0">
                <a:solidFill>
                  <a:prstClr val="black"/>
                </a:solidFill>
                <a:latin typeface="Calibri"/>
              </a:rPr>
              <a:t>Y = outcome</a:t>
            </a:r>
            <a:br>
              <a:rPr lang="en-US" dirty="0">
                <a:solidFill>
                  <a:prstClr val="black"/>
                </a:solidFill>
                <a:latin typeface="Calibri"/>
              </a:rPr>
            </a:br>
            <a:r>
              <a:rPr lang="en-US" dirty="0">
                <a:solidFill>
                  <a:prstClr val="black"/>
                </a:solidFill>
                <a:latin typeface="Calibri"/>
              </a:rPr>
              <a:t>T = time</a:t>
            </a:r>
          </a:p>
          <a:p>
            <a:r>
              <a:rPr lang="en-US" dirty="0">
                <a:solidFill>
                  <a:prstClr val="black"/>
                </a:solidFill>
                <a:latin typeface="Calibri"/>
              </a:rPr>
              <a:t>D = dummy</a:t>
            </a:r>
          </a:p>
          <a:p>
            <a:r>
              <a:rPr lang="en-US" dirty="0">
                <a:solidFill>
                  <a:prstClr val="black"/>
                </a:solidFill>
                <a:latin typeface="Calibri"/>
              </a:rPr>
              <a:t>P = time after program starts</a:t>
            </a:r>
          </a:p>
        </p:txBody>
      </p:sp>
    </p:spTree>
    <p:extLst>
      <p:ext uri="{BB962C8B-B14F-4D97-AF65-F5344CB8AC3E}">
        <p14:creationId xmlns:p14="http://schemas.microsoft.com/office/powerpoint/2010/main" val="33392771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Interrupted Time Series </a:t>
            </a:r>
            <a:br>
              <a:rPr lang="en-US" dirty="0"/>
            </a:br>
            <a:r>
              <a:rPr lang="en-US" dirty="0"/>
              <a:t>Regression Models:</a:t>
            </a:r>
          </a:p>
        </p:txBody>
      </p:sp>
      <p:graphicFrame>
        <p:nvGraphicFramePr>
          <p:cNvPr id="4" name="Object 3"/>
          <p:cNvGraphicFramePr>
            <a:graphicFrameLocks noChangeAspect="1"/>
          </p:cNvGraphicFramePr>
          <p:nvPr/>
        </p:nvGraphicFramePr>
        <p:xfrm>
          <a:off x="3835400" y="2286000"/>
          <a:ext cx="4470400" cy="609600"/>
        </p:xfrm>
        <a:graphic>
          <a:graphicData uri="http://schemas.openxmlformats.org/presentationml/2006/ole">
            <mc:AlternateContent xmlns:mc="http://schemas.openxmlformats.org/markup-compatibility/2006">
              <mc:Choice xmlns:v="urn:schemas-microsoft-com:vml" Requires="v">
                <p:oleObj spid="_x0000_s11269" name="Equation" r:id="rId3" imgW="1676160" imgH="228600" progId="Equation.3">
                  <p:embed/>
                </p:oleObj>
              </mc:Choice>
              <mc:Fallback>
                <p:oleObj name="Equation" r:id="rId3" imgW="1676160" imgH="228600" progId="Equation.3">
                  <p:embed/>
                  <p:pic>
                    <p:nvPicPr>
                      <p:cNvPr id="4" name="Object 3"/>
                      <p:cNvPicPr/>
                      <p:nvPr/>
                    </p:nvPicPr>
                    <p:blipFill>
                      <a:blip r:embed="rId4"/>
                      <a:stretch>
                        <a:fillRect/>
                      </a:stretch>
                    </p:blipFill>
                    <p:spPr>
                      <a:xfrm>
                        <a:off x="3835400" y="2286000"/>
                        <a:ext cx="4470400" cy="609600"/>
                      </a:xfrm>
                      <a:prstGeom prst="rect">
                        <a:avLst/>
                      </a:prstGeom>
                    </p:spPr>
                  </p:pic>
                </p:oleObj>
              </mc:Fallback>
            </mc:AlternateContent>
          </a:graphicData>
        </a:graphic>
      </p:graphicFrame>
      <p:graphicFrame>
        <p:nvGraphicFramePr>
          <p:cNvPr id="6" name="Table 5"/>
          <p:cNvGraphicFramePr>
            <a:graphicFrameLocks noGrp="1"/>
          </p:cNvGraphicFramePr>
          <p:nvPr/>
        </p:nvGraphicFramePr>
        <p:xfrm>
          <a:off x="1828800" y="3505200"/>
          <a:ext cx="2590800" cy="2926080"/>
        </p:xfrm>
        <a:graphic>
          <a:graphicData uri="http://schemas.openxmlformats.org/drawingml/2006/table">
            <a:tbl>
              <a:tblPr firstRow="1" bandRow="1">
                <a:tableStyleId>{5C22544A-7EE6-4342-B048-85BDC9FD1C3A}</a:tableStyleId>
              </a:tblPr>
              <a:tblGrid>
                <a:gridCol w="647700">
                  <a:extLst>
                    <a:ext uri="{9D8B030D-6E8A-4147-A177-3AD203B41FA5}">
                      <a16:colId xmlns:a16="http://schemas.microsoft.com/office/drawing/2014/main" val="20000"/>
                    </a:ext>
                  </a:extLst>
                </a:gridCol>
                <a:gridCol w="647700">
                  <a:extLst>
                    <a:ext uri="{9D8B030D-6E8A-4147-A177-3AD203B41FA5}">
                      <a16:colId xmlns:a16="http://schemas.microsoft.com/office/drawing/2014/main" val="20001"/>
                    </a:ext>
                  </a:extLst>
                </a:gridCol>
                <a:gridCol w="647700">
                  <a:extLst>
                    <a:ext uri="{9D8B030D-6E8A-4147-A177-3AD203B41FA5}">
                      <a16:colId xmlns:a16="http://schemas.microsoft.com/office/drawing/2014/main" val="20002"/>
                    </a:ext>
                  </a:extLst>
                </a:gridCol>
                <a:gridCol w="647700">
                  <a:extLst>
                    <a:ext uri="{9D8B030D-6E8A-4147-A177-3AD203B41FA5}">
                      <a16:colId xmlns:a16="http://schemas.microsoft.com/office/drawing/2014/main" val="20003"/>
                    </a:ext>
                  </a:extLst>
                </a:gridCol>
              </a:tblGrid>
              <a:tr h="323850">
                <a:tc>
                  <a:txBody>
                    <a:bodyPr/>
                    <a:lstStyle/>
                    <a:p>
                      <a:pPr algn="ctr"/>
                      <a:r>
                        <a:rPr lang="en-US" dirty="0"/>
                        <a:t>Y</a:t>
                      </a:r>
                    </a:p>
                  </a:txBody>
                  <a:tcPr/>
                </a:tc>
                <a:tc>
                  <a:txBody>
                    <a:bodyPr/>
                    <a:lstStyle/>
                    <a:p>
                      <a:pPr algn="ctr"/>
                      <a:r>
                        <a:rPr lang="en-US" dirty="0"/>
                        <a:t>T</a:t>
                      </a:r>
                    </a:p>
                  </a:txBody>
                  <a:tcPr/>
                </a:tc>
                <a:tc>
                  <a:txBody>
                    <a:bodyPr/>
                    <a:lstStyle/>
                    <a:p>
                      <a:pPr algn="ctr"/>
                      <a:r>
                        <a:rPr lang="en-US" dirty="0"/>
                        <a:t>D</a:t>
                      </a:r>
                    </a:p>
                  </a:txBody>
                  <a:tcPr/>
                </a:tc>
                <a:tc>
                  <a:txBody>
                    <a:bodyPr/>
                    <a:lstStyle/>
                    <a:p>
                      <a:pPr algn="ctr"/>
                      <a:r>
                        <a:rPr lang="en-US" dirty="0"/>
                        <a:t>P</a:t>
                      </a:r>
                    </a:p>
                  </a:txBody>
                  <a:tcPr/>
                </a:tc>
                <a:extLst>
                  <a:ext uri="{0D108BD9-81ED-4DB2-BD59-A6C34878D82A}">
                    <a16:rowId xmlns:a16="http://schemas.microsoft.com/office/drawing/2014/main" val="10000"/>
                  </a:ext>
                </a:extLst>
              </a:tr>
              <a:tr h="323850">
                <a:tc>
                  <a:txBody>
                    <a:bodyPr/>
                    <a:lstStyle/>
                    <a:p>
                      <a:pPr algn="ctr"/>
                      <a:r>
                        <a:rPr lang="en-US" dirty="0"/>
                        <a:t>17</a:t>
                      </a:r>
                    </a:p>
                  </a:txBody>
                  <a:tcPr/>
                </a:tc>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0001"/>
                  </a:ext>
                </a:extLst>
              </a:tr>
              <a:tr h="323850">
                <a:tc>
                  <a:txBody>
                    <a:bodyPr/>
                    <a:lstStyle/>
                    <a:p>
                      <a:pPr algn="ctr"/>
                      <a:r>
                        <a:rPr lang="en-US" dirty="0"/>
                        <a:t>19</a:t>
                      </a:r>
                    </a:p>
                  </a:txBody>
                  <a:tcPr/>
                </a:tc>
                <a:tc>
                  <a:txBody>
                    <a:bodyPr/>
                    <a:lstStyle/>
                    <a:p>
                      <a:pPr algn="ctr"/>
                      <a:r>
                        <a:rPr lang="en-US" dirty="0"/>
                        <a:t>2</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0002"/>
                  </a:ext>
                </a:extLst>
              </a:tr>
              <a:tr h="323850">
                <a:tc>
                  <a:txBody>
                    <a:bodyPr/>
                    <a:lstStyle/>
                    <a:p>
                      <a:pPr algn="ctr"/>
                      <a:r>
                        <a:rPr lang="en-US" dirty="0"/>
                        <a:t>22</a:t>
                      </a:r>
                    </a:p>
                  </a:txBody>
                  <a:tcPr/>
                </a:tc>
                <a:tc>
                  <a:txBody>
                    <a:bodyPr/>
                    <a:lstStyle/>
                    <a:p>
                      <a:pPr algn="ctr"/>
                      <a:r>
                        <a:rPr lang="en-US" dirty="0"/>
                        <a:t>3</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0003"/>
                  </a:ext>
                </a:extLst>
              </a:tr>
              <a:tr h="323850">
                <a:tc>
                  <a:txBody>
                    <a:bodyPr/>
                    <a:lstStyle/>
                    <a:p>
                      <a:pPr algn="ctr"/>
                      <a:r>
                        <a:rPr lang="en-US" dirty="0"/>
                        <a:t>24</a:t>
                      </a:r>
                    </a:p>
                  </a:txBody>
                  <a:tcPr/>
                </a:tc>
                <a:tc>
                  <a:txBody>
                    <a:bodyPr/>
                    <a:lstStyle/>
                    <a:p>
                      <a:pPr algn="ctr"/>
                      <a:r>
                        <a:rPr lang="en-US" dirty="0"/>
                        <a:t>4</a:t>
                      </a:r>
                    </a:p>
                  </a:txBody>
                  <a:tcPr/>
                </a:tc>
                <a:tc>
                  <a:txBody>
                    <a:bodyPr/>
                    <a:lstStyle/>
                    <a:p>
                      <a:pPr algn="ctr"/>
                      <a:r>
                        <a:rPr lang="en-US" dirty="0"/>
                        <a:t>1</a:t>
                      </a:r>
                    </a:p>
                  </a:txBody>
                  <a:tcPr/>
                </a:tc>
                <a:tc>
                  <a:txBody>
                    <a:bodyPr/>
                    <a:lstStyle/>
                    <a:p>
                      <a:pPr algn="ctr"/>
                      <a:r>
                        <a:rPr lang="en-US" dirty="0"/>
                        <a:t>1</a:t>
                      </a:r>
                    </a:p>
                  </a:txBody>
                  <a:tcPr/>
                </a:tc>
                <a:extLst>
                  <a:ext uri="{0D108BD9-81ED-4DB2-BD59-A6C34878D82A}">
                    <a16:rowId xmlns:a16="http://schemas.microsoft.com/office/drawing/2014/main" val="10004"/>
                  </a:ext>
                </a:extLst>
              </a:tr>
              <a:tr h="323850">
                <a:tc>
                  <a:txBody>
                    <a:bodyPr/>
                    <a:lstStyle/>
                    <a:p>
                      <a:pPr algn="ctr"/>
                      <a:r>
                        <a:rPr lang="en-US" dirty="0"/>
                        <a:t>27</a:t>
                      </a:r>
                    </a:p>
                  </a:txBody>
                  <a:tcPr/>
                </a:tc>
                <a:tc>
                  <a:txBody>
                    <a:bodyPr/>
                    <a:lstStyle/>
                    <a:p>
                      <a:pPr algn="ctr"/>
                      <a:r>
                        <a:rPr lang="en-US" dirty="0"/>
                        <a:t>5</a:t>
                      </a:r>
                    </a:p>
                  </a:txBody>
                  <a:tcPr/>
                </a:tc>
                <a:tc>
                  <a:txBody>
                    <a:bodyPr/>
                    <a:lstStyle/>
                    <a:p>
                      <a:pPr algn="ctr"/>
                      <a:r>
                        <a:rPr lang="en-US" dirty="0"/>
                        <a:t>1</a:t>
                      </a:r>
                    </a:p>
                  </a:txBody>
                  <a:tcPr/>
                </a:tc>
                <a:tc>
                  <a:txBody>
                    <a:bodyPr/>
                    <a:lstStyle/>
                    <a:p>
                      <a:pPr algn="ctr"/>
                      <a:r>
                        <a:rPr lang="en-US" dirty="0"/>
                        <a:t>2</a:t>
                      </a:r>
                    </a:p>
                  </a:txBody>
                  <a:tcPr/>
                </a:tc>
                <a:extLst>
                  <a:ext uri="{0D108BD9-81ED-4DB2-BD59-A6C34878D82A}">
                    <a16:rowId xmlns:a16="http://schemas.microsoft.com/office/drawing/2014/main" val="10005"/>
                  </a:ext>
                </a:extLst>
              </a:tr>
              <a:tr h="323850">
                <a:tc>
                  <a:txBody>
                    <a:bodyPr/>
                    <a:lstStyle/>
                    <a:p>
                      <a:pPr algn="ctr"/>
                      <a:r>
                        <a:rPr lang="en-US" dirty="0"/>
                        <a:t>27</a:t>
                      </a:r>
                    </a:p>
                  </a:txBody>
                  <a:tcPr/>
                </a:tc>
                <a:tc>
                  <a:txBody>
                    <a:bodyPr/>
                    <a:lstStyle/>
                    <a:p>
                      <a:pPr algn="ctr"/>
                      <a:r>
                        <a:rPr lang="en-US" dirty="0"/>
                        <a:t>6</a:t>
                      </a:r>
                    </a:p>
                  </a:txBody>
                  <a:tcPr/>
                </a:tc>
                <a:tc>
                  <a:txBody>
                    <a:bodyPr/>
                    <a:lstStyle/>
                    <a:p>
                      <a:pPr algn="ctr"/>
                      <a:r>
                        <a:rPr lang="en-US" dirty="0"/>
                        <a:t>1</a:t>
                      </a:r>
                    </a:p>
                  </a:txBody>
                  <a:tcPr/>
                </a:tc>
                <a:tc>
                  <a:txBody>
                    <a:bodyPr/>
                    <a:lstStyle/>
                    <a:p>
                      <a:pPr algn="ctr"/>
                      <a:r>
                        <a:rPr lang="en-US" dirty="0"/>
                        <a:t>3</a:t>
                      </a:r>
                    </a:p>
                  </a:txBody>
                  <a:tcPr/>
                </a:tc>
                <a:extLst>
                  <a:ext uri="{0D108BD9-81ED-4DB2-BD59-A6C34878D82A}">
                    <a16:rowId xmlns:a16="http://schemas.microsoft.com/office/drawing/2014/main" val="10006"/>
                  </a:ext>
                </a:extLst>
              </a:tr>
              <a:tr h="323850">
                <a:tc>
                  <a:txBody>
                    <a:bodyPr/>
                    <a:lstStyle/>
                    <a:p>
                      <a:pPr algn="ctr"/>
                      <a:r>
                        <a:rPr lang="en-US" dirty="0"/>
                        <a:t>30</a:t>
                      </a:r>
                    </a:p>
                  </a:txBody>
                  <a:tcPr/>
                </a:tc>
                <a:tc>
                  <a:txBody>
                    <a:bodyPr/>
                    <a:lstStyle/>
                    <a:p>
                      <a:pPr algn="ctr"/>
                      <a:r>
                        <a:rPr lang="en-US" dirty="0"/>
                        <a:t>7</a:t>
                      </a:r>
                    </a:p>
                  </a:txBody>
                  <a:tcPr/>
                </a:tc>
                <a:tc>
                  <a:txBody>
                    <a:bodyPr/>
                    <a:lstStyle/>
                    <a:p>
                      <a:pPr algn="ctr"/>
                      <a:r>
                        <a:rPr lang="en-US" dirty="0"/>
                        <a:t>1</a:t>
                      </a:r>
                    </a:p>
                  </a:txBody>
                  <a:tcPr/>
                </a:tc>
                <a:tc>
                  <a:txBody>
                    <a:bodyPr/>
                    <a:lstStyle/>
                    <a:p>
                      <a:pPr algn="ctr"/>
                      <a:r>
                        <a:rPr lang="en-US" dirty="0"/>
                        <a:t>4</a:t>
                      </a:r>
                    </a:p>
                  </a:txBody>
                  <a:tcPr/>
                </a:tc>
                <a:extLst>
                  <a:ext uri="{0D108BD9-81ED-4DB2-BD59-A6C34878D82A}">
                    <a16:rowId xmlns:a16="http://schemas.microsoft.com/office/drawing/2014/main" val="10007"/>
                  </a:ext>
                </a:extLst>
              </a:tr>
            </a:tbl>
          </a:graphicData>
        </a:graphic>
      </p:graphicFrame>
      <p:pic>
        <p:nvPicPr>
          <p:cNvPr id="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3335500"/>
            <a:ext cx="5257800" cy="337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0765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do you define “effect size”?</a:t>
            </a:r>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001" y="2438401"/>
            <a:ext cx="6245583" cy="380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3295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a:extLst>
              <a:ext uri="{FF2B5EF4-FFF2-40B4-BE49-F238E27FC236}">
                <a16:creationId xmlns:a16="http://schemas.microsoft.com/office/drawing/2014/main" id="{21ADD931-960E-45B8-81C2-F87A59CA1D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5018" y="984385"/>
            <a:ext cx="9346046" cy="4673024"/>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18761E4B-AF6A-4C57-814C-C267D691DD68}"/>
              </a:ext>
            </a:extLst>
          </p:cNvPr>
          <p:cNvSpPr txBox="1">
            <a:spLocks/>
          </p:cNvSpPr>
          <p:nvPr/>
        </p:nvSpPr>
        <p:spPr>
          <a:xfrm>
            <a:off x="609600" y="274638"/>
            <a:ext cx="109728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t>How do you define “effect size”?</a:t>
            </a:r>
            <a:endParaRPr lang="en-US" dirty="0"/>
          </a:p>
        </p:txBody>
      </p:sp>
    </p:spTree>
    <p:extLst>
      <p:ext uri="{BB962C8B-B14F-4D97-AF65-F5344CB8AC3E}">
        <p14:creationId xmlns:p14="http://schemas.microsoft.com/office/powerpoint/2010/main" val="8776842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a:extLst>
              <a:ext uri="{FF2B5EF4-FFF2-40B4-BE49-F238E27FC236}">
                <a16:creationId xmlns:a16="http://schemas.microsoft.com/office/drawing/2014/main" id="{21ADD931-960E-45B8-81C2-F87A59CA1D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5018" y="984385"/>
            <a:ext cx="9346046" cy="4673024"/>
          </a:xfrm>
          <a:prstGeom prst="rect">
            <a:avLst/>
          </a:prstGeom>
          <a:noFill/>
          <a:extLst>
            <a:ext uri="{909E8E84-426E-40DD-AFC4-6F175D3DCCD1}">
              <a14:hiddenFill xmlns:a14="http://schemas.microsoft.com/office/drawing/2010/main">
                <a:solidFill>
                  <a:srgbClr val="FFFFFF"/>
                </a:solidFill>
              </a14:hiddenFill>
            </a:ext>
          </a:extLst>
        </p:spPr>
      </p:pic>
      <p:sp>
        <p:nvSpPr>
          <p:cNvPr id="4" name="Right Brace 3">
            <a:extLst>
              <a:ext uri="{FF2B5EF4-FFF2-40B4-BE49-F238E27FC236}">
                <a16:creationId xmlns:a16="http://schemas.microsoft.com/office/drawing/2014/main" id="{99F68E2A-4B0E-4BCF-BFD1-18E934AA32FC}"/>
              </a:ext>
            </a:extLst>
          </p:cNvPr>
          <p:cNvSpPr/>
          <p:nvPr/>
        </p:nvSpPr>
        <p:spPr>
          <a:xfrm>
            <a:off x="6195409" y="2749007"/>
            <a:ext cx="228600" cy="1143780"/>
          </a:xfrm>
          <a:prstGeom prst="rightBrace">
            <a:avLst/>
          </a:prstGeom>
          <a:ln w="254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0000"/>
              </a:solidFill>
              <a:effectLst/>
              <a:uLnTx/>
              <a:uFillTx/>
              <a:latin typeface="Calibri"/>
              <a:ea typeface="+mn-ea"/>
              <a:cs typeface="+mn-cs"/>
            </a:endParaRPr>
          </a:p>
        </p:txBody>
      </p:sp>
      <p:sp>
        <p:nvSpPr>
          <p:cNvPr id="5" name="TextBox 4">
            <a:extLst>
              <a:ext uri="{FF2B5EF4-FFF2-40B4-BE49-F238E27FC236}">
                <a16:creationId xmlns:a16="http://schemas.microsoft.com/office/drawing/2014/main" id="{D62CF7F1-4ED3-42CD-9529-D5B7ED3A8B60}"/>
              </a:ext>
            </a:extLst>
          </p:cNvPr>
          <p:cNvSpPr txBox="1"/>
          <p:nvPr/>
        </p:nvSpPr>
        <p:spPr>
          <a:xfrm>
            <a:off x="6549805" y="2967335"/>
            <a:ext cx="1217000" cy="58477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chemeClr val="accent6">
                    <a:lumMod val="75000"/>
                  </a:schemeClr>
                </a:solidFill>
                <a:effectLst/>
                <a:uLnTx/>
                <a:uFillTx/>
                <a:latin typeface="Candara" panose="020E0502030303020204" pitchFamily="34" charset="0"/>
                <a:ea typeface="+mn-ea"/>
                <a:cs typeface="+mn-cs"/>
              </a:rPr>
              <a:t>effect</a:t>
            </a:r>
          </a:p>
        </p:txBody>
      </p:sp>
      <p:cxnSp>
        <p:nvCxnSpPr>
          <p:cNvPr id="3" name="Straight Connector 2">
            <a:extLst>
              <a:ext uri="{FF2B5EF4-FFF2-40B4-BE49-F238E27FC236}">
                <a16:creationId xmlns:a16="http://schemas.microsoft.com/office/drawing/2014/main" id="{376274B8-55D6-4246-8110-5CD671A08CC3}"/>
              </a:ext>
            </a:extLst>
          </p:cNvPr>
          <p:cNvCxnSpPr/>
          <p:nvPr/>
        </p:nvCxnSpPr>
        <p:spPr>
          <a:xfrm>
            <a:off x="6096000" y="3892787"/>
            <a:ext cx="3467878" cy="1472315"/>
          </a:xfrm>
          <a:prstGeom prst="line">
            <a:avLst/>
          </a:prstGeom>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1E07A068-2DAD-421F-AD6D-31674886B366}"/>
              </a:ext>
            </a:extLst>
          </p:cNvPr>
          <p:cNvSpPr/>
          <p:nvPr/>
        </p:nvSpPr>
        <p:spPr>
          <a:xfrm>
            <a:off x="7966787" y="4617283"/>
            <a:ext cx="289249" cy="264877"/>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FE2ECCC-9CF2-427B-BA6C-37798D87B941}"/>
              </a:ext>
            </a:extLst>
          </p:cNvPr>
          <p:cNvSpPr/>
          <p:nvPr/>
        </p:nvSpPr>
        <p:spPr>
          <a:xfrm>
            <a:off x="7962122" y="3419671"/>
            <a:ext cx="289249" cy="264877"/>
          </a:xfrm>
          <a:prstGeom prst="ellipse">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2024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9B79234-C588-4162-81C8-D84B3C5DE574}"/>
              </a:ext>
            </a:extLst>
          </p:cNvPr>
          <p:cNvSpPr/>
          <p:nvPr/>
        </p:nvSpPr>
        <p:spPr>
          <a:xfrm>
            <a:off x="0" y="-180"/>
            <a:ext cx="12191998" cy="1287573"/>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7" name="Rectangle 76">
            <a:extLst>
              <a:ext uri="{FF2B5EF4-FFF2-40B4-BE49-F238E27FC236}">
                <a16:creationId xmlns:a16="http://schemas.microsoft.com/office/drawing/2014/main" id="{D684360B-43F5-4D08-A696-BBD98F533D06}"/>
              </a:ext>
            </a:extLst>
          </p:cNvPr>
          <p:cNvSpPr/>
          <p:nvPr/>
        </p:nvSpPr>
        <p:spPr>
          <a:xfrm>
            <a:off x="7338" y="5873530"/>
            <a:ext cx="12191998" cy="996801"/>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p:cNvSpPr>
            <a:spLocks noGrp="1"/>
          </p:cNvSpPr>
          <p:nvPr>
            <p:ph type="title"/>
          </p:nvPr>
        </p:nvSpPr>
        <p:spPr>
          <a:xfrm>
            <a:off x="316156" y="-121481"/>
            <a:ext cx="11479876" cy="1143000"/>
          </a:xfrm>
        </p:spPr>
        <p:txBody>
          <a:bodyPr>
            <a:normAutofit/>
          </a:bodyPr>
          <a:lstStyle/>
          <a:p>
            <a:r>
              <a:rPr lang="en-US" sz="3600" dirty="0"/>
              <a:t>3 valid counterfactuals:</a:t>
            </a:r>
          </a:p>
        </p:txBody>
      </p:sp>
      <p:cxnSp>
        <p:nvCxnSpPr>
          <p:cNvPr id="4" name="Straight Connector 3"/>
          <p:cNvCxnSpPr/>
          <p:nvPr/>
        </p:nvCxnSpPr>
        <p:spPr>
          <a:xfrm>
            <a:off x="940840" y="3189955"/>
            <a:ext cx="0" cy="1752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788440" y="4790155"/>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1474240" y="4256755"/>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Oval 7"/>
          <p:cNvSpPr/>
          <p:nvPr/>
        </p:nvSpPr>
        <p:spPr>
          <a:xfrm>
            <a:off x="2541040" y="4034445"/>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Oval 8"/>
          <p:cNvSpPr/>
          <p:nvPr/>
        </p:nvSpPr>
        <p:spPr>
          <a:xfrm>
            <a:off x="1474240" y="38376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p:cNvSpPr/>
          <p:nvPr/>
        </p:nvSpPr>
        <p:spPr>
          <a:xfrm>
            <a:off x="2541040" y="32661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 name="Straight Connector 11"/>
          <p:cNvCxnSpPr/>
          <p:nvPr/>
        </p:nvCxnSpPr>
        <p:spPr>
          <a:xfrm>
            <a:off x="1550440"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332192"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t=1</a:t>
            </a:r>
          </a:p>
        </p:txBody>
      </p:sp>
      <p:cxnSp>
        <p:nvCxnSpPr>
          <p:cNvPr id="14" name="Straight Connector 13"/>
          <p:cNvCxnSpPr/>
          <p:nvPr/>
        </p:nvCxnSpPr>
        <p:spPr>
          <a:xfrm>
            <a:off x="2642400"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424152"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t=2</a:t>
            </a:r>
          </a:p>
        </p:txBody>
      </p:sp>
      <p:cxnSp>
        <p:nvCxnSpPr>
          <p:cNvPr id="17" name="Straight Arrow Connector 16"/>
          <p:cNvCxnSpPr/>
          <p:nvPr/>
        </p:nvCxnSpPr>
        <p:spPr>
          <a:xfrm flipV="1">
            <a:off x="2083840" y="4806859"/>
            <a:ext cx="0" cy="457200"/>
          </a:xfrm>
          <a:prstGeom prst="straightConnector1">
            <a:avLst/>
          </a:prstGeom>
          <a:ln w="38100">
            <a:solidFill>
              <a:schemeClr val="bg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720023" y="5287305"/>
            <a:ext cx="7276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lumMod val="50000"/>
                  </a:prstClr>
                </a:solidFill>
                <a:effectLst/>
                <a:uLnTx/>
                <a:uFillTx/>
                <a:latin typeface="Calibri"/>
                <a:ea typeface="+mn-ea"/>
                <a:cs typeface="+mn-cs"/>
              </a:rPr>
              <a:t>Program</a:t>
            </a:r>
          </a:p>
        </p:txBody>
      </p:sp>
      <p:cxnSp>
        <p:nvCxnSpPr>
          <p:cNvPr id="19" name="Straight Connector 18"/>
          <p:cNvCxnSpPr/>
          <p:nvPr/>
        </p:nvCxnSpPr>
        <p:spPr>
          <a:xfrm>
            <a:off x="4853475" y="3189955"/>
            <a:ext cx="0" cy="1752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701075" y="4790155"/>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5386875" y="4256755"/>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Oval 21"/>
          <p:cNvSpPr/>
          <p:nvPr/>
        </p:nvSpPr>
        <p:spPr>
          <a:xfrm>
            <a:off x="6453675" y="3990055"/>
            <a:ext cx="152400" cy="152400"/>
          </a:xfrm>
          <a:prstGeom prst="ellipse">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Oval 22"/>
          <p:cNvSpPr/>
          <p:nvPr/>
        </p:nvSpPr>
        <p:spPr>
          <a:xfrm>
            <a:off x="5386875" y="38376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Oval 23"/>
          <p:cNvSpPr/>
          <p:nvPr/>
        </p:nvSpPr>
        <p:spPr>
          <a:xfrm>
            <a:off x="6453675" y="32661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5" name="Straight Connector 24"/>
          <p:cNvCxnSpPr/>
          <p:nvPr/>
        </p:nvCxnSpPr>
        <p:spPr>
          <a:xfrm>
            <a:off x="5463075"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244827"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t=1</a:t>
            </a:r>
          </a:p>
        </p:txBody>
      </p:sp>
      <p:cxnSp>
        <p:nvCxnSpPr>
          <p:cNvPr id="27" name="Straight Connector 26"/>
          <p:cNvCxnSpPr/>
          <p:nvPr/>
        </p:nvCxnSpPr>
        <p:spPr>
          <a:xfrm>
            <a:off x="6555035"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336787"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t=2</a:t>
            </a:r>
          </a:p>
        </p:txBody>
      </p:sp>
      <p:cxnSp>
        <p:nvCxnSpPr>
          <p:cNvPr id="29" name="Straight Arrow Connector 28"/>
          <p:cNvCxnSpPr/>
          <p:nvPr/>
        </p:nvCxnSpPr>
        <p:spPr>
          <a:xfrm flipV="1">
            <a:off x="5996475" y="4806859"/>
            <a:ext cx="0" cy="457200"/>
          </a:xfrm>
          <a:prstGeom prst="straightConnector1">
            <a:avLst/>
          </a:prstGeom>
          <a:ln w="38100">
            <a:solidFill>
              <a:schemeClr val="bg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632658" y="5287305"/>
            <a:ext cx="7276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lumMod val="50000"/>
                  </a:prstClr>
                </a:solidFill>
                <a:effectLst/>
                <a:uLnTx/>
                <a:uFillTx/>
                <a:latin typeface="Calibri"/>
                <a:ea typeface="+mn-ea"/>
                <a:cs typeface="+mn-cs"/>
              </a:rPr>
              <a:t>Program</a:t>
            </a:r>
          </a:p>
        </p:txBody>
      </p:sp>
      <p:sp>
        <p:nvSpPr>
          <p:cNvPr id="43" name="TextBox 42"/>
          <p:cNvSpPr txBox="1"/>
          <p:nvPr/>
        </p:nvSpPr>
        <p:spPr>
          <a:xfrm>
            <a:off x="1168073" y="1865120"/>
            <a:ext cx="1904304" cy="95410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small" spc="0" normalizeH="0" baseline="0" noProof="0" dirty="0">
                <a:ln>
                  <a:noFill/>
                </a:ln>
                <a:solidFill>
                  <a:srgbClr val="4F81BD">
                    <a:lumMod val="50000"/>
                  </a:srgbClr>
                </a:solidFill>
                <a:effectLst/>
                <a:uLnTx/>
                <a:uFillTx/>
                <a:latin typeface="Calibri"/>
                <a:ea typeface="+mn-ea"/>
                <a:cs typeface="+mn-cs"/>
              </a:rPr>
              <a:t>Pre-Post Reflexive</a:t>
            </a:r>
            <a:b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br>
            <a: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t>Estimator </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20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Arial" panose="020B0604020202020204" pitchFamily="34" charset="0"/>
              </a:rPr>
              <a:t>effect</a:t>
            </a:r>
            <a:r>
              <a:rPr kumimoji="0" lang="en-US" sz="2000" b="0" i="0" u="none" strike="noStrike" kern="1200" cap="none" spc="0" normalizeH="0" baseline="0" noProof="0" dirty="0">
                <a:ln>
                  <a:noFill/>
                </a:ln>
                <a:solidFill>
                  <a:srgbClr val="C00000"/>
                </a:solidFill>
                <a:effectLst/>
                <a:uLnTx/>
                <a:uFillTx/>
                <a:latin typeface="Candara" panose="020E0502030303020204" pitchFamily="34" charset="0"/>
                <a:ea typeface="+mn-ea"/>
                <a:cs typeface="Arial" panose="020B0604020202020204" pitchFamily="34" charset="0"/>
              </a:rPr>
              <a:t> </a:t>
            </a:r>
            <a:r>
              <a:rPr kumimoji="0" lang="en-US" sz="2000" b="1" i="0" u="none" strike="noStrike" kern="1200" cap="none" spc="0" normalizeH="0" baseline="0" noProof="0" dirty="0">
                <a:ln>
                  <a:noFill/>
                </a:ln>
                <a:solidFill>
                  <a:srgbClr val="EEECE1">
                    <a:lumMod val="25000"/>
                  </a:srgbClr>
                </a:solidFill>
                <a:effectLst/>
                <a:uLnTx/>
                <a:uFillTx/>
                <a:latin typeface="Candara" panose="020E0502030303020204" pitchFamily="34" charset="0"/>
                <a:ea typeface="+mn-ea"/>
                <a:cs typeface="Arial" panose="020B0604020202020204" pitchFamily="34" charset="0"/>
              </a:rPr>
              <a:t>= </a:t>
            </a:r>
            <a:r>
              <a:rPr kumimoji="0" lang="en-US" sz="20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Arial" panose="020B0604020202020204" pitchFamily="34" charset="0"/>
              </a:rPr>
              <a:t>T2-T1</a:t>
            </a:r>
            <a:endParaRPr kumimoji="0" lang="en-US" sz="18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Arial" panose="020B0604020202020204" pitchFamily="34" charset="0"/>
            </a:endParaRPr>
          </a:p>
        </p:txBody>
      </p:sp>
      <p:cxnSp>
        <p:nvCxnSpPr>
          <p:cNvPr id="45" name="Straight Connector 44"/>
          <p:cNvCxnSpPr/>
          <p:nvPr/>
        </p:nvCxnSpPr>
        <p:spPr>
          <a:xfrm>
            <a:off x="1666754" y="3913855"/>
            <a:ext cx="1049618"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6" name="Right Brace 45"/>
          <p:cNvSpPr/>
          <p:nvPr/>
        </p:nvSpPr>
        <p:spPr>
          <a:xfrm>
            <a:off x="2769640" y="3329775"/>
            <a:ext cx="228600" cy="571500"/>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6"/>
          <p:cNvSpPr txBox="1"/>
          <p:nvPr/>
        </p:nvSpPr>
        <p:spPr>
          <a:xfrm>
            <a:off x="3028867" y="3415004"/>
            <a:ext cx="7665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p>
        </p:txBody>
      </p:sp>
      <p:sp>
        <p:nvSpPr>
          <p:cNvPr id="48" name="TextBox 47"/>
          <p:cNvSpPr txBox="1"/>
          <p:nvPr/>
        </p:nvSpPr>
        <p:spPr>
          <a:xfrm>
            <a:off x="5117869" y="1865120"/>
            <a:ext cx="1757211" cy="95410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small" spc="0" normalizeH="0" baseline="0" noProof="0" dirty="0">
                <a:ln>
                  <a:noFill/>
                </a:ln>
                <a:solidFill>
                  <a:srgbClr val="4F81BD">
                    <a:lumMod val="50000"/>
                  </a:srgbClr>
                </a:solidFill>
                <a:effectLst/>
                <a:uLnTx/>
                <a:uFillTx/>
                <a:latin typeface="Calibri"/>
                <a:ea typeface="+mn-ea"/>
                <a:cs typeface="+mn-cs"/>
              </a:rPr>
              <a:t>Post-Only</a:t>
            </a:r>
            <a:b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br>
            <a: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t>Estimator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Arial" panose="020B0604020202020204" pitchFamily="34" charset="0"/>
              </a:rPr>
              <a:t>effect</a:t>
            </a:r>
            <a:r>
              <a:rPr kumimoji="0" lang="en-US" sz="2000" b="1" i="0" u="none" strike="noStrike" kern="1200" cap="none" spc="0" normalizeH="0" baseline="0" noProof="0" dirty="0">
                <a:ln>
                  <a:noFill/>
                </a:ln>
                <a:solidFill>
                  <a:srgbClr val="4F81BD">
                    <a:lumMod val="75000"/>
                  </a:srgbClr>
                </a:solidFill>
                <a:effectLst/>
                <a:uLnTx/>
                <a:uFillTx/>
                <a:latin typeface="Candara" panose="020E0502030303020204" pitchFamily="34" charset="0"/>
                <a:ea typeface="+mn-ea"/>
                <a:cs typeface="Arial" panose="020B0604020202020204" pitchFamily="34" charset="0"/>
              </a:rPr>
              <a:t> </a:t>
            </a:r>
            <a:r>
              <a:rPr kumimoji="0" lang="en-US" sz="2000" b="1" i="0" u="none" strike="noStrike" kern="1200" cap="none" spc="0" normalizeH="0" baseline="0" noProof="0" dirty="0">
                <a:ln>
                  <a:noFill/>
                </a:ln>
                <a:solidFill>
                  <a:srgbClr val="EEECE1">
                    <a:lumMod val="25000"/>
                  </a:srgbClr>
                </a:solidFill>
                <a:effectLst/>
                <a:uLnTx/>
                <a:uFillTx/>
                <a:latin typeface="Candara" panose="020E0502030303020204" pitchFamily="34" charset="0"/>
                <a:ea typeface="+mn-ea"/>
                <a:cs typeface="Arial" panose="020B0604020202020204" pitchFamily="34" charset="0"/>
              </a:rPr>
              <a:t>= </a:t>
            </a:r>
            <a:r>
              <a:rPr kumimoji="0" lang="en-US" sz="20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mn-cs"/>
              </a:rPr>
              <a:t>T2-C2</a:t>
            </a:r>
          </a:p>
        </p:txBody>
      </p:sp>
      <p:sp>
        <p:nvSpPr>
          <p:cNvPr id="49" name="TextBox 48"/>
          <p:cNvSpPr txBox="1"/>
          <p:nvPr/>
        </p:nvSpPr>
        <p:spPr>
          <a:xfrm>
            <a:off x="8508266" y="1895897"/>
            <a:ext cx="2864887" cy="95410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small" spc="0" normalizeH="0" baseline="0" noProof="0" dirty="0">
                <a:ln>
                  <a:noFill/>
                </a:ln>
                <a:solidFill>
                  <a:srgbClr val="4F81BD">
                    <a:lumMod val="50000"/>
                  </a:srgbClr>
                </a:solidFill>
                <a:effectLst/>
                <a:uLnTx/>
                <a:uFillTx/>
                <a:latin typeface="Calibri"/>
                <a:ea typeface="+mn-ea"/>
                <a:cs typeface="+mn-cs"/>
              </a:rPr>
              <a:t>Pre-Post w Comparison </a:t>
            </a:r>
            <a:b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br>
            <a: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t>Estimator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r>
              <a:rPr kumimoji="0" lang="en-US" sz="1800" b="1" i="0" u="none" strike="noStrike" kern="1200" cap="none" spc="0" normalizeH="0" baseline="0" noProof="0" dirty="0">
                <a:ln>
                  <a:noFill/>
                </a:ln>
                <a:solidFill>
                  <a:srgbClr val="4F81BD">
                    <a:lumMod val="75000"/>
                  </a:srgbClr>
                </a:solidFill>
                <a:effectLst/>
                <a:uLnTx/>
                <a:uFillTx/>
                <a:latin typeface="Candara" panose="020E0502030303020204" pitchFamily="34" charset="0"/>
                <a:ea typeface="+mn-ea"/>
                <a:cs typeface="+mn-cs"/>
              </a:rPr>
              <a:t> </a:t>
            </a:r>
            <a:r>
              <a:rPr kumimoji="0" lang="en-US" sz="1800" b="1" i="0" u="none" strike="noStrike" kern="1200" cap="none" spc="0" normalizeH="0" baseline="0" noProof="0" dirty="0">
                <a:ln>
                  <a:noFill/>
                </a:ln>
                <a:solidFill>
                  <a:srgbClr val="EEECE1">
                    <a:lumMod val="25000"/>
                  </a:srgbClr>
                </a:solidFill>
                <a:effectLst/>
                <a:uLnTx/>
                <a:uFillTx/>
                <a:latin typeface="Candara" panose="020E0502030303020204" pitchFamily="34" charset="0"/>
                <a:ea typeface="+mn-ea"/>
                <a:cs typeface="+mn-cs"/>
              </a:rPr>
              <a:t>= </a:t>
            </a:r>
            <a:r>
              <a:rPr kumimoji="0" lang="en-US" sz="18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mn-cs"/>
              </a:rPr>
              <a:t>(T2-T1) – (C2-C1)</a:t>
            </a:r>
          </a:p>
        </p:txBody>
      </p:sp>
      <p:sp>
        <p:nvSpPr>
          <p:cNvPr id="50" name="Right Brace 49"/>
          <p:cNvSpPr/>
          <p:nvPr/>
        </p:nvSpPr>
        <p:spPr>
          <a:xfrm>
            <a:off x="6755246" y="3320897"/>
            <a:ext cx="228600" cy="745358"/>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0000"/>
              </a:solidFill>
              <a:effectLst/>
              <a:uLnTx/>
              <a:uFillTx/>
              <a:latin typeface="Calibri"/>
              <a:ea typeface="+mn-ea"/>
              <a:cs typeface="+mn-cs"/>
            </a:endParaRPr>
          </a:p>
        </p:txBody>
      </p:sp>
      <p:sp>
        <p:nvSpPr>
          <p:cNvPr id="3" name="Rectangle 2"/>
          <p:cNvSpPr/>
          <p:nvPr/>
        </p:nvSpPr>
        <p:spPr>
          <a:xfrm>
            <a:off x="1332193" y="4016689"/>
            <a:ext cx="1717367" cy="6096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5" name="Group 4">
            <a:extLst>
              <a:ext uri="{FF2B5EF4-FFF2-40B4-BE49-F238E27FC236}">
                <a16:creationId xmlns:a16="http://schemas.microsoft.com/office/drawing/2014/main" id="{85DFE1B0-A455-4F1B-B9E7-1E2947228EAB}"/>
              </a:ext>
            </a:extLst>
          </p:cNvPr>
          <p:cNvGrpSpPr/>
          <p:nvPr/>
        </p:nvGrpSpPr>
        <p:grpSpPr>
          <a:xfrm>
            <a:off x="2998240" y="6018521"/>
            <a:ext cx="6284237" cy="691899"/>
            <a:chOff x="1181044" y="1171583"/>
            <a:chExt cx="6284237" cy="691899"/>
          </a:xfrm>
        </p:grpSpPr>
        <p:sp>
          <p:nvSpPr>
            <p:cNvPr id="99" name="Oval 98"/>
            <p:cNvSpPr/>
            <p:nvPr/>
          </p:nvSpPr>
          <p:spPr>
            <a:xfrm>
              <a:off x="1181044" y="1268303"/>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entury Gothic" panose="020B0502020202020204" pitchFamily="34" charset="0"/>
                <a:ea typeface="+mn-ea"/>
                <a:cs typeface="+mn-cs"/>
              </a:endParaRPr>
            </a:p>
          </p:txBody>
        </p:sp>
        <p:sp>
          <p:nvSpPr>
            <p:cNvPr id="16" name="TextBox 15"/>
            <p:cNvSpPr txBox="1"/>
            <p:nvPr/>
          </p:nvSpPr>
          <p:spPr>
            <a:xfrm>
              <a:off x="1433689" y="1171583"/>
              <a:ext cx="599555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mn-cs"/>
                </a:rPr>
                <a:t>Treatment Groups</a:t>
              </a:r>
              <a:r>
                <a:rPr kumimoji="0" lang="en-US" sz="16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t>
              </a:r>
              <a:r>
                <a:rPr kumimoji="0" lang="en-US" sz="16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t>
              </a:r>
              <a:r>
                <a:rPr kumimoji="0" lang="en-US" sz="1800" b="1" i="0" u="none" strike="noStrike" kern="1200" cap="none" spc="0" normalizeH="0" baseline="0" noProof="0" dirty="0">
                  <a:ln>
                    <a:noFill/>
                  </a:ln>
                  <a:solidFill>
                    <a:srgbClr val="EEECE1">
                      <a:lumMod val="50000"/>
                    </a:srgbClr>
                  </a:solidFill>
                  <a:effectLst/>
                  <a:uLnTx/>
                  <a:uFillTx/>
                  <a:latin typeface="Century Gothic" panose="020B0502020202020204" pitchFamily="34" charset="0"/>
                  <a:ea typeface="+mn-ea"/>
                  <a:cs typeface="+mn-cs"/>
                </a:rPr>
                <a:t>T1</a:t>
              </a:r>
              <a:r>
                <a:rPr kumimoji="0" lang="en-US" sz="16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=before,  </a:t>
              </a:r>
              <a:r>
                <a:rPr kumimoji="0" lang="en-US" sz="1800" b="1" i="0" u="none" strike="noStrike" kern="1200" cap="none" spc="0" normalizeH="0" baseline="0" noProof="0" dirty="0">
                  <a:ln>
                    <a:noFill/>
                  </a:ln>
                  <a:solidFill>
                    <a:srgbClr val="EEECE1">
                      <a:lumMod val="50000"/>
                    </a:srgbClr>
                  </a:solidFill>
                  <a:effectLst/>
                  <a:uLnTx/>
                  <a:uFillTx/>
                  <a:latin typeface="Century Gothic" panose="020B0502020202020204" pitchFamily="34" charset="0"/>
                  <a:ea typeface="+mn-ea"/>
                  <a:cs typeface="+mn-cs"/>
                </a:rPr>
                <a:t>T2</a:t>
              </a:r>
              <a:r>
                <a:rPr kumimoji="0" lang="en-US" sz="16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=post-program measure</a:t>
              </a:r>
            </a:p>
          </p:txBody>
        </p:sp>
        <p:sp>
          <p:nvSpPr>
            <p:cNvPr id="106" name="TextBox 105"/>
            <p:cNvSpPr txBox="1"/>
            <p:nvPr/>
          </p:nvSpPr>
          <p:spPr>
            <a:xfrm>
              <a:off x="1456905" y="1524928"/>
              <a:ext cx="6008376"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1F497D"/>
                  </a:solidFill>
                  <a:effectLst/>
                  <a:uLnTx/>
                  <a:uFillTx/>
                  <a:latin typeface="Century Gothic" panose="020B0502020202020204" pitchFamily="34" charset="0"/>
                  <a:ea typeface="+mn-ea"/>
                  <a:cs typeface="+mn-cs"/>
                </a:rPr>
                <a:t>Control Groups</a:t>
              </a:r>
              <a:r>
                <a:rPr kumimoji="0" lang="en-US" sz="16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       </a:t>
              </a:r>
              <a:r>
                <a:rPr kumimoji="0" lang="en-US" sz="1600" b="1" i="0" u="none" strike="noStrike" kern="1200" cap="none" spc="0" normalizeH="0" baseline="0" noProof="0" dirty="0">
                  <a:ln>
                    <a:noFill/>
                  </a:ln>
                  <a:solidFill>
                    <a:srgbClr val="4F81BD">
                      <a:lumMod val="75000"/>
                    </a:srgbClr>
                  </a:solidFill>
                  <a:effectLst/>
                  <a:uLnTx/>
                  <a:uFillTx/>
                  <a:latin typeface="Century Gothic" panose="020B0502020202020204" pitchFamily="34" charset="0"/>
                  <a:ea typeface="+mn-ea"/>
                  <a:cs typeface="+mn-cs"/>
                </a:rPr>
                <a:t>C1</a:t>
              </a:r>
              <a:r>
                <a:rPr kumimoji="0" lang="en-US" sz="16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=before, </a:t>
              </a:r>
              <a:r>
                <a:rPr kumimoji="0" lang="en-US" sz="1600" b="1" i="0" u="none" strike="noStrike" kern="1200" cap="none" spc="0" normalizeH="0" baseline="0" noProof="0" dirty="0">
                  <a:ln>
                    <a:noFill/>
                  </a:ln>
                  <a:solidFill>
                    <a:srgbClr val="4F81BD">
                      <a:lumMod val="75000"/>
                    </a:srgbClr>
                  </a:solidFill>
                  <a:effectLst/>
                  <a:uLnTx/>
                  <a:uFillTx/>
                  <a:latin typeface="Century Gothic" panose="020B0502020202020204" pitchFamily="34" charset="0"/>
                  <a:ea typeface="+mn-ea"/>
                  <a:cs typeface="+mn-cs"/>
                </a:rPr>
                <a:t>C2</a:t>
              </a:r>
              <a:r>
                <a:rPr kumimoji="0" lang="en-US" sz="16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=post-program measure</a:t>
              </a:r>
            </a:p>
          </p:txBody>
        </p:sp>
        <p:sp>
          <p:nvSpPr>
            <p:cNvPr id="107" name="Oval 106"/>
            <p:cNvSpPr/>
            <p:nvPr/>
          </p:nvSpPr>
          <p:spPr>
            <a:xfrm>
              <a:off x="1181044" y="1614732"/>
              <a:ext cx="152400" cy="152400"/>
            </a:xfrm>
            <a:prstGeom prst="ellipse">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entury Gothic" panose="020B0502020202020204" pitchFamily="34" charset="0"/>
                <a:ea typeface="+mn-ea"/>
                <a:cs typeface="+mn-cs"/>
              </a:endParaRPr>
            </a:p>
          </p:txBody>
        </p:sp>
      </p:grpSp>
      <p:sp>
        <p:nvSpPr>
          <p:cNvPr id="31" name="TextBox 30"/>
          <p:cNvSpPr txBox="1"/>
          <p:nvPr/>
        </p:nvSpPr>
        <p:spPr>
          <a:xfrm>
            <a:off x="788440" y="815602"/>
            <a:ext cx="10629794"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F81BD">
                    <a:lumMod val="50000"/>
                  </a:srgbClr>
                </a:solidFill>
                <a:effectLst/>
                <a:uLnTx/>
                <a:uFillTx/>
                <a:latin typeface="Century Gothic" panose="020B0502020202020204" pitchFamily="34" charset="0"/>
                <a:ea typeface="+mn-ea"/>
                <a:cs typeface="+mn-cs"/>
              </a:rPr>
              <a:t>Each variety of counterfactual has a different formula for the </a:t>
            </a:r>
            <a:r>
              <a:rPr kumimoji="0" lang="en-US" sz="1600" b="0" i="0" u="none" strike="noStrike" kern="1200" cap="none" spc="0" normalizeH="0" baseline="0" noProof="0" dirty="0">
                <a:ln>
                  <a:noFill/>
                </a:ln>
                <a:solidFill>
                  <a:srgbClr val="1F497D">
                    <a:lumMod val="75000"/>
                  </a:srgbClr>
                </a:solidFill>
                <a:effectLst/>
                <a:uLnTx/>
                <a:uFillTx/>
                <a:latin typeface="Century Gothic" panose="020B0502020202020204" pitchFamily="34" charset="0"/>
                <a:ea typeface="+mn-ea"/>
                <a:cs typeface="+mn-cs"/>
              </a:rPr>
              <a:t>program effect estimate</a:t>
            </a:r>
            <a:r>
              <a:rPr kumimoji="0" lang="en-US" sz="1600" b="1" i="0" u="none" strike="noStrike" kern="1200" cap="none" spc="0" normalizeH="0" baseline="0" noProof="0" dirty="0">
                <a:ln>
                  <a:noFill/>
                </a:ln>
                <a:solidFill>
                  <a:srgbClr val="1F497D">
                    <a:lumMod val="75000"/>
                  </a:srgbClr>
                </a:solidFill>
                <a:effectLst/>
                <a:uLnTx/>
                <a:uFillTx/>
                <a:latin typeface="Century Gothic" panose="020B0502020202020204" pitchFamily="34" charset="0"/>
                <a:ea typeface="+mn-ea"/>
                <a:cs typeface="+mn-cs"/>
              </a:rPr>
              <a:t>.</a:t>
            </a:r>
          </a:p>
        </p:txBody>
      </p:sp>
      <p:sp>
        <p:nvSpPr>
          <p:cNvPr id="78" name="TextBox 77">
            <a:extLst>
              <a:ext uri="{FF2B5EF4-FFF2-40B4-BE49-F238E27FC236}">
                <a16:creationId xmlns:a16="http://schemas.microsoft.com/office/drawing/2014/main" id="{1C9B8779-A6F7-47A5-9567-7A1A7FAC715A}"/>
              </a:ext>
            </a:extLst>
          </p:cNvPr>
          <p:cNvSpPr txBox="1"/>
          <p:nvPr/>
        </p:nvSpPr>
        <p:spPr>
          <a:xfrm>
            <a:off x="7007006" y="3493521"/>
            <a:ext cx="7665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p>
        </p:txBody>
      </p:sp>
      <p:grpSp>
        <p:nvGrpSpPr>
          <p:cNvPr id="33" name="Group 32">
            <a:extLst>
              <a:ext uri="{FF2B5EF4-FFF2-40B4-BE49-F238E27FC236}">
                <a16:creationId xmlns:a16="http://schemas.microsoft.com/office/drawing/2014/main" id="{C635AAA6-DDBE-48A5-8411-DDE3395FC9ED}"/>
              </a:ext>
            </a:extLst>
          </p:cNvPr>
          <p:cNvGrpSpPr/>
          <p:nvPr/>
        </p:nvGrpSpPr>
        <p:grpSpPr>
          <a:xfrm>
            <a:off x="8545917" y="3189955"/>
            <a:ext cx="3344901" cy="2374349"/>
            <a:chOff x="8545917" y="3189955"/>
            <a:chExt cx="3344901" cy="2374349"/>
          </a:xfrm>
        </p:grpSpPr>
        <p:cxnSp>
          <p:nvCxnSpPr>
            <p:cNvPr id="52" name="Straight Connector 51"/>
            <p:cNvCxnSpPr/>
            <p:nvPr/>
          </p:nvCxnSpPr>
          <p:spPr>
            <a:xfrm>
              <a:off x="8748877" y="3189955"/>
              <a:ext cx="0" cy="1752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8545917" y="4790155"/>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9231717" y="4256755"/>
              <a:ext cx="152400" cy="152400"/>
            </a:xfrm>
            <a:prstGeom prst="ellipse">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Oval 54"/>
            <p:cNvSpPr/>
            <p:nvPr/>
          </p:nvSpPr>
          <p:spPr>
            <a:xfrm>
              <a:off x="10298517" y="3990055"/>
              <a:ext cx="152400" cy="152400"/>
            </a:xfrm>
            <a:prstGeom prst="ellipse">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Oval 55"/>
            <p:cNvSpPr/>
            <p:nvPr/>
          </p:nvSpPr>
          <p:spPr>
            <a:xfrm>
              <a:off x="9231717" y="38376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7" name="Oval 56"/>
            <p:cNvSpPr/>
            <p:nvPr/>
          </p:nvSpPr>
          <p:spPr>
            <a:xfrm>
              <a:off x="10298517" y="32661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8" name="Straight Connector 57"/>
            <p:cNvCxnSpPr/>
            <p:nvPr/>
          </p:nvCxnSpPr>
          <p:spPr>
            <a:xfrm>
              <a:off x="9307917"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9089669"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t=1</a:t>
              </a:r>
            </a:p>
          </p:txBody>
        </p:sp>
        <p:cxnSp>
          <p:nvCxnSpPr>
            <p:cNvPr id="60" name="Straight Connector 59"/>
            <p:cNvCxnSpPr/>
            <p:nvPr/>
          </p:nvCxnSpPr>
          <p:spPr>
            <a:xfrm>
              <a:off x="10399877"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10181629"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t=2</a:t>
              </a:r>
            </a:p>
          </p:txBody>
        </p:sp>
        <p:cxnSp>
          <p:nvCxnSpPr>
            <p:cNvPr id="62" name="Straight Arrow Connector 61"/>
            <p:cNvCxnSpPr/>
            <p:nvPr/>
          </p:nvCxnSpPr>
          <p:spPr>
            <a:xfrm flipV="1">
              <a:off x="9850648" y="4806859"/>
              <a:ext cx="0" cy="457200"/>
            </a:xfrm>
            <a:prstGeom prst="straightConnector1">
              <a:avLst/>
            </a:prstGeom>
            <a:ln w="38100">
              <a:solidFill>
                <a:schemeClr val="bg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9486831" y="5287305"/>
              <a:ext cx="7276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lumMod val="50000"/>
                    </a:prstClr>
                  </a:solidFill>
                  <a:effectLst/>
                  <a:uLnTx/>
                  <a:uFillTx/>
                  <a:latin typeface="Calibri"/>
                  <a:ea typeface="+mn-ea"/>
                  <a:cs typeface="+mn-cs"/>
                </a:rPr>
                <a:t>Program</a:t>
              </a:r>
            </a:p>
          </p:txBody>
        </p:sp>
        <p:cxnSp>
          <p:nvCxnSpPr>
            <p:cNvPr id="64" name="Straight Connector 63"/>
            <p:cNvCxnSpPr/>
            <p:nvPr/>
          </p:nvCxnSpPr>
          <p:spPr>
            <a:xfrm>
              <a:off x="9424231" y="3913855"/>
              <a:ext cx="1049618"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5" name="Right Brace 64"/>
            <p:cNvSpPr/>
            <p:nvPr/>
          </p:nvSpPr>
          <p:spPr>
            <a:xfrm>
              <a:off x="10527117" y="3329775"/>
              <a:ext cx="228600" cy="571500"/>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EECE1">
                    <a:lumMod val="25000"/>
                  </a:srgbClr>
                </a:solidFill>
                <a:effectLst/>
                <a:uLnTx/>
                <a:uFillTx/>
                <a:latin typeface="Calibri"/>
                <a:ea typeface="+mn-ea"/>
                <a:cs typeface="+mn-cs"/>
              </a:endParaRPr>
            </a:p>
          </p:txBody>
        </p:sp>
        <p:sp>
          <p:nvSpPr>
            <p:cNvPr id="66" name="TextBox 65"/>
            <p:cNvSpPr txBox="1"/>
            <p:nvPr/>
          </p:nvSpPr>
          <p:spPr>
            <a:xfrm>
              <a:off x="10733683" y="3441791"/>
              <a:ext cx="30970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EECE1">
                      <a:lumMod val="25000"/>
                    </a:srgbClr>
                  </a:solidFill>
                  <a:effectLst/>
                  <a:uLnTx/>
                  <a:uFillTx/>
                  <a:latin typeface="Calibri"/>
                  <a:ea typeface="+mn-ea"/>
                  <a:cs typeface="+mn-cs"/>
                </a:rPr>
                <a:t>A</a:t>
              </a:r>
            </a:p>
          </p:txBody>
        </p:sp>
        <p:cxnSp>
          <p:nvCxnSpPr>
            <p:cNvPr id="67" name="Straight Connector 66"/>
            <p:cNvCxnSpPr/>
            <p:nvPr/>
          </p:nvCxnSpPr>
          <p:spPr>
            <a:xfrm>
              <a:off x="9424736" y="4332955"/>
              <a:ext cx="1049618"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8" name="Right Brace 67"/>
            <p:cNvSpPr/>
            <p:nvPr/>
          </p:nvSpPr>
          <p:spPr>
            <a:xfrm>
              <a:off x="10553682" y="4025197"/>
              <a:ext cx="228600" cy="307759"/>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EECE1">
                    <a:lumMod val="25000"/>
                  </a:srgbClr>
                </a:solidFill>
                <a:effectLst/>
                <a:uLnTx/>
                <a:uFillTx/>
                <a:latin typeface="Calibri"/>
                <a:ea typeface="+mn-ea"/>
                <a:cs typeface="+mn-cs"/>
              </a:endParaRPr>
            </a:p>
          </p:txBody>
        </p:sp>
        <p:sp>
          <p:nvSpPr>
            <p:cNvPr id="69" name="TextBox 68"/>
            <p:cNvSpPr txBox="1"/>
            <p:nvPr/>
          </p:nvSpPr>
          <p:spPr>
            <a:xfrm>
              <a:off x="10749996" y="4004265"/>
              <a:ext cx="30008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EECE1">
                      <a:lumMod val="25000"/>
                    </a:srgbClr>
                  </a:solidFill>
                  <a:effectLst/>
                  <a:uLnTx/>
                  <a:uFillTx/>
                  <a:latin typeface="Calibri"/>
                  <a:ea typeface="+mn-ea"/>
                  <a:cs typeface="+mn-cs"/>
                </a:rPr>
                <a:t>B</a:t>
              </a:r>
            </a:p>
          </p:txBody>
        </p:sp>
        <p:sp>
          <p:nvSpPr>
            <p:cNvPr id="11" name="TextBox 10"/>
            <p:cNvSpPr txBox="1"/>
            <p:nvPr/>
          </p:nvSpPr>
          <p:spPr>
            <a:xfrm>
              <a:off x="8880035" y="3249151"/>
              <a:ext cx="106067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65000"/>
                      <a:lumOff val="35000"/>
                    </a:prstClr>
                  </a:solidFill>
                  <a:effectLst/>
                  <a:uLnTx/>
                  <a:uFillTx/>
                  <a:latin typeface="Calibri"/>
                  <a:ea typeface="+mn-ea"/>
                  <a:cs typeface="+mn-cs"/>
                </a:rPr>
                <a:t>(Diff-in-Diff)</a:t>
              </a:r>
            </a:p>
          </p:txBody>
        </p:sp>
        <p:sp>
          <p:nvSpPr>
            <p:cNvPr id="79" name="TextBox 78">
              <a:extLst>
                <a:ext uri="{FF2B5EF4-FFF2-40B4-BE49-F238E27FC236}">
                  <a16:creationId xmlns:a16="http://schemas.microsoft.com/office/drawing/2014/main" id="{588BCB43-281E-4701-BF31-0ED15F63C5F1}"/>
                </a:ext>
              </a:extLst>
            </p:cNvPr>
            <p:cNvSpPr txBox="1"/>
            <p:nvPr/>
          </p:nvSpPr>
          <p:spPr>
            <a:xfrm>
              <a:off x="11066553" y="3415004"/>
              <a:ext cx="824265"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A-B</a:t>
              </a:r>
            </a:p>
          </p:txBody>
        </p:sp>
      </p:grpSp>
      <p:sp>
        <p:nvSpPr>
          <p:cNvPr id="75" name="Rectangle 74"/>
          <p:cNvSpPr/>
          <p:nvPr/>
        </p:nvSpPr>
        <p:spPr>
          <a:xfrm>
            <a:off x="5244827" y="3723355"/>
            <a:ext cx="453970" cy="795914"/>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7709096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DF6BC011-C285-4D5B-8791-93AAB19F93C4}"/>
              </a:ext>
            </a:extLst>
          </p:cNvPr>
          <p:cNvSpPr/>
          <p:nvPr/>
        </p:nvSpPr>
        <p:spPr>
          <a:xfrm>
            <a:off x="7338" y="6193223"/>
            <a:ext cx="12191998" cy="677108"/>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EB3D5AAB-24A7-4678-BBA1-779137B1C604}"/>
              </a:ext>
            </a:extLst>
          </p:cNvPr>
          <p:cNvSpPr/>
          <p:nvPr/>
        </p:nvSpPr>
        <p:spPr>
          <a:xfrm>
            <a:off x="0" y="-180"/>
            <a:ext cx="12191998" cy="1287573"/>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075" name="TextBox 3"/>
          <p:cNvSpPr txBox="1">
            <a:spLocks noChangeArrowheads="1"/>
          </p:cNvSpPr>
          <p:nvPr/>
        </p:nvSpPr>
        <p:spPr bwMode="auto">
          <a:xfrm>
            <a:off x="215107" y="288288"/>
            <a:ext cx="11912068" cy="646331"/>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small" spc="0" normalizeH="0" baseline="0" noProof="0" dirty="0">
                <a:ln>
                  <a:noFill/>
                </a:ln>
                <a:solidFill>
                  <a:srgbClr val="1F497D">
                    <a:lumMod val="50000"/>
                  </a:srgbClr>
                </a:solidFill>
                <a:effectLst/>
                <a:uLnTx/>
                <a:uFillTx/>
                <a:latin typeface="Century Gothic" panose="020B0502020202020204" pitchFamily="34" charset="0"/>
                <a:ea typeface="+mn-ea"/>
                <a:cs typeface="+mn-cs"/>
              </a:rPr>
              <a:t>Difference-in-Difference Estimator</a:t>
            </a:r>
          </a:p>
        </p:txBody>
      </p:sp>
      <p:sp>
        <p:nvSpPr>
          <p:cNvPr id="2" name="TextBox 1"/>
          <p:cNvSpPr txBox="1"/>
          <p:nvPr/>
        </p:nvSpPr>
        <p:spPr>
          <a:xfrm>
            <a:off x="3659460" y="6391928"/>
            <a:ext cx="502336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4F81BD">
                    <a:lumMod val="50000"/>
                  </a:srgbClr>
                </a:solidFill>
                <a:effectLst/>
                <a:uLnTx/>
                <a:uFillTx/>
                <a:latin typeface="Calibri"/>
                <a:ea typeface="+mn-ea"/>
                <a:cs typeface="+mn-cs"/>
              </a:rPr>
              <a:t>Accounts for initial difference in groups and secular trends</a:t>
            </a:r>
          </a:p>
        </p:txBody>
      </p:sp>
      <p:sp>
        <p:nvSpPr>
          <p:cNvPr id="25" name="TextBox 24">
            <a:extLst>
              <a:ext uri="{FF2B5EF4-FFF2-40B4-BE49-F238E27FC236}">
                <a16:creationId xmlns:a16="http://schemas.microsoft.com/office/drawing/2014/main" id="{AD08FC4A-A297-43AA-A08C-F2827C2D42F5}"/>
              </a:ext>
            </a:extLst>
          </p:cNvPr>
          <p:cNvSpPr txBox="1"/>
          <p:nvPr/>
        </p:nvSpPr>
        <p:spPr>
          <a:xfrm>
            <a:off x="899110" y="2279778"/>
            <a:ext cx="3331361" cy="138499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4F81BD">
                    <a:lumMod val="50000"/>
                  </a:srgbClr>
                </a:solidFill>
                <a:effectLst/>
                <a:uLnTx/>
                <a:uFillTx/>
                <a:latin typeface="Calibri"/>
                <a:ea typeface="+mn-ea"/>
                <a:cs typeface="+mn-cs"/>
              </a:rPr>
              <a:t>Pre-Post w Comparison </a:t>
            </a:r>
            <a:br>
              <a:rPr kumimoji="0" lang="en-US" sz="2000" b="0" i="0" u="none" strike="noStrike" kern="1200" cap="none" spc="0" normalizeH="0" baseline="0" noProof="0" dirty="0">
                <a:ln>
                  <a:noFill/>
                </a:ln>
                <a:solidFill>
                  <a:srgbClr val="4F81BD">
                    <a:lumMod val="50000"/>
                  </a:srgbClr>
                </a:solidFill>
                <a:effectLst/>
                <a:uLnTx/>
                <a:uFillTx/>
                <a:latin typeface="Calibri"/>
                <a:ea typeface="+mn-ea"/>
                <a:cs typeface="+mn-cs"/>
              </a:rPr>
            </a:br>
            <a:r>
              <a:rPr kumimoji="0" lang="en-US" sz="2000" b="0" i="0" u="none" strike="noStrike" kern="1200" cap="none" spc="0" normalizeH="0" baseline="0" noProof="0" dirty="0">
                <a:ln>
                  <a:noFill/>
                </a:ln>
                <a:solidFill>
                  <a:srgbClr val="4F81BD">
                    <a:lumMod val="50000"/>
                  </a:srgbClr>
                </a:solidFill>
                <a:effectLst/>
                <a:uLnTx/>
                <a:uFillTx/>
                <a:latin typeface="Calibri"/>
                <a:ea typeface="+mn-ea"/>
                <a:cs typeface="+mn-cs"/>
              </a:rPr>
              <a:t>Estimator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4F81BD">
                  <a:lumMod val="50000"/>
                </a:srgbClr>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r>
              <a:rPr kumimoji="0" lang="en-US" sz="2400" b="0" i="0" u="none" strike="noStrike" kern="1200" cap="none" spc="0" normalizeH="0" baseline="0" noProof="0" dirty="0">
                <a:ln>
                  <a:noFill/>
                </a:ln>
                <a:solidFill>
                  <a:prstClr val="black">
                    <a:lumMod val="65000"/>
                    <a:lumOff val="35000"/>
                  </a:prstClr>
                </a:solidFill>
                <a:effectLst/>
                <a:uLnTx/>
                <a:uFillTx/>
                <a:latin typeface="Candara" panose="020E0502030303020204" pitchFamily="34" charset="0"/>
                <a:ea typeface="+mn-ea"/>
                <a:cs typeface="+mn-cs"/>
              </a:rPr>
              <a:t> = </a:t>
            </a:r>
            <a:r>
              <a:rPr kumimoji="0" lang="en-US" sz="2000" b="1" i="0" u="none" strike="noStrike" kern="1200" cap="none" spc="0" normalizeH="0" baseline="0" noProof="0" dirty="0">
                <a:ln>
                  <a:noFill/>
                </a:ln>
                <a:solidFill>
                  <a:srgbClr val="EEECE1">
                    <a:lumMod val="50000"/>
                  </a:srgbClr>
                </a:solidFill>
                <a:effectLst/>
                <a:uLnTx/>
                <a:uFillTx/>
                <a:latin typeface="Century Gothic" panose="020B0502020202020204" pitchFamily="34" charset="0"/>
                <a:ea typeface="+mn-ea"/>
                <a:cs typeface="+mn-cs"/>
              </a:rPr>
              <a:t>(T2-T1) </a:t>
            </a:r>
            <a:r>
              <a:rPr kumimoji="0" lang="en-US" sz="2000" b="1" i="0" u="none" strike="noStrike" kern="1200" cap="none" spc="0" normalizeH="0" baseline="0" noProof="0" dirty="0">
                <a:ln>
                  <a:noFill/>
                </a:ln>
                <a:solidFill>
                  <a:prstClr val="black">
                    <a:lumMod val="65000"/>
                    <a:lumOff val="35000"/>
                  </a:prstClr>
                </a:solidFill>
                <a:effectLst/>
                <a:uLnTx/>
                <a:uFillTx/>
                <a:latin typeface="Century Gothic" panose="020B0502020202020204" pitchFamily="34" charset="0"/>
                <a:ea typeface="+mn-ea"/>
                <a:cs typeface="+mn-cs"/>
              </a:rPr>
              <a:t>–</a:t>
            </a:r>
            <a:r>
              <a:rPr kumimoji="0" lang="en-US" sz="2000" b="0" i="0" u="none" strike="noStrike" kern="1200" cap="none" spc="0" normalizeH="0" baseline="0" noProof="0" dirty="0">
                <a:ln>
                  <a:noFill/>
                </a:ln>
                <a:solidFill>
                  <a:srgbClr val="1F497D">
                    <a:lumMod val="75000"/>
                  </a:srgbClr>
                </a:solidFill>
                <a:effectLst/>
                <a:uLnTx/>
                <a:uFillTx/>
                <a:latin typeface="Century Gothic" panose="020B0502020202020204" pitchFamily="34" charset="0"/>
                <a:ea typeface="+mn-ea"/>
                <a:cs typeface="+mn-cs"/>
              </a:rPr>
              <a:t> </a:t>
            </a:r>
            <a:r>
              <a:rPr kumimoji="0" lang="en-US" sz="2000" b="1" i="0" u="none" strike="noStrike" kern="1200" cap="none" spc="0" normalizeH="0" baseline="0" noProof="0" dirty="0">
                <a:ln>
                  <a:noFill/>
                </a:ln>
                <a:solidFill>
                  <a:srgbClr val="1F497D">
                    <a:lumMod val="60000"/>
                    <a:lumOff val="40000"/>
                  </a:srgbClr>
                </a:solidFill>
                <a:effectLst/>
                <a:uLnTx/>
                <a:uFillTx/>
                <a:latin typeface="Century Gothic" panose="020B0502020202020204" pitchFamily="34" charset="0"/>
                <a:ea typeface="+mn-ea"/>
                <a:cs typeface="+mn-cs"/>
              </a:rPr>
              <a:t>(C2-C1)</a:t>
            </a:r>
          </a:p>
        </p:txBody>
      </p:sp>
      <p:cxnSp>
        <p:nvCxnSpPr>
          <p:cNvPr id="26" name="Straight Connector 25">
            <a:extLst>
              <a:ext uri="{FF2B5EF4-FFF2-40B4-BE49-F238E27FC236}">
                <a16:creationId xmlns:a16="http://schemas.microsoft.com/office/drawing/2014/main" id="{983DE375-3614-4C99-9979-F4B47AE6CB6C}"/>
              </a:ext>
            </a:extLst>
          </p:cNvPr>
          <p:cNvCxnSpPr>
            <a:cxnSpLocks/>
          </p:cNvCxnSpPr>
          <p:nvPr/>
        </p:nvCxnSpPr>
        <p:spPr>
          <a:xfrm>
            <a:off x="5181568" y="1792760"/>
            <a:ext cx="0" cy="33484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89042EA-AFC8-4119-9233-5307A69B569D}"/>
              </a:ext>
            </a:extLst>
          </p:cNvPr>
          <p:cNvCxnSpPr>
            <a:cxnSpLocks/>
          </p:cNvCxnSpPr>
          <p:nvPr/>
        </p:nvCxnSpPr>
        <p:spPr>
          <a:xfrm>
            <a:off x="5181568" y="5141167"/>
            <a:ext cx="4671559" cy="0"/>
          </a:xfrm>
          <a:prstGeom prst="line">
            <a:avLst/>
          </a:prstGeom>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11A031F7-E516-49AB-926E-E438FFA31DFC}"/>
              </a:ext>
            </a:extLst>
          </p:cNvPr>
          <p:cNvSpPr/>
          <p:nvPr/>
        </p:nvSpPr>
        <p:spPr>
          <a:xfrm>
            <a:off x="6224052" y="4361480"/>
            <a:ext cx="274320" cy="274320"/>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white"/>
              </a:solidFill>
              <a:effectLst/>
              <a:uLnTx/>
              <a:uFillTx/>
              <a:latin typeface="Calibri"/>
              <a:ea typeface="+mn-ea"/>
              <a:cs typeface="+mn-cs"/>
            </a:endParaRPr>
          </a:p>
        </p:txBody>
      </p:sp>
      <p:sp>
        <p:nvSpPr>
          <p:cNvPr id="29" name="Oval 28">
            <a:extLst>
              <a:ext uri="{FF2B5EF4-FFF2-40B4-BE49-F238E27FC236}">
                <a16:creationId xmlns:a16="http://schemas.microsoft.com/office/drawing/2014/main" id="{346251F4-0F39-4009-8DC1-227AFE0E9736}"/>
              </a:ext>
            </a:extLst>
          </p:cNvPr>
          <p:cNvSpPr/>
          <p:nvPr/>
        </p:nvSpPr>
        <p:spPr>
          <a:xfrm>
            <a:off x="8592358" y="3849158"/>
            <a:ext cx="274320" cy="274320"/>
          </a:xfrm>
          <a:prstGeom prst="ellips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white"/>
              </a:solidFill>
              <a:effectLst/>
              <a:uLnTx/>
              <a:uFillTx/>
              <a:latin typeface="Calibri"/>
              <a:ea typeface="+mn-ea"/>
              <a:cs typeface="+mn-cs"/>
            </a:endParaRPr>
          </a:p>
        </p:txBody>
      </p:sp>
      <p:sp>
        <p:nvSpPr>
          <p:cNvPr id="30" name="Oval 29">
            <a:extLst>
              <a:ext uri="{FF2B5EF4-FFF2-40B4-BE49-F238E27FC236}">
                <a16:creationId xmlns:a16="http://schemas.microsoft.com/office/drawing/2014/main" id="{242EB677-359B-4570-A2B2-DA9EEE4DC8DE}"/>
              </a:ext>
            </a:extLst>
          </p:cNvPr>
          <p:cNvSpPr/>
          <p:nvPr/>
        </p:nvSpPr>
        <p:spPr>
          <a:xfrm>
            <a:off x="6177644" y="3018780"/>
            <a:ext cx="274320" cy="27432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solidFill>
              <a:effectLst/>
              <a:uLnTx/>
              <a:uFillTx/>
              <a:latin typeface="Calibri"/>
              <a:ea typeface="+mn-ea"/>
              <a:cs typeface="+mn-cs"/>
            </a:endParaRPr>
          </a:p>
        </p:txBody>
      </p:sp>
      <p:sp>
        <p:nvSpPr>
          <p:cNvPr id="31" name="Oval 30">
            <a:extLst>
              <a:ext uri="{FF2B5EF4-FFF2-40B4-BE49-F238E27FC236}">
                <a16:creationId xmlns:a16="http://schemas.microsoft.com/office/drawing/2014/main" id="{79100C35-B746-46FA-B42C-4E2DD036F9BA}"/>
              </a:ext>
            </a:extLst>
          </p:cNvPr>
          <p:cNvSpPr/>
          <p:nvPr/>
        </p:nvSpPr>
        <p:spPr>
          <a:xfrm>
            <a:off x="8550089" y="2092841"/>
            <a:ext cx="274320" cy="27432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prstClr val="white"/>
              </a:solidFill>
              <a:effectLst/>
              <a:uLnTx/>
              <a:uFillTx/>
              <a:latin typeface="Calibri"/>
              <a:ea typeface="+mn-ea"/>
              <a:cs typeface="+mn-cs"/>
            </a:endParaRPr>
          </a:p>
        </p:txBody>
      </p:sp>
      <p:cxnSp>
        <p:nvCxnSpPr>
          <p:cNvPr id="32" name="Straight Connector 31">
            <a:extLst>
              <a:ext uri="{FF2B5EF4-FFF2-40B4-BE49-F238E27FC236}">
                <a16:creationId xmlns:a16="http://schemas.microsoft.com/office/drawing/2014/main" id="{BEB983A5-899C-4479-8499-89C56EA42E3B}"/>
              </a:ext>
            </a:extLst>
          </p:cNvPr>
          <p:cNvCxnSpPr/>
          <p:nvPr/>
        </p:nvCxnSpPr>
        <p:spPr>
          <a:xfrm>
            <a:off x="6314804" y="5149367"/>
            <a:ext cx="0" cy="1524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CEE1FDE-2109-4738-B12B-DFA978E75A69}"/>
              </a:ext>
            </a:extLst>
          </p:cNvPr>
          <p:cNvSpPr txBox="1"/>
          <p:nvPr/>
        </p:nvSpPr>
        <p:spPr>
          <a:xfrm>
            <a:off x="6096556" y="5360212"/>
            <a:ext cx="52931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t=1</a:t>
            </a:r>
          </a:p>
        </p:txBody>
      </p:sp>
      <p:cxnSp>
        <p:nvCxnSpPr>
          <p:cNvPr id="34" name="Straight Connector 33">
            <a:extLst>
              <a:ext uri="{FF2B5EF4-FFF2-40B4-BE49-F238E27FC236}">
                <a16:creationId xmlns:a16="http://schemas.microsoft.com/office/drawing/2014/main" id="{41381561-732C-4894-99B5-628D3BC89737}"/>
              </a:ext>
            </a:extLst>
          </p:cNvPr>
          <p:cNvCxnSpPr/>
          <p:nvPr/>
        </p:nvCxnSpPr>
        <p:spPr>
          <a:xfrm>
            <a:off x="8774017" y="5149367"/>
            <a:ext cx="0" cy="15240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980766A-E53C-4556-AC3A-166922707FD0}"/>
              </a:ext>
            </a:extLst>
          </p:cNvPr>
          <p:cNvSpPr txBox="1"/>
          <p:nvPr/>
        </p:nvSpPr>
        <p:spPr>
          <a:xfrm>
            <a:off x="8555769" y="5360212"/>
            <a:ext cx="529312"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t=2</a:t>
            </a:r>
          </a:p>
        </p:txBody>
      </p:sp>
      <p:cxnSp>
        <p:nvCxnSpPr>
          <p:cNvPr id="36" name="Straight Arrow Connector 35">
            <a:extLst>
              <a:ext uri="{FF2B5EF4-FFF2-40B4-BE49-F238E27FC236}">
                <a16:creationId xmlns:a16="http://schemas.microsoft.com/office/drawing/2014/main" id="{A1BA2C73-13FD-41F5-AC4D-F2E24A3E2068}"/>
              </a:ext>
            </a:extLst>
          </p:cNvPr>
          <p:cNvCxnSpPr/>
          <p:nvPr/>
        </p:nvCxnSpPr>
        <p:spPr>
          <a:xfrm flipV="1">
            <a:off x="7633418" y="5196269"/>
            <a:ext cx="0" cy="457200"/>
          </a:xfrm>
          <a:prstGeom prst="straightConnector1">
            <a:avLst/>
          </a:prstGeom>
          <a:ln w="25400">
            <a:solidFill>
              <a:schemeClr val="tx1">
                <a:lumMod val="50000"/>
                <a:lumOff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5DD72F0E-8B83-492C-BDEC-63598758DC6A}"/>
              </a:ext>
            </a:extLst>
          </p:cNvPr>
          <p:cNvSpPr txBox="1"/>
          <p:nvPr/>
        </p:nvSpPr>
        <p:spPr>
          <a:xfrm>
            <a:off x="7132596" y="5667508"/>
            <a:ext cx="99751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lumMod val="50000"/>
                    <a:lumOff val="50000"/>
                  </a:prstClr>
                </a:solidFill>
                <a:effectLst/>
                <a:uLnTx/>
                <a:uFillTx/>
                <a:latin typeface="Calibri"/>
                <a:ea typeface="+mn-ea"/>
                <a:cs typeface="+mn-cs"/>
              </a:rPr>
              <a:t>Program</a:t>
            </a:r>
          </a:p>
        </p:txBody>
      </p:sp>
      <p:cxnSp>
        <p:nvCxnSpPr>
          <p:cNvPr id="38" name="Straight Connector 37">
            <a:extLst>
              <a:ext uri="{FF2B5EF4-FFF2-40B4-BE49-F238E27FC236}">
                <a16:creationId xmlns:a16="http://schemas.microsoft.com/office/drawing/2014/main" id="{C0B82024-DC29-4E55-9200-B5018A8967D7}"/>
              </a:ext>
            </a:extLst>
          </p:cNvPr>
          <p:cNvCxnSpPr>
            <a:cxnSpLocks/>
          </p:cNvCxnSpPr>
          <p:nvPr/>
        </p:nvCxnSpPr>
        <p:spPr>
          <a:xfrm>
            <a:off x="6407429" y="3168520"/>
            <a:ext cx="2322089" cy="0"/>
          </a:xfrm>
          <a:prstGeom prst="line">
            <a:avLst/>
          </a:prstGeom>
          <a:ln w="19050">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9" name="Right Brace 38">
            <a:extLst>
              <a:ext uri="{FF2B5EF4-FFF2-40B4-BE49-F238E27FC236}">
                <a16:creationId xmlns:a16="http://schemas.microsoft.com/office/drawing/2014/main" id="{5EAFDE7F-BF35-4238-9483-119FD60D7660}"/>
              </a:ext>
            </a:extLst>
          </p:cNvPr>
          <p:cNvSpPr/>
          <p:nvPr/>
        </p:nvSpPr>
        <p:spPr>
          <a:xfrm>
            <a:off x="8881918" y="2232861"/>
            <a:ext cx="228600" cy="923079"/>
          </a:xfrm>
          <a:prstGeom prst="rightBrace">
            <a:avLst/>
          </a:prstGeom>
          <a:ln w="2540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EEECE1">
                  <a:lumMod val="10000"/>
                </a:srgbClr>
              </a:solidFill>
              <a:effectLst/>
              <a:uLnTx/>
              <a:uFillTx/>
              <a:latin typeface="Calibri"/>
              <a:ea typeface="+mn-ea"/>
              <a:cs typeface="+mn-cs"/>
            </a:endParaRPr>
          </a:p>
        </p:txBody>
      </p:sp>
      <p:sp>
        <p:nvSpPr>
          <p:cNvPr id="40" name="TextBox 39">
            <a:extLst>
              <a:ext uri="{FF2B5EF4-FFF2-40B4-BE49-F238E27FC236}">
                <a16:creationId xmlns:a16="http://schemas.microsoft.com/office/drawing/2014/main" id="{79BD909B-F433-4ED9-83DC-F96E1ABB8AAE}"/>
              </a:ext>
            </a:extLst>
          </p:cNvPr>
          <p:cNvSpPr txBox="1"/>
          <p:nvPr/>
        </p:nvSpPr>
        <p:spPr>
          <a:xfrm>
            <a:off x="9124001" y="2444175"/>
            <a:ext cx="373820" cy="461665"/>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EECE1">
                    <a:lumMod val="50000"/>
                  </a:srgbClr>
                </a:solidFill>
                <a:effectLst/>
                <a:uLnTx/>
                <a:uFillTx/>
                <a:latin typeface="Candara" panose="020E0502030303020204" pitchFamily="34" charset="0"/>
                <a:ea typeface="+mn-ea"/>
                <a:cs typeface="+mn-cs"/>
              </a:rPr>
              <a:t>A</a:t>
            </a:r>
          </a:p>
        </p:txBody>
      </p:sp>
      <p:cxnSp>
        <p:nvCxnSpPr>
          <p:cNvPr id="41" name="Straight Connector 40">
            <a:extLst>
              <a:ext uri="{FF2B5EF4-FFF2-40B4-BE49-F238E27FC236}">
                <a16:creationId xmlns:a16="http://schemas.microsoft.com/office/drawing/2014/main" id="{573AFEB8-7250-4FBF-9102-58CED505AAF1}"/>
              </a:ext>
            </a:extLst>
          </p:cNvPr>
          <p:cNvCxnSpPr>
            <a:cxnSpLocks/>
          </p:cNvCxnSpPr>
          <p:nvPr/>
        </p:nvCxnSpPr>
        <p:spPr>
          <a:xfrm>
            <a:off x="6425181" y="4508161"/>
            <a:ext cx="2348836" cy="1"/>
          </a:xfrm>
          <a:prstGeom prst="line">
            <a:avLst/>
          </a:prstGeom>
          <a:ln w="19050">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2" name="Right Brace 41">
            <a:extLst>
              <a:ext uri="{FF2B5EF4-FFF2-40B4-BE49-F238E27FC236}">
                <a16:creationId xmlns:a16="http://schemas.microsoft.com/office/drawing/2014/main" id="{8109DEAF-8CF5-463E-A344-BC872E940D87}"/>
              </a:ext>
            </a:extLst>
          </p:cNvPr>
          <p:cNvSpPr/>
          <p:nvPr/>
        </p:nvSpPr>
        <p:spPr>
          <a:xfrm>
            <a:off x="8925733" y="3976469"/>
            <a:ext cx="228600" cy="530959"/>
          </a:xfrm>
          <a:prstGeom prst="rightBrace">
            <a:avLst>
              <a:gd name="adj1" fmla="val 0"/>
              <a:gd name="adj2" fmla="val 50000"/>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a:ln>
                <a:noFill/>
              </a:ln>
              <a:solidFill>
                <a:srgbClr val="EEECE1">
                  <a:lumMod val="10000"/>
                </a:srgbClr>
              </a:solidFill>
              <a:effectLst/>
              <a:uLnTx/>
              <a:uFillTx/>
              <a:latin typeface="Calibri"/>
              <a:ea typeface="+mn-ea"/>
              <a:cs typeface="+mn-cs"/>
            </a:endParaRPr>
          </a:p>
        </p:txBody>
      </p:sp>
      <p:sp>
        <p:nvSpPr>
          <p:cNvPr id="43" name="TextBox 42">
            <a:extLst>
              <a:ext uri="{FF2B5EF4-FFF2-40B4-BE49-F238E27FC236}">
                <a16:creationId xmlns:a16="http://schemas.microsoft.com/office/drawing/2014/main" id="{2518EBF2-31CB-4D00-853B-7DA9CAA20CC4}"/>
              </a:ext>
            </a:extLst>
          </p:cNvPr>
          <p:cNvSpPr txBox="1"/>
          <p:nvPr/>
        </p:nvSpPr>
        <p:spPr>
          <a:xfrm>
            <a:off x="9162353" y="4004235"/>
            <a:ext cx="360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4F81BD">
                    <a:lumMod val="75000"/>
                  </a:srgbClr>
                </a:solidFill>
                <a:effectLst/>
                <a:uLnTx/>
                <a:uFillTx/>
                <a:latin typeface="Century Gothic" panose="020B0502020202020204" pitchFamily="34" charset="0"/>
                <a:ea typeface="+mn-ea"/>
                <a:cs typeface="+mn-cs"/>
              </a:rPr>
              <a:t>B</a:t>
            </a:r>
          </a:p>
        </p:txBody>
      </p:sp>
      <p:sp>
        <p:nvSpPr>
          <p:cNvPr id="44" name="TextBox 43">
            <a:extLst>
              <a:ext uri="{FF2B5EF4-FFF2-40B4-BE49-F238E27FC236}">
                <a16:creationId xmlns:a16="http://schemas.microsoft.com/office/drawing/2014/main" id="{7E1BCAA7-148E-4380-A9D4-CB3249843C4C}"/>
              </a:ext>
            </a:extLst>
          </p:cNvPr>
          <p:cNvSpPr txBox="1"/>
          <p:nvPr/>
        </p:nvSpPr>
        <p:spPr>
          <a:xfrm>
            <a:off x="10162160" y="4032054"/>
            <a:ext cx="143859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lumMod val="50000"/>
                    <a:lumOff val="50000"/>
                  </a:prstClr>
                </a:solidFill>
                <a:effectLst/>
                <a:uLnTx/>
                <a:uFillTx/>
                <a:latin typeface="Calibri"/>
                <a:ea typeface="+mn-ea"/>
                <a:cs typeface="+mn-cs"/>
              </a:rPr>
              <a:t>(Diff-in-Diff)</a:t>
            </a:r>
          </a:p>
        </p:txBody>
      </p:sp>
      <p:sp>
        <p:nvSpPr>
          <p:cNvPr id="45" name="TextBox 44">
            <a:extLst>
              <a:ext uri="{FF2B5EF4-FFF2-40B4-BE49-F238E27FC236}">
                <a16:creationId xmlns:a16="http://schemas.microsoft.com/office/drawing/2014/main" id="{5D68BC1B-E0FD-4737-8171-6DE863F0433A}"/>
              </a:ext>
            </a:extLst>
          </p:cNvPr>
          <p:cNvSpPr txBox="1"/>
          <p:nvPr/>
        </p:nvSpPr>
        <p:spPr>
          <a:xfrm>
            <a:off x="10162160" y="3000839"/>
            <a:ext cx="1321196"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A-B</a:t>
            </a:r>
          </a:p>
        </p:txBody>
      </p:sp>
      <p:sp>
        <p:nvSpPr>
          <p:cNvPr id="7" name="TextBox 6">
            <a:extLst>
              <a:ext uri="{FF2B5EF4-FFF2-40B4-BE49-F238E27FC236}">
                <a16:creationId xmlns:a16="http://schemas.microsoft.com/office/drawing/2014/main" id="{2817E60D-71D3-4846-AC46-78E9C8978693}"/>
              </a:ext>
            </a:extLst>
          </p:cNvPr>
          <p:cNvSpPr txBox="1"/>
          <p:nvPr/>
        </p:nvSpPr>
        <p:spPr>
          <a:xfrm>
            <a:off x="6062034" y="2558415"/>
            <a:ext cx="43633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EEECE1">
                    <a:lumMod val="50000"/>
                  </a:srgbClr>
                </a:solidFill>
                <a:effectLst/>
                <a:uLnTx/>
                <a:uFillTx/>
                <a:latin typeface="Century Gothic" panose="020B0502020202020204" pitchFamily="34" charset="0"/>
                <a:ea typeface="+mn-ea"/>
                <a:cs typeface="+mn-cs"/>
              </a:rPr>
              <a:t>T1</a:t>
            </a:r>
          </a:p>
        </p:txBody>
      </p:sp>
      <p:sp>
        <p:nvSpPr>
          <p:cNvPr id="53" name="TextBox 52">
            <a:extLst>
              <a:ext uri="{FF2B5EF4-FFF2-40B4-BE49-F238E27FC236}">
                <a16:creationId xmlns:a16="http://schemas.microsoft.com/office/drawing/2014/main" id="{84AA881E-DDF9-48B8-994C-8B6A8FDE0646}"/>
              </a:ext>
            </a:extLst>
          </p:cNvPr>
          <p:cNvSpPr txBox="1"/>
          <p:nvPr/>
        </p:nvSpPr>
        <p:spPr>
          <a:xfrm>
            <a:off x="8464654" y="1663509"/>
            <a:ext cx="436338"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EEECE1">
                    <a:lumMod val="50000"/>
                  </a:srgbClr>
                </a:solidFill>
                <a:effectLst/>
                <a:uLnTx/>
                <a:uFillTx/>
                <a:latin typeface="Century Gothic" panose="020B0502020202020204" pitchFamily="34" charset="0"/>
                <a:ea typeface="+mn-ea"/>
                <a:cs typeface="+mn-cs"/>
              </a:rPr>
              <a:t>T2</a:t>
            </a:r>
          </a:p>
        </p:txBody>
      </p:sp>
      <p:sp>
        <p:nvSpPr>
          <p:cNvPr id="54" name="TextBox 53">
            <a:extLst>
              <a:ext uri="{FF2B5EF4-FFF2-40B4-BE49-F238E27FC236}">
                <a16:creationId xmlns:a16="http://schemas.microsoft.com/office/drawing/2014/main" id="{F628CF9C-3530-4513-9882-6A83AB580990}"/>
              </a:ext>
            </a:extLst>
          </p:cNvPr>
          <p:cNvSpPr txBox="1"/>
          <p:nvPr/>
        </p:nvSpPr>
        <p:spPr>
          <a:xfrm>
            <a:off x="6063849" y="3926105"/>
            <a:ext cx="53572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4F81BD">
                    <a:lumMod val="75000"/>
                  </a:srgbClr>
                </a:solidFill>
                <a:effectLst/>
                <a:uLnTx/>
                <a:uFillTx/>
                <a:latin typeface="Century Gothic" panose="020B0502020202020204" pitchFamily="34" charset="0"/>
                <a:ea typeface="+mn-ea"/>
                <a:cs typeface="+mn-cs"/>
              </a:rPr>
              <a:t>C1</a:t>
            </a:r>
          </a:p>
        </p:txBody>
      </p:sp>
      <p:sp>
        <p:nvSpPr>
          <p:cNvPr id="55" name="TextBox 54">
            <a:extLst>
              <a:ext uri="{FF2B5EF4-FFF2-40B4-BE49-F238E27FC236}">
                <a16:creationId xmlns:a16="http://schemas.microsoft.com/office/drawing/2014/main" id="{DCD9DA7C-5A5D-43CF-B0ED-32F8BE95E649}"/>
              </a:ext>
            </a:extLst>
          </p:cNvPr>
          <p:cNvSpPr txBox="1"/>
          <p:nvPr/>
        </p:nvSpPr>
        <p:spPr>
          <a:xfrm>
            <a:off x="8459681" y="3416257"/>
            <a:ext cx="535724"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4F81BD">
                    <a:lumMod val="75000"/>
                  </a:srgbClr>
                </a:solidFill>
                <a:effectLst/>
                <a:uLnTx/>
                <a:uFillTx/>
                <a:latin typeface="Century Gothic" panose="020B0502020202020204" pitchFamily="34" charset="0"/>
                <a:ea typeface="+mn-ea"/>
                <a:cs typeface="+mn-cs"/>
              </a:rPr>
              <a:t>C2</a:t>
            </a:r>
          </a:p>
        </p:txBody>
      </p:sp>
    </p:spTree>
    <p:extLst>
      <p:ext uri="{BB962C8B-B14F-4D97-AF65-F5344CB8AC3E}">
        <p14:creationId xmlns:p14="http://schemas.microsoft.com/office/powerpoint/2010/main" val="38097779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EB3D5AAB-24A7-4678-BBA1-779137B1C604}"/>
              </a:ext>
            </a:extLst>
          </p:cNvPr>
          <p:cNvSpPr/>
          <p:nvPr/>
        </p:nvSpPr>
        <p:spPr>
          <a:xfrm>
            <a:off x="0" y="-180"/>
            <a:ext cx="3361653" cy="6858180"/>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075" name="TextBox 3"/>
          <p:cNvSpPr txBox="1">
            <a:spLocks noChangeArrowheads="1"/>
          </p:cNvSpPr>
          <p:nvPr/>
        </p:nvSpPr>
        <p:spPr bwMode="auto">
          <a:xfrm>
            <a:off x="-502285" y="178229"/>
            <a:ext cx="4366222" cy="1938992"/>
          </a:xfrm>
          <a:prstGeom prst="rect">
            <a:avLst/>
          </a:prstGeom>
          <a:noFill/>
          <a:ln w="9525">
            <a:noFill/>
            <a:miter lim="800000"/>
            <a:headEnd/>
            <a:tailEnd/>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small" spc="0" normalizeH="0" baseline="0" noProof="0" dirty="0">
                <a:ln>
                  <a:noFill/>
                </a:ln>
                <a:solidFill>
                  <a:srgbClr val="1F497D">
                    <a:lumMod val="50000"/>
                  </a:srgbClr>
                </a:solidFill>
                <a:effectLst/>
                <a:uLnTx/>
                <a:uFillTx/>
                <a:latin typeface="Century Gothic" panose="020B0502020202020204" pitchFamily="34" charset="0"/>
                <a:ea typeface="+mn-ea"/>
                <a:cs typeface="+mn-cs"/>
              </a:rPr>
              <a:t>Difference-in-Difference Estimator</a:t>
            </a:r>
          </a:p>
        </p:txBody>
      </p:sp>
      <p:sp>
        <p:nvSpPr>
          <p:cNvPr id="25" name="TextBox 24">
            <a:extLst>
              <a:ext uri="{FF2B5EF4-FFF2-40B4-BE49-F238E27FC236}">
                <a16:creationId xmlns:a16="http://schemas.microsoft.com/office/drawing/2014/main" id="{AD08FC4A-A297-43AA-A08C-F2827C2D42F5}"/>
              </a:ext>
            </a:extLst>
          </p:cNvPr>
          <p:cNvSpPr txBox="1"/>
          <p:nvPr/>
        </p:nvSpPr>
        <p:spPr>
          <a:xfrm>
            <a:off x="4649619" y="616689"/>
            <a:ext cx="6266459" cy="200054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4F81BD">
                    <a:lumMod val="50000"/>
                  </a:srgbClr>
                </a:solidFill>
                <a:effectLst/>
                <a:uLnTx/>
                <a:uFillTx/>
                <a:latin typeface="Calibri"/>
                <a:ea typeface="+mn-ea"/>
                <a:cs typeface="+mn-cs"/>
              </a:rPr>
              <a:t>Pre-Post w Comparison </a:t>
            </a:r>
            <a:br>
              <a:rPr kumimoji="0" lang="en-US" sz="4000" b="0" i="0" u="none" strike="noStrike" kern="1200" cap="none" spc="0" normalizeH="0" baseline="0" noProof="0" dirty="0">
                <a:ln>
                  <a:noFill/>
                </a:ln>
                <a:solidFill>
                  <a:srgbClr val="4F81BD">
                    <a:lumMod val="50000"/>
                  </a:srgbClr>
                </a:solidFill>
                <a:effectLst/>
                <a:uLnTx/>
                <a:uFillTx/>
                <a:latin typeface="Calibri"/>
                <a:ea typeface="+mn-ea"/>
                <a:cs typeface="+mn-cs"/>
              </a:rPr>
            </a:br>
            <a:endParaRPr kumimoji="0" lang="en-US" sz="4000" b="0" i="0" u="none" strike="noStrike" kern="1200" cap="none" spc="0" normalizeH="0" baseline="0" noProof="0" dirty="0">
              <a:ln>
                <a:noFill/>
              </a:ln>
              <a:solidFill>
                <a:srgbClr val="4F81BD">
                  <a:lumMod val="50000"/>
                </a:srgbClr>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r>
              <a:rPr kumimoji="0" lang="en-US" sz="4400" b="0" i="0" u="none" strike="noStrike" kern="1200" cap="none" spc="0" normalizeH="0" baseline="0" noProof="0" dirty="0">
                <a:ln>
                  <a:noFill/>
                </a:ln>
                <a:solidFill>
                  <a:prstClr val="black">
                    <a:lumMod val="65000"/>
                    <a:lumOff val="35000"/>
                  </a:prstClr>
                </a:solidFill>
                <a:effectLst/>
                <a:uLnTx/>
                <a:uFillTx/>
                <a:latin typeface="Candara" panose="020E0502030303020204" pitchFamily="34" charset="0"/>
                <a:ea typeface="+mn-ea"/>
                <a:cs typeface="+mn-cs"/>
              </a:rPr>
              <a:t> = </a:t>
            </a:r>
            <a:r>
              <a:rPr kumimoji="0" lang="en-US" sz="4000" b="0" i="0" u="none" strike="noStrike" kern="1200" cap="none" spc="0" normalizeH="0" baseline="0" noProof="0" dirty="0">
                <a:ln>
                  <a:noFill/>
                </a:ln>
                <a:solidFill>
                  <a:srgbClr val="EEECE1">
                    <a:lumMod val="50000"/>
                  </a:srgbClr>
                </a:solidFill>
                <a:effectLst/>
                <a:uLnTx/>
                <a:uFillTx/>
                <a:latin typeface="Century Gothic" panose="020B0502020202020204" pitchFamily="34" charset="0"/>
                <a:ea typeface="+mn-ea"/>
                <a:cs typeface="+mn-cs"/>
              </a:rPr>
              <a:t>(T2-T1) </a:t>
            </a:r>
            <a:r>
              <a:rPr kumimoji="0" lang="en-US" sz="4000" b="0" i="0" u="none" strike="noStrike" kern="1200" cap="none" spc="0" normalizeH="0" baseline="0" noProof="0" dirty="0">
                <a:ln>
                  <a:noFill/>
                </a:ln>
                <a:solidFill>
                  <a:prstClr val="black">
                    <a:lumMod val="65000"/>
                    <a:lumOff val="35000"/>
                  </a:prstClr>
                </a:solidFill>
                <a:effectLst/>
                <a:uLnTx/>
                <a:uFillTx/>
                <a:latin typeface="Century Gothic" panose="020B0502020202020204" pitchFamily="34" charset="0"/>
                <a:ea typeface="+mn-ea"/>
                <a:cs typeface="+mn-cs"/>
              </a:rPr>
              <a:t>–</a:t>
            </a:r>
            <a:r>
              <a:rPr kumimoji="0" lang="en-US" sz="4000" b="0" i="0" u="none" strike="noStrike" kern="1200" cap="none" spc="0" normalizeH="0" baseline="0" noProof="0" dirty="0">
                <a:ln>
                  <a:noFill/>
                </a:ln>
                <a:solidFill>
                  <a:srgbClr val="1F497D">
                    <a:lumMod val="75000"/>
                  </a:srgbClr>
                </a:solidFill>
                <a:effectLst/>
                <a:uLnTx/>
                <a:uFillTx/>
                <a:latin typeface="Century Gothic" panose="020B0502020202020204" pitchFamily="34" charset="0"/>
                <a:ea typeface="+mn-ea"/>
                <a:cs typeface="+mn-cs"/>
              </a:rPr>
              <a:t> </a:t>
            </a:r>
            <a:r>
              <a:rPr kumimoji="0" lang="en-US" sz="4000" b="0" i="0" u="none" strike="noStrike" kern="1200" cap="none" spc="0" normalizeH="0" baseline="0" noProof="0" dirty="0">
                <a:ln>
                  <a:noFill/>
                </a:ln>
                <a:solidFill>
                  <a:srgbClr val="1F497D">
                    <a:lumMod val="60000"/>
                    <a:lumOff val="40000"/>
                  </a:srgbClr>
                </a:solidFill>
                <a:effectLst/>
                <a:uLnTx/>
                <a:uFillTx/>
                <a:latin typeface="Century Gothic" panose="020B0502020202020204" pitchFamily="34" charset="0"/>
                <a:ea typeface="+mn-ea"/>
                <a:cs typeface="+mn-cs"/>
              </a:rPr>
              <a:t>(C2-C1)</a:t>
            </a:r>
          </a:p>
        </p:txBody>
      </p:sp>
      <p:grpSp>
        <p:nvGrpSpPr>
          <p:cNvPr id="48" name="Group 47">
            <a:extLst>
              <a:ext uri="{FF2B5EF4-FFF2-40B4-BE49-F238E27FC236}">
                <a16:creationId xmlns:a16="http://schemas.microsoft.com/office/drawing/2014/main" id="{ED210AD1-3FFB-4F2A-897D-08BFE8B4FD89}"/>
              </a:ext>
            </a:extLst>
          </p:cNvPr>
          <p:cNvGrpSpPr/>
          <p:nvPr/>
        </p:nvGrpSpPr>
        <p:grpSpPr>
          <a:xfrm>
            <a:off x="267894" y="2907274"/>
            <a:ext cx="2504161" cy="3020680"/>
            <a:chOff x="8545917" y="2543624"/>
            <a:chExt cx="2504161" cy="3020680"/>
          </a:xfrm>
        </p:grpSpPr>
        <p:cxnSp>
          <p:nvCxnSpPr>
            <p:cNvPr id="49" name="Straight Connector 48">
              <a:extLst>
                <a:ext uri="{FF2B5EF4-FFF2-40B4-BE49-F238E27FC236}">
                  <a16:creationId xmlns:a16="http://schemas.microsoft.com/office/drawing/2014/main" id="{3A58337A-15DE-45B5-85F9-035C443330C2}"/>
                </a:ext>
              </a:extLst>
            </p:cNvPr>
            <p:cNvCxnSpPr/>
            <p:nvPr/>
          </p:nvCxnSpPr>
          <p:spPr>
            <a:xfrm>
              <a:off x="8748877" y="3189955"/>
              <a:ext cx="0" cy="1752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A1B9437-F974-4B2B-8051-4EC69463D418}"/>
                </a:ext>
              </a:extLst>
            </p:cNvPr>
            <p:cNvCxnSpPr/>
            <p:nvPr/>
          </p:nvCxnSpPr>
          <p:spPr>
            <a:xfrm>
              <a:off x="8545917" y="4790155"/>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00924654-856A-485A-81DF-401A48F79F31}"/>
                </a:ext>
              </a:extLst>
            </p:cNvPr>
            <p:cNvSpPr/>
            <p:nvPr/>
          </p:nvSpPr>
          <p:spPr>
            <a:xfrm>
              <a:off x="9231717" y="4256755"/>
              <a:ext cx="152400" cy="152400"/>
            </a:xfrm>
            <a:prstGeom prst="ellipse">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Oval 51">
              <a:extLst>
                <a:ext uri="{FF2B5EF4-FFF2-40B4-BE49-F238E27FC236}">
                  <a16:creationId xmlns:a16="http://schemas.microsoft.com/office/drawing/2014/main" id="{1278D3E6-6575-45CD-AC52-3ACAB89A27A5}"/>
                </a:ext>
              </a:extLst>
            </p:cNvPr>
            <p:cNvSpPr/>
            <p:nvPr/>
          </p:nvSpPr>
          <p:spPr>
            <a:xfrm>
              <a:off x="10298517" y="3990055"/>
              <a:ext cx="152400" cy="152400"/>
            </a:xfrm>
            <a:prstGeom prst="ellipse">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Oval 55">
              <a:extLst>
                <a:ext uri="{FF2B5EF4-FFF2-40B4-BE49-F238E27FC236}">
                  <a16:creationId xmlns:a16="http://schemas.microsoft.com/office/drawing/2014/main" id="{5941ADCC-705F-4BEC-BFA1-104BD0FE05AD}"/>
                </a:ext>
              </a:extLst>
            </p:cNvPr>
            <p:cNvSpPr/>
            <p:nvPr/>
          </p:nvSpPr>
          <p:spPr>
            <a:xfrm>
              <a:off x="9231717" y="38376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7" name="Oval 56">
              <a:extLst>
                <a:ext uri="{FF2B5EF4-FFF2-40B4-BE49-F238E27FC236}">
                  <a16:creationId xmlns:a16="http://schemas.microsoft.com/office/drawing/2014/main" id="{6DDF9641-599E-4491-A321-371744ABEC9D}"/>
                </a:ext>
              </a:extLst>
            </p:cNvPr>
            <p:cNvSpPr/>
            <p:nvPr/>
          </p:nvSpPr>
          <p:spPr>
            <a:xfrm>
              <a:off x="10298517" y="32661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8" name="Straight Connector 57">
              <a:extLst>
                <a:ext uri="{FF2B5EF4-FFF2-40B4-BE49-F238E27FC236}">
                  <a16:creationId xmlns:a16="http://schemas.microsoft.com/office/drawing/2014/main" id="{9E72A377-A2C6-4CAA-9515-9008C346C563}"/>
                </a:ext>
              </a:extLst>
            </p:cNvPr>
            <p:cNvCxnSpPr/>
            <p:nvPr/>
          </p:nvCxnSpPr>
          <p:spPr>
            <a:xfrm>
              <a:off x="9307917"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A8057DA7-8661-4C7A-9596-6B94CF3C8521}"/>
                </a:ext>
              </a:extLst>
            </p:cNvPr>
            <p:cNvSpPr txBox="1"/>
            <p:nvPr/>
          </p:nvSpPr>
          <p:spPr>
            <a:xfrm>
              <a:off x="9089669"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t=1</a:t>
              </a:r>
            </a:p>
          </p:txBody>
        </p:sp>
        <p:cxnSp>
          <p:nvCxnSpPr>
            <p:cNvPr id="60" name="Straight Connector 59">
              <a:extLst>
                <a:ext uri="{FF2B5EF4-FFF2-40B4-BE49-F238E27FC236}">
                  <a16:creationId xmlns:a16="http://schemas.microsoft.com/office/drawing/2014/main" id="{22C135BE-55ED-4AFA-8D35-3C8B4C69592B}"/>
                </a:ext>
              </a:extLst>
            </p:cNvPr>
            <p:cNvCxnSpPr/>
            <p:nvPr/>
          </p:nvCxnSpPr>
          <p:spPr>
            <a:xfrm>
              <a:off x="10399877"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0EBBAE71-C630-47FB-8DEE-BF2C71E320C0}"/>
                </a:ext>
              </a:extLst>
            </p:cNvPr>
            <p:cNvSpPr txBox="1"/>
            <p:nvPr/>
          </p:nvSpPr>
          <p:spPr>
            <a:xfrm>
              <a:off x="10181629"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t=2</a:t>
              </a:r>
            </a:p>
          </p:txBody>
        </p:sp>
        <p:cxnSp>
          <p:nvCxnSpPr>
            <p:cNvPr id="62" name="Straight Arrow Connector 61">
              <a:extLst>
                <a:ext uri="{FF2B5EF4-FFF2-40B4-BE49-F238E27FC236}">
                  <a16:creationId xmlns:a16="http://schemas.microsoft.com/office/drawing/2014/main" id="{A043C329-3DA3-43F7-BB5C-290CF7735BFF}"/>
                </a:ext>
              </a:extLst>
            </p:cNvPr>
            <p:cNvCxnSpPr/>
            <p:nvPr/>
          </p:nvCxnSpPr>
          <p:spPr>
            <a:xfrm flipV="1">
              <a:off x="9850648" y="4806859"/>
              <a:ext cx="0" cy="457200"/>
            </a:xfrm>
            <a:prstGeom prst="straightConnector1">
              <a:avLst/>
            </a:prstGeom>
            <a:ln w="38100">
              <a:solidFill>
                <a:schemeClr val="bg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1981FD07-BE94-429D-A9AD-C40EBFCE05C4}"/>
                </a:ext>
              </a:extLst>
            </p:cNvPr>
            <p:cNvSpPr txBox="1"/>
            <p:nvPr/>
          </p:nvSpPr>
          <p:spPr>
            <a:xfrm>
              <a:off x="9486831" y="5287305"/>
              <a:ext cx="7276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lumMod val="50000"/>
                    </a:prstClr>
                  </a:solidFill>
                  <a:effectLst/>
                  <a:uLnTx/>
                  <a:uFillTx/>
                  <a:latin typeface="Calibri"/>
                  <a:ea typeface="+mn-ea"/>
                  <a:cs typeface="+mn-cs"/>
                </a:rPr>
                <a:t>Program</a:t>
              </a:r>
            </a:p>
          </p:txBody>
        </p:sp>
        <p:cxnSp>
          <p:nvCxnSpPr>
            <p:cNvPr id="64" name="Straight Connector 63">
              <a:extLst>
                <a:ext uri="{FF2B5EF4-FFF2-40B4-BE49-F238E27FC236}">
                  <a16:creationId xmlns:a16="http://schemas.microsoft.com/office/drawing/2014/main" id="{D071BB80-D922-4F3F-A807-68693832BADE}"/>
                </a:ext>
              </a:extLst>
            </p:cNvPr>
            <p:cNvCxnSpPr/>
            <p:nvPr/>
          </p:nvCxnSpPr>
          <p:spPr>
            <a:xfrm>
              <a:off x="9424231" y="3913855"/>
              <a:ext cx="1049618"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5" name="Right Brace 64">
              <a:extLst>
                <a:ext uri="{FF2B5EF4-FFF2-40B4-BE49-F238E27FC236}">
                  <a16:creationId xmlns:a16="http://schemas.microsoft.com/office/drawing/2014/main" id="{E52CB06C-EE13-4361-B353-F3F78556F891}"/>
                </a:ext>
              </a:extLst>
            </p:cNvPr>
            <p:cNvSpPr/>
            <p:nvPr/>
          </p:nvSpPr>
          <p:spPr>
            <a:xfrm>
              <a:off x="10527117" y="3329775"/>
              <a:ext cx="228600" cy="571500"/>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EECE1">
                    <a:lumMod val="25000"/>
                  </a:srgbClr>
                </a:solidFill>
                <a:effectLst/>
                <a:uLnTx/>
                <a:uFillTx/>
                <a:latin typeface="Calibri"/>
                <a:ea typeface="+mn-ea"/>
                <a:cs typeface="+mn-cs"/>
              </a:endParaRPr>
            </a:p>
          </p:txBody>
        </p:sp>
        <p:sp>
          <p:nvSpPr>
            <p:cNvPr id="66" name="TextBox 65">
              <a:extLst>
                <a:ext uri="{FF2B5EF4-FFF2-40B4-BE49-F238E27FC236}">
                  <a16:creationId xmlns:a16="http://schemas.microsoft.com/office/drawing/2014/main" id="{CAA4F250-07F4-44BC-88CC-2AD59CBBB956}"/>
                </a:ext>
              </a:extLst>
            </p:cNvPr>
            <p:cNvSpPr txBox="1"/>
            <p:nvPr/>
          </p:nvSpPr>
          <p:spPr>
            <a:xfrm>
              <a:off x="10733683" y="3441791"/>
              <a:ext cx="30970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EECE1">
                      <a:lumMod val="25000"/>
                    </a:srgbClr>
                  </a:solidFill>
                  <a:effectLst/>
                  <a:uLnTx/>
                  <a:uFillTx/>
                  <a:latin typeface="Calibri"/>
                  <a:ea typeface="+mn-ea"/>
                  <a:cs typeface="+mn-cs"/>
                </a:rPr>
                <a:t>A</a:t>
              </a:r>
            </a:p>
          </p:txBody>
        </p:sp>
        <p:cxnSp>
          <p:nvCxnSpPr>
            <p:cNvPr id="67" name="Straight Connector 66">
              <a:extLst>
                <a:ext uri="{FF2B5EF4-FFF2-40B4-BE49-F238E27FC236}">
                  <a16:creationId xmlns:a16="http://schemas.microsoft.com/office/drawing/2014/main" id="{C59F225C-8A68-43DE-B133-11CEF6CF7480}"/>
                </a:ext>
              </a:extLst>
            </p:cNvPr>
            <p:cNvCxnSpPr/>
            <p:nvPr/>
          </p:nvCxnSpPr>
          <p:spPr>
            <a:xfrm>
              <a:off x="9424736" y="4332955"/>
              <a:ext cx="1049618"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8" name="Right Brace 67">
              <a:extLst>
                <a:ext uri="{FF2B5EF4-FFF2-40B4-BE49-F238E27FC236}">
                  <a16:creationId xmlns:a16="http://schemas.microsoft.com/office/drawing/2014/main" id="{56228990-5855-49A9-B55E-7265D7344876}"/>
                </a:ext>
              </a:extLst>
            </p:cNvPr>
            <p:cNvSpPr/>
            <p:nvPr/>
          </p:nvSpPr>
          <p:spPr>
            <a:xfrm>
              <a:off x="10553682" y="4025197"/>
              <a:ext cx="228600" cy="307759"/>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EECE1">
                    <a:lumMod val="25000"/>
                  </a:srgbClr>
                </a:solidFill>
                <a:effectLst/>
                <a:uLnTx/>
                <a:uFillTx/>
                <a:latin typeface="Calibri"/>
                <a:ea typeface="+mn-ea"/>
                <a:cs typeface="+mn-cs"/>
              </a:endParaRPr>
            </a:p>
          </p:txBody>
        </p:sp>
        <p:sp>
          <p:nvSpPr>
            <p:cNvPr id="69" name="TextBox 68">
              <a:extLst>
                <a:ext uri="{FF2B5EF4-FFF2-40B4-BE49-F238E27FC236}">
                  <a16:creationId xmlns:a16="http://schemas.microsoft.com/office/drawing/2014/main" id="{DC875360-AF66-4AD7-B2E6-5A1DEC0F520D}"/>
                </a:ext>
              </a:extLst>
            </p:cNvPr>
            <p:cNvSpPr txBox="1"/>
            <p:nvPr/>
          </p:nvSpPr>
          <p:spPr>
            <a:xfrm>
              <a:off x="10749996" y="4004265"/>
              <a:ext cx="30008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EECE1">
                      <a:lumMod val="25000"/>
                    </a:srgbClr>
                  </a:solidFill>
                  <a:effectLst/>
                  <a:uLnTx/>
                  <a:uFillTx/>
                  <a:latin typeface="Calibri"/>
                  <a:ea typeface="+mn-ea"/>
                  <a:cs typeface="+mn-cs"/>
                </a:rPr>
                <a:t>B</a:t>
              </a:r>
            </a:p>
          </p:txBody>
        </p:sp>
        <p:sp>
          <p:nvSpPr>
            <p:cNvPr id="71" name="TextBox 70">
              <a:extLst>
                <a:ext uri="{FF2B5EF4-FFF2-40B4-BE49-F238E27FC236}">
                  <a16:creationId xmlns:a16="http://schemas.microsoft.com/office/drawing/2014/main" id="{A0C175CB-D2BB-488E-A65B-565FC98F54F0}"/>
                </a:ext>
              </a:extLst>
            </p:cNvPr>
            <p:cNvSpPr txBox="1"/>
            <p:nvPr/>
          </p:nvSpPr>
          <p:spPr>
            <a:xfrm>
              <a:off x="9438515" y="2543624"/>
              <a:ext cx="824265"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A-B</a:t>
              </a:r>
            </a:p>
          </p:txBody>
        </p:sp>
      </p:grpSp>
      <p:cxnSp>
        <p:nvCxnSpPr>
          <p:cNvPr id="72" name="Straight Arrow Connector 71">
            <a:extLst>
              <a:ext uri="{FF2B5EF4-FFF2-40B4-BE49-F238E27FC236}">
                <a16:creationId xmlns:a16="http://schemas.microsoft.com/office/drawing/2014/main" id="{07FA050D-B472-4CAE-8DB0-5DEB50D13239}"/>
              </a:ext>
            </a:extLst>
          </p:cNvPr>
          <p:cNvCxnSpPr/>
          <p:nvPr/>
        </p:nvCxnSpPr>
        <p:spPr>
          <a:xfrm flipV="1">
            <a:off x="7613137" y="2854410"/>
            <a:ext cx="0" cy="381000"/>
          </a:xfrm>
          <a:prstGeom prst="straightConnector1">
            <a:avLst/>
          </a:prstGeom>
          <a:ln w="38100">
            <a:solidFill>
              <a:schemeClr val="bg2">
                <a:lumMod val="2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412AB93F-029A-4300-954A-C3F95889DDE1}"/>
              </a:ext>
            </a:extLst>
          </p:cNvPr>
          <p:cNvCxnSpPr/>
          <p:nvPr/>
        </p:nvCxnSpPr>
        <p:spPr>
          <a:xfrm flipV="1">
            <a:off x="9954244" y="2857565"/>
            <a:ext cx="0" cy="381000"/>
          </a:xfrm>
          <a:prstGeom prst="straightConnector1">
            <a:avLst/>
          </a:prstGeom>
          <a:ln w="38100">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90873945-3794-4CB9-996C-C46FBD75A20D}"/>
              </a:ext>
            </a:extLst>
          </p:cNvPr>
          <p:cNvSpPr txBox="1"/>
          <p:nvPr/>
        </p:nvSpPr>
        <p:spPr>
          <a:xfrm>
            <a:off x="6028101" y="3675877"/>
            <a:ext cx="2752526"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EEECE1">
                    <a:lumMod val="50000"/>
                  </a:srgbClr>
                </a:solidFill>
                <a:effectLst/>
                <a:uLnTx/>
                <a:uFillTx/>
                <a:latin typeface="Calibri"/>
                <a:ea typeface="+mn-ea"/>
                <a:cs typeface="+mn-cs"/>
              </a:rPr>
              <a:t>Gains during the program period by treatment group</a:t>
            </a:r>
          </a:p>
        </p:txBody>
      </p:sp>
      <p:sp>
        <p:nvSpPr>
          <p:cNvPr id="75" name="TextBox 74">
            <a:extLst>
              <a:ext uri="{FF2B5EF4-FFF2-40B4-BE49-F238E27FC236}">
                <a16:creationId xmlns:a16="http://schemas.microsoft.com/office/drawing/2014/main" id="{C366878D-DA96-45AD-A4F0-CA62CEEF5E52}"/>
              </a:ext>
            </a:extLst>
          </p:cNvPr>
          <p:cNvSpPr txBox="1"/>
          <p:nvPr/>
        </p:nvSpPr>
        <p:spPr>
          <a:xfrm>
            <a:off x="8795247" y="3675877"/>
            <a:ext cx="2752517"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1F497D">
                    <a:lumMod val="60000"/>
                    <a:lumOff val="40000"/>
                  </a:srgbClr>
                </a:solidFill>
                <a:effectLst/>
                <a:uLnTx/>
                <a:uFillTx/>
                <a:latin typeface="Calibri"/>
                <a:ea typeface="+mn-ea"/>
                <a:cs typeface="+mn-cs"/>
              </a:rPr>
              <a:t>Gains independent of the program (secular trends)</a:t>
            </a:r>
          </a:p>
        </p:txBody>
      </p:sp>
    </p:spTree>
    <p:extLst>
      <p:ext uri="{BB962C8B-B14F-4D97-AF65-F5344CB8AC3E}">
        <p14:creationId xmlns:p14="http://schemas.microsoft.com/office/powerpoint/2010/main" val="27172113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717080" y="2001119"/>
            <a:ext cx="0" cy="1752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1564680" y="3601319"/>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2250480" y="3067919"/>
            <a:ext cx="152400" cy="152400"/>
          </a:xfrm>
          <a:prstGeom prst="ellipse">
            <a:avLst/>
          </a:prstGeom>
          <a:solidFill>
            <a:srgbClr val="385D8A"/>
          </a:solidFill>
          <a:ln>
            <a:solidFill>
              <a:srgbClr val="385D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Oval 6"/>
          <p:cNvSpPr/>
          <p:nvPr/>
        </p:nvSpPr>
        <p:spPr>
          <a:xfrm>
            <a:off x="3317280" y="2801219"/>
            <a:ext cx="152400" cy="152400"/>
          </a:xfrm>
          <a:prstGeom prst="ellipse">
            <a:avLst/>
          </a:prstGeom>
          <a:solidFill>
            <a:srgbClr val="385D8A"/>
          </a:solidFill>
          <a:ln>
            <a:solidFill>
              <a:srgbClr val="385D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Oval 7"/>
          <p:cNvSpPr/>
          <p:nvPr/>
        </p:nvSpPr>
        <p:spPr>
          <a:xfrm>
            <a:off x="2250480" y="2498725"/>
            <a:ext cx="152400" cy="152400"/>
          </a:xfrm>
          <a:prstGeom prst="ellipse">
            <a:avLst/>
          </a:prstGeom>
          <a:solidFill>
            <a:schemeClr val="bg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Oval 8"/>
          <p:cNvSpPr/>
          <p:nvPr/>
        </p:nvSpPr>
        <p:spPr>
          <a:xfrm>
            <a:off x="3317280" y="1965325"/>
            <a:ext cx="152400" cy="152400"/>
          </a:xfrm>
          <a:prstGeom prst="ellipse">
            <a:avLst/>
          </a:prstGeom>
          <a:solidFill>
            <a:schemeClr val="bg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 name="Straight Connector 9"/>
          <p:cNvCxnSpPr/>
          <p:nvPr/>
        </p:nvCxnSpPr>
        <p:spPr>
          <a:xfrm>
            <a:off x="2326680" y="3525119"/>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981200" y="3735964"/>
            <a:ext cx="72648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time=1</a:t>
            </a:r>
          </a:p>
        </p:txBody>
      </p:sp>
      <p:cxnSp>
        <p:nvCxnSpPr>
          <p:cNvPr id="12" name="Straight Connector 11"/>
          <p:cNvCxnSpPr/>
          <p:nvPr/>
        </p:nvCxnSpPr>
        <p:spPr>
          <a:xfrm>
            <a:off x="3418640" y="3525119"/>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124200" y="3735964"/>
            <a:ext cx="726481"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time=2</a:t>
            </a:r>
          </a:p>
        </p:txBody>
      </p:sp>
      <p:cxnSp>
        <p:nvCxnSpPr>
          <p:cNvPr id="14" name="Straight Arrow Connector 13"/>
          <p:cNvCxnSpPr/>
          <p:nvPr/>
        </p:nvCxnSpPr>
        <p:spPr>
          <a:xfrm flipV="1">
            <a:off x="2860080" y="3487389"/>
            <a:ext cx="0" cy="457200"/>
          </a:xfrm>
          <a:prstGeom prst="straightConnector1">
            <a:avLst/>
          </a:prstGeom>
          <a:ln w="25400">
            <a:solidFill>
              <a:schemeClr val="bg2">
                <a:lumMod val="25000"/>
              </a:schemeClr>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496263" y="3967835"/>
            <a:ext cx="7276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EECE1">
                    <a:lumMod val="25000"/>
                  </a:srgbClr>
                </a:solidFill>
                <a:effectLst/>
                <a:uLnTx/>
                <a:uFillTx/>
                <a:latin typeface="Calibri"/>
                <a:ea typeface="+mn-ea"/>
                <a:cs typeface="+mn-cs"/>
              </a:rPr>
              <a:t>Program</a:t>
            </a:r>
          </a:p>
        </p:txBody>
      </p:sp>
      <p:sp>
        <p:nvSpPr>
          <p:cNvPr id="16" name="TextBox 15"/>
          <p:cNvSpPr txBox="1"/>
          <p:nvPr/>
        </p:nvSpPr>
        <p:spPr>
          <a:xfrm>
            <a:off x="3774481" y="1812925"/>
            <a:ext cx="2085251"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Policy / program group</a:t>
            </a:r>
          </a:p>
        </p:txBody>
      </p:sp>
      <p:sp>
        <p:nvSpPr>
          <p:cNvPr id="17" name="TextBox 16"/>
          <p:cNvSpPr txBox="1"/>
          <p:nvPr/>
        </p:nvSpPr>
        <p:spPr>
          <a:xfrm>
            <a:off x="3774481" y="2720833"/>
            <a:ext cx="248587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Control / comparison group</a:t>
            </a:r>
          </a:p>
        </p:txBody>
      </p:sp>
      <p:sp>
        <p:nvSpPr>
          <p:cNvPr id="19" name="TextBox 3"/>
          <p:cNvSpPr txBox="1">
            <a:spLocks noChangeArrowheads="1"/>
          </p:cNvSpPr>
          <p:nvPr/>
        </p:nvSpPr>
        <p:spPr bwMode="auto">
          <a:xfrm>
            <a:off x="3124200" y="304801"/>
            <a:ext cx="7162800" cy="584775"/>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4F81BD">
                    <a:lumMod val="50000"/>
                  </a:srgbClr>
                </a:solidFill>
                <a:effectLst/>
                <a:uLnTx/>
                <a:uFillTx/>
                <a:latin typeface="Tahoma" pitchFamily="34" charset="0"/>
                <a:ea typeface="+mn-ea"/>
                <a:cs typeface="+mn-cs"/>
              </a:rPr>
              <a:t>“Control” Versus “Comparison” Groups</a:t>
            </a:r>
          </a:p>
        </p:txBody>
      </p:sp>
      <p:sp>
        <p:nvSpPr>
          <p:cNvPr id="20" name="TextBox 19"/>
          <p:cNvSpPr txBox="1"/>
          <p:nvPr/>
        </p:nvSpPr>
        <p:spPr>
          <a:xfrm>
            <a:off x="1259880" y="1660526"/>
            <a:ext cx="771750"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a:ea typeface="+mn-ea"/>
                <a:cs typeface="+mn-cs"/>
              </a:rPr>
              <a:t>Outcome</a:t>
            </a:r>
          </a:p>
        </p:txBody>
      </p:sp>
      <p:sp>
        <p:nvSpPr>
          <p:cNvPr id="2" name="TextBox 1"/>
          <p:cNvSpPr txBox="1"/>
          <p:nvPr/>
        </p:nvSpPr>
        <p:spPr>
          <a:xfrm>
            <a:off x="1645755" y="4892617"/>
            <a:ext cx="4074513" cy="116955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sng" strike="noStrike" kern="1200" cap="none" spc="0" normalizeH="0" baseline="0" noProof="0" dirty="0">
                <a:ln>
                  <a:noFill/>
                </a:ln>
                <a:solidFill>
                  <a:prstClr val="black"/>
                </a:solidFill>
                <a:effectLst/>
                <a:uLnTx/>
                <a:uFillTx/>
                <a:latin typeface="Calibri"/>
                <a:ea typeface="+mn-ea"/>
                <a:cs typeface="+mn-cs"/>
              </a:rPr>
              <a:t>Single Difference:	Difference in Difference: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Effect = T2 – T1	Effect = (T2 – T1) – (C2 – C1)</a:t>
            </a:r>
          </a:p>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400" b="0" i="0" u="none" strike="noStrike" kern="1200" cap="none" spc="0" normalizeH="0" baseline="0" noProof="0" dirty="0">
                <a:ln>
                  <a:noFill/>
                </a:ln>
                <a:solidFill>
                  <a:prstClr val="black"/>
                </a:solidFill>
                <a:effectLst/>
                <a:uLnTx/>
                <a:uFillTx/>
                <a:latin typeface="Calibri"/>
                <a:ea typeface="+mn-ea"/>
                <a:cs typeface="+mn-cs"/>
              </a:rPr>
            </a:br>
            <a:r>
              <a:rPr kumimoji="0" lang="en-US" sz="1400" b="0" i="0" u="none" strike="noStrike" kern="1200" cap="none" spc="0" normalizeH="0" baseline="0" noProof="0" dirty="0">
                <a:ln>
                  <a:noFill/>
                </a:ln>
                <a:solidFill>
                  <a:prstClr val="black"/>
                </a:solidFill>
                <a:effectLst/>
                <a:uLnTx/>
                <a:uFillTx/>
                <a:latin typeface="Calibri"/>
                <a:ea typeface="+mn-ea"/>
                <a:cs typeface="+mn-cs"/>
              </a:rPr>
              <a:t>Effect = T2 – C2</a:t>
            </a:r>
          </a:p>
        </p:txBody>
      </p:sp>
      <p:sp>
        <p:nvSpPr>
          <p:cNvPr id="3" name="Rectangle 2"/>
          <p:cNvSpPr/>
          <p:nvPr/>
        </p:nvSpPr>
        <p:spPr>
          <a:xfrm>
            <a:off x="3223897" y="1629748"/>
            <a:ext cx="364202"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EECE1">
                    <a:lumMod val="50000"/>
                  </a:srgbClr>
                </a:solidFill>
                <a:effectLst/>
                <a:uLnTx/>
                <a:uFillTx/>
                <a:latin typeface="Calibri"/>
                <a:ea typeface="+mn-ea"/>
                <a:cs typeface="+mn-cs"/>
              </a:rPr>
              <a:t>T2</a:t>
            </a:r>
          </a:p>
        </p:txBody>
      </p:sp>
      <p:sp>
        <p:nvSpPr>
          <p:cNvPr id="21" name="Rectangle 20"/>
          <p:cNvSpPr/>
          <p:nvPr/>
        </p:nvSpPr>
        <p:spPr>
          <a:xfrm>
            <a:off x="2132060" y="2190949"/>
            <a:ext cx="364202"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EECE1">
                    <a:lumMod val="50000"/>
                  </a:srgbClr>
                </a:solidFill>
                <a:effectLst/>
                <a:uLnTx/>
                <a:uFillTx/>
                <a:latin typeface="Calibri"/>
                <a:ea typeface="+mn-ea"/>
                <a:cs typeface="+mn-cs"/>
              </a:rPr>
              <a:t>T1</a:t>
            </a:r>
          </a:p>
        </p:txBody>
      </p:sp>
      <p:sp>
        <p:nvSpPr>
          <p:cNvPr id="22" name="Rectangle 21"/>
          <p:cNvSpPr/>
          <p:nvPr/>
        </p:nvSpPr>
        <p:spPr>
          <a:xfrm>
            <a:off x="2159132" y="2802037"/>
            <a:ext cx="370614"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Calibri"/>
                <a:ea typeface="+mn-ea"/>
                <a:cs typeface="+mn-cs"/>
              </a:rPr>
              <a:t>C1</a:t>
            </a:r>
          </a:p>
        </p:txBody>
      </p:sp>
      <p:sp>
        <p:nvSpPr>
          <p:cNvPr id="23" name="Rectangle 22"/>
          <p:cNvSpPr/>
          <p:nvPr/>
        </p:nvSpPr>
        <p:spPr>
          <a:xfrm>
            <a:off x="3208173" y="2498726"/>
            <a:ext cx="370614"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Calibri"/>
                <a:ea typeface="+mn-ea"/>
                <a:cs typeface="+mn-cs"/>
              </a:rPr>
              <a:t>C2</a:t>
            </a:r>
          </a:p>
        </p:txBody>
      </p:sp>
      <p:sp>
        <p:nvSpPr>
          <p:cNvPr id="24" name="Rectangle 23"/>
          <p:cNvSpPr/>
          <p:nvPr/>
        </p:nvSpPr>
        <p:spPr>
          <a:xfrm>
            <a:off x="4882577" y="5592387"/>
            <a:ext cx="764184"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70C0"/>
                </a:solidFill>
                <a:effectLst/>
                <a:uLnTx/>
                <a:uFillTx/>
                <a:latin typeface="Calibri"/>
                <a:ea typeface="+mn-ea"/>
                <a:cs typeface="+mn-cs"/>
              </a:rPr>
              <a:t>*trend*</a:t>
            </a:r>
          </a:p>
        </p:txBody>
      </p:sp>
      <p:sp>
        <p:nvSpPr>
          <p:cNvPr id="26" name="TextBox 25">
            <a:extLst>
              <a:ext uri="{FF2B5EF4-FFF2-40B4-BE49-F238E27FC236}">
                <a16:creationId xmlns:a16="http://schemas.microsoft.com/office/drawing/2014/main" id="{B36E2D4B-E9A5-41C1-B697-6B1169D72D5B}"/>
              </a:ext>
            </a:extLst>
          </p:cNvPr>
          <p:cNvSpPr txBox="1"/>
          <p:nvPr/>
        </p:nvSpPr>
        <p:spPr>
          <a:xfrm>
            <a:off x="6863267" y="1977051"/>
            <a:ext cx="4568830" cy="34778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85D8A"/>
                </a:solidFill>
                <a:effectLst/>
                <a:uLnTx/>
                <a:uFillTx/>
                <a:latin typeface="Century Gothic" panose="020B0502020202020204" pitchFamily="34" charset="0"/>
                <a:ea typeface="+mn-ea"/>
                <a:cs typeface="+mn-cs"/>
              </a:rPr>
              <a:t>The term “control group” typically refers to a group created through randomization, so they are assumed to be identical. We sometimes use the terminology “comparison group” to differentiate the these cases. The control groups represents the counterfactual, the comparison group does not (it just captures trend in this case). </a:t>
            </a:r>
          </a:p>
        </p:txBody>
      </p:sp>
    </p:spTree>
    <p:extLst>
      <p:ext uri="{BB962C8B-B14F-4D97-AF65-F5344CB8AC3E}">
        <p14:creationId xmlns:p14="http://schemas.microsoft.com/office/powerpoint/2010/main" val="731656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9B79234-C588-4162-81C8-D84B3C5DE574}"/>
              </a:ext>
            </a:extLst>
          </p:cNvPr>
          <p:cNvSpPr/>
          <p:nvPr/>
        </p:nvSpPr>
        <p:spPr>
          <a:xfrm>
            <a:off x="0" y="-180"/>
            <a:ext cx="12191998" cy="1287573"/>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7" name="Rectangle 76">
            <a:extLst>
              <a:ext uri="{FF2B5EF4-FFF2-40B4-BE49-F238E27FC236}">
                <a16:creationId xmlns:a16="http://schemas.microsoft.com/office/drawing/2014/main" id="{D684360B-43F5-4D08-A696-BBD98F533D06}"/>
              </a:ext>
            </a:extLst>
          </p:cNvPr>
          <p:cNvSpPr/>
          <p:nvPr/>
        </p:nvSpPr>
        <p:spPr>
          <a:xfrm>
            <a:off x="7338" y="5873530"/>
            <a:ext cx="12191998" cy="996801"/>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Title 1"/>
          <p:cNvSpPr>
            <a:spLocks noGrp="1"/>
          </p:cNvSpPr>
          <p:nvPr>
            <p:ph type="title"/>
          </p:nvPr>
        </p:nvSpPr>
        <p:spPr>
          <a:xfrm>
            <a:off x="316156" y="-121481"/>
            <a:ext cx="11479876" cy="1143000"/>
          </a:xfrm>
        </p:spPr>
        <p:txBody>
          <a:bodyPr>
            <a:normAutofit/>
          </a:bodyPr>
          <a:lstStyle/>
          <a:p>
            <a:r>
              <a:rPr lang="en-US" sz="3600" dirty="0"/>
              <a:t>2 remaining counterfactuals:</a:t>
            </a:r>
          </a:p>
        </p:txBody>
      </p:sp>
      <p:cxnSp>
        <p:nvCxnSpPr>
          <p:cNvPr id="4" name="Straight Connector 3"/>
          <p:cNvCxnSpPr/>
          <p:nvPr/>
        </p:nvCxnSpPr>
        <p:spPr>
          <a:xfrm>
            <a:off x="940840" y="3189955"/>
            <a:ext cx="0" cy="1752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788440" y="4790155"/>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1474240" y="4256755"/>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Oval 7"/>
          <p:cNvSpPr/>
          <p:nvPr/>
        </p:nvSpPr>
        <p:spPr>
          <a:xfrm>
            <a:off x="2541040" y="4034445"/>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Oval 8"/>
          <p:cNvSpPr/>
          <p:nvPr/>
        </p:nvSpPr>
        <p:spPr>
          <a:xfrm>
            <a:off x="1474240" y="38376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Oval 9"/>
          <p:cNvSpPr/>
          <p:nvPr/>
        </p:nvSpPr>
        <p:spPr>
          <a:xfrm>
            <a:off x="2541040" y="32661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 name="Straight Connector 11"/>
          <p:cNvCxnSpPr/>
          <p:nvPr/>
        </p:nvCxnSpPr>
        <p:spPr>
          <a:xfrm>
            <a:off x="1550440"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332192"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t=1</a:t>
            </a:r>
          </a:p>
        </p:txBody>
      </p:sp>
      <p:cxnSp>
        <p:nvCxnSpPr>
          <p:cNvPr id="14" name="Straight Connector 13"/>
          <p:cNvCxnSpPr/>
          <p:nvPr/>
        </p:nvCxnSpPr>
        <p:spPr>
          <a:xfrm>
            <a:off x="2642400"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424152"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t=2</a:t>
            </a:r>
          </a:p>
        </p:txBody>
      </p:sp>
      <p:cxnSp>
        <p:nvCxnSpPr>
          <p:cNvPr id="17" name="Straight Arrow Connector 16"/>
          <p:cNvCxnSpPr/>
          <p:nvPr/>
        </p:nvCxnSpPr>
        <p:spPr>
          <a:xfrm flipV="1">
            <a:off x="2083840" y="4806859"/>
            <a:ext cx="0" cy="457200"/>
          </a:xfrm>
          <a:prstGeom prst="straightConnector1">
            <a:avLst/>
          </a:prstGeom>
          <a:ln w="38100">
            <a:solidFill>
              <a:schemeClr val="bg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720023" y="5287305"/>
            <a:ext cx="7276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lumMod val="50000"/>
                  </a:prstClr>
                </a:solidFill>
                <a:effectLst/>
                <a:uLnTx/>
                <a:uFillTx/>
                <a:latin typeface="Calibri"/>
                <a:ea typeface="+mn-ea"/>
                <a:cs typeface="+mn-cs"/>
              </a:rPr>
              <a:t>Program</a:t>
            </a:r>
          </a:p>
        </p:txBody>
      </p:sp>
      <p:cxnSp>
        <p:nvCxnSpPr>
          <p:cNvPr id="19" name="Straight Connector 18"/>
          <p:cNvCxnSpPr/>
          <p:nvPr/>
        </p:nvCxnSpPr>
        <p:spPr>
          <a:xfrm>
            <a:off x="4853475" y="3189955"/>
            <a:ext cx="0" cy="1752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4701075" y="4790155"/>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5386875" y="4256755"/>
            <a:ext cx="1524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Oval 21"/>
          <p:cNvSpPr/>
          <p:nvPr/>
        </p:nvSpPr>
        <p:spPr>
          <a:xfrm>
            <a:off x="6453675" y="3990055"/>
            <a:ext cx="152400" cy="152400"/>
          </a:xfrm>
          <a:prstGeom prst="ellipse">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3" name="Oval 22"/>
          <p:cNvSpPr/>
          <p:nvPr/>
        </p:nvSpPr>
        <p:spPr>
          <a:xfrm>
            <a:off x="5386875" y="38376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Oval 23"/>
          <p:cNvSpPr/>
          <p:nvPr/>
        </p:nvSpPr>
        <p:spPr>
          <a:xfrm>
            <a:off x="6453675" y="32661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25" name="Straight Connector 24"/>
          <p:cNvCxnSpPr/>
          <p:nvPr/>
        </p:nvCxnSpPr>
        <p:spPr>
          <a:xfrm>
            <a:off x="5463075"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5244827"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t=1</a:t>
            </a:r>
          </a:p>
        </p:txBody>
      </p:sp>
      <p:cxnSp>
        <p:nvCxnSpPr>
          <p:cNvPr id="27" name="Straight Connector 26"/>
          <p:cNvCxnSpPr/>
          <p:nvPr/>
        </p:nvCxnSpPr>
        <p:spPr>
          <a:xfrm>
            <a:off x="6555035"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336787"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t=2</a:t>
            </a:r>
          </a:p>
        </p:txBody>
      </p:sp>
      <p:cxnSp>
        <p:nvCxnSpPr>
          <p:cNvPr id="29" name="Straight Arrow Connector 28"/>
          <p:cNvCxnSpPr/>
          <p:nvPr/>
        </p:nvCxnSpPr>
        <p:spPr>
          <a:xfrm flipV="1">
            <a:off x="5996475" y="4806859"/>
            <a:ext cx="0" cy="457200"/>
          </a:xfrm>
          <a:prstGeom prst="straightConnector1">
            <a:avLst/>
          </a:prstGeom>
          <a:ln w="38100">
            <a:solidFill>
              <a:schemeClr val="bg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632658" y="5287305"/>
            <a:ext cx="7276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lumMod val="50000"/>
                  </a:prstClr>
                </a:solidFill>
                <a:effectLst/>
                <a:uLnTx/>
                <a:uFillTx/>
                <a:latin typeface="Calibri"/>
                <a:ea typeface="+mn-ea"/>
                <a:cs typeface="+mn-cs"/>
              </a:rPr>
              <a:t>Program</a:t>
            </a:r>
          </a:p>
        </p:txBody>
      </p:sp>
      <p:sp>
        <p:nvSpPr>
          <p:cNvPr id="43" name="TextBox 42"/>
          <p:cNvSpPr txBox="1"/>
          <p:nvPr/>
        </p:nvSpPr>
        <p:spPr>
          <a:xfrm>
            <a:off x="1168073" y="1865120"/>
            <a:ext cx="1904304" cy="95410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small" spc="0" normalizeH="0" baseline="0" noProof="0" dirty="0">
                <a:ln>
                  <a:noFill/>
                </a:ln>
                <a:solidFill>
                  <a:srgbClr val="4F81BD">
                    <a:lumMod val="50000"/>
                  </a:srgbClr>
                </a:solidFill>
                <a:effectLst/>
                <a:uLnTx/>
                <a:uFillTx/>
                <a:latin typeface="Calibri"/>
                <a:ea typeface="+mn-ea"/>
                <a:cs typeface="+mn-cs"/>
              </a:rPr>
              <a:t>Pre-Post Reflexive</a:t>
            </a:r>
            <a:b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br>
            <a: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t>Estimator </a:t>
            </a:r>
            <a:br>
              <a:rPr kumimoji="0" lang="en-US" sz="1800" b="0" i="0" u="none" strike="noStrike" kern="1200" cap="none" spc="0" normalizeH="0" baseline="0" noProof="0" dirty="0">
                <a:ln>
                  <a:noFill/>
                </a:ln>
                <a:solidFill>
                  <a:prstClr val="black"/>
                </a:solidFill>
                <a:effectLst/>
                <a:uLnTx/>
                <a:uFillTx/>
                <a:latin typeface="Calibri"/>
                <a:ea typeface="+mn-ea"/>
                <a:cs typeface="+mn-cs"/>
              </a:rPr>
            </a:br>
            <a:r>
              <a:rPr kumimoji="0" lang="en-US" sz="20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Arial" panose="020B0604020202020204" pitchFamily="34" charset="0"/>
              </a:rPr>
              <a:t>effect</a:t>
            </a:r>
            <a:r>
              <a:rPr kumimoji="0" lang="en-US" sz="2000" b="0" i="0" u="none" strike="noStrike" kern="1200" cap="none" spc="0" normalizeH="0" baseline="0" noProof="0" dirty="0">
                <a:ln>
                  <a:noFill/>
                </a:ln>
                <a:solidFill>
                  <a:srgbClr val="C00000"/>
                </a:solidFill>
                <a:effectLst/>
                <a:uLnTx/>
                <a:uFillTx/>
                <a:latin typeface="Candara" panose="020E0502030303020204" pitchFamily="34" charset="0"/>
                <a:ea typeface="+mn-ea"/>
                <a:cs typeface="Arial" panose="020B0604020202020204" pitchFamily="34" charset="0"/>
              </a:rPr>
              <a:t> </a:t>
            </a:r>
            <a:r>
              <a:rPr kumimoji="0" lang="en-US" sz="2000" b="1" i="0" u="none" strike="noStrike" kern="1200" cap="none" spc="0" normalizeH="0" baseline="0" noProof="0" dirty="0">
                <a:ln>
                  <a:noFill/>
                </a:ln>
                <a:solidFill>
                  <a:srgbClr val="EEECE1">
                    <a:lumMod val="25000"/>
                  </a:srgbClr>
                </a:solidFill>
                <a:effectLst/>
                <a:uLnTx/>
                <a:uFillTx/>
                <a:latin typeface="Candara" panose="020E0502030303020204" pitchFamily="34" charset="0"/>
                <a:ea typeface="+mn-ea"/>
                <a:cs typeface="Arial" panose="020B0604020202020204" pitchFamily="34" charset="0"/>
              </a:rPr>
              <a:t>= </a:t>
            </a:r>
            <a:r>
              <a:rPr kumimoji="0" lang="en-US" sz="20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Arial" panose="020B0604020202020204" pitchFamily="34" charset="0"/>
              </a:rPr>
              <a:t>T2-T1</a:t>
            </a:r>
            <a:endParaRPr kumimoji="0" lang="en-US" sz="18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Arial" panose="020B0604020202020204" pitchFamily="34" charset="0"/>
            </a:endParaRPr>
          </a:p>
        </p:txBody>
      </p:sp>
      <p:cxnSp>
        <p:nvCxnSpPr>
          <p:cNvPr id="45" name="Straight Connector 44"/>
          <p:cNvCxnSpPr/>
          <p:nvPr/>
        </p:nvCxnSpPr>
        <p:spPr>
          <a:xfrm>
            <a:off x="1666754" y="3913855"/>
            <a:ext cx="1049618"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6" name="Right Brace 45"/>
          <p:cNvSpPr/>
          <p:nvPr/>
        </p:nvSpPr>
        <p:spPr>
          <a:xfrm>
            <a:off x="2769640" y="3329775"/>
            <a:ext cx="228600" cy="571500"/>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Box 46"/>
          <p:cNvSpPr txBox="1"/>
          <p:nvPr/>
        </p:nvSpPr>
        <p:spPr>
          <a:xfrm>
            <a:off x="3028867" y="3415004"/>
            <a:ext cx="7665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p>
        </p:txBody>
      </p:sp>
      <p:sp>
        <p:nvSpPr>
          <p:cNvPr id="48" name="TextBox 47"/>
          <p:cNvSpPr txBox="1"/>
          <p:nvPr/>
        </p:nvSpPr>
        <p:spPr>
          <a:xfrm>
            <a:off x="5117869" y="1865120"/>
            <a:ext cx="1757211" cy="95410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small" spc="0" normalizeH="0" baseline="0" noProof="0" dirty="0">
                <a:ln>
                  <a:noFill/>
                </a:ln>
                <a:solidFill>
                  <a:srgbClr val="4F81BD">
                    <a:lumMod val="50000"/>
                  </a:srgbClr>
                </a:solidFill>
                <a:effectLst/>
                <a:uLnTx/>
                <a:uFillTx/>
                <a:latin typeface="Calibri"/>
                <a:ea typeface="+mn-ea"/>
                <a:cs typeface="+mn-cs"/>
              </a:rPr>
              <a:t>Post-Only</a:t>
            </a:r>
            <a:b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br>
            <a: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t>Estimator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Arial" panose="020B0604020202020204" pitchFamily="34" charset="0"/>
              </a:rPr>
              <a:t>effect</a:t>
            </a:r>
            <a:r>
              <a:rPr kumimoji="0" lang="en-US" sz="2000" b="1" i="0" u="none" strike="noStrike" kern="1200" cap="none" spc="0" normalizeH="0" baseline="0" noProof="0" dirty="0">
                <a:ln>
                  <a:noFill/>
                </a:ln>
                <a:solidFill>
                  <a:srgbClr val="4F81BD">
                    <a:lumMod val="75000"/>
                  </a:srgbClr>
                </a:solidFill>
                <a:effectLst/>
                <a:uLnTx/>
                <a:uFillTx/>
                <a:latin typeface="Candara" panose="020E0502030303020204" pitchFamily="34" charset="0"/>
                <a:ea typeface="+mn-ea"/>
                <a:cs typeface="Arial" panose="020B0604020202020204" pitchFamily="34" charset="0"/>
              </a:rPr>
              <a:t> </a:t>
            </a:r>
            <a:r>
              <a:rPr kumimoji="0" lang="en-US" sz="2000" b="1" i="0" u="none" strike="noStrike" kern="1200" cap="none" spc="0" normalizeH="0" baseline="0" noProof="0" dirty="0">
                <a:ln>
                  <a:noFill/>
                </a:ln>
                <a:solidFill>
                  <a:srgbClr val="EEECE1">
                    <a:lumMod val="25000"/>
                  </a:srgbClr>
                </a:solidFill>
                <a:effectLst/>
                <a:uLnTx/>
                <a:uFillTx/>
                <a:latin typeface="Candara" panose="020E0502030303020204" pitchFamily="34" charset="0"/>
                <a:ea typeface="+mn-ea"/>
                <a:cs typeface="Arial" panose="020B0604020202020204" pitchFamily="34" charset="0"/>
              </a:rPr>
              <a:t>= </a:t>
            </a:r>
            <a:r>
              <a:rPr kumimoji="0" lang="en-US" sz="20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mn-cs"/>
              </a:rPr>
              <a:t>T2-C2</a:t>
            </a:r>
          </a:p>
        </p:txBody>
      </p:sp>
      <p:sp>
        <p:nvSpPr>
          <p:cNvPr id="49" name="TextBox 48"/>
          <p:cNvSpPr txBox="1"/>
          <p:nvPr/>
        </p:nvSpPr>
        <p:spPr>
          <a:xfrm>
            <a:off x="8508266" y="1895897"/>
            <a:ext cx="2864887" cy="95410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small" spc="0" normalizeH="0" baseline="0" noProof="0" dirty="0">
                <a:ln>
                  <a:noFill/>
                </a:ln>
                <a:solidFill>
                  <a:srgbClr val="4F81BD">
                    <a:lumMod val="50000"/>
                  </a:srgbClr>
                </a:solidFill>
                <a:effectLst/>
                <a:uLnTx/>
                <a:uFillTx/>
                <a:latin typeface="Calibri"/>
                <a:ea typeface="+mn-ea"/>
                <a:cs typeface="+mn-cs"/>
              </a:rPr>
              <a:t>Pre-Post w Comparison </a:t>
            </a:r>
            <a:b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br>
            <a:r>
              <a:rPr kumimoji="0" lang="en-US" sz="1800" b="0" i="0" u="none" strike="noStrike" kern="1200" cap="none" spc="0" normalizeH="0" baseline="0" noProof="0" dirty="0">
                <a:ln>
                  <a:noFill/>
                </a:ln>
                <a:solidFill>
                  <a:srgbClr val="4F81BD">
                    <a:lumMod val="50000"/>
                  </a:srgbClr>
                </a:solidFill>
                <a:effectLst/>
                <a:uLnTx/>
                <a:uFillTx/>
                <a:latin typeface="Calibri"/>
                <a:ea typeface="+mn-ea"/>
                <a:cs typeface="+mn-cs"/>
              </a:rPr>
              <a:t>Estimator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r>
              <a:rPr kumimoji="0" lang="en-US" sz="1800" b="1" i="0" u="none" strike="noStrike" kern="1200" cap="none" spc="0" normalizeH="0" baseline="0" noProof="0" dirty="0">
                <a:ln>
                  <a:noFill/>
                </a:ln>
                <a:solidFill>
                  <a:srgbClr val="4F81BD">
                    <a:lumMod val="75000"/>
                  </a:srgbClr>
                </a:solidFill>
                <a:effectLst/>
                <a:uLnTx/>
                <a:uFillTx/>
                <a:latin typeface="Candara" panose="020E0502030303020204" pitchFamily="34" charset="0"/>
                <a:ea typeface="+mn-ea"/>
                <a:cs typeface="+mn-cs"/>
              </a:rPr>
              <a:t> </a:t>
            </a:r>
            <a:r>
              <a:rPr kumimoji="0" lang="en-US" sz="1800" b="1" i="0" u="none" strike="noStrike" kern="1200" cap="none" spc="0" normalizeH="0" baseline="0" noProof="0" dirty="0">
                <a:ln>
                  <a:noFill/>
                </a:ln>
                <a:solidFill>
                  <a:srgbClr val="EEECE1">
                    <a:lumMod val="25000"/>
                  </a:srgbClr>
                </a:solidFill>
                <a:effectLst/>
                <a:uLnTx/>
                <a:uFillTx/>
                <a:latin typeface="Candara" panose="020E0502030303020204" pitchFamily="34" charset="0"/>
                <a:ea typeface="+mn-ea"/>
                <a:cs typeface="+mn-cs"/>
              </a:rPr>
              <a:t>= </a:t>
            </a:r>
            <a:r>
              <a:rPr kumimoji="0" lang="en-US" sz="1800" b="0" i="0" u="none" strike="noStrike" kern="1200" cap="none" spc="0" normalizeH="0" baseline="0" noProof="0" dirty="0">
                <a:ln>
                  <a:noFill/>
                </a:ln>
                <a:solidFill>
                  <a:srgbClr val="EEECE1">
                    <a:lumMod val="25000"/>
                  </a:srgbClr>
                </a:solidFill>
                <a:effectLst/>
                <a:uLnTx/>
                <a:uFillTx/>
                <a:latin typeface="Century Gothic" panose="020B0502020202020204" pitchFamily="34" charset="0"/>
                <a:ea typeface="+mn-ea"/>
                <a:cs typeface="+mn-cs"/>
              </a:rPr>
              <a:t>(T2-T1) – (C2-C1)</a:t>
            </a:r>
          </a:p>
        </p:txBody>
      </p:sp>
      <p:sp>
        <p:nvSpPr>
          <p:cNvPr id="50" name="Right Brace 49"/>
          <p:cNvSpPr/>
          <p:nvPr/>
        </p:nvSpPr>
        <p:spPr>
          <a:xfrm>
            <a:off x="6755246" y="3320897"/>
            <a:ext cx="228600" cy="745358"/>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00000"/>
              </a:solidFill>
              <a:effectLst/>
              <a:uLnTx/>
              <a:uFillTx/>
              <a:latin typeface="Calibri"/>
              <a:ea typeface="+mn-ea"/>
              <a:cs typeface="+mn-cs"/>
            </a:endParaRPr>
          </a:p>
        </p:txBody>
      </p:sp>
      <p:sp>
        <p:nvSpPr>
          <p:cNvPr id="3" name="Rectangle 2"/>
          <p:cNvSpPr/>
          <p:nvPr/>
        </p:nvSpPr>
        <p:spPr>
          <a:xfrm>
            <a:off x="1332193" y="4016689"/>
            <a:ext cx="1717367" cy="609600"/>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8" name="TextBox 77">
            <a:extLst>
              <a:ext uri="{FF2B5EF4-FFF2-40B4-BE49-F238E27FC236}">
                <a16:creationId xmlns:a16="http://schemas.microsoft.com/office/drawing/2014/main" id="{1C9B8779-A6F7-47A5-9567-7A1A7FAC715A}"/>
              </a:ext>
            </a:extLst>
          </p:cNvPr>
          <p:cNvSpPr txBox="1"/>
          <p:nvPr/>
        </p:nvSpPr>
        <p:spPr>
          <a:xfrm>
            <a:off x="7007006" y="3493521"/>
            <a:ext cx="76655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p>
        </p:txBody>
      </p:sp>
      <p:grpSp>
        <p:nvGrpSpPr>
          <p:cNvPr id="33" name="Group 32">
            <a:extLst>
              <a:ext uri="{FF2B5EF4-FFF2-40B4-BE49-F238E27FC236}">
                <a16:creationId xmlns:a16="http://schemas.microsoft.com/office/drawing/2014/main" id="{C635AAA6-DDBE-48A5-8411-DDE3395FC9ED}"/>
              </a:ext>
            </a:extLst>
          </p:cNvPr>
          <p:cNvGrpSpPr/>
          <p:nvPr/>
        </p:nvGrpSpPr>
        <p:grpSpPr>
          <a:xfrm>
            <a:off x="8545917" y="3189955"/>
            <a:ext cx="3344901" cy="2374349"/>
            <a:chOff x="8545917" y="3189955"/>
            <a:chExt cx="3344901" cy="2374349"/>
          </a:xfrm>
        </p:grpSpPr>
        <p:cxnSp>
          <p:nvCxnSpPr>
            <p:cNvPr id="52" name="Straight Connector 51"/>
            <p:cNvCxnSpPr/>
            <p:nvPr/>
          </p:nvCxnSpPr>
          <p:spPr>
            <a:xfrm>
              <a:off x="8748877" y="3189955"/>
              <a:ext cx="0" cy="1752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8545917" y="4790155"/>
              <a:ext cx="2438400" cy="0"/>
            </a:xfrm>
            <a:prstGeom prst="line">
              <a:avLst/>
            </a:prstGeom>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9231717" y="4256755"/>
              <a:ext cx="152400" cy="152400"/>
            </a:xfrm>
            <a:prstGeom prst="ellipse">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Oval 54"/>
            <p:cNvSpPr/>
            <p:nvPr/>
          </p:nvSpPr>
          <p:spPr>
            <a:xfrm>
              <a:off x="10298517" y="3990055"/>
              <a:ext cx="152400" cy="152400"/>
            </a:xfrm>
            <a:prstGeom prst="ellipse">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Oval 55"/>
            <p:cNvSpPr/>
            <p:nvPr/>
          </p:nvSpPr>
          <p:spPr>
            <a:xfrm>
              <a:off x="9231717" y="38376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7" name="Oval 56"/>
            <p:cNvSpPr/>
            <p:nvPr/>
          </p:nvSpPr>
          <p:spPr>
            <a:xfrm>
              <a:off x="10298517" y="3266155"/>
              <a:ext cx="152400" cy="152400"/>
            </a:xfrm>
            <a:prstGeom prst="ellipse">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8" name="Straight Connector 57"/>
            <p:cNvCxnSpPr/>
            <p:nvPr/>
          </p:nvCxnSpPr>
          <p:spPr>
            <a:xfrm>
              <a:off x="9307917"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9089669"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t=1</a:t>
              </a:r>
            </a:p>
          </p:txBody>
        </p:sp>
        <p:cxnSp>
          <p:nvCxnSpPr>
            <p:cNvPr id="60" name="Straight Connector 59"/>
            <p:cNvCxnSpPr/>
            <p:nvPr/>
          </p:nvCxnSpPr>
          <p:spPr>
            <a:xfrm>
              <a:off x="10399877" y="4713955"/>
              <a:ext cx="0" cy="152400"/>
            </a:xfrm>
            <a:prstGeom prst="line">
              <a:avLst/>
            </a:prstGeom>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10181629" y="4924800"/>
              <a:ext cx="4267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t=2</a:t>
              </a:r>
            </a:p>
          </p:txBody>
        </p:sp>
        <p:cxnSp>
          <p:nvCxnSpPr>
            <p:cNvPr id="62" name="Straight Arrow Connector 61"/>
            <p:cNvCxnSpPr/>
            <p:nvPr/>
          </p:nvCxnSpPr>
          <p:spPr>
            <a:xfrm flipV="1">
              <a:off x="9850648" y="4806859"/>
              <a:ext cx="0" cy="457200"/>
            </a:xfrm>
            <a:prstGeom prst="straightConnector1">
              <a:avLst/>
            </a:prstGeom>
            <a:ln w="38100">
              <a:solidFill>
                <a:schemeClr val="bg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9486831" y="5287305"/>
              <a:ext cx="727635"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lumMod val="50000"/>
                    </a:prstClr>
                  </a:solidFill>
                  <a:effectLst/>
                  <a:uLnTx/>
                  <a:uFillTx/>
                  <a:latin typeface="Calibri"/>
                  <a:ea typeface="+mn-ea"/>
                  <a:cs typeface="+mn-cs"/>
                </a:rPr>
                <a:t>Program</a:t>
              </a:r>
            </a:p>
          </p:txBody>
        </p:sp>
        <p:cxnSp>
          <p:nvCxnSpPr>
            <p:cNvPr id="64" name="Straight Connector 63"/>
            <p:cNvCxnSpPr/>
            <p:nvPr/>
          </p:nvCxnSpPr>
          <p:spPr>
            <a:xfrm>
              <a:off x="9424231" y="3913855"/>
              <a:ext cx="1049618"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5" name="Right Brace 64"/>
            <p:cNvSpPr/>
            <p:nvPr/>
          </p:nvSpPr>
          <p:spPr>
            <a:xfrm>
              <a:off x="10527117" y="3329775"/>
              <a:ext cx="228600" cy="571500"/>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EECE1">
                    <a:lumMod val="25000"/>
                  </a:srgbClr>
                </a:solidFill>
                <a:effectLst/>
                <a:uLnTx/>
                <a:uFillTx/>
                <a:latin typeface="Calibri"/>
                <a:ea typeface="+mn-ea"/>
                <a:cs typeface="+mn-cs"/>
              </a:endParaRPr>
            </a:p>
          </p:txBody>
        </p:sp>
        <p:sp>
          <p:nvSpPr>
            <p:cNvPr id="66" name="TextBox 65"/>
            <p:cNvSpPr txBox="1"/>
            <p:nvPr/>
          </p:nvSpPr>
          <p:spPr>
            <a:xfrm>
              <a:off x="10733683" y="3441791"/>
              <a:ext cx="309700"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EECE1">
                      <a:lumMod val="25000"/>
                    </a:srgbClr>
                  </a:solidFill>
                  <a:effectLst/>
                  <a:uLnTx/>
                  <a:uFillTx/>
                  <a:latin typeface="Calibri"/>
                  <a:ea typeface="+mn-ea"/>
                  <a:cs typeface="+mn-cs"/>
                </a:rPr>
                <a:t>A</a:t>
              </a:r>
            </a:p>
          </p:txBody>
        </p:sp>
        <p:cxnSp>
          <p:nvCxnSpPr>
            <p:cNvPr id="67" name="Straight Connector 66"/>
            <p:cNvCxnSpPr/>
            <p:nvPr/>
          </p:nvCxnSpPr>
          <p:spPr>
            <a:xfrm>
              <a:off x="9424736" y="4332955"/>
              <a:ext cx="1049618"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8" name="Right Brace 67"/>
            <p:cNvSpPr/>
            <p:nvPr/>
          </p:nvSpPr>
          <p:spPr>
            <a:xfrm>
              <a:off x="10553682" y="4025197"/>
              <a:ext cx="228600" cy="307759"/>
            </a:xfrm>
            <a:prstGeom prst="rightBrac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EEECE1">
                    <a:lumMod val="25000"/>
                  </a:srgbClr>
                </a:solidFill>
                <a:effectLst/>
                <a:uLnTx/>
                <a:uFillTx/>
                <a:latin typeface="Calibri"/>
                <a:ea typeface="+mn-ea"/>
                <a:cs typeface="+mn-cs"/>
              </a:endParaRPr>
            </a:p>
          </p:txBody>
        </p:sp>
        <p:sp>
          <p:nvSpPr>
            <p:cNvPr id="69" name="TextBox 68"/>
            <p:cNvSpPr txBox="1"/>
            <p:nvPr/>
          </p:nvSpPr>
          <p:spPr>
            <a:xfrm>
              <a:off x="10749996" y="4004265"/>
              <a:ext cx="300082"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EECE1">
                      <a:lumMod val="25000"/>
                    </a:srgbClr>
                  </a:solidFill>
                  <a:effectLst/>
                  <a:uLnTx/>
                  <a:uFillTx/>
                  <a:latin typeface="Calibri"/>
                  <a:ea typeface="+mn-ea"/>
                  <a:cs typeface="+mn-cs"/>
                </a:rPr>
                <a:t>B</a:t>
              </a:r>
            </a:p>
          </p:txBody>
        </p:sp>
        <p:sp>
          <p:nvSpPr>
            <p:cNvPr id="11" name="TextBox 10"/>
            <p:cNvSpPr txBox="1"/>
            <p:nvPr/>
          </p:nvSpPr>
          <p:spPr>
            <a:xfrm>
              <a:off x="8880035" y="3249151"/>
              <a:ext cx="1060675"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65000"/>
                      <a:lumOff val="35000"/>
                    </a:prstClr>
                  </a:solidFill>
                  <a:effectLst/>
                  <a:uLnTx/>
                  <a:uFillTx/>
                  <a:latin typeface="Calibri"/>
                  <a:ea typeface="+mn-ea"/>
                  <a:cs typeface="+mn-cs"/>
                </a:rPr>
                <a:t>(Diff-in-Diff)</a:t>
              </a:r>
            </a:p>
          </p:txBody>
        </p:sp>
        <p:sp>
          <p:nvSpPr>
            <p:cNvPr id="79" name="TextBox 78">
              <a:extLst>
                <a:ext uri="{FF2B5EF4-FFF2-40B4-BE49-F238E27FC236}">
                  <a16:creationId xmlns:a16="http://schemas.microsoft.com/office/drawing/2014/main" id="{588BCB43-281E-4701-BF31-0ED15F63C5F1}"/>
                </a:ext>
              </a:extLst>
            </p:cNvPr>
            <p:cNvSpPr txBox="1"/>
            <p:nvPr/>
          </p:nvSpPr>
          <p:spPr>
            <a:xfrm>
              <a:off x="11066553" y="3415004"/>
              <a:ext cx="824265"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effect: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504D">
                      <a:lumMod val="75000"/>
                    </a:srgbClr>
                  </a:solidFill>
                  <a:effectLst/>
                  <a:uLnTx/>
                  <a:uFillTx/>
                  <a:latin typeface="Candara" panose="020E0502030303020204" pitchFamily="34" charset="0"/>
                  <a:ea typeface="+mn-ea"/>
                  <a:cs typeface="+mn-cs"/>
                </a:rPr>
                <a:t>A-B</a:t>
              </a:r>
            </a:p>
          </p:txBody>
        </p:sp>
      </p:grpSp>
      <p:sp>
        <p:nvSpPr>
          <p:cNvPr id="75" name="Rectangle 74"/>
          <p:cNvSpPr/>
          <p:nvPr/>
        </p:nvSpPr>
        <p:spPr>
          <a:xfrm>
            <a:off x="5244827" y="3723355"/>
            <a:ext cx="453970" cy="795914"/>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34" name="Rectangle 33">
            <a:extLst>
              <a:ext uri="{FF2B5EF4-FFF2-40B4-BE49-F238E27FC236}">
                <a16:creationId xmlns:a16="http://schemas.microsoft.com/office/drawing/2014/main" id="{042F27DB-AA5B-4F33-94AE-0066FCDD5585}"/>
              </a:ext>
            </a:extLst>
          </p:cNvPr>
          <p:cNvSpPr/>
          <p:nvPr/>
        </p:nvSpPr>
        <p:spPr>
          <a:xfrm>
            <a:off x="8024327" y="1455576"/>
            <a:ext cx="4167664" cy="4258043"/>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42174900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583</Words>
  <Application>Microsoft Office PowerPoint</Application>
  <PresentationFormat>Widescreen</PresentationFormat>
  <Paragraphs>240</Paragraphs>
  <Slides>31</Slides>
  <Notes>0</Notes>
  <HiddenSlides>0</HiddenSlides>
  <MMClips>0</MMClips>
  <ScaleCrop>false</ScaleCrop>
  <HeadingPairs>
    <vt:vector size="8" baseType="variant">
      <vt:variant>
        <vt:lpstr>Fonts Used</vt:lpstr>
      </vt:variant>
      <vt:variant>
        <vt:i4>10</vt:i4>
      </vt:variant>
      <vt:variant>
        <vt:lpstr>Theme</vt:lpstr>
      </vt:variant>
      <vt:variant>
        <vt:i4>4</vt:i4>
      </vt:variant>
      <vt:variant>
        <vt:lpstr>Embedded OLE Servers</vt:lpstr>
      </vt:variant>
      <vt:variant>
        <vt:i4>1</vt:i4>
      </vt:variant>
      <vt:variant>
        <vt:lpstr>Slide Titles</vt:lpstr>
      </vt:variant>
      <vt:variant>
        <vt:i4>31</vt:i4>
      </vt:variant>
    </vt:vector>
  </HeadingPairs>
  <TitlesOfParts>
    <vt:vector size="46" baseType="lpstr">
      <vt:lpstr>Batang</vt:lpstr>
      <vt:lpstr>Arial</vt:lpstr>
      <vt:lpstr>Calibri</vt:lpstr>
      <vt:lpstr>Calibri Light</vt:lpstr>
      <vt:lpstr>Candara</vt:lpstr>
      <vt:lpstr>Century Gothic</vt:lpstr>
      <vt:lpstr>Euphemia</vt:lpstr>
      <vt:lpstr>Segoe UI Symbol</vt:lpstr>
      <vt:lpstr>Tahoma</vt:lpstr>
      <vt:lpstr>Times New Roman</vt:lpstr>
      <vt:lpstr>Office Theme</vt:lpstr>
      <vt:lpstr>1_Office Theme</vt:lpstr>
      <vt:lpstr>2_Office Theme</vt:lpstr>
      <vt:lpstr>3_Office Theme</vt:lpstr>
      <vt:lpstr>Equation</vt:lpstr>
      <vt:lpstr>REGRESSION DISCONTINUITY DESIGN</vt:lpstr>
      <vt:lpstr>3 valid counterfactuals:</vt:lpstr>
      <vt:lpstr>PowerPoint Presentation</vt:lpstr>
      <vt:lpstr>PowerPoint Presentation</vt:lpstr>
      <vt:lpstr>PowerPoint Presentation</vt:lpstr>
      <vt:lpstr>REGRESSION DISCONTINUITY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COMPARISON OF METHODS</vt:lpstr>
      <vt:lpstr>Regression discontinuity and time series</vt:lpstr>
      <vt:lpstr>PowerPoint Presentation</vt:lpstr>
      <vt:lpstr>Pay attention to the axis:</vt:lpstr>
      <vt:lpstr>Pay attention to the axis:</vt:lpstr>
      <vt:lpstr>Interrupted Time Series Regression Models:</vt:lpstr>
      <vt:lpstr>Interrupted Time Series  Regression Models:</vt:lpstr>
      <vt:lpstr>How do you define “effect size”?</vt:lpstr>
      <vt:lpstr>PowerPoint Presentation</vt:lpstr>
      <vt:lpstr>PowerPoint Presentation</vt:lpstr>
      <vt:lpstr>3 valid counterfactuals:</vt:lpstr>
      <vt:lpstr>PowerPoint Presentation</vt:lpstr>
      <vt:lpstr>PowerPoint Presentation</vt:lpstr>
      <vt:lpstr>PowerPoint Presentation</vt:lpstr>
      <vt:lpstr>2 remaining counterfactuals: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Jesse Lecy</dc:creator>
  <cp:lastModifiedBy>Jesse Lecy</cp:lastModifiedBy>
  <cp:revision>8</cp:revision>
  <dcterms:created xsi:type="dcterms:W3CDTF">2020-04-15T23:06:57Z</dcterms:created>
  <dcterms:modified xsi:type="dcterms:W3CDTF">2020-04-16T01:44:34Z</dcterms:modified>
</cp:coreProperties>
</file>